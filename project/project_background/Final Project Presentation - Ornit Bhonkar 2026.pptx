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97" r:id="rId1"/>
  </p:sldMasterIdLst>
  <p:notesMasterIdLst>
    <p:notesMasterId r:id="rId20"/>
  </p:notesMasterIdLst>
  <p:sldIdLst>
    <p:sldId id="256" r:id="rId2"/>
    <p:sldId id="359" r:id="rId3"/>
    <p:sldId id="358" r:id="rId4"/>
    <p:sldId id="360" r:id="rId5"/>
    <p:sldId id="363" r:id="rId6"/>
    <p:sldId id="364" r:id="rId7"/>
    <p:sldId id="265" r:id="rId8"/>
    <p:sldId id="259" r:id="rId9"/>
    <p:sldId id="272" r:id="rId10"/>
    <p:sldId id="271" r:id="rId11"/>
    <p:sldId id="366" r:id="rId12"/>
    <p:sldId id="367" r:id="rId13"/>
    <p:sldId id="375" r:id="rId14"/>
    <p:sldId id="368" r:id="rId15"/>
    <p:sldId id="365" r:id="rId16"/>
    <p:sldId id="370" r:id="rId17"/>
    <p:sldId id="371" r:id="rId18"/>
    <p:sldId id="373"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03063"/>
    <a:srgbClr val="96A0A7"/>
    <a:srgbClr val="4D143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314"/>
    <p:restoredTop sz="83548"/>
  </p:normalViewPr>
  <p:slideViewPr>
    <p:cSldViewPr snapToGrid="0">
      <p:cViewPr varScale="1">
        <p:scale>
          <a:sx n="77" d="100"/>
          <a:sy n="77" d="100"/>
        </p:scale>
        <p:origin x="224" y="240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83F21B75-5146-4195-9459-51C622777FCC}"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9BBC8A45-8DB2-4A0C-82DF-AAFEED00AC93}">
      <dgm:prSet/>
      <dgm:spPr/>
      <dgm:t>
        <a:bodyPr/>
        <a:lstStyle/>
        <a:p>
          <a:r>
            <a:rPr lang="en-US" dirty="0"/>
            <a:t>Is there a correlation between the experimental TP53 EFS</a:t>
          </a:r>
          <a:r>
            <a:rPr lang="he-IL" dirty="0"/>
            <a:t> </a:t>
          </a:r>
          <a:r>
            <a:rPr lang="en-US" dirty="0"/>
            <a:t>(Giacomelli et al.) and patient FGA (GENIE)?</a:t>
          </a:r>
        </a:p>
      </dgm:t>
    </dgm:pt>
    <dgm:pt modelId="{EBB82DBD-5FA3-40DD-9047-DB7B10450E9D}" type="parTrans" cxnId="{4A8B65DD-CC61-47F9-AEED-E83FDB2C97AE}">
      <dgm:prSet/>
      <dgm:spPr/>
      <dgm:t>
        <a:bodyPr/>
        <a:lstStyle/>
        <a:p>
          <a:endParaRPr lang="en-US"/>
        </a:p>
      </dgm:t>
    </dgm:pt>
    <dgm:pt modelId="{641914C6-6F3E-4C04-B6C1-45E8B6E8A99A}" type="sibTrans" cxnId="{4A8B65DD-CC61-47F9-AEED-E83FDB2C97AE}">
      <dgm:prSet/>
      <dgm:spPr/>
      <dgm:t>
        <a:bodyPr/>
        <a:lstStyle/>
        <a:p>
          <a:endParaRPr lang="en-US"/>
        </a:p>
      </dgm:t>
    </dgm:pt>
    <dgm:pt modelId="{D509BDE4-52F2-4A30-93B1-9C4AA34B8A00}">
      <dgm:prSet/>
      <dgm:spPr/>
      <dgm:t>
        <a:bodyPr/>
        <a:lstStyle/>
        <a:p>
          <a:r>
            <a:rPr lang="en-US" dirty="0"/>
            <a:t>Do "Hotspot" mutations drive higher genomic instability than rare mutations?</a:t>
          </a:r>
        </a:p>
      </dgm:t>
    </dgm:pt>
    <dgm:pt modelId="{146E563D-AE1B-4CA0-A906-6F857769FE4C}" type="parTrans" cxnId="{83FA26EB-E73B-4F0E-A208-0D1ECAEDB441}">
      <dgm:prSet/>
      <dgm:spPr/>
      <dgm:t>
        <a:bodyPr/>
        <a:lstStyle/>
        <a:p>
          <a:endParaRPr lang="en-US"/>
        </a:p>
      </dgm:t>
    </dgm:pt>
    <dgm:pt modelId="{19ACE51A-69C9-45BA-BAF3-5F83594449F4}" type="sibTrans" cxnId="{83FA26EB-E73B-4F0E-A208-0D1ECAEDB441}">
      <dgm:prSet/>
      <dgm:spPr/>
      <dgm:t>
        <a:bodyPr/>
        <a:lstStyle/>
        <a:p>
          <a:endParaRPr lang="en-US"/>
        </a:p>
      </dgm:t>
    </dgm:pt>
    <dgm:pt modelId="{6125D1FD-2174-41C1-B9E9-8AB8CFA1E045}">
      <dgm:prSet/>
      <dgm:spPr/>
      <dgm:t>
        <a:bodyPr/>
        <a:lstStyle/>
        <a:p>
          <a:r>
            <a:rPr lang="en-US" dirty="0"/>
            <a:t>Does this correlation hold true across all cancer types or is it specific to certain tissues?</a:t>
          </a:r>
        </a:p>
      </dgm:t>
    </dgm:pt>
    <dgm:pt modelId="{550F4277-5D36-4853-8A58-BD8E286667AF}" type="parTrans" cxnId="{CE9CEED5-4342-4458-BA70-9F798966922A}">
      <dgm:prSet/>
      <dgm:spPr/>
      <dgm:t>
        <a:bodyPr/>
        <a:lstStyle/>
        <a:p>
          <a:endParaRPr lang="en-US"/>
        </a:p>
      </dgm:t>
    </dgm:pt>
    <dgm:pt modelId="{D1B9CC37-8B92-456D-B2DA-C95951955C33}" type="sibTrans" cxnId="{CE9CEED5-4342-4458-BA70-9F798966922A}">
      <dgm:prSet/>
      <dgm:spPr/>
      <dgm:t>
        <a:bodyPr/>
        <a:lstStyle/>
        <a:p>
          <a:endParaRPr lang="en-US"/>
        </a:p>
      </dgm:t>
    </dgm:pt>
    <dgm:pt modelId="{4858335A-3207-4F5D-B354-CDF132D24DF1}" type="pres">
      <dgm:prSet presAssocID="{83F21B75-5146-4195-9459-51C622777FCC}" presName="root" presStyleCnt="0">
        <dgm:presLayoutVars>
          <dgm:dir/>
          <dgm:resizeHandles val="exact"/>
        </dgm:presLayoutVars>
      </dgm:prSet>
      <dgm:spPr/>
    </dgm:pt>
    <dgm:pt modelId="{BF5EE8C4-A69D-40C5-B324-5843A2199C84}" type="pres">
      <dgm:prSet presAssocID="{9BBC8A45-8DB2-4A0C-82DF-AAFEED00AC93}" presName="compNode" presStyleCnt="0"/>
      <dgm:spPr/>
    </dgm:pt>
    <dgm:pt modelId="{BCB2B71C-9545-43F4-8376-864E42A022A4}" type="pres">
      <dgm:prSet presAssocID="{9BBC8A45-8DB2-4A0C-82DF-AAFEED00AC93}" presName="bgRect" presStyleLbl="bgShp" presStyleIdx="0" presStyleCnt="3"/>
      <dgm:spPr/>
    </dgm:pt>
    <dgm:pt modelId="{18DC14EC-2901-496F-8FEF-55A978EC6F84}" type="pres">
      <dgm:prSet presAssocID="{9BBC8A45-8DB2-4A0C-82DF-AAFEED00AC93}"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Processor"/>
        </a:ext>
      </dgm:extLst>
    </dgm:pt>
    <dgm:pt modelId="{71C848F9-D8F8-449B-A15E-C906710CAEC8}" type="pres">
      <dgm:prSet presAssocID="{9BBC8A45-8DB2-4A0C-82DF-AAFEED00AC93}" presName="spaceRect" presStyleCnt="0"/>
      <dgm:spPr/>
    </dgm:pt>
    <dgm:pt modelId="{C3BC3749-F12B-44EA-AEDB-69785241ABF0}" type="pres">
      <dgm:prSet presAssocID="{9BBC8A45-8DB2-4A0C-82DF-AAFEED00AC93}" presName="parTx" presStyleLbl="revTx" presStyleIdx="0" presStyleCnt="3">
        <dgm:presLayoutVars>
          <dgm:chMax val="0"/>
          <dgm:chPref val="0"/>
        </dgm:presLayoutVars>
      </dgm:prSet>
      <dgm:spPr/>
    </dgm:pt>
    <dgm:pt modelId="{7BA49996-218C-49BC-B8C0-1607C020769C}" type="pres">
      <dgm:prSet presAssocID="{641914C6-6F3E-4C04-B6C1-45E8B6E8A99A}" presName="sibTrans" presStyleCnt="0"/>
      <dgm:spPr/>
    </dgm:pt>
    <dgm:pt modelId="{857074C8-4BA0-4AC9-9F60-83E79CC4E54B}" type="pres">
      <dgm:prSet presAssocID="{D509BDE4-52F2-4A30-93B1-9C4AA34B8A00}" presName="compNode" presStyleCnt="0"/>
      <dgm:spPr/>
    </dgm:pt>
    <dgm:pt modelId="{38BBD7EB-99E3-4E91-A381-FFD8E899A99E}" type="pres">
      <dgm:prSet presAssocID="{D509BDE4-52F2-4A30-93B1-9C4AA34B8A00}" presName="bgRect" presStyleLbl="bgShp" presStyleIdx="1" presStyleCnt="3"/>
      <dgm:spPr/>
    </dgm:pt>
    <dgm:pt modelId="{2A21B101-9457-4CF6-BE8A-092C8EDB98A3}" type="pres">
      <dgm:prSet presAssocID="{D509BDE4-52F2-4A30-93B1-9C4AA34B8A0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NA"/>
        </a:ext>
      </dgm:extLst>
    </dgm:pt>
    <dgm:pt modelId="{89489B1A-8A70-4907-957A-690FE7B6A587}" type="pres">
      <dgm:prSet presAssocID="{D509BDE4-52F2-4A30-93B1-9C4AA34B8A00}" presName="spaceRect" presStyleCnt="0"/>
      <dgm:spPr/>
    </dgm:pt>
    <dgm:pt modelId="{3D8B549A-F582-407A-8FBE-1DEC81D362E6}" type="pres">
      <dgm:prSet presAssocID="{D509BDE4-52F2-4A30-93B1-9C4AA34B8A00}" presName="parTx" presStyleLbl="revTx" presStyleIdx="1" presStyleCnt="3">
        <dgm:presLayoutVars>
          <dgm:chMax val="0"/>
          <dgm:chPref val="0"/>
        </dgm:presLayoutVars>
      </dgm:prSet>
      <dgm:spPr/>
    </dgm:pt>
    <dgm:pt modelId="{B354B10A-3B39-4AA5-AECC-94BB07B49574}" type="pres">
      <dgm:prSet presAssocID="{19ACE51A-69C9-45BA-BAF3-5F83594449F4}" presName="sibTrans" presStyleCnt="0"/>
      <dgm:spPr/>
    </dgm:pt>
    <dgm:pt modelId="{78B6154E-574F-47A1-9101-EDAE68E3F70F}" type="pres">
      <dgm:prSet presAssocID="{6125D1FD-2174-41C1-B9E9-8AB8CFA1E045}" presName="compNode" presStyleCnt="0"/>
      <dgm:spPr/>
    </dgm:pt>
    <dgm:pt modelId="{4D29B9D9-CAA4-4473-AC64-F3635AD81E37}" type="pres">
      <dgm:prSet presAssocID="{6125D1FD-2174-41C1-B9E9-8AB8CFA1E045}" presName="bgRect" presStyleLbl="bgShp" presStyleIdx="2" presStyleCnt="3"/>
      <dgm:spPr/>
    </dgm:pt>
    <dgm:pt modelId="{008FA23B-86AA-437F-8BC3-11F23665006F}" type="pres">
      <dgm:prSet presAssocID="{6125D1FD-2174-41C1-B9E9-8AB8CFA1E045}"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Kidney"/>
        </a:ext>
      </dgm:extLst>
    </dgm:pt>
    <dgm:pt modelId="{D8258EA5-3BDF-4701-8056-5F8449A081E1}" type="pres">
      <dgm:prSet presAssocID="{6125D1FD-2174-41C1-B9E9-8AB8CFA1E045}" presName="spaceRect" presStyleCnt="0"/>
      <dgm:spPr/>
    </dgm:pt>
    <dgm:pt modelId="{EAB5C3A8-791F-442C-A264-0491E2C1EBEF}" type="pres">
      <dgm:prSet presAssocID="{6125D1FD-2174-41C1-B9E9-8AB8CFA1E045}" presName="parTx" presStyleLbl="revTx" presStyleIdx="2" presStyleCnt="3">
        <dgm:presLayoutVars>
          <dgm:chMax val="0"/>
          <dgm:chPref val="0"/>
        </dgm:presLayoutVars>
      </dgm:prSet>
      <dgm:spPr/>
    </dgm:pt>
  </dgm:ptLst>
  <dgm:cxnLst>
    <dgm:cxn modelId="{506A3531-DFD8-4F62-AE1A-5F4A38ECDFC8}" type="presOf" srcId="{6125D1FD-2174-41C1-B9E9-8AB8CFA1E045}" destId="{EAB5C3A8-791F-442C-A264-0491E2C1EBEF}" srcOrd="0" destOrd="0" presId="urn:microsoft.com/office/officeart/2018/2/layout/IconVerticalSolidList"/>
    <dgm:cxn modelId="{427E1CA8-135A-4618-9B43-0DC1200E10B2}" type="presOf" srcId="{83F21B75-5146-4195-9459-51C622777FCC}" destId="{4858335A-3207-4F5D-B354-CDF132D24DF1}" srcOrd="0" destOrd="0" presId="urn:microsoft.com/office/officeart/2018/2/layout/IconVerticalSolidList"/>
    <dgm:cxn modelId="{4EA579C1-ED55-4726-9271-0AFB9BEE1F3A}" type="presOf" srcId="{9BBC8A45-8DB2-4A0C-82DF-AAFEED00AC93}" destId="{C3BC3749-F12B-44EA-AEDB-69785241ABF0}" srcOrd="0" destOrd="0" presId="urn:microsoft.com/office/officeart/2018/2/layout/IconVerticalSolidList"/>
    <dgm:cxn modelId="{CE9CEED5-4342-4458-BA70-9F798966922A}" srcId="{83F21B75-5146-4195-9459-51C622777FCC}" destId="{6125D1FD-2174-41C1-B9E9-8AB8CFA1E045}" srcOrd="2" destOrd="0" parTransId="{550F4277-5D36-4853-8A58-BD8E286667AF}" sibTransId="{D1B9CC37-8B92-456D-B2DA-C95951955C33}"/>
    <dgm:cxn modelId="{4A8B65DD-CC61-47F9-AEED-E83FDB2C97AE}" srcId="{83F21B75-5146-4195-9459-51C622777FCC}" destId="{9BBC8A45-8DB2-4A0C-82DF-AAFEED00AC93}" srcOrd="0" destOrd="0" parTransId="{EBB82DBD-5FA3-40DD-9047-DB7B10450E9D}" sibTransId="{641914C6-6F3E-4C04-B6C1-45E8B6E8A99A}"/>
    <dgm:cxn modelId="{A19F6FE4-A2C2-4350-BD61-7F906E66F3C0}" type="presOf" srcId="{D509BDE4-52F2-4A30-93B1-9C4AA34B8A00}" destId="{3D8B549A-F582-407A-8FBE-1DEC81D362E6}" srcOrd="0" destOrd="0" presId="urn:microsoft.com/office/officeart/2018/2/layout/IconVerticalSolidList"/>
    <dgm:cxn modelId="{83FA26EB-E73B-4F0E-A208-0D1ECAEDB441}" srcId="{83F21B75-5146-4195-9459-51C622777FCC}" destId="{D509BDE4-52F2-4A30-93B1-9C4AA34B8A00}" srcOrd="1" destOrd="0" parTransId="{146E563D-AE1B-4CA0-A906-6F857769FE4C}" sibTransId="{19ACE51A-69C9-45BA-BAF3-5F83594449F4}"/>
    <dgm:cxn modelId="{D6C12E9F-8FCD-4B34-9F59-034795BB93AB}" type="presParOf" srcId="{4858335A-3207-4F5D-B354-CDF132D24DF1}" destId="{BF5EE8C4-A69D-40C5-B324-5843A2199C84}" srcOrd="0" destOrd="0" presId="urn:microsoft.com/office/officeart/2018/2/layout/IconVerticalSolidList"/>
    <dgm:cxn modelId="{50B6D364-B026-49E7-8701-37489D4C61A2}" type="presParOf" srcId="{BF5EE8C4-A69D-40C5-B324-5843A2199C84}" destId="{BCB2B71C-9545-43F4-8376-864E42A022A4}" srcOrd="0" destOrd="0" presId="urn:microsoft.com/office/officeart/2018/2/layout/IconVerticalSolidList"/>
    <dgm:cxn modelId="{EC22320A-B812-4EE9-AF60-611C61958AC3}" type="presParOf" srcId="{BF5EE8C4-A69D-40C5-B324-5843A2199C84}" destId="{18DC14EC-2901-496F-8FEF-55A978EC6F84}" srcOrd="1" destOrd="0" presId="urn:microsoft.com/office/officeart/2018/2/layout/IconVerticalSolidList"/>
    <dgm:cxn modelId="{96472E57-0D73-41E6-9B15-5652F711D86B}" type="presParOf" srcId="{BF5EE8C4-A69D-40C5-B324-5843A2199C84}" destId="{71C848F9-D8F8-449B-A15E-C906710CAEC8}" srcOrd="2" destOrd="0" presId="urn:microsoft.com/office/officeart/2018/2/layout/IconVerticalSolidList"/>
    <dgm:cxn modelId="{DA917739-AF6B-46B0-9425-003400FAABCE}" type="presParOf" srcId="{BF5EE8C4-A69D-40C5-B324-5843A2199C84}" destId="{C3BC3749-F12B-44EA-AEDB-69785241ABF0}" srcOrd="3" destOrd="0" presId="urn:microsoft.com/office/officeart/2018/2/layout/IconVerticalSolidList"/>
    <dgm:cxn modelId="{C508F955-9A64-4E52-9C99-C8CCA80EF64D}" type="presParOf" srcId="{4858335A-3207-4F5D-B354-CDF132D24DF1}" destId="{7BA49996-218C-49BC-B8C0-1607C020769C}" srcOrd="1" destOrd="0" presId="urn:microsoft.com/office/officeart/2018/2/layout/IconVerticalSolidList"/>
    <dgm:cxn modelId="{89705C6C-0AE9-4113-BD8B-8481B7CE0751}" type="presParOf" srcId="{4858335A-3207-4F5D-B354-CDF132D24DF1}" destId="{857074C8-4BA0-4AC9-9F60-83E79CC4E54B}" srcOrd="2" destOrd="0" presId="urn:microsoft.com/office/officeart/2018/2/layout/IconVerticalSolidList"/>
    <dgm:cxn modelId="{C0EF9417-EFBD-4339-A411-07726A306FDE}" type="presParOf" srcId="{857074C8-4BA0-4AC9-9F60-83E79CC4E54B}" destId="{38BBD7EB-99E3-4E91-A381-FFD8E899A99E}" srcOrd="0" destOrd="0" presId="urn:microsoft.com/office/officeart/2018/2/layout/IconVerticalSolidList"/>
    <dgm:cxn modelId="{E93AA1DB-587C-4804-8801-010FB8E8A172}" type="presParOf" srcId="{857074C8-4BA0-4AC9-9F60-83E79CC4E54B}" destId="{2A21B101-9457-4CF6-BE8A-092C8EDB98A3}" srcOrd="1" destOrd="0" presId="urn:microsoft.com/office/officeart/2018/2/layout/IconVerticalSolidList"/>
    <dgm:cxn modelId="{1BEA3888-CF5E-46D0-9DC7-B99CC99C47BB}" type="presParOf" srcId="{857074C8-4BA0-4AC9-9F60-83E79CC4E54B}" destId="{89489B1A-8A70-4907-957A-690FE7B6A587}" srcOrd="2" destOrd="0" presId="urn:microsoft.com/office/officeart/2018/2/layout/IconVerticalSolidList"/>
    <dgm:cxn modelId="{80CF7DC1-3C40-4BF3-9AEC-8101FC0F8035}" type="presParOf" srcId="{857074C8-4BA0-4AC9-9F60-83E79CC4E54B}" destId="{3D8B549A-F582-407A-8FBE-1DEC81D362E6}" srcOrd="3" destOrd="0" presId="urn:microsoft.com/office/officeart/2018/2/layout/IconVerticalSolidList"/>
    <dgm:cxn modelId="{3DC40669-E113-48D3-B35C-585056D38AA5}" type="presParOf" srcId="{4858335A-3207-4F5D-B354-CDF132D24DF1}" destId="{B354B10A-3B39-4AA5-AECC-94BB07B49574}" srcOrd="3" destOrd="0" presId="urn:microsoft.com/office/officeart/2018/2/layout/IconVerticalSolidList"/>
    <dgm:cxn modelId="{A974A118-34DD-48F4-9695-3D177F25A6FE}" type="presParOf" srcId="{4858335A-3207-4F5D-B354-CDF132D24DF1}" destId="{78B6154E-574F-47A1-9101-EDAE68E3F70F}" srcOrd="4" destOrd="0" presId="urn:microsoft.com/office/officeart/2018/2/layout/IconVerticalSolidList"/>
    <dgm:cxn modelId="{8010456C-559C-4F12-A1F7-AF3BC5B557DE}" type="presParOf" srcId="{78B6154E-574F-47A1-9101-EDAE68E3F70F}" destId="{4D29B9D9-CAA4-4473-AC64-F3635AD81E37}" srcOrd="0" destOrd="0" presId="urn:microsoft.com/office/officeart/2018/2/layout/IconVerticalSolidList"/>
    <dgm:cxn modelId="{3A1063E4-E858-487C-B16F-F006C6DEF955}" type="presParOf" srcId="{78B6154E-574F-47A1-9101-EDAE68E3F70F}" destId="{008FA23B-86AA-437F-8BC3-11F23665006F}" srcOrd="1" destOrd="0" presId="urn:microsoft.com/office/officeart/2018/2/layout/IconVerticalSolidList"/>
    <dgm:cxn modelId="{0CA57DEB-FDB4-4BF8-9A00-8FEEC221F52E}" type="presParOf" srcId="{78B6154E-574F-47A1-9101-EDAE68E3F70F}" destId="{D8258EA5-3BDF-4701-8056-5F8449A081E1}" srcOrd="2" destOrd="0" presId="urn:microsoft.com/office/officeart/2018/2/layout/IconVerticalSolidList"/>
    <dgm:cxn modelId="{F209B170-6C57-4BC7-8AF7-91B4F04446A1}" type="presParOf" srcId="{78B6154E-574F-47A1-9101-EDAE68E3F70F}" destId="{EAB5C3A8-791F-442C-A264-0491E2C1EBEF}"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CB2B71C-9545-43F4-8376-864E42A022A4}">
      <dsp:nvSpPr>
        <dsp:cNvPr id="0" name=""/>
        <dsp:cNvSpPr/>
      </dsp:nvSpPr>
      <dsp:spPr>
        <a:xfrm>
          <a:off x="0" y="499"/>
          <a:ext cx="9618133" cy="1169280"/>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8DC14EC-2901-496F-8FEF-55A978EC6F84}">
      <dsp:nvSpPr>
        <dsp:cNvPr id="0" name=""/>
        <dsp:cNvSpPr/>
      </dsp:nvSpPr>
      <dsp:spPr>
        <a:xfrm>
          <a:off x="353707" y="263587"/>
          <a:ext cx="643104" cy="6431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3BC3749-F12B-44EA-AEDB-69785241ABF0}">
      <dsp:nvSpPr>
        <dsp:cNvPr id="0" name=""/>
        <dsp:cNvSpPr/>
      </dsp:nvSpPr>
      <dsp:spPr>
        <a:xfrm>
          <a:off x="1350519" y="499"/>
          <a:ext cx="8267613"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90000"/>
            </a:lnSpc>
            <a:spcBef>
              <a:spcPct val="0"/>
            </a:spcBef>
            <a:spcAft>
              <a:spcPct val="35000"/>
            </a:spcAft>
            <a:buNone/>
          </a:pPr>
          <a:r>
            <a:rPr lang="en-US" sz="2500" kern="1200" dirty="0"/>
            <a:t>Is there a correlation between the experimental TP53 EFS</a:t>
          </a:r>
          <a:r>
            <a:rPr lang="he-IL" sz="2500" kern="1200" dirty="0"/>
            <a:t> </a:t>
          </a:r>
          <a:r>
            <a:rPr lang="en-US" sz="2500" kern="1200" dirty="0"/>
            <a:t>(Giacomelli et al.) and patient FGA (GENIE)?</a:t>
          </a:r>
        </a:p>
      </dsp:txBody>
      <dsp:txXfrm>
        <a:off x="1350519" y="499"/>
        <a:ext cx="8267613" cy="1169280"/>
      </dsp:txXfrm>
    </dsp:sp>
    <dsp:sp modelId="{38BBD7EB-99E3-4E91-A381-FFD8E899A99E}">
      <dsp:nvSpPr>
        <dsp:cNvPr id="0" name=""/>
        <dsp:cNvSpPr/>
      </dsp:nvSpPr>
      <dsp:spPr>
        <a:xfrm>
          <a:off x="0" y="1462100"/>
          <a:ext cx="9618133" cy="1169280"/>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A21B101-9457-4CF6-BE8A-092C8EDB98A3}">
      <dsp:nvSpPr>
        <dsp:cNvPr id="0" name=""/>
        <dsp:cNvSpPr/>
      </dsp:nvSpPr>
      <dsp:spPr>
        <a:xfrm>
          <a:off x="353707" y="1725188"/>
          <a:ext cx="643104" cy="6431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3D8B549A-F582-407A-8FBE-1DEC81D362E6}">
      <dsp:nvSpPr>
        <dsp:cNvPr id="0" name=""/>
        <dsp:cNvSpPr/>
      </dsp:nvSpPr>
      <dsp:spPr>
        <a:xfrm>
          <a:off x="1350519" y="1462100"/>
          <a:ext cx="8267613"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90000"/>
            </a:lnSpc>
            <a:spcBef>
              <a:spcPct val="0"/>
            </a:spcBef>
            <a:spcAft>
              <a:spcPct val="35000"/>
            </a:spcAft>
            <a:buNone/>
          </a:pPr>
          <a:r>
            <a:rPr lang="en-US" sz="2500" kern="1200" dirty="0"/>
            <a:t>Do "Hotspot" mutations drive higher genomic instability than rare mutations?</a:t>
          </a:r>
        </a:p>
      </dsp:txBody>
      <dsp:txXfrm>
        <a:off x="1350519" y="1462100"/>
        <a:ext cx="8267613" cy="1169280"/>
      </dsp:txXfrm>
    </dsp:sp>
    <dsp:sp modelId="{4D29B9D9-CAA4-4473-AC64-F3635AD81E37}">
      <dsp:nvSpPr>
        <dsp:cNvPr id="0" name=""/>
        <dsp:cNvSpPr/>
      </dsp:nvSpPr>
      <dsp:spPr>
        <a:xfrm>
          <a:off x="0" y="2923701"/>
          <a:ext cx="9618133" cy="1169280"/>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08FA23B-86AA-437F-8BC3-11F23665006F}">
      <dsp:nvSpPr>
        <dsp:cNvPr id="0" name=""/>
        <dsp:cNvSpPr/>
      </dsp:nvSpPr>
      <dsp:spPr>
        <a:xfrm>
          <a:off x="353707" y="3186789"/>
          <a:ext cx="643104" cy="643104"/>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2225"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AB5C3A8-791F-442C-A264-0491E2C1EBEF}">
      <dsp:nvSpPr>
        <dsp:cNvPr id="0" name=""/>
        <dsp:cNvSpPr/>
      </dsp:nvSpPr>
      <dsp:spPr>
        <a:xfrm>
          <a:off x="1350519" y="2923701"/>
          <a:ext cx="8267613" cy="116928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3749" tIns="123749" rIns="123749" bIns="123749" numCol="1" spcCol="1270" anchor="ctr" anchorCtr="0">
          <a:noAutofit/>
        </a:bodyPr>
        <a:lstStyle/>
        <a:p>
          <a:pPr marL="0" lvl="0" indent="0" algn="l" defTabSz="1111250">
            <a:lnSpc>
              <a:spcPct val="90000"/>
            </a:lnSpc>
            <a:spcBef>
              <a:spcPct val="0"/>
            </a:spcBef>
            <a:spcAft>
              <a:spcPct val="35000"/>
            </a:spcAft>
            <a:buNone/>
          </a:pPr>
          <a:r>
            <a:rPr lang="en-US" sz="2500" kern="1200" dirty="0"/>
            <a:t>Does this correlation hold true across all cancer types or is it specific to certain tissues?</a:t>
          </a:r>
        </a:p>
      </dsp:txBody>
      <dsp:txXfrm>
        <a:off x="1350519" y="2923701"/>
        <a:ext cx="8267613" cy="116928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L"/>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CD6A08-F84D-254F-876D-619DDBFD23F2}" type="datetimeFigureOut">
              <a:rPr lang="en-IL" smtClean="0"/>
              <a:t>19/03/2026</a:t>
            </a:fld>
            <a:endParaRPr lang="en-IL"/>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L"/>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L"/>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42DB82-1DC1-9846-88D7-11B539157949}" type="slidenum">
              <a:rPr lang="en-IL" smtClean="0"/>
              <a:t>‹#›</a:t>
            </a:fld>
            <a:endParaRPr lang="en-IL"/>
          </a:p>
        </p:txBody>
      </p:sp>
    </p:spTree>
    <p:extLst>
      <p:ext uri="{BB962C8B-B14F-4D97-AF65-F5344CB8AC3E}">
        <p14:creationId xmlns:p14="http://schemas.microsoft.com/office/powerpoint/2010/main" val="643175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he-IL" dirty="0"/>
          </a:p>
        </p:txBody>
      </p:sp>
      <p:sp>
        <p:nvSpPr>
          <p:cNvPr id="4" name="Slide Number Placeholder 3"/>
          <p:cNvSpPr>
            <a:spLocks noGrp="1"/>
          </p:cNvSpPr>
          <p:nvPr>
            <p:ph type="sldNum" sz="quarter" idx="5"/>
          </p:nvPr>
        </p:nvSpPr>
        <p:spPr/>
        <p:txBody>
          <a:bodyPr/>
          <a:lstStyle/>
          <a:p>
            <a:fld id="{7242DB82-1DC1-9846-88D7-11B539157949}" type="slidenum">
              <a:rPr lang="en-IL" smtClean="0"/>
              <a:t>1</a:t>
            </a:fld>
            <a:endParaRPr lang="en-IL"/>
          </a:p>
        </p:txBody>
      </p:sp>
    </p:spTree>
    <p:extLst>
      <p:ext uri="{BB962C8B-B14F-4D97-AF65-F5344CB8AC3E}">
        <p14:creationId xmlns:p14="http://schemas.microsoft.com/office/powerpoint/2010/main" val="8897745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533720-E357-4473-84FE-312A1097C4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454E84-A083-1426-FDAA-AB88ECAF201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FBF795-B903-D79B-1F1B-80C5E254F92C}"/>
              </a:ext>
            </a:extLst>
          </p:cNvPr>
          <p:cNvSpPr>
            <a:spLocks noGrp="1"/>
          </p:cNvSpPr>
          <p:nvPr>
            <p:ph type="body" idx="1"/>
          </p:nvPr>
        </p:nvSpPr>
        <p:spPr/>
        <p:txBody>
          <a:bodyPr/>
          <a:lstStyle/>
          <a:p>
            <a:pPr marL="0" algn="r" defTabSz="914400" rtl="1" eaLnBrk="1" latinLnBrk="0" hangingPunct="1"/>
            <a:endParaRPr lang="he-IL" dirty="0"/>
          </a:p>
        </p:txBody>
      </p:sp>
      <p:sp>
        <p:nvSpPr>
          <p:cNvPr id="4" name="Slide Number Placeholder 3">
            <a:extLst>
              <a:ext uri="{FF2B5EF4-FFF2-40B4-BE49-F238E27FC236}">
                <a16:creationId xmlns:a16="http://schemas.microsoft.com/office/drawing/2014/main" id="{5B76F355-EE9F-75DD-C84B-4B74F2DED9C7}"/>
              </a:ext>
            </a:extLst>
          </p:cNvPr>
          <p:cNvSpPr>
            <a:spLocks noGrp="1"/>
          </p:cNvSpPr>
          <p:nvPr>
            <p:ph type="sldNum" sz="quarter" idx="5"/>
          </p:nvPr>
        </p:nvSpPr>
        <p:spPr/>
        <p:txBody>
          <a:bodyPr/>
          <a:lstStyle/>
          <a:p>
            <a:fld id="{7242DB82-1DC1-9846-88D7-11B539157949}" type="slidenum">
              <a:rPr lang="en-IL" smtClean="0"/>
              <a:t>2</a:t>
            </a:fld>
            <a:endParaRPr lang="en-IL"/>
          </a:p>
        </p:txBody>
      </p:sp>
    </p:spTree>
    <p:extLst>
      <p:ext uri="{BB962C8B-B14F-4D97-AF65-F5344CB8AC3E}">
        <p14:creationId xmlns:p14="http://schemas.microsoft.com/office/powerpoint/2010/main" val="2301723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750740-E186-E036-D921-6A2E97D1BD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67774F-386B-21E1-CF58-2F4795DBCD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D3DB58-41AD-15E6-40CE-DABAB2F065AC}"/>
              </a:ext>
            </a:extLst>
          </p:cNvPr>
          <p:cNvSpPr>
            <a:spLocks noGrp="1"/>
          </p:cNvSpPr>
          <p:nvPr>
            <p:ph type="body" idx="1"/>
          </p:nvPr>
        </p:nvSpPr>
        <p:spPr/>
        <p:txBody>
          <a:bodyPr/>
          <a:lstStyle/>
          <a:p>
            <a:pPr marL="0" algn="r" defTabSz="914400" rtl="1" eaLnBrk="1" latinLnBrk="0" hangingPunct="1"/>
            <a:endParaRPr lang="he-IL" dirty="0"/>
          </a:p>
        </p:txBody>
      </p:sp>
      <p:sp>
        <p:nvSpPr>
          <p:cNvPr id="4" name="Slide Number Placeholder 3">
            <a:extLst>
              <a:ext uri="{FF2B5EF4-FFF2-40B4-BE49-F238E27FC236}">
                <a16:creationId xmlns:a16="http://schemas.microsoft.com/office/drawing/2014/main" id="{2EAAB3B9-BBFC-BA2A-C686-BE5145D6DC03}"/>
              </a:ext>
            </a:extLst>
          </p:cNvPr>
          <p:cNvSpPr>
            <a:spLocks noGrp="1"/>
          </p:cNvSpPr>
          <p:nvPr>
            <p:ph type="sldNum" sz="quarter" idx="5"/>
          </p:nvPr>
        </p:nvSpPr>
        <p:spPr/>
        <p:txBody>
          <a:bodyPr/>
          <a:lstStyle/>
          <a:p>
            <a:fld id="{7242DB82-1DC1-9846-88D7-11B539157949}" type="slidenum">
              <a:rPr lang="en-IL" smtClean="0"/>
              <a:t>3</a:t>
            </a:fld>
            <a:endParaRPr lang="en-IL"/>
          </a:p>
        </p:txBody>
      </p:sp>
    </p:spTree>
    <p:extLst>
      <p:ext uri="{BB962C8B-B14F-4D97-AF65-F5344CB8AC3E}">
        <p14:creationId xmlns:p14="http://schemas.microsoft.com/office/powerpoint/2010/main" val="7816995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61DA42-1EEB-4506-B293-FE2AAFBC14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3C63708-603B-C5AD-3075-351E8BDEEA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9B3DFA-AA74-B6FE-F70D-511559573298}"/>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US" dirty="0"/>
          </a:p>
        </p:txBody>
      </p:sp>
      <p:sp>
        <p:nvSpPr>
          <p:cNvPr id="4" name="Slide Number Placeholder 3">
            <a:extLst>
              <a:ext uri="{FF2B5EF4-FFF2-40B4-BE49-F238E27FC236}">
                <a16:creationId xmlns:a16="http://schemas.microsoft.com/office/drawing/2014/main" id="{2F97F769-C1AA-8583-0A4A-E95E0B0BB95B}"/>
              </a:ext>
            </a:extLst>
          </p:cNvPr>
          <p:cNvSpPr>
            <a:spLocks noGrp="1"/>
          </p:cNvSpPr>
          <p:nvPr>
            <p:ph type="sldNum" sz="quarter" idx="5"/>
          </p:nvPr>
        </p:nvSpPr>
        <p:spPr/>
        <p:txBody>
          <a:bodyPr/>
          <a:lstStyle/>
          <a:p>
            <a:fld id="{7242DB82-1DC1-9846-88D7-11B539157949}" type="slidenum">
              <a:rPr lang="en-IL" smtClean="0"/>
              <a:t>4</a:t>
            </a:fld>
            <a:endParaRPr lang="en-IL"/>
          </a:p>
        </p:txBody>
      </p:sp>
    </p:spTree>
    <p:extLst>
      <p:ext uri="{BB962C8B-B14F-4D97-AF65-F5344CB8AC3E}">
        <p14:creationId xmlns:p14="http://schemas.microsoft.com/office/powerpoint/2010/main" val="7921066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001B1C-55E6-A11B-E36B-3157AA225E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6B2018-8DFA-B1A5-F386-B01D8AB15E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935F96B-8633-4823-4F20-5263FEC789B5}"/>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909B97A1-414D-6222-D42A-1B1E4498AD3E}"/>
              </a:ext>
            </a:extLst>
          </p:cNvPr>
          <p:cNvSpPr>
            <a:spLocks noGrp="1"/>
          </p:cNvSpPr>
          <p:nvPr>
            <p:ph type="sldNum" sz="quarter" idx="5"/>
          </p:nvPr>
        </p:nvSpPr>
        <p:spPr/>
        <p:txBody>
          <a:bodyPr/>
          <a:lstStyle/>
          <a:p>
            <a:fld id="{7242DB82-1DC1-9846-88D7-11B539157949}" type="slidenum">
              <a:rPr lang="en-IL" smtClean="0"/>
              <a:t>5</a:t>
            </a:fld>
            <a:endParaRPr lang="en-IL"/>
          </a:p>
        </p:txBody>
      </p:sp>
    </p:spTree>
    <p:extLst>
      <p:ext uri="{BB962C8B-B14F-4D97-AF65-F5344CB8AC3E}">
        <p14:creationId xmlns:p14="http://schemas.microsoft.com/office/powerpoint/2010/main" val="143151239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1214BB-CEE1-A2B5-D70C-B793620C470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373BF7-DC50-71DC-7C1D-7B6D98E2E8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EF752FC-FD98-813F-4A81-48D876566D54}"/>
              </a:ext>
            </a:extLst>
          </p:cNvPr>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CF5D42A6-066D-3FDD-F7D4-329AD0121613}"/>
              </a:ext>
            </a:extLst>
          </p:cNvPr>
          <p:cNvSpPr>
            <a:spLocks noGrp="1"/>
          </p:cNvSpPr>
          <p:nvPr>
            <p:ph type="sldNum" sz="quarter" idx="5"/>
          </p:nvPr>
        </p:nvSpPr>
        <p:spPr/>
        <p:txBody>
          <a:bodyPr/>
          <a:lstStyle/>
          <a:p>
            <a:fld id="{7242DB82-1DC1-9846-88D7-11B539157949}" type="slidenum">
              <a:rPr lang="en-IL" smtClean="0"/>
              <a:t>6</a:t>
            </a:fld>
            <a:endParaRPr lang="en-IL"/>
          </a:p>
        </p:txBody>
      </p:sp>
    </p:spTree>
    <p:extLst>
      <p:ext uri="{BB962C8B-B14F-4D97-AF65-F5344CB8AC3E}">
        <p14:creationId xmlns:p14="http://schemas.microsoft.com/office/powerpoint/2010/main" val="28957471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r" defTabSz="914400" rtl="1" eaLnBrk="1" fontAlgn="auto" latinLnBrk="0" hangingPunct="1">
              <a:lnSpc>
                <a:spcPct val="100000"/>
              </a:lnSpc>
              <a:spcBef>
                <a:spcPts val="0"/>
              </a:spcBef>
              <a:spcAft>
                <a:spcPts val="0"/>
              </a:spcAft>
              <a:buClrTx/>
              <a:buSzTx/>
              <a:buFontTx/>
              <a:buNone/>
              <a:tabLst/>
              <a:defRPr/>
            </a:pPr>
            <a:endParaRPr lang="he-IL" b="0" dirty="0"/>
          </a:p>
        </p:txBody>
      </p:sp>
      <p:sp>
        <p:nvSpPr>
          <p:cNvPr id="4" name="Slide Number Placeholder 3"/>
          <p:cNvSpPr>
            <a:spLocks noGrp="1"/>
          </p:cNvSpPr>
          <p:nvPr>
            <p:ph type="sldNum" sz="quarter" idx="5"/>
          </p:nvPr>
        </p:nvSpPr>
        <p:spPr/>
        <p:txBody>
          <a:bodyPr/>
          <a:lstStyle/>
          <a:p>
            <a:fld id="{7242DB82-1DC1-9846-88D7-11B539157949}" type="slidenum">
              <a:rPr lang="en-IL" smtClean="0"/>
              <a:t>7</a:t>
            </a:fld>
            <a:endParaRPr lang="en-IL"/>
          </a:p>
        </p:txBody>
      </p:sp>
    </p:spTree>
    <p:extLst>
      <p:ext uri="{BB962C8B-B14F-4D97-AF65-F5344CB8AC3E}">
        <p14:creationId xmlns:p14="http://schemas.microsoft.com/office/powerpoint/2010/main" val="206508125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he-IL" dirty="0"/>
          </a:p>
        </p:txBody>
      </p:sp>
      <p:sp>
        <p:nvSpPr>
          <p:cNvPr id="4" name="Slide Number Placeholder 3"/>
          <p:cNvSpPr>
            <a:spLocks noGrp="1"/>
          </p:cNvSpPr>
          <p:nvPr>
            <p:ph type="sldNum" sz="quarter" idx="5"/>
          </p:nvPr>
        </p:nvSpPr>
        <p:spPr/>
        <p:txBody>
          <a:bodyPr/>
          <a:lstStyle/>
          <a:p>
            <a:fld id="{7242DB82-1DC1-9846-88D7-11B539157949}" type="slidenum">
              <a:rPr lang="en-IL" smtClean="0"/>
              <a:t>8</a:t>
            </a:fld>
            <a:endParaRPr lang="en-IL"/>
          </a:p>
        </p:txBody>
      </p:sp>
    </p:spTree>
    <p:extLst>
      <p:ext uri="{BB962C8B-B14F-4D97-AF65-F5344CB8AC3E}">
        <p14:creationId xmlns:p14="http://schemas.microsoft.com/office/powerpoint/2010/main" val="2195188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FD762-9745-8AB7-5946-5E3E3A7EF2C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A760D4-4D2F-D147-3570-C8A78EFED5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2B9091D-4536-722D-9602-CC5976BEC451}"/>
              </a:ext>
            </a:extLst>
          </p:cNvPr>
          <p:cNvSpPr>
            <a:spLocks noGrp="1"/>
          </p:cNvSpPr>
          <p:nvPr>
            <p:ph type="body" idx="1"/>
          </p:nvPr>
        </p:nvSpPr>
        <p:spPr/>
        <p:txBody>
          <a:bodyPr/>
          <a:lstStyle/>
          <a:p>
            <a:pPr marL="0" algn="r" defTabSz="914400" rtl="1" eaLnBrk="1" latinLnBrk="0" hangingPunct="1"/>
            <a:endParaRPr lang="he-IL" dirty="0"/>
          </a:p>
        </p:txBody>
      </p:sp>
      <p:sp>
        <p:nvSpPr>
          <p:cNvPr id="4" name="Slide Number Placeholder 3">
            <a:extLst>
              <a:ext uri="{FF2B5EF4-FFF2-40B4-BE49-F238E27FC236}">
                <a16:creationId xmlns:a16="http://schemas.microsoft.com/office/drawing/2014/main" id="{48DFD91B-081F-8A88-ECB1-6277A658140C}"/>
              </a:ext>
            </a:extLst>
          </p:cNvPr>
          <p:cNvSpPr>
            <a:spLocks noGrp="1"/>
          </p:cNvSpPr>
          <p:nvPr>
            <p:ph type="sldNum" sz="quarter" idx="5"/>
          </p:nvPr>
        </p:nvSpPr>
        <p:spPr/>
        <p:txBody>
          <a:bodyPr/>
          <a:lstStyle/>
          <a:p>
            <a:fld id="{7242DB82-1DC1-9846-88D7-11B539157949}" type="slidenum">
              <a:rPr lang="en-IL" smtClean="0"/>
              <a:t>9</a:t>
            </a:fld>
            <a:endParaRPr lang="en-IL"/>
          </a:p>
        </p:txBody>
      </p:sp>
    </p:spTree>
    <p:extLst>
      <p:ext uri="{BB962C8B-B14F-4D97-AF65-F5344CB8AC3E}">
        <p14:creationId xmlns:p14="http://schemas.microsoft.com/office/powerpoint/2010/main" val="403799324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algn="r" defTabSz="914400" rtl="1" eaLnBrk="1" latinLnBrk="0" hangingPunct="1"/>
            <a:endParaRPr lang="he-IL" dirty="0"/>
          </a:p>
        </p:txBody>
      </p:sp>
      <p:sp>
        <p:nvSpPr>
          <p:cNvPr id="4" name="Slide Number Placeholder 3"/>
          <p:cNvSpPr>
            <a:spLocks noGrp="1"/>
          </p:cNvSpPr>
          <p:nvPr>
            <p:ph type="sldNum" sz="quarter" idx="5"/>
          </p:nvPr>
        </p:nvSpPr>
        <p:spPr/>
        <p:txBody>
          <a:bodyPr/>
          <a:lstStyle/>
          <a:p>
            <a:fld id="{7242DB82-1DC1-9846-88D7-11B539157949}" type="slidenum">
              <a:rPr lang="en-IL" smtClean="0"/>
              <a:t>10</a:t>
            </a:fld>
            <a:endParaRPr lang="en-IL"/>
          </a:p>
        </p:txBody>
      </p:sp>
    </p:spTree>
    <p:extLst>
      <p:ext uri="{BB962C8B-B14F-4D97-AF65-F5344CB8AC3E}">
        <p14:creationId xmlns:p14="http://schemas.microsoft.com/office/powerpoint/2010/main" val="17679520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5BDBF2-8F57-269F-5EBC-724AA9A903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8F9C7A-1769-DF3F-3541-0BFB5B17C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607F63-426D-49ED-465A-ABEEE8D0AF80}"/>
              </a:ext>
            </a:extLst>
          </p:cNvPr>
          <p:cNvSpPr>
            <a:spLocks noGrp="1"/>
          </p:cNvSpPr>
          <p:nvPr>
            <p:ph type="body" idx="1"/>
          </p:nvPr>
        </p:nvSpPr>
        <p:spPr/>
        <p:txBody>
          <a:bodyPr/>
          <a:lstStyle/>
          <a:p>
            <a:pPr marL="0" algn="r" defTabSz="914400" rtl="1" eaLnBrk="1" latinLnBrk="0" hangingPunct="1"/>
            <a:endParaRPr lang="he-IL" dirty="0"/>
          </a:p>
        </p:txBody>
      </p:sp>
      <p:sp>
        <p:nvSpPr>
          <p:cNvPr id="4" name="Slide Number Placeholder 3">
            <a:extLst>
              <a:ext uri="{FF2B5EF4-FFF2-40B4-BE49-F238E27FC236}">
                <a16:creationId xmlns:a16="http://schemas.microsoft.com/office/drawing/2014/main" id="{E6915596-885C-C11B-E033-821B51297EC2}"/>
              </a:ext>
            </a:extLst>
          </p:cNvPr>
          <p:cNvSpPr>
            <a:spLocks noGrp="1"/>
          </p:cNvSpPr>
          <p:nvPr>
            <p:ph type="sldNum" sz="quarter" idx="5"/>
          </p:nvPr>
        </p:nvSpPr>
        <p:spPr/>
        <p:txBody>
          <a:bodyPr/>
          <a:lstStyle/>
          <a:p>
            <a:fld id="{7242DB82-1DC1-9846-88D7-11B539157949}" type="slidenum">
              <a:rPr lang="en-IL" smtClean="0"/>
              <a:t>11</a:t>
            </a:fld>
            <a:endParaRPr lang="en-IL"/>
          </a:p>
        </p:txBody>
      </p:sp>
    </p:spTree>
    <p:extLst>
      <p:ext uri="{BB962C8B-B14F-4D97-AF65-F5344CB8AC3E}">
        <p14:creationId xmlns:p14="http://schemas.microsoft.com/office/powerpoint/2010/main" val="26118536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56F6A6-2150-3230-F9F5-A060C433CE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E7906AC-3C16-C612-E51E-0F9524687F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C6821A-D7E3-FD3E-A216-3CED12244A73}"/>
              </a:ext>
            </a:extLst>
          </p:cNvPr>
          <p:cNvSpPr>
            <a:spLocks noGrp="1"/>
          </p:cNvSpPr>
          <p:nvPr>
            <p:ph type="body" idx="1"/>
          </p:nvPr>
        </p:nvSpPr>
        <p:spPr/>
        <p:txBody>
          <a:bodyPr/>
          <a:lstStyle/>
          <a:p>
            <a:pPr marL="0" algn="r" defTabSz="914400" rtl="1" eaLnBrk="1" latinLnBrk="0" hangingPunct="1"/>
            <a:endParaRPr lang="he-IL" dirty="0"/>
          </a:p>
        </p:txBody>
      </p:sp>
      <p:sp>
        <p:nvSpPr>
          <p:cNvPr id="4" name="Slide Number Placeholder 3">
            <a:extLst>
              <a:ext uri="{FF2B5EF4-FFF2-40B4-BE49-F238E27FC236}">
                <a16:creationId xmlns:a16="http://schemas.microsoft.com/office/drawing/2014/main" id="{B9F11EC6-092A-A52B-CC72-F949F7CD1765}"/>
              </a:ext>
            </a:extLst>
          </p:cNvPr>
          <p:cNvSpPr>
            <a:spLocks noGrp="1"/>
          </p:cNvSpPr>
          <p:nvPr>
            <p:ph type="sldNum" sz="quarter" idx="5"/>
          </p:nvPr>
        </p:nvSpPr>
        <p:spPr/>
        <p:txBody>
          <a:bodyPr/>
          <a:lstStyle/>
          <a:p>
            <a:fld id="{7242DB82-1DC1-9846-88D7-11B539157949}" type="slidenum">
              <a:rPr lang="en-IL" smtClean="0"/>
              <a:t>12</a:t>
            </a:fld>
            <a:endParaRPr lang="en-IL"/>
          </a:p>
        </p:txBody>
      </p:sp>
    </p:spTree>
    <p:extLst>
      <p:ext uri="{BB962C8B-B14F-4D97-AF65-F5344CB8AC3E}">
        <p14:creationId xmlns:p14="http://schemas.microsoft.com/office/powerpoint/2010/main" val="25145765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C97C8-0AD7-A969-2D58-74FFA090CC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79C487-C3B3-3743-7553-535131712D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CD741E-53C0-A2DA-D837-CF9F972924C9}"/>
              </a:ext>
            </a:extLst>
          </p:cNvPr>
          <p:cNvSpPr>
            <a:spLocks noGrp="1"/>
          </p:cNvSpPr>
          <p:nvPr>
            <p:ph type="body" idx="1"/>
          </p:nvPr>
        </p:nvSpPr>
        <p:spPr/>
        <p:txBody>
          <a:bodyPr/>
          <a:lstStyle/>
          <a:p>
            <a:pPr marL="0" algn="r" defTabSz="914400" rtl="1" eaLnBrk="1" latinLnBrk="0" hangingPunct="1"/>
            <a:endParaRPr lang="en-IL" dirty="0"/>
          </a:p>
        </p:txBody>
      </p:sp>
      <p:sp>
        <p:nvSpPr>
          <p:cNvPr id="4" name="Slide Number Placeholder 3">
            <a:extLst>
              <a:ext uri="{FF2B5EF4-FFF2-40B4-BE49-F238E27FC236}">
                <a16:creationId xmlns:a16="http://schemas.microsoft.com/office/drawing/2014/main" id="{8F9381B7-4819-DE5A-FAA1-23DF5608550E}"/>
              </a:ext>
            </a:extLst>
          </p:cNvPr>
          <p:cNvSpPr>
            <a:spLocks noGrp="1"/>
          </p:cNvSpPr>
          <p:nvPr>
            <p:ph type="sldNum" sz="quarter" idx="5"/>
          </p:nvPr>
        </p:nvSpPr>
        <p:spPr/>
        <p:txBody>
          <a:bodyPr/>
          <a:lstStyle/>
          <a:p>
            <a:fld id="{7242DB82-1DC1-9846-88D7-11B539157949}" type="slidenum">
              <a:rPr lang="en-IL" smtClean="0"/>
              <a:t>13</a:t>
            </a:fld>
            <a:endParaRPr lang="en-IL"/>
          </a:p>
        </p:txBody>
      </p:sp>
    </p:spTree>
    <p:extLst>
      <p:ext uri="{BB962C8B-B14F-4D97-AF65-F5344CB8AC3E}">
        <p14:creationId xmlns:p14="http://schemas.microsoft.com/office/powerpoint/2010/main" val="332852398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500F2-5FDA-D4B4-B1B6-07AFA765CA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8F09464-29B0-BC85-B3CE-034CFCF78A2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40D699-52D9-94E6-08E9-73CCB90009B3}"/>
              </a:ext>
            </a:extLst>
          </p:cNvPr>
          <p:cNvSpPr>
            <a:spLocks noGrp="1"/>
          </p:cNvSpPr>
          <p:nvPr>
            <p:ph type="body" idx="1"/>
          </p:nvPr>
        </p:nvSpPr>
        <p:spPr/>
        <p:txBody>
          <a:bodyPr/>
          <a:lstStyle/>
          <a:p>
            <a:pPr marL="0" algn="r" defTabSz="914400" rtl="1" eaLnBrk="1" latinLnBrk="0" hangingPunct="1"/>
            <a:endParaRPr lang="en-IL" dirty="0"/>
          </a:p>
        </p:txBody>
      </p:sp>
      <p:sp>
        <p:nvSpPr>
          <p:cNvPr id="4" name="Slide Number Placeholder 3">
            <a:extLst>
              <a:ext uri="{FF2B5EF4-FFF2-40B4-BE49-F238E27FC236}">
                <a16:creationId xmlns:a16="http://schemas.microsoft.com/office/drawing/2014/main" id="{C360718F-D2BA-49E1-D9E2-F43FC321E02D}"/>
              </a:ext>
            </a:extLst>
          </p:cNvPr>
          <p:cNvSpPr>
            <a:spLocks noGrp="1"/>
          </p:cNvSpPr>
          <p:nvPr>
            <p:ph type="sldNum" sz="quarter" idx="5"/>
          </p:nvPr>
        </p:nvSpPr>
        <p:spPr/>
        <p:txBody>
          <a:bodyPr/>
          <a:lstStyle/>
          <a:p>
            <a:fld id="{7242DB82-1DC1-9846-88D7-11B539157949}" type="slidenum">
              <a:rPr lang="en-IL" smtClean="0"/>
              <a:t>14</a:t>
            </a:fld>
            <a:endParaRPr lang="en-IL"/>
          </a:p>
        </p:txBody>
      </p:sp>
    </p:spTree>
    <p:extLst>
      <p:ext uri="{BB962C8B-B14F-4D97-AF65-F5344CB8AC3E}">
        <p14:creationId xmlns:p14="http://schemas.microsoft.com/office/powerpoint/2010/main" val="401803414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3DF4B-6968-547D-6BE3-D4A5D57FAF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65A4DE-1ADA-D3C4-09B9-B1FC3244E7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F8F276-6B19-0712-1368-97B5A1E0BEF2}"/>
              </a:ext>
            </a:extLst>
          </p:cNvPr>
          <p:cNvSpPr>
            <a:spLocks noGrp="1"/>
          </p:cNvSpPr>
          <p:nvPr>
            <p:ph type="body" idx="1"/>
          </p:nvPr>
        </p:nvSpPr>
        <p:spPr/>
        <p:txBody>
          <a:bodyPr/>
          <a:lstStyle/>
          <a:p>
            <a:pPr marL="0" algn="r" defTabSz="914400" rtl="1" eaLnBrk="1" latinLnBrk="0" hangingPunct="1"/>
            <a:endParaRPr lang="he-IL" dirty="0"/>
          </a:p>
        </p:txBody>
      </p:sp>
      <p:sp>
        <p:nvSpPr>
          <p:cNvPr id="4" name="Slide Number Placeholder 3">
            <a:extLst>
              <a:ext uri="{FF2B5EF4-FFF2-40B4-BE49-F238E27FC236}">
                <a16:creationId xmlns:a16="http://schemas.microsoft.com/office/drawing/2014/main" id="{F44C1A0E-FDC0-BC84-9CF9-2237A80D1984}"/>
              </a:ext>
            </a:extLst>
          </p:cNvPr>
          <p:cNvSpPr>
            <a:spLocks noGrp="1"/>
          </p:cNvSpPr>
          <p:nvPr>
            <p:ph type="sldNum" sz="quarter" idx="5"/>
          </p:nvPr>
        </p:nvSpPr>
        <p:spPr/>
        <p:txBody>
          <a:bodyPr/>
          <a:lstStyle/>
          <a:p>
            <a:fld id="{7242DB82-1DC1-9846-88D7-11B539157949}" type="slidenum">
              <a:rPr lang="en-IL" smtClean="0"/>
              <a:t>15</a:t>
            </a:fld>
            <a:endParaRPr lang="en-IL"/>
          </a:p>
        </p:txBody>
      </p:sp>
    </p:spTree>
    <p:extLst>
      <p:ext uri="{BB962C8B-B14F-4D97-AF65-F5344CB8AC3E}">
        <p14:creationId xmlns:p14="http://schemas.microsoft.com/office/powerpoint/2010/main" val="273433283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960FEB-3EAA-8A17-381F-3641FB7CF4A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F63B79-9EB2-B28B-C950-0F63B20F5BA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0BDA6B-38D1-673C-04A3-BDA28F353377}"/>
              </a:ext>
            </a:extLst>
          </p:cNvPr>
          <p:cNvSpPr>
            <a:spLocks noGrp="1"/>
          </p:cNvSpPr>
          <p:nvPr>
            <p:ph type="body" idx="1"/>
          </p:nvPr>
        </p:nvSpPr>
        <p:spPr/>
        <p:txBody>
          <a:bodyPr/>
          <a:lstStyle/>
          <a:p>
            <a:pPr marL="0" algn="r" defTabSz="914400" rtl="1" eaLnBrk="1" latinLnBrk="0" hangingPunct="1"/>
            <a:endParaRPr lang="en-IL" dirty="0"/>
          </a:p>
        </p:txBody>
      </p:sp>
      <p:sp>
        <p:nvSpPr>
          <p:cNvPr id="4" name="Slide Number Placeholder 3">
            <a:extLst>
              <a:ext uri="{FF2B5EF4-FFF2-40B4-BE49-F238E27FC236}">
                <a16:creationId xmlns:a16="http://schemas.microsoft.com/office/drawing/2014/main" id="{17B6989F-53F0-9712-820E-9D4683B1860E}"/>
              </a:ext>
            </a:extLst>
          </p:cNvPr>
          <p:cNvSpPr>
            <a:spLocks noGrp="1"/>
          </p:cNvSpPr>
          <p:nvPr>
            <p:ph type="sldNum" sz="quarter" idx="5"/>
          </p:nvPr>
        </p:nvSpPr>
        <p:spPr/>
        <p:txBody>
          <a:bodyPr/>
          <a:lstStyle/>
          <a:p>
            <a:fld id="{7242DB82-1DC1-9846-88D7-11B539157949}" type="slidenum">
              <a:rPr lang="en-IL" smtClean="0"/>
              <a:t>16</a:t>
            </a:fld>
            <a:endParaRPr lang="en-IL"/>
          </a:p>
        </p:txBody>
      </p:sp>
    </p:spTree>
    <p:extLst>
      <p:ext uri="{BB962C8B-B14F-4D97-AF65-F5344CB8AC3E}">
        <p14:creationId xmlns:p14="http://schemas.microsoft.com/office/powerpoint/2010/main" val="177581362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6BD74F-AEBA-8953-5957-21DA5B5E5A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81FBE0-C4F8-56CC-49FE-4D80F75B166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D1C479-4B61-32ED-2058-C6E2381053B8}"/>
              </a:ext>
            </a:extLst>
          </p:cNvPr>
          <p:cNvSpPr>
            <a:spLocks noGrp="1"/>
          </p:cNvSpPr>
          <p:nvPr>
            <p:ph type="body" idx="1"/>
          </p:nvPr>
        </p:nvSpPr>
        <p:spPr/>
        <p:txBody>
          <a:bodyPr/>
          <a:lstStyle/>
          <a:p>
            <a:pPr marL="0" algn="r" defTabSz="914400" rtl="1" eaLnBrk="1" latinLnBrk="0" hangingPunct="1"/>
            <a:endParaRPr lang="en-IL" dirty="0"/>
          </a:p>
        </p:txBody>
      </p:sp>
      <p:sp>
        <p:nvSpPr>
          <p:cNvPr id="4" name="Slide Number Placeholder 3">
            <a:extLst>
              <a:ext uri="{FF2B5EF4-FFF2-40B4-BE49-F238E27FC236}">
                <a16:creationId xmlns:a16="http://schemas.microsoft.com/office/drawing/2014/main" id="{C540340E-3F34-C6D4-E1EC-5C655231E989}"/>
              </a:ext>
            </a:extLst>
          </p:cNvPr>
          <p:cNvSpPr>
            <a:spLocks noGrp="1"/>
          </p:cNvSpPr>
          <p:nvPr>
            <p:ph type="sldNum" sz="quarter" idx="5"/>
          </p:nvPr>
        </p:nvSpPr>
        <p:spPr/>
        <p:txBody>
          <a:bodyPr/>
          <a:lstStyle/>
          <a:p>
            <a:fld id="{7242DB82-1DC1-9846-88D7-11B539157949}" type="slidenum">
              <a:rPr lang="en-IL" smtClean="0"/>
              <a:t>17</a:t>
            </a:fld>
            <a:endParaRPr lang="en-IL"/>
          </a:p>
        </p:txBody>
      </p:sp>
    </p:spTree>
    <p:extLst>
      <p:ext uri="{BB962C8B-B14F-4D97-AF65-F5344CB8AC3E}">
        <p14:creationId xmlns:p14="http://schemas.microsoft.com/office/powerpoint/2010/main" val="55381881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ACCE8D-9330-B3DB-5B69-D303099550D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B9118-304F-2BE6-8422-0DD687862C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97C7D5-11A5-3A69-7067-279DCBDAB834}"/>
              </a:ext>
            </a:extLst>
          </p:cNvPr>
          <p:cNvSpPr>
            <a:spLocks noGrp="1"/>
          </p:cNvSpPr>
          <p:nvPr>
            <p:ph type="body" idx="1"/>
          </p:nvPr>
        </p:nvSpPr>
        <p:spPr/>
        <p:txBody>
          <a:bodyPr/>
          <a:lstStyle/>
          <a:p>
            <a:r>
              <a:rPr lang="en-US" sz="1200" b="0" i="0" kern="1200" dirty="0">
                <a:solidFill>
                  <a:schemeClr val="tx1"/>
                </a:solidFill>
                <a:effectLst/>
                <a:latin typeface="+mn-lt"/>
                <a:ea typeface="+mn-ea"/>
                <a:cs typeface="+mn-cs"/>
              </a:rPr>
              <a:t>pandas, </a:t>
            </a:r>
            <a:r>
              <a:rPr lang="en-US" sz="1200" b="0" i="0" kern="1200" dirty="0" err="1">
                <a:solidFill>
                  <a:schemeClr val="tx1"/>
                </a:solidFill>
                <a:effectLst/>
                <a:latin typeface="+mn-lt"/>
                <a:ea typeface="+mn-ea"/>
                <a:cs typeface="+mn-cs"/>
              </a:rPr>
              <a:t>numpy</a:t>
            </a:r>
            <a:r>
              <a:rPr lang="he-IL"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data wrangling</a:t>
            </a:r>
          </a:p>
          <a:p>
            <a:r>
              <a:rPr lang="en-US" sz="1200" b="0" i="0" kern="1200" dirty="0" err="1">
                <a:solidFill>
                  <a:schemeClr val="tx1"/>
                </a:solidFill>
                <a:effectLst/>
                <a:latin typeface="+mn-lt"/>
                <a:ea typeface="+mn-ea"/>
                <a:cs typeface="+mn-cs"/>
              </a:rPr>
              <a:t>scipy.stats</a:t>
            </a:r>
            <a:r>
              <a:rPr lang="he-IL"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statistical tests</a:t>
            </a:r>
          </a:p>
          <a:p>
            <a:r>
              <a:rPr lang="en-US" sz="1200" b="0" i="0" kern="1200" dirty="0" err="1">
                <a:solidFill>
                  <a:schemeClr val="tx1"/>
                </a:solidFill>
                <a:effectLst/>
                <a:latin typeface="+mn-lt"/>
                <a:ea typeface="+mn-ea"/>
                <a:cs typeface="+mn-cs"/>
              </a:rPr>
              <a:t>Statsmodels</a:t>
            </a:r>
            <a:r>
              <a:rPr lang="he-IL"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BH FDR correction (</a:t>
            </a:r>
            <a:r>
              <a:rPr lang="en-US" sz="1200" b="0" i="0" kern="1200" dirty="0" err="1">
                <a:solidFill>
                  <a:schemeClr val="tx1"/>
                </a:solidFill>
                <a:effectLst/>
                <a:latin typeface="+mn-lt"/>
                <a:ea typeface="+mn-ea"/>
                <a:cs typeface="+mn-cs"/>
              </a:rPr>
              <a:t>multipletests</a:t>
            </a:r>
            <a:r>
              <a:rPr lang="en-US" sz="1200" b="0" i="0" kern="1200" dirty="0">
                <a:solidFill>
                  <a:schemeClr val="tx1"/>
                </a:solidFill>
                <a:effectLst/>
                <a:latin typeface="+mn-lt"/>
                <a:ea typeface="+mn-ea"/>
                <a:cs typeface="+mn-cs"/>
              </a:rPr>
              <a:t>)</a:t>
            </a:r>
          </a:p>
          <a:p>
            <a:r>
              <a:rPr lang="en-US" sz="1200" b="0" i="0" kern="1200" dirty="0">
                <a:solidFill>
                  <a:schemeClr val="tx1"/>
                </a:solidFill>
                <a:effectLst/>
                <a:latin typeface="+mn-lt"/>
                <a:ea typeface="+mn-ea"/>
                <a:cs typeface="+mn-cs"/>
              </a:rPr>
              <a:t>matplotlib, seaborn</a:t>
            </a:r>
            <a:r>
              <a:rPr lang="he-IL" sz="1200" b="0" i="0" kern="1200" dirty="0">
                <a:solidFill>
                  <a:schemeClr val="tx1"/>
                </a:solidFill>
                <a:effectLst/>
                <a:latin typeface="+mn-lt"/>
                <a:ea typeface="+mn-ea"/>
                <a:cs typeface="+mn-cs"/>
              </a:rPr>
              <a:t>:</a:t>
            </a:r>
            <a:r>
              <a:rPr lang="en-US" sz="1200" b="0" i="0" kern="1200" dirty="0">
                <a:solidFill>
                  <a:schemeClr val="tx1"/>
                </a:solidFill>
                <a:effectLst/>
                <a:latin typeface="+mn-lt"/>
                <a:ea typeface="+mn-ea"/>
                <a:cs typeface="+mn-cs"/>
              </a:rPr>
              <a:t> visualization</a:t>
            </a:r>
          </a:p>
          <a:p>
            <a:br>
              <a:rPr lang="en-US" dirty="0"/>
            </a:br>
            <a:endParaRPr lang="he-IL" dirty="0"/>
          </a:p>
        </p:txBody>
      </p:sp>
      <p:sp>
        <p:nvSpPr>
          <p:cNvPr id="4" name="Slide Number Placeholder 3">
            <a:extLst>
              <a:ext uri="{FF2B5EF4-FFF2-40B4-BE49-F238E27FC236}">
                <a16:creationId xmlns:a16="http://schemas.microsoft.com/office/drawing/2014/main" id="{D056188F-620B-449A-B931-04C627F70D9A}"/>
              </a:ext>
            </a:extLst>
          </p:cNvPr>
          <p:cNvSpPr>
            <a:spLocks noGrp="1"/>
          </p:cNvSpPr>
          <p:nvPr>
            <p:ph type="sldNum" sz="quarter" idx="5"/>
          </p:nvPr>
        </p:nvSpPr>
        <p:spPr/>
        <p:txBody>
          <a:bodyPr/>
          <a:lstStyle/>
          <a:p>
            <a:fld id="{7242DB82-1DC1-9846-88D7-11B539157949}" type="slidenum">
              <a:rPr lang="en-IL" smtClean="0"/>
              <a:t>18</a:t>
            </a:fld>
            <a:endParaRPr lang="en-IL"/>
          </a:p>
        </p:txBody>
      </p:sp>
    </p:spTree>
    <p:extLst>
      <p:ext uri="{BB962C8B-B14F-4D97-AF65-F5344CB8AC3E}">
        <p14:creationId xmlns:p14="http://schemas.microsoft.com/office/powerpoint/2010/main" val="11892198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pPr algn="r"/>
            <a:fld id="{A37D6D71-8B28-4ED6-B932-04B197003D23}" type="datetimeFigureOut">
              <a:rPr lang="en-US" smtClean="0"/>
              <a:pPr algn="r"/>
              <a:t>3/19/26</a:t>
            </a:fld>
            <a:endParaRPr lang="en-US" dirty="0"/>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dirty="0">
              <a:solidFill>
                <a:schemeClr val="bg1"/>
              </a:solidFill>
            </a:endParaRPr>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9100404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2"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Content Placeholder 2"/>
          <p:cNvSpPr>
            <a:spLocks noGrp="1"/>
          </p:cNvSpPr>
          <p:nvPr>
            <p:ph idx="1"/>
          </p:nvPr>
        </p:nvSpPr>
        <p:spPr>
          <a:xfrm>
            <a:off x="581192" y="2180496"/>
            <a:ext cx="11029615" cy="36783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3/19/26</a:t>
            </a:fld>
            <a:endParaRPr lang="en-US" dirty="0"/>
          </a:p>
        </p:txBody>
      </p:sp>
      <p:sp>
        <p:nvSpPr>
          <p:cNvPr id="5" name="Footer Placeholder 4"/>
          <p:cNvSpPr>
            <a:spLocks noGrp="1"/>
          </p:cNvSpPr>
          <p:nvPr>
            <p:ph type="ftr" sz="quarter" idx="11"/>
          </p:nvPr>
        </p:nvSpPr>
        <p:spPr/>
        <p:txBody>
          <a:bodyPr/>
          <a:lstStyle/>
          <a:p>
            <a:endParaRPr lang="en-US" dirty="0">
              <a:solidFill>
                <a:schemeClr val="tx1"/>
              </a:solidFill>
            </a:endParaRPr>
          </a:p>
        </p:txBody>
      </p:sp>
      <p:sp>
        <p:nvSpPr>
          <p:cNvPr id="6" name="Slide Number Placeholder 5"/>
          <p:cNvSpPr>
            <a:spLocks noGrp="1"/>
          </p:cNvSpPr>
          <p:nvPr>
            <p:ph type="sldNum" sz="quarter" idx="12"/>
          </p:nvPr>
        </p:nvSpPr>
        <p:spPr>
          <a:xfrm>
            <a:off x="10558300" y="5956137"/>
            <a:ext cx="1052508" cy="365125"/>
          </a:xfrm>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9706807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pPr algn="r"/>
            <a:fld id="{A37D6D71-8B28-4ED6-B932-04B197003D23}" type="datetimeFigureOut">
              <a:rPr lang="en-US" smtClean="0"/>
              <a:pPr algn="r"/>
              <a:t>3/19/26</a:t>
            </a:fld>
            <a:endParaRPr lang="en-US" dirty="0"/>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solidFill>
                <a:schemeClr val="tx1"/>
              </a:solidFill>
            </a:endParaRPr>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9128834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81193" y="2228003"/>
            <a:ext cx="5422390"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3/19/26</a:t>
            </a:fld>
            <a:endParaRPr lang="en-US" dirty="0"/>
          </a:p>
        </p:txBody>
      </p:sp>
      <p:sp>
        <p:nvSpPr>
          <p:cNvPr id="6" name="Footer Placeholder 5"/>
          <p:cNvSpPr>
            <a:spLocks noGrp="1"/>
          </p:cNvSpPr>
          <p:nvPr>
            <p:ph type="ftr" sz="quarter" idx="11"/>
          </p:nvPr>
        </p:nvSpPr>
        <p:spPr/>
        <p:txBody>
          <a:bodyPr/>
          <a:lstStyle/>
          <a:p>
            <a:endParaRPr lang="en-US" dirty="0">
              <a:solidFill>
                <a:schemeClr val="tx1"/>
              </a:solidFill>
            </a:endParaRPr>
          </a:p>
        </p:txBody>
      </p:sp>
      <p:sp>
        <p:nvSpPr>
          <p:cNvPr id="7" name="Slide Number Placeholder 6"/>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7763677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n-US"/>
              <a:t>Click to edit Master title style</a:t>
            </a:r>
            <a:endParaRPr lang="en-US" dirty="0"/>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lgn="r"/>
            <a:fld id="{A37D6D71-8B28-4ED6-B932-04B197003D23}" type="datetimeFigureOut">
              <a:rPr lang="en-US" smtClean="0"/>
              <a:pPr algn="r"/>
              <a:t>3/19/26</a:t>
            </a:fld>
            <a:endParaRPr lang="en-US" spc="50" dirty="0"/>
          </a:p>
        </p:txBody>
      </p:sp>
      <p:sp>
        <p:nvSpPr>
          <p:cNvPr id="8" name="Footer Placeholder 7"/>
          <p:cNvSpPr>
            <a:spLocks noGrp="1"/>
          </p:cNvSpPr>
          <p:nvPr>
            <p:ph type="ftr" sz="quarter" idx="11"/>
          </p:nvPr>
        </p:nvSpPr>
        <p:spPr/>
        <p:txBody>
          <a:bodyPr/>
          <a:lstStyle/>
          <a:p>
            <a:endParaRPr lang="en-US" spc="50" dirty="0"/>
          </a:p>
        </p:txBody>
      </p:sp>
      <p:sp>
        <p:nvSpPr>
          <p:cNvPr id="9" name="Slide Number Placeholder 8"/>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9842507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lgn="r"/>
            <a:fld id="{A37D6D71-8B28-4ED6-B932-04B197003D23}" type="datetimeFigureOut">
              <a:rPr lang="en-US" smtClean="0"/>
              <a:pPr algn="r"/>
              <a:t>3/19/26</a:t>
            </a:fld>
            <a:endParaRPr lang="en-US" dirty="0"/>
          </a:p>
        </p:txBody>
      </p:sp>
      <p:sp>
        <p:nvSpPr>
          <p:cNvPr id="4" name="Footer Placeholder 3"/>
          <p:cNvSpPr>
            <a:spLocks noGrp="1"/>
          </p:cNvSpPr>
          <p:nvPr>
            <p:ph type="ftr" sz="quarter" idx="11"/>
          </p:nvPr>
        </p:nvSpPr>
        <p:spPr/>
        <p:txBody>
          <a:bodyPr/>
          <a:lstStyle/>
          <a:p>
            <a:endParaRPr lang="en-US" dirty="0">
              <a:solidFill>
                <a:schemeClr val="tx1"/>
              </a:solidFill>
            </a:endParaRPr>
          </a:p>
        </p:txBody>
      </p:sp>
      <p:sp>
        <p:nvSpPr>
          <p:cNvPr id="5" name="Slide Number Placeholder 4"/>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9300684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lgn="r"/>
            <a:fld id="{A37D6D71-8B28-4ED6-B932-04B197003D23}" type="datetimeFigureOut">
              <a:rPr lang="en-US" smtClean="0"/>
              <a:pPr algn="r"/>
              <a:t>3/19/26</a:t>
            </a:fld>
            <a:endParaRPr lang="en-US" dirty="0"/>
          </a:p>
        </p:txBody>
      </p:sp>
      <p:sp>
        <p:nvSpPr>
          <p:cNvPr id="3" name="Footer Placeholder 2"/>
          <p:cNvSpPr>
            <a:spLocks noGrp="1"/>
          </p:cNvSpPr>
          <p:nvPr>
            <p:ph type="ftr" sz="quarter" idx="11"/>
          </p:nvPr>
        </p:nvSpPr>
        <p:spPr/>
        <p:txBody>
          <a:bodyPr/>
          <a:lstStyle/>
          <a:p>
            <a:endParaRPr lang="en-US" dirty="0">
              <a:solidFill>
                <a:schemeClr val="tx1"/>
              </a:solidFill>
            </a:endParaRPr>
          </a:p>
        </p:txBody>
      </p:sp>
      <p:sp>
        <p:nvSpPr>
          <p:cNvPr id="4" name="Slide Number Placeholder 3"/>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0866256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n-US"/>
              <a:t>Click to edit Master title style</a:t>
            </a:r>
            <a:endParaRPr lang="en-US" dirty="0"/>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pPr algn="r"/>
            <a:fld id="{A37D6D71-8B28-4ED6-B932-04B197003D23}" type="datetimeFigureOut">
              <a:rPr lang="en-US" smtClean="0"/>
              <a:pPr algn="r"/>
              <a:t>3/19/26</a:t>
            </a:fld>
            <a:endParaRPr lang="en-US" dirty="0"/>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dirty="0">
              <a:solidFill>
                <a:schemeClr val="tx1"/>
              </a:solidFill>
            </a:endParaRPr>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22509304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lgn="r"/>
            <a:fld id="{A37D6D71-8B28-4ED6-B932-04B197003D23}" type="datetimeFigureOut">
              <a:rPr lang="en-US" smtClean="0"/>
              <a:pPr algn="r"/>
              <a:t>3/19/26</a:t>
            </a:fld>
            <a:endParaRPr lang="en-US" spc="50" dirty="0"/>
          </a:p>
        </p:txBody>
      </p:sp>
      <p:sp>
        <p:nvSpPr>
          <p:cNvPr id="6" name="Footer Placeholder 5"/>
          <p:cNvSpPr>
            <a:spLocks noGrp="1"/>
          </p:cNvSpPr>
          <p:nvPr>
            <p:ph type="ftr" sz="quarter" idx="11"/>
          </p:nvPr>
        </p:nvSpPr>
        <p:spPr/>
        <p:txBody>
          <a:bodyPr/>
          <a:lstStyle/>
          <a:p>
            <a:endParaRPr lang="en-US" spc="50" dirty="0"/>
          </a:p>
        </p:txBody>
      </p:sp>
      <p:sp>
        <p:nvSpPr>
          <p:cNvPr id="7" name="Slide Number Placeholder 6"/>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19016625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lgn="r"/>
            <a:fld id="{A37D6D71-8B28-4ED6-B932-04B197003D23}" type="datetimeFigureOut">
              <a:rPr lang="en-US" smtClean="0"/>
              <a:pPr algn="r"/>
              <a:t>3/19/26</a:t>
            </a:fld>
            <a:endParaRPr lang="en-US" dirty="0"/>
          </a:p>
        </p:txBody>
      </p:sp>
      <p:sp>
        <p:nvSpPr>
          <p:cNvPr id="5" name="Footer Placeholder 4"/>
          <p:cNvSpPr>
            <a:spLocks noGrp="1"/>
          </p:cNvSpPr>
          <p:nvPr>
            <p:ph type="ftr" sz="quarter" idx="11"/>
          </p:nvPr>
        </p:nvSpPr>
        <p:spPr/>
        <p:txBody>
          <a:bodyPr/>
          <a:lstStyle/>
          <a:p>
            <a:endParaRPr lang="en-US" dirty="0">
              <a:solidFill>
                <a:schemeClr val="tx1"/>
              </a:solidFill>
            </a:endParaRPr>
          </a:p>
        </p:txBody>
      </p:sp>
      <p:sp>
        <p:nvSpPr>
          <p:cNvPr id="6" name="Slide Number Placeholder 5"/>
          <p:cNvSpPr>
            <a:spLocks noGrp="1"/>
          </p:cNvSpPr>
          <p:nvPr>
            <p:ph type="sldNum" sz="quarter" idx="12"/>
          </p:nvPr>
        </p:nvSpPr>
        <p:spPr/>
        <p:txBody>
          <a:body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3787376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pPr algn="r"/>
            <a:fld id="{A37D6D71-8B28-4ED6-B932-04B197003D23}" type="datetimeFigureOut">
              <a:rPr lang="en-US" smtClean="0"/>
              <a:pPr algn="r"/>
              <a:t>3/19/26</a:t>
            </a:fld>
            <a:endParaRPr lang="en-US" dirty="0"/>
          </a:p>
        </p:txBody>
      </p:sp>
      <p:sp>
        <p:nvSpPr>
          <p:cNvPr id="5" name="Footer Placeholder 4"/>
          <p:cNvSpPr>
            <a:spLocks noGrp="1"/>
          </p:cNvSpPr>
          <p:nvPr>
            <p:ph type="ftr" sz="quarter" idx="11"/>
          </p:nvPr>
        </p:nvSpPr>
        <p:spPr>
          <a:xfrm>
            <a:off x="774923" y="5951811"/>
            <a:ext cx="7896279" cy="365125"/>
          </a:xfrm>
        </p:spPr>
        <p:txBody>
          <a:bodyPr/>
          <a:lstStyle/>
          <a:p>
            <a:endParaRPr lang="en-US" dirty="0">
              <a:solidFill>
                <a:schemeClr val="tx1"/>
              </a:solidFill>
            </a:endParaRPr>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pPr algn="l"/>
            <a:fld id="{F97E8200-1950-409B-82E7-99938E7AE355}" type="slidenum">
              <a:rPr lang="en-US" smtClean="0"/>
              <a:pPr algn="l"/>
              <a:t>‹#›</a:t>
            </a:fld>
            <a:endParaRPr lang="en-US" dirty="0"/>
          </a:p>
        </p:txBody>
      </p:sp>
    </p:spTree>
    <p:extLst>
      <p:ext uri="{BB962C8B-B14F-4D97-AF65-F5344CB8AC3E}">
        <p14:creationId xmlns:p14="http://schemas.microsoft.com/office/powerpoint/2010/main" val="40464386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pPr algn="r"/>
            <a:fld id="{A37D6D71-8B28-4ED6-B932-04B197003D23}" type="datetimeFigureOut">
              <a:rPr lang="en-US" smtClean="0"/>
              <a:pPr algn="r"/>
              <a:t>3/19/26</a:t>
            </a:fld>
            <a:endParaRPr lang="en-US" spc="50" dirty="0"/>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spc="50" dirty="0"/>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pPr algn="l"/>
            <a:fld id="{F97E8200-1950-409B-82E7-99938E7AE355}" type="slidenum">
              <a:rPr lang="en-US" smtClean="0"/>
              <a:pPr algn="l"/>
              <a:t>‹#›</a:t>
            </a:fld>
            <a:endParaRPr lang="en-US" dirty="0"/>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L"/>
          </a:p>
        </p:txBody>
      </p:sp>
    </p:spTree>
    <p:extLst>
      <p:ext uri="{BB962C8B-B14F-4D97-AF65-F5344CB8AC3E}">
        <p14:creationId xmlns:p14="http://schemas.microsoft.com/office/powerpoint/2010/main" val="3489716901"/>
      </p:ext>
    </p:extLst>
  </p:cSld>
  <p:clrMap bg1="lt1" tx1="dk1" bg2="lt2" tx2="dk2" accent1="accent1" accent2="accent2" accent3="accent3" accent4="accent4" accent5="accent5" accent6="accent6" hlink="hlink" folHlink="folHlink"/>
  <p:sldLayoutIdLst>
    <p:sldLayoutId id="2147484298" r:id="rId1"/>
    <p:sldLayoutId id="2147484299" r:id="rId2"/>
    <p:sldLayoutId id="2147484300" r:id="rId3"/>
    <p:sldLayoutId id="2147484301" r:id="rId4"/>
    <p:sldLayoutId id="2147484302" r:id="rId5"/>
    <p:sldLayoutId id="2147484303" r:id="rId6"/>
    <p:sldLayoutId id="2147484304" r:id="rId7"/>
    <p:sldLayoutId id="2147484305" r:id="rId8"/>
    <p:sldLayoutId id="2147484306" r:id="rId9"/>
    <p:sldLayoutId id="2147484307" r:id="rId10"/>
    <p:sldLayoutId id="2147484308" r:id="rId11"/>
  </p:sldLayoutIdLst>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2A296D-E8F9-B326-5356-2C6AA3E5449E}"/>
              </a:ext>
            </a:extLst>
          </p:cNvPr>
          <p:cNvSpPr>
            <a:spLocks noGrp="1"/>
          </p:cNvSpPr>
          <p:nvPr>
            <p:ph type="ctrTitle"/>
          </p:nvPr>
        </p:nvSpPr>
        <p:spPr>
          <a:xfrm>
            <a:off x="1852977" y="378485"/>
            <a:ext cx="8486046" cy="2876471"/>
          </a:xfrm>
        </p:spPr>
        <p:txBody>
          <a:bodyPr anchor="ctr">
            <a:normAutofit/>
          </a:bodyPr>
          <a:lstStyle/>
          <a:p>
            <a:pPr algn="ctr"/>
            <a:r>
              <a:rPr lang="en-US" dirty="0">
                <a:solidFill>
                  <a:schemeClr val="accent1">
                    <a:lumMod val="50000"/>
                  </a:schemeClr>
                </a:solidFill>
              </a:rPr>
              <a:t>TP53 mutations that are associated with an increased Copy Number Variation</a:t>
            </a:r>
          </a:p>
        </p:txBody>
      </p:sp>
      <p:sp>
        <p:nvSpPr>
          <p:cNvPr id="28" name="TextBox 27">
            <a:extLst>
              <a:ext uri="{FF2B5EF4-FFF2-40B4-BE49-F238E27FC236}">
                <a16:creationId xmlns:a16="http://schemas.microsoft.com/office/drawing/2014/main" id="{F2321456-BD03-93AA-AA0C-5A387C9AA80E}"/>
              </a:ext>
            </a:extLst>
          </p:cNvPr>
          <p:cNvSpPr txBox="1"/>
          <p:nvPr/>
        </p:nvSpPr>
        <p:spPr>
          <a:xfrm>
            <a:off x="3321651" y="4002227"/>
            <a:ext cx="5548698" cy="1384995"/>
          </a:xfrm>
          <a:prstGeom prst="rect">
            <a:avLst/>
          </a:prstGeom>
          <a:noFill/>
        </p:spPr>
        <p:txBody>
          <a:bodyPr wrap="none" rtlCol="0">
            <a:spAutoFit/>
          </a:bodyPr>
          <a:lstStyle/>
          <a:p>
            <a:pPr algn="ctr"/>
            <a:r>
              <a:rPr lang="en-IL" sz="2800" dirty="0">
                <a:solidFill>
                  <a:schemeClr val="bg1"/>
                </a:solidFill>
              </a:rPr>
              <a:t>Cancer Bioinformatics - Final Project</a:t>
            </a:r>
          </a:p>
          <a:p>
            <a:pPr algn="ctr"/>
            <a:r>
              <a:rPr lang="en-IL" sz="2800" dirty="0">
                <a:solidFill>
                  <a:schemeClr val="bg1"/>
                </a:solidFill>
              </a:rPr>
              <a:t>Ornit Bhonkar</a:t>
            </a:r>
          </a:p>
          <a:p>
            <a:pPr algn="ctr"/>
            <a:r>
              <a:rPr lang="en-IL" sz="2800" dirty="0">
                <a:solidFill>
                  <a:schemeClr val="bg1"/>
                </a:solidFill>
              </a:rPr>
              <a:t>March 19, 2026</a:t>
            </a:r>
          </a:p>
        </p:txBody>
      </p:sp>
    </p:spTree>
    <p:extLst>
      <p:ext uri="{BB962C8B-B14F-4D97-AF65-F5344CB8AC3E}">
        <p14:creationId xmlns:p14="http://schemas.microsoft.com/office/powerpoint/2010/main" val="17024518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BEC890-C6AC-F7F4-5276-8742D7AA6E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7D1D69-5D86-686E-31C4-698DA1D1860B}"/>
              </a:ext>
            </a:extLst>
          </p:cNvPr>
          <p:cNvSpPr>
            <a:spLocks noGrp="1"/>
          </p:cNvSpPr>
          <p:nvPr>
            <p:ph type="title"/>
          </p:nvPr>
        </p:nvSpPr>
        <p:spPr>
          <a:xfrm>
            <a:off x="1205046" y="798394"/>
            <a:ext cx="1340261" cy="678651"/>
          </a:xfrm>
        </p:spPr>
        <p:txBody>
          <a:bodyPr>
            <a:normAutofit/>
          </a:bodyPr>
          <a:lstStyle/>
          <a:p>
            <a:r>
              <a:rPr lang="en-US" dirty="0"/>
              <a:t>TP53</a:t>
            </a:r>
            <a:endParaRPr lang="en-IL" dirty="0"/>
          </a:p>
        </p:txBody>
      </p:sp>
      <p:sp>
        <p:nvSpPr>
          <p:cNvPr id="3" name="Content Placeholder 2">
            <a:extLst>
              <a:ext uri="{FF2B5EF4-FFF2-40B4-BE49-F238E27FC236}">
                <a16:creationId xmlns:a16="http://schemas.microsoft.com/office/drawing/2014/main" id="{785414FA-DE03-E189-4DCE-E04D097B7CA7}"/>
              </a:ext>
            </a:extLst>
          </p:cNvPr>
          <p:cNvSpPr txBox="1">
            <a:spLocks/>
          </p:cNvSpPr>
          <p:nvPr/>
        </p:nvSpPr>
        <p:spPr>
          <a:xfrm>
            <a:off x="359208" y="4801891"/>
            <a:ext cx="11473581" cy="1758483"/>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US" sz="2000" dirty="0"/>
              <a:t>TP53 acts as the cellular “superhero” responsible for maintaining genomic integrity. It functions as a stress sensor that responds to DNA damage.</a:t>
            </a:r>
          </a:p>
          <a:p>
            <a:r>
              <a:rPr lang="en-US" sz="2000" dirty="0"/>
              <a:t>When TP53 is functional, it induces DNA repairs or apoptosis. When broken, errors accumulate.</a:t>
            </a:r>
          </a:p>
          <a:p>
            <a:r>
              <a:rPr lang="en-US" sz="2000" dirty="0"/>
              <a:t>TP53 mutations are not binary, and they exist on a spectrum of phenotypic impact.</a:t>
            </a:r>
          </a:p>
        </p:txBody>
      </p:sp>
      <p:pic>
        <p:nvPicPr>
          <p:cNvPr id="8" name="Picture 2" descr="Figure 1">
            <a:extLst>
              <a:ext uri="{FF2B5EF4-FFF2-40B4-BE49-F238E27FC236}">
                <a16:creationId xmlns:a16="http://schemas.microsoft.com/office/drawing/2014/main" id="{9BC91899-43E3-CEDD-FE5D-05DC59AA582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1667"/>
          <a:stretch>
            <a:fillRect/>
          </a:stretch>
        </p:blipFill>
        <p:spPr bwMode="auto">
          <a:xfrm>
            <a:off x="2734115" y="1948624"/>
            <a:ext cx="6723769" cy="2607734"/>
          </a:xfrm>
          <a:prstGeom prst="rect">
            <a:avLst/>
          </a:prstGeom>
          <a:noFill/>
          <a:extLst>
            <a:ext uri="{909E8E84-426E-40DD-AFC4-6F175D3DCCD1}">
              <a14:hiddenFill xmlns:a14="http://schemas.microsoft.com/office/drawing/2010/main">
                <a:solidFill>
                  <a:srgbClr val="FFFFFF"/>
                </a:solidFill>
              </a14:hiddenFill>
            </a:ext>
          </a:extLst>
        </p:spPr>
      </p:pic>
      <p:sp>
        <p:nvSpPr>
          <p:cNvPr id="9" name="TextBox 8">
            <a:extLst>
              <a:ext uri="{FF2B5EF4-FFF2-40B4-BE49-F238E27FC236}">
                <a16:creationId xmlns:a16="http://schemas.microsoft.com/office/drawing/2014/main" id="{0203DC6B-71C6-BA4C-58BA-63AD22A0BAF3}"/>
              </a:ext>
            </a:extLst>
          </p:cNvPr>
          <p:cNvSpPr txBox="1"/>
          <p:nvPr/>
        </p:nvSpPr>
        <p:spPr>
          <a:xfrm>
            <a:off x="446568" y="-1"/>
            <a:ext cx="3712984" cy="468000"/>
          </a:xfrm>
          <a:prstGeom prst="rect">
            <a:avLst/>
          </a:prstGeom>
          <a:solidFill>
            <a:srgbClr val="4D1434"/>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Background</a:t>
            </a:r>
          </a:p>
        </p:txBody>
      </p:sp>
    </p:spTree>
    <p:extLst>
      <p:ext uri="{BB962C8B-B14F-4D97-AF65-F5344CB8AC3E}">
        <p14:creationId xmlns:p14="http://schemas.microsoft.com/office/powerpoint/2010/main" val="1852785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85F7B51-0CB9-849F-CB7E-C7A9B50FC5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6F7E30-26B1-B557-6AD3-D1C25884083D}"/>
              </a:ext>
            </a:extLst>
          </p:cNvPr>
          <p:cNvSpPr>
            <a:spLocks noGrp="1"/>
          </p:cNvSpPr>
          <p:nvPr>
            <p:ph type="title"/>
          </p:nvPr>
        </p:nvSpPr>
        <p:spPr>
          <a:xfrm>
            <a:off x="1175457" y="900752"/>
            <a:ext cx="4714335" cy="576293"/>
          </a:xfrm>
        </p:spPr>
        <p:txBody>
          <a:bodyPr>
            <a:normAutofit/>
          </a:bodyPr>
          <a:lstStyle/>
          <a:p>
            <a:r>
              <a:rPr lang="en-US" dirty="0"/>
              <a:t>Copy Number Variation</a:t>
            </a:r>
            <a:endParaRPr lang="en-IL" dirty="0"/>
          </a:p>
        </p:txBody>
      </p:sp>
      <p:sp>
        <p:nvSpPr>
          <p:cNvPr id="5" name="Content Placeholder 2">
            <a:extLst>
              <a:ext uri="{FF2B5EF4-FFF2-40B4-BE49-F238E27FC236}">
                <a16:creationId xmlns:a16="http://schemas.microsoft.com/office/drawing/2014/main" id="{9D517E4E-D17F-EBB7-61A7-E50879226793}"/>
              </a:ext>
            </a:extLst>
          </p:cNvPr>
          <p:cNvSpPr>
            <a:spLocks noGrp="1"/>
          </p:cNvSpPr>
          <p:nvPr>
            <p:ph idx="1"/>
          </p:nvPr>
        </p:nvSpPr>
        <p:spPr>
          <a:xfrm>
            <a:off x="679569" y="2054792"/>
            <a:ext cx="5706109" cy="3560733"/>
          </a:xfrm>
        </p:spPr>
        <p:txBody>
          <a:bodyPr>
            <a:normAutofit/>
          </a:bodyPr>
          <a:lstStyle/>
          <a:p>
            <a:r>
              <a:rPr lang="en-US" sz="2400" dirty="0"/>
              <a:t>A stretch of DNA where the number of copies differs from the normal two copies.</a:t>
            </a:r>
          </a:p>
          <a:p>
            <a:pPr lvl="1"/>
            <a:r>
              <a:rPr lang="he-IL" sz="2000" dirty="0"/>
              <a:t>   </a:t>
            </a:r>
            <a:r>
              <a:rPr lang="en-US" sz="2000" dirty="0"/>
              <a:t>copies → </a:t>
            </a:r>
            <a:r>
              <a:rPr lang="he-IL" sz="2000" dirty="0"/>
              <a:t>   </a:t>
            </a:r>
            <a:r>
              <a:rPr lang="en-US" sz="2000" dirty="0"/>
              <a:t>RNA → </a:t>
            </a:r>
            <a:r>
              <a:rPr lang="he-IL" sz="2000" dirty="0"/>
              <a:t>   </a:t>
            </a:r>
            <a:r>
              <a:rPr lang="en-US" sz="2000" dirty="0"/>
              <a:t>protein</a:t>
            </a:r>
          </a:p>
          <a:p>
            <a:pPr lvl="1"/>
            <a:r>
              <a:rPr lang="he-IL" sz="2000" dirty="0"/>
              <a:t>   </a:t>
            </a:r>
            <a:r>
              <a:rPr lang="en-US" sz="2000" dirty="0"/>
              <a:t>copies → </a:t>
            </a:r>
            <a:r>
              <a:rPr lang="he-IL" sz="2000" dirty="0"/>
              <a:t> </a:t>
            </a:r>
            <a:r>
              <a:rPr lang="en-US" sz="2000" dirty="0"/>
              <a:t> </a:t>
            </a:r>
            <a:r>
              <a:rPr lang="he-IL" sz="2000" dirty="0"/>
              <a:t> </a:t>
            </a:r>
            <a:r>
              <a:rPr lang="en-US" sz="2000" dirty="0"/>
              <a:t>protein</a:t>
            </a:r>
          </a:p>
          <a:p>
            <a:pPr lvl="1"/>
            <a:r>
              <a:rPr lang="en-US" sz="2000" dirty="0"/>
              <a:t>Example: Oncogene amplification → uncontrolled growth</a:t>
            </a:r>
          </a:p>
        </p:txBody>
      </p:sp>
      <p:pic>
        <p:nvPicPr>
          <p:cNvPr id="6" name="Picture 2">
            <a:extLst>
              <a:ext uri="{FF2B5EF4-FFF2-40B4-BE49-F238E27FC236}">
                <a16:creationId xmlns:a16="http://schemas.microsoft.com/office/drawing/2014/main" id="{CC5A2D30-1AD0-064B-BE91-9654F83A8EB7}"/>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6714699" y="1878725"/>
            <a:ext cx="5097438" cy="4857461"/>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804325B-1D0E-C332-B0BD-75656AD7E274}"/>
              </a:ext>
            </a:extLst>
          </p:cNvPr>
          <p:cNvSpPr txBox="1"/>
          <p:nvPr/>
        </p:nvSpPr>
        <p:spPr>
          <a:xfrm>
            <a:off x="446568" y="-1"/>
            <a:ext cx="3712984" cy="468000"/>
          </a:xfrm>
          <a:prstGeom prst="rect">
            <a:avLst/>
          </a:prstGeom>
          <a:solidFill>
            <a:srgbClr val="4D1434"/>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Background</a:t>
            </a:r>
          </a:p>
        </p:txBody>
      </p:sp>
      <p:sp>
        <p:nvSpPr>
          <p:cNvPr id="10" name="TextBox 9">
            <a:extLst>
              <a:ext uri="{FF2B5EF4-FFF2-40B4-BE49-F238E27FC236}">
                <a16:creationId xmlns:a16="http://schemas.microsoft.com/office/drawing/2014/main" id="{3951447A-2D47-8269-33CF-EF6CBA2182A3}"/>
              </a:ext>
            </a:extLst>
          </p:cNvPr>
          <p:cNvSpPr txBox="1"/>
          <p:nvPr/>
        </p:nvSpPr>
        <p:spPr>
          <a:xfrm>
            <a:off x="1982916" y="5446207"/>
            <a:ext cx="4537570" cy="861774"/>
          </a:xfrm>
          <a:prstGeom prst="rect">
            <a:avLst/>
          </a:prstGeom>
          <a:noFill/>
        </p:spPr>
        <p:txBody>
          <a:bodyPr wrap="square" rtlCol="0">
            <a:spAutoFit/>
          </a:bodyPr>
          <a:lstStyle/>
          <a:p>
            <a:pPr algn="ctr"/>
            <a:r>
              <a:rPr lang="en-US" b="1" dirty="0"/>
              <a:t>(number of base pairs with</a:t>
            </a:r>
            <a:endParaRPr lang="he-IL" b="1" dirty="0"/>
          </a:p>
          <a:p>
            <a:pPr algn="ctr"/>
            <a:r>
              <a:rPr lang="en-US" b="1" dirty="0"/>
              <a:t>copy number gain or loss)</a:t>
            </a:r>
            <a:endParaRPr lang="en-US" dirty="0"/>
          </a:p>
          <a:p>
            <a:pPr algn="ctr"/>
            <a:r>
              <a:rPr lang="he-IL" sz="1200" dirty="0"/>
              <a:t>__________________________________________</a:t>
            </a:r>
            <a:endParaRPr lang="en-IL" sz="1200" dirty="0"/>
          </a:p>
        </p:txBody>
      </p:sp>
      <p:sp>
        <p:nvSpPr>
          <p:cNvPr id="15" name="TextBox 14">
            <a:extLst>
              <a:ext uri="{FF2B5EF4-FFF2-40B4-BE49-F238E27FC236}">
                <a16:creationId xmlns:a16="http://schemas.microsoft.com/office/drawing/2014/main" id="{A02A50E2-0749-D037-202D-B1C97392B1B0}"/>
              </a:ext>
            </a:extLst>
          </p:cNvPr>
          <p:cNvSpPr txBox="1"/>
          <p:nvPr/>
        </p:nvSpPr>
        <p:spPr>
          <a:xfrm>
            <a:off x="538717" y="5479150"/>
            <a:ext cx="1280293" cy="1200329"/>
          </a:xfrm>
          <a:prstGeom prst="rect">
            <a:avLst/>
          </a:prstGeom>
          <a:noFill/>
        </p:spPr>
        <p:txBody>
          <a:bodyPr wrap="square" rtlCol="0">
            <a:spAutoFit/>
          </a:bodyPr>
          <a:lstStyle/>
          <a:p>
            <a:pPr rtl="1"/>
            <a:r>
              <a:rPr lang="en-US" b="1" dirty="0">
                <a:solidFill>
                  <a:srgbClr val="FF0000"/>
                </a:solidFill>
              </a:rPr>
              <a:t>Fraction Genome Altered (FGA)</a:t>
            </a:r>
            <a:endParaRPr lang="en-IL" dirty="0"/>
          </a:p>
        </p:txBody>
      </p:sp>
      <p:sp>
        <p:nvSpPr>
          <p:cNvPr id="16" name="TextBox 15">
            <a:extLst>
              <a:ext uri="{FF2B5EF4-FFF2-40B4-BE49-F238E27FC236}">
                <a16:creationId xmlns:a16="http://schemas.microsoft.com/office/drawing/2014/main" id="{E9E03FD2-8AFA-095B-15B1-E939AF3DF244}"/>
              </a:ext>
            </a:extLst>
          </p:cNvPr>
          <p:cNvSpPr txBox="1"/>
          <p:nvPr/>
        </p:nvSpPr>
        <p:spPr>
          <a:xfrm>
            <a:off x="1816180" y="5894648"/>
            <a:ext cx="364202" cy="461665"/>
          </a:xfrm>
          <a:prstGeom prst="rect">
            <a:avLst/>
          </a:prstGeom>
          <a:noFill/>
        </p:spPr>
        <p:txBody>
          <a:bodyPr wrap="none" rtlCol="0">
            <a:spAutoFit/>
          </a:bodyPr>
          <a:lstStyle/>
          <a:p>
            <a:pPr marL="0" algn="r" defTabSz="457200" rtl="1" eaLnBrk="1" latinLnBrk="0" hangingPunct="1"/>
            <a:r>
              <a:rPr lang="he-IL" sz="2400" dirty="0"/>
              <a:t>=</a:t>
            </a:r>
            <a:endParaRPr lang="en-IL" sz="2400" dirty="0"/>
          </a:p>
        </p:txBody>
      </p:sp>
      <p:sp>
        <p:nvSpPr>
          <p:cNvPr id="17" name="TextBox 16">
            <a:extLst>
              <a:ext uri="{FF2B5EF4-FFF2-40B4-BE49-F238E27FC236}">
                <a16:creationId xmlns:a16="http://schemas.microsoft.com/office/drawing/2014/main" id="{7664A01E-F97B-1E8C-7323-7A19C70DF8C7}"/>
              </a:ext>
            </a:extLst>
          </p:cNvPr>
          <p:cNvSpPr txBox="1"/>
          <p:nvPr/>
        </p:nvSpPr>
        <p:spPr>
          <a:xfrm>
            <a:off x="2806914" y="6312380"/>
            <a:ext cx="2889574" cy="369332"/>
          </a:xfrm>
          <a:prstGeom prst="rect">
            <a:avLst/>
          </a:prstGeom>
          <a:noFill/>
        </p:spPr>
        <p:txBody>
          <a:bodyPr wrap="none" rtlCol="0">
            <a:spAutoFit/>
          </a:bodyPr>
          <a:lstStyle/>
          <a:p>
            <a:pPr algn="r" rtl="1"/>
            <a:r>
              <a:rPr lang="en-US" b="1" dirty="0"/>
              <a:t>(total base pairs profiled)</a:t>
            </a:r>
            <a:endParaRPr lang="en-IL" dirty="0"/>
          </a:p>
        </p:txBody>
      </p:sp>
      <p:sp>
        <p:nvSpPr>
          <p:cNvPr id="19" name="Down Arrow 18">
            <a:extLst>
              <a:ext uri="{FF2B5EF4-FFF2-40B4-BE49-F238E27FC236}">
                <a16:creationId xmlns:a16="http://schemas.microsoft.com/office/drawing/2014/main" id="{1615CDF4-29E7-1281-FF3C-8851781293A4}"/>
              </a:ext>
            </a:extLst>
          </p:cNvPr>
          <p:cNvSpPr/>
          <p:nvPr/>
        </p:nvSpPr>
        <p:spPr>
          <a:xfrm>
            <a:off x="1346792" y="4165688"/>
            <a:ext cx="205561" cy="320392"/>
          </a:xfrm>
          <a:prstGeom prst="downArrow">
            <a:avLst/>
          </a:prstGeom>
          <a:solidFill>
            <a:srgbClr val="FF000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algn="ctr" defTabSz="457200" rtl="1" eaLnBrk="1" latinLnBrk="0" hangingPunct="1"/>
            <a:endParaRPr lang="en-IL"/>
          </a:p>
        </p:txBody>
      </p:sp>
      <p:sp>
        <p:nvSpPr>
          <p:cNvPr id="20" name="Down Arrow 19">
            <a:extLst>
              <a:ext uri="{FF2B5EF4-FFF2-40B4-BE49-F238E27FC236}">
                <a16:creationId xmlns:a16="http://schemas.microsoft.com/office/drawing/2014/main" id="{B652A589-60E1-219C-4767-B1457DE37F46}"/>
              </a:ext>
            </a:extLst>
          </p:cNvPr>
          <p:cNvSpPr/>
          <p:nvPr/>
        </p:nvSpPr>
        <p:spPr>
          <a:xfrm>
            <a:off x="2601353" y="4177036"/>
            <a:ext cx="205561" cy="320392"/>
          </a:xfrm>
          <a:prstGeom prst="downArrow">
            <a:avLst/>
          </a:prstGeom>
          <a:solidFill>
            <a:srgbClr val="FF000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algn="ctr" defTabSz="457200" rtl="1" eaLnBrk="1" latinLnBrk="0" hangingPunct="1"/>
            <a:endParaRPr lang="en-IL"/>
          </a:p>
        </p:txBody>
      </p:sp>
      <p:sp>
        <p:nvSpPr>
          <p:cNvPr id="21" name="Down Arrow 20">
            <a:extLst>
              <a:ext uri="{FF2B5EF4-FFF2-40B4-BE49-F238E27FC236}">
                <a16:creationId xmlns:a16="http://schemas.microsoft.com/office/drawing/2014/main" id="{B837372D-F0E1-DD72-35FE-69007F005E83}"/>
              </a:ext>
            </a:extLst>
          </p:cNvPr>
          <p:cNvSpPr/>
          <p:nvPr/>
        </p:nvSpPr>
        <p:spPr>
          <a:xfrm rot="10800000">
            <a:off x="1346791" y="3716619"/>
            <a:ext cx="205561" cy="320392"/>
          </a:xfrm>
          <a:prstGeom prst="downArrow">
            <a:avLst/>
          </a:prstGeom>
          <a:solidFill>
            <a:srgbClr val="00B05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algn="ctr" defTabSz="457200" rtl="1" eaLnBrk="1" latinLnBrk="0" hangingPunct="1"/>
            <a:endParaRPr lang="en-IL"/>
          </a:p>
        </p:txBody>
      </p:sp>
      <p:sp>
        <p:nvSpPr>
          <p:cNvPr id="22" name="Down Arrow 21">
            <a:extLst>
              <a:ext uri="{FF2B5EF4-FFF2-40B4-BE49-F238E27FC236}">
                <a16:creationId xmlns:a16="http://schemas.microsoft.com/office/drawing/2014/main" id="{EBBC11A4-FD48-A96F-CA7C-93D4B47CF5A8}"/>
              </a:ext>
            </a:extLst>
          </p:cNvPr>
          <p:cNvSpPr/>
          <p:nvPr/>
        </p:nvSpPr>
        <p:spPr>
          <a:xfrm rot="10800000">
            <a:off x="2601353" y="3694249"/>
            <a:ext cx="205561" cy="320392"/>
          </a:xfrm>
          <a:prstGeom prst="downArrow">
            <a:avLst/>
          </a:prstGeom>
          <a:solidFill>
            <a:srgbClr val="00B05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algn="ctr" defTabSz="457200" rtl="1" eaLnBrk="1" latinLnBrk="0" hangingPunct="1"/>
            <a:endParaRPr lang="en-IL"/>
          </a:p>
        </p:txBody>
      </p:sp>
      <p:sp>
        <p:nvSpPr>
          <p:cNvPr id="23" name="Down Arrow 22">
            <a:extLst>
              <a:ext uri="{FF2B5EF4-FFF2-40B4-BE49-F238E27FC236}">
                <a16:creationId xmlns:a16="http://schemas.microsoft.com/office/drawing/2014/main" id="{0A19F019-0476-9785-84CC-F0FF1420E352}"/>
              </a:ext>
            </a:extLst>
          </p:cNvPr>
          <p:cNvSpPr/>
          <p:nvPr/>
        </p:nvSpPr>
        <p:spPr>
          <a:xfrm rot="10800000">
            <a:off x="3753133" y="3716619"/>
            <a:ext cx="205561" cy="320392"/>
          </a:xfrm>
          <a:prstGeom prst="downArrow">
            <a:avLst/>
          </a:prstGeom>
          <a:solidFill>
            <a:srgbClr val="00B050"/>
          </a:solidFill>
          <a:ln>
            <a:no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algn="ctr" defTabSz="457200" rtl="1" eaLnBrk="1" latinLnBrk="0" hangingPunct="1"/>
            <a:endParaRPr lang="en-IL"/>
          </a:p>
        </p:txBody>
      </p:sp>
    </p:spTree>
    <p:extLst>
      <p:ext uri="{BB962C8B-B14F-4D97-AF65-F5344CB8AC3E}">
        <p14:creationId xmlns:p14="http://schemas.microsoft.com/office/powerpoint/2010/main" val="1299099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5" grpId="0"/>
      <p:bldP spid="16" grpId="0"/>
      <p:bldP spid="17"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D78DBB-44CA-8953-BAA3-D911E61766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BE1891-06CD-1C02-0414-011F0217D8C4}"/>
              </a:ext>
            </a:extLst>
          </p:cNvPr>
          <p:cNvSpPr>
            <a:spLocks noGrp="1"/>
          </p:cNvSpPr>
          <p:nvPr>
            <p:ph type="title"/>
          </p:nvPr>
        </p:nvSpPr>
        <p:spPr>
          <a:xfrm>
            <a:off x="1170052" y="774559"/>
            <a:ext cx="6750756" cy="688622"/>
          </a:xfrm>
        </p:spPr>
        <p:txBody>
          <a:bodyPr>
            <a:normAutofit/>
          </a:bodyPr>
          <a:lstStyle/>
          <a:p>
            <a:r>
              <a:rPr lang="en-US" dirty="0"/>
              <a:t>Experimental Functional Score</a:t>
            </a:r>
            <a:endParaRPr lang="en-IL" dirty="0"/>
          </a:p>
        </p:txBody>
      </p:sp>
      <p:grpSp>
        <p:nvGrpSpPr>
          <p:cNvPr id="7" name="Group 6">
            <a:extLst>
              <a:ext uri="{FF2B5EF4-FFF2-40B4-BE49-F238E27FC236}">
                <a16:creationId xmlns:a16="http://schemas.microsoft.com/office/drawing/2014/main" id="{3C919F62-B5BF-D929-2843-8ABB25266375}"/>
              </a:ext>
            </a:extLst>
          </p:cNvPr>
          <p:cNvGrpSpPr/>
          <p:nvPr/>
        </p:nvGrpSpPr>
        <p:grpSpPr>
          <a:xfrm>
            <a:off x="3867222" y="4593166"/>
            <a:ext cx="1459397" cy="1460406"/>
            <a:chOff x="9094660" y="1419321"/>
            <a:chExt cx="1663059" cy="1664208"/>
          </a:xfrm>
        </p:grpSpPr>
        <p:sp>
          <p:nvSpPr>
            <p:cNvPr id="8" name="Oval 7">
              <a:extLst>
                <a:ext uri="{FF2B5EF4-FFF2-40B4-BE49-F238E27FC236}">
                  <a16:creationId xmlns:a16="http://schemas.microsoft.com/office/drawing/2014/main" id="{05B62530-1BD2-AD91-8DDB-A19CAC48CF63}"/>
                </a:ext>
              </a:extLst>
            </p:cNvPr>
            <p:cNvSpPr/>
            <p:nvPr/>
          </p:nvSpPr>
          <p:spPr>
            <a:xfrm>
              <a:off x="9094660" y="1419321"/>
              <a:ext cx="1663059" cy="1664208"/>
            </a:xfrm>
            <a:prstGeom prst="ellipse">
              <a:avLst/>
            </a:prstGeom>
            <a:solidFill>
              <a:schemeClr val="bg1">
                <a:lumMod val="95000"/>
              </a:schemeClr>
            </a:solidFill>
            <a:ln w="12700">
              <a:miter lim="400000"/>
            </a:ln>
            <a:effectLst>
              <a:outerShdw blurRad="254000" dist="190500" dir="13500000" algn="tl" rotWithShape="0">
                <a:schemeClr val="bg1"/>
              </a:outerShdw>
            </a:effectLst>
          </p:spPr>
          <p:txBody>
            <a:bodyPr lIns="28575" tIns="28575" rIns="28575" bIns="28575" anchor="ctr"/>
            <a:lstStyle/>
            <a:p>
              <a:endParaRPr lang="en-US" sz="2400">
                <a:solidFill>
                  <a:srgbClr val="FFFFFF"/>
                </a:solidFill>
              </a:endParaRPr>
            </a:p>
          </p:txBody>
        </p:sp>
        <p:sp>
          <p:nvSpPr>
            <p:cNvPr id="9" name="Oval 8">
              <a:extLst>
                <a:ext uri="{FF2B5EF4-FFF2-40B4-BE49-F238E27FC236}">
                  <a16:creationId xmlns:a16="http://schemas.microsoft.com/office/drawing/2014/main" id="{DE23DAB0-7AD3-659B-646F-007313A4B0C9}"/>
                </a:ext>
              </a:extLst>
            </p:cNvPr>
            <p:cNvSpPr/>
            <p:nvPr/>
          </p:nvSpPr>
          <p:spPr>
            <a:xfrm>
              <a:off x="9094660" y="1419321"/>
              <a:ext cx="1663059" cy="1664208"/>
            </a:xfrm>
            <a:prstGeom prst="ellipse">
              <a:avLst/>
            </a:prstGeom>
            <a:solidFill>
              <a:srgbClr val="F1EFF0"/>
            </a:solidFill>
            <a:ln w="12700">
              <a:miter lim="400000"/>
            </a:ln>
            <a:effectLst>
              <a:outerShdw blurRad="254000" dist="190500" dir="2700000" algn="tl" rotWithShape="0">
                <a:schemeClr val="bg1">
                  <a:lumMod val="75000"/>
                  <a:alpha val="40000"/>
                </a:schemeClr>
              </a:outerShdw>
            </a:effectLst>
          </p:spPr>
          <p:txBody>
            <a:bodyPr lIns="28575" tIns="28575" rIns="28575" bIns="28575" anchor="ctr"/>
            <a:lstStyle/>
            <a:p>
              <a:pPr algn="ctr"/>
              <a:r>
                <a:rPr lang="en-US" sz="2400" b="1" dirty="0"/>
                <a:t>2</a:t>
              </a:r>
            </a:p>
          </p:txBody>
        </p:sp>
      </p:grpSp>
      <p:grpSp>
        <p:nvGrpSpPr>
          <p:cNvPr id="10" name="Group 9">
            <a:extLst>
              <a:ext uri="{FF2B5EF4-FFF2-40B4-BE49-F238E27FC236}">
                <a16:creationId xmlns:a16="http://schemas.microsoft.com/office/drawing/2014/main" id="{1607EF1A-442A-0953-02FA-06BBFF268FC4}"/>
              </a:ext>
            </a:extLst>
          </p:cNvPr>
          <p:cNvGrpSpPr/>
          <p:nvPr/>
        </p:nvGrpSpPr>
        <p:grpSpPr>
          <a:xfrm>
            <a:off x="6865383" y="4593166"/>
            <a:ext cx="1459397" cy="1460406"/>
            <a:chOff x="9094660" y="1419321"/>
            <a:chExt cx="1663059" cy="1664208"/>
          </a:xfrm>
        </p:grpSpPr>
        <p:sp>
          <p:nvSpPr>
            <p:cNvPr id="14" name="Oval 13">
              <a:extLst>
                <a:ext uri="{FF2B5EF4-FFF2-40B4-BE49-F238E27FC236}">
                  <a16:creationId xmlns:a16="http://schemas.microsoft.com/office/drawing/2014/main" id="{0A15A1CB-8B3F-B5D0-F494-B87727E4C264}"/>
                </a:ext>
              </a:extLst>
            </p:cNvPr>
            <p:cNvSpPr/>
            <p:nvPr/>
          </p:nvSpPr>
          <p:spPr>
            <a:xfrm>
              <a:off x="9094660" y="1419321"/>
              <a:ext cx="1663059" cy="1664208"/>
            </a:xfrm>
            <a:prstGeom prst="ellipse">
              <a:avLst/>
            </a:prstGeom>
            <a:solidFill>
              <a:schemeClr val="bg1">
                <a:lumMod val="95000"/>
              </a:schemeClr>
            </a:solidFill>
            <a:ln w="12700">
              <a:miter lim="400000"/>
            </a:ln>
            <a:effectLst>
              <a:outerShdw blurRad="254000" dist="190500" dir="13500000" algn="tl" rotWithShape="0">
                <a:schemeClr val="bg1"/>
              </a:outerShdw>
            </a:effectLst>
          </p:spPr>
          <p:txBody>
            <a:bodyPr lIns="28575" tIns="28575" rIns="28575" bIns="28575" anchor="ctr"/>
            <a:lstStyle/>
            <a:p>
              <a:endParaRPr lang="en-US" sz="2400">
                <a:solidFill>
                  <a:srgbClr val="FFFFFF"/>
                </a:solidFill>
              </a:endParaRPr>
            </a:p>
          </p:txBody>
        </p:sp>
        <p:sp>
          <p:nvSpPr>
            <p:cNvPr id="15" name="Oval 14">
              <a:extLst>
                <a:ext uri="{FF2B5EF4-FFF2-40B4-BE49-F238E27FC236}">
                  <a16:creationId xmlns:a16="http://schemas.microsoft.com/office/drawing/2014/main" id="{33C8F5EC-EC64-A858-CEB0-2B6F1D0E5C0F}"/>
                </a:ext>
              </a:extLst>
            </p:cNvPr>
            <p:cNvSpPr/>
            <p:nvPr/>
          </p:nvSpPr>
          <p:spPr>
            <a:xfrm>
              <a:off x="9094660" y="1419321"/>
              <a:ext cx="1663059" cy="1664208"/>
            </a:xfrm>
            <a:prstGeom prst="ellipse">
              <a:avLst/>
            </a:prstGeom>
            <a:solidFill>
              <a:srgbClr val="F1EFF0"/>
            </a:solidFill>
            <a:ln w="12700">
              <a:miter lim="400000"/>
            </a:ln>
            <a:effectLst>
              <a:outerShdw blurRad="254000" dist="190500" dir="2700000" algn="tl" rotWithShape="0">
                <a:schemeClr val="bg1">
                  <a:lumMod val="75000"/>
                  <a:alpha val="40000"/>
                </a:schemeClr>
              </a:outerShdw>
            </a:effectLst>
          </p:spPr>
          <p:txBody>
            <a:bodyPr lIns="28575" tIns="28575" rIns="28575" bIns="28575" anchor="ctr"/>
            <a:lstStyle/>
            <a:p>
              <a:pPr algn="ctr"/>
              <a:r>
                <a:rPr lang="en-US" sz="2400" b="1" dirty="0"/>
                <a:t>3</a:t>
              </a:r>
            </a:p>
          </p:txBody>
        </p:sp>
      </p:grpSp>
      <p:grpSp>
        <p:nvGrpSpPr>
          <p:cNvPr id="16" name="Group 15">
            <a:extLst>
              <a:ext uri="{FF2B5EF4-FFF2-40B4-BE49-F238E27FC236}">
                <a16:creationId xmlns:a16="http://schemas.microsoft.com/office/drawing/2014/main" id="{DDD2CA11-ADD6-0E64-CDF8-A58319B47FA5}"/>
              </a:ext>
            </a:extLst>
          </p:cNvPr>
          <p:cNvGrpSpPr/>
          <p:nvPr/>
        </p:nvGrpSpPr>
        <p:grpSpPr>
          <a:xfrm>
            <a:off x="4545430" y="3178295"/>
            <a:ext cx="3112039" cy="2812279"/>
            <a:chOff x="8212798" y="998309"/>
            <a:chExt cx="3546329" cy="3204737"/>
          </a:xfrm>
        </p:grpSpPr>
        <p:sp>
          <p:nvSpPr>
            <p:cNvPr id="17" name="Shape">
              <a:extLst>
                <a:ext uri="{FF2B5EF4-FFF2-40B4-BE49-F238E27FC236}">
                  <a16:creationId xmlns:a16="http://schemas.microsoft.com/office/drawing/2014/main" id="{2A32926C-890B-9A62-C0EE-F11AE4713D84}"/>
                </a:ext>
              </a:extLst>
            </p:cNvPr>
            <p:cNvSpPr/>
            <p:nvPr/>
          </p:nvSpPr>
          <p:spPr>
            <a:xfrm>
              <a:off x="8212798" y="998309"/>
              <a:ext cx="3546329" cy="3204737"/>
            </a:xfrm>
            <a:custGeom>
              <a:avLst/>
              <a:gdLst/>
              <a:ahLst/>
              <a:cxnLst>
                <a:cxn ang="0">
                  <a:pos x="wd2" y="hd2"/>
                </a:cxn>
                <a:cxn ang="5400000">
                  <a:pos x="wd2" y="hd2"/>
                </a:cxn>
                <a:cxn ang="10800000">
                  <a:pos x="wd2" y="hd2"/>
                </a:cxn>
                <a:cxn ang="16200000">
                  <a:pos x="wd2" y="hd2"/>
                </a:cxn>
              </a:cxnLst>
              <a:rect l="0" t="0" r="r" b="b"/>
              <a:pathLst>
                <a:path w="21600" h="21600" extrusionOk="0">
                  <a:moveTo>
                    <a:pt x="13725" y="15733"/>
                  </a:moveTo>
                  <a:cubicBezTo>
                    <a:pt x="13725" y="11853"/>
                    <a:pt x="16569" y="8707"/>
                    <a:pt x="20074" y="8707"/>
                  </a:cubicBezTo>
                  <a:cubicBezTo>
                    <a:pt x="20598" y="8707"/>
                    <a:pt x="21108" y="8777"/>
                    <a:pt x="21600" y="8909"/>
                  </a:cubicBezTo>
                  <a:cubicBezTo>
                    <a:pt x="21405" y="5260"/>
                    <a:pt x="19734" y="2051"/>
                    <a:pt x="17231" y="0"/>
                  </a:cubicBezTo>
                  <a:cubicBezTo>
                    <a:pt x="16348" y="3000"/>
                    <a:pt x="13801" y="5170"/>
                    <a:pt x="10800" y="5170"/>
                  </a:cubicBezTo>
                  <a:cubicBezTo>
                    <a:pt x="7793" y="5170"/>
                    <a:pt x="5246" y="3000"/>
                    <a:pt x="4369" y="0"/>
                  </a:cubicBezTo>
                  <a:cubicBezTo>
                    <a:pt x="1873" y="2044"/>
                    <a:pt x="202" y="5247"/>
                    <a:pt x="0" y="8888"/>
                  </a:cubicBezTo>
                  <a:cubicBezTo>
                    <a:pt x="467" y="8763"/>
                    <a:pt x="958" y="8700"/>
                    <a:pt x="1463" y="8700"/>
                  </a:cubicBezTo>
                  <a:cubicBezTo>
                    <a:pt x="4968" y="8700"/>
                    <a:pt x="7812" y="11847"/>
                    <a:pt x="7812" y="15726"/>
                  </a:cubicBezTo>
                  <a:cubicBezTo>
                    <a:pt x="7812" y="17547"/>
                    <a:pt x="7187" y="19200"/>
                    <a:pt x="6166" y="20449"/>
                  </a:cubicBezTo>
                  <a:cubicBezTo>
                    <a:pt x="7572" y="21188"/>
                    <a:pt x="9148" y="21600"/>
                    <a:pt x="10806" y="21600"/>
                  </a:cubicBezTo>
                  <a:cubicBezTo>
                    <a:pt x="12452" y="21600"/>
                    <a:pt x="14009" y="21195"/>
                    <a:pt x="15402" y="20470"/>
                  </a:cubicBezTo>
                  <a:cubicBezTo>
                    <a:pt x="14356" y="19228"/>
                    <a:pt x="13725" y="17560"/>
                    <a:pt x="13725" y="15733"/>
                  </a:cubicBezTo>
                  <a:close/>
                </a:path>
              </a:pathLst>
            </a:custGeom>
            <a:solidFill>
              <a:schemeClr val="bg1">
                <a:lumMod val="95000"/>
              </a:schemeClr>
            </a:solidFill>
            <a:ln w="12700">
              <a:miter lim="400000"/>
            </a:ln>
            <a:effectLst>
              <a:outerShdw blurRad="254000" dist="190500" dir="13500000" algn="tl" rotWithShape="0">
                <a:schemeClr val="bg1"/>
              </a:outerShdw>
            </a:effectLst>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2250">
                <a:solidFill>
                  <a:srgbClr val="FFFFFF"/>
                </a:solidFill>
              </a:endParaRPr>
            </a:p>
          </p:txBody>
        </p:sp>
        <p:sp>
          <p:nvSpPr>
            <p:cNvPr id="18" name="Shape">
              <a:extLst>
                <a:ext uri="{FF2B5EF4-FFF2-40B4-BE49-F238E27FC236}">
                  <a16:creationId xmlns:a16="http://schemas.microsoft.com/office/drawing/2014/main" id="{41A222E0-99DB-AE50-9B6E-33151204F8E6}"/>
                </a:ext>
              </a:extLst>
            </p:cNvPr>
            <p:cNvSpPr/>
            <p:nvPr/>
          </p:nvSpPr>
          <p:spPr>
            <a:xfrm>
              <a:off x="8212798" y="998309"/>
              <a:ext cx="3546329" cy="3204737"/>
            </a:xfrm>
            <a:custGeom>
              <a:avLst/>
              <a:gdLst/>
              <a:ahLst/>
              <a:cxnLst>
                <a:cxn ang="0">
                  <a:pos x="wd2" y="hd2"/>
                </a:cxn>
                <a:cxn ang="5400000">
                  <a:pos x="wd2" y="hd2"/>
                </a:cxn>
                <a:cxn ang="10800000">
                  <a:pos x="wd2" y="hd2"/>
                </a:cxn>
                <a:cxn ang="16200000">
                  <a:pos x="wd2" y="hd2"/>
                </a:cxn>
              </a:cxnLst>
              <a:rect l="0" t="0" r="r" b="b"/>
              <a:pathLst>
                <a:path w="21600" h="21600" extrusionOk="0">
                  <a:moveTo>
                    <a:pt x="13725" y="15733"/>
                  </a:moveTo>
                  <a:cubicBezTo>
                    <a:pt x="13725" y="11853"/>
                    <a:pt x="16569" y="8707"/>
                    <a:pt x="20074" y="8707"/>
                  </a:cubicBezTo>
                  <a:cubicBezTo>
                    <a:pt x="20598" y="8707"/>
                    <a:pt x="21108" y="8777"/>
                    <a:pt x="21600" y="8909"/>
                  </a:cubicBezTo>
                  <a:cubicBezTo>
                    <a:pt x="21405" y="5260"/>
                    <a:pt x="19734" y="2051"/>
                    <a:pt x="17231" y="0"/>
                  </a:cubicBezTo>
                  <a:cubicBezTo>
                    <a:pt x="16348" y="3000"/>
                    <a:pt x="13801" y="5170"/>
                    <a:pt x="10800" y="5170"/>
                  </a:cubicBezTo>
                  <a:cubicBezTo>
                    <a:pt x="7793" y="5170"/>
                    <a:pt x="5246" y="3000"/>
                    <a:pt x="4369" y="0"/>
                  </a:cubicBezTo>
                  <a:cubicBezTo>
                    <a:pt x="1873" y="2044"/>
                    <a:pt x="202" y="5247"/>
                    <a:pt x="0" y="8888"/>
                  </a:cubicBezTo>
                  <a:cubicBezTo>
                    <a:pt x="467" y="8763"/>
                    <a:pt x="958" y="8700"/>
                    <a:pt x="1463" y="8700"/>
                  </a:cubicBezTo>
                  <a:cubicBezTo>
                    <a:pt x="4968" y="8700"/>
                    <a:pt x="7812" y="11847"/>
                    <a:pt x="7812" y="15726"/>
                  </a:cubicBezTo>
                  <a:cubicBezTo>
                    <a:pt x="7812" y="17547"/>
                    <a:pt x="7187" y="19200"/>
                    <a:pt x="6166" y="20449"/>
                  </a:cubicBezTo>
                  <a:cubicBezTo>
                    <a:pt x="7572" y="21188"/>
                    <a:pt x="9148" y="21600"/>
                    <a:pt x="10806" y="21600"/>
                  </a:cubicBezTo>
                  <a:cubicBezTo>
                    <a:pt x="12452" y="21600"/>
                    <a:pt x="14009" y="21195"/>
                    <a:pt x="15402" y="20470"/>
                  </a:cubicBezTo>
                  <a:cubicBezTo>
                    <a:pt x="14356" y="19228"/>
                    <a:pt x="13725" y="17560"/>
                    <a:pt x="13725" y="15733"/>
                  </a:cubicBezTo>
                  <a:close/>
                </a:path>
              </a:pathLst>
            </a:custGeom>
            <a:solidFill>
              <a:schemeClr val="bg1">
                <a:lumMod val="95000"/>
              </a:schemeClr>
            </a:solidFill>
            <a:ln w="12700">
              <a:miter lim="400000"/>
            </a:ln>
            <a:effectLst>
              <a:outerShdw blurRad="254000" dist="190500" dir="2700000" algn="tl" rotWithShape="0">
                <a:schemeClr val="bg1">
                  <a:lumMod val="75000"/>
                  <a:alpha val="40000"/>
                </a:schemeClr>
              </a:outerShdw>
            </a:effectLst>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2250" dirty="0">
                <a:solidFill>
                  <a:srgbClr val="FFFFFF"/>
                </a:solidFill>
              </a:endParaRPr>
            </a:p>
          </p:txBody>
        </p:sp>
      </p:grpSp>
      <p:pic>
        <p:nvPicPr>
          <p:cNvPr id="19" name="Graphic 31" descr="Lights On">
            <a:extLst>
              <a:ext uri="{FF2B5EF4-FFF2-40B4-BE49-F238E27FC236}">
                <a16:creationId xmlns:a16="http://schemas.microsoft.com/office/drawing/2014/main" id="{C8007DE2-5BD9-5C67-0B28-F7352639D91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3853" y="4424362"/>
            <a:ext cx="764292" cy="764292"/>
          </a:xfrm>
          <a:prstGeom prst="rect">
            <a:avLst/>
          </a:prstGeom>
        </p:spPr>
      </p:pic>
      <p:sp>
        <p:nvSpPr>
          <p:cNvPr id="20" name="TextBox 13">
            <a:extLst>
              <a:ext uri="{FF2B5EF4-FFF2-40B4-BE49-F238E27FC236}">
                <a16:creationId xmlns:a16="http://schemas.microsoft.com/office/drawing/2014/main" id="{8081AE7B-E1AE-6078-E090-43B40CDF16D5}"/>
              </a:ext>
            </a:extLst>
          </p:cNvPr>
          <p:cNvSpPr txBox="1"/>
          <p:nvPr/>
        </p:nvSpPr>
        <p:spPr>
          <a:xfrm>
            <a:off x="5219477" y="3971152"/>
            <a:ext cx="1743042" cy="415498"/>
          </a:xfrm>
          <a:prstGeom prst="rect">
            <a:avLst/>
          </a:prstGeom>
          <a:noFill/>
        </p:spPr>
        <p:txBody>
          <a:bodyPr wrap="square" lIns="0" r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00" b="1" noProof="1"/>
              <a:t>Combined Phenotype Score (EFS)</a:t>
            </a:r>
          </a:p>
          <a:p>
            <a:pPr algn="ctr"/>
            <a:r>
              <a:rPr lang="en-US" sz="700" b="1" noProof="1"/>
              <a:t>Low = Loss of Function</a:t>
            </a:r>
          </a:p>
          <a:p>
            <a:pPr algn="ctr"/>
            <a:r>
              <a:rPr lang="en-US" sz="700" b="1" noProof="1"/>
              <a:t>High = WT-like Activity</a:t>
            </a:r>
          </a:p>
        </p:txBody>
      </p:sp>
      <p:sp>
        <p:nvSpPr>
          <p:cNvPr id="21" name="Circle">
            <a:extLst>
              <a:ext uri="{FF2B5EF4-FFF2-40B4-BE49-F238E27FC236}">
                <a16:creationId xmlns:a16="http://schemas.microsoft.com/office/drawing/2014/main" id="{42C4BCEC-E259-3077-6BF6-6557CA49DA74}"/>
              </a:ext>
            </a:extLst>
          </p:cNvPr>
          <p:cNvSpPr>
            <a:spLocks/>
          </p:cNvSpPr>
          <p:nvPr/>
        </p:nvSpPr>
        <p:spPr>
          <a:xfrm>
            <a:off x="5321662" y="2017775"/>
            <a:ext cx="1548672" cy="1548671"/>
          </a:xfrm>
          <a:prstGeom prst="ellipse">
            <a:avLst/>
          </a:prstGeom>
          <a:solidFill>
            <a:schemeClr val="bg1">
              <a:lumMod val="95000"/>
            </a:schemeClr>
          </a:solidFill>
          <a:ln w="12700">
            <a:miter lim="400000"/>
          </a:ln>
          <a:effectLst>
            <a:outerShdw blurRad="254000" dist="190500" dir="13500000" algn="tl" rotWithShape="0">
              <a:schemeClr val="bg1"/>
            </a:outerShdw>
          </a:effectLst>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2400" dirty="0">
              <a:solidFill>
                <a:srgbClr val="FFFFFF"/>
              </a:solidFill>
            </a:endParaRPr>
          </a:p>
        </p:txBody>
      </p:sp>
      <p:sp>
        <p:nvSpPr>
          <p:cNvPr id="22" name="Circle">
            <a:extLst>
              <a:ext uri="{FF2B5EF4-FFF2-40B4-BE49-F238E27FC236}">
                <a16:creationId xmlns:a16="http://schemas.microsoft.com/office/drawing/2014/main" id="{0942E217-7310-96A2-2DDA-C439DD189675}"/>
              </a:ext>
            </a:extLst>
          </p:cNvPr>
          <p:cNvSpPr>
            <a:spLocks/>
          </p:cNvSpPr>
          <p:nvPr/>
        </p:nvSpPr>
        <p:spPr>
          <a:xfrm>
            <a:off x="5321662" y="2017775"/>
            <a:ext cx="1548672" cy="1548671"/>
          </a:xfrm>
          <a:prstGeom prst="ellipse">
            <a:avLst/>
          </a:prstGeom>
          <a:solidFill>
            <a:schemeClr val="bg1">
              <a:lumMod val="95000"/>
            </a:schemeClr>
          </a:solidFill>
          <a:ln w="12700">
            <a:miter lim="400000"/>
          </a:ln>
          <a:effectLst>
            <a:outerShdw blurRad="254000" dist="190500" dir="2700000" algn="tl" rotWithShape="0">
              <a:schemeClr val="bg1">
                <a:lumMod val="75000"/>
                <a:alpha val="40000"/>
              </a:schemeClr>
            </a:outerShdw>
          </a:effectLst>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sz="2400" b="1" dirty="0"/>
          </a:p>
        </p:txBody>
      </p:sp>
      <p:sp>
        <p:nvSpPr>
          <p:cNvPr id="23" name="Circle">
            <a:extLst>
              <a:ext uri="{FF2B5EF4-FFF2-40B4-BE49-F238E27FC236}">
                <a16:creationId xmlns:a16="http://schemas.microsoft.com/office/drawing/2014/main" id="{FC8BE534-91CD-8C49-5200-A26DC21D28C6}"/>
              </a:ext>
            </a:extLst>
          </p:cNvPr>
          <p:cNvSpPr>
            <a:spLocks/>
          </p:cNvSpPr>
          <p:nvPr/>
        </p:nvSpPr>
        <p:spPr>
          <a:xfrm>
            <a:off x="5321662" y="1997303"/>
            <a:ext cx="1548672" cy="1548671"/>
          </a:xfrm>
          <a:prstGeom prst="ellipse">
            <a:avLst/>
          </a:prstGeom>
          <a:gradFill>
            <a:gsLst>
              <a:gs pos="50000">
                <a:schemeClr val="accent3"/>
              </a:gs>
              <a:gs pos="85000">
                <a:schemeClr val="accent3">
                  <a:lumMod val="40000"/>
                  <a:lumOff val="60000"/>
                </a:schemeClr>
              </a:gs>
            </a:gsLst>
            <a:lin ang="2700000" scaled="0"/>
          </a:gradFill>
          <a:ln>
            <a:noFill/>
          </a:ln>
          <a:effectLst>
            <a:innerShdw blurRad="152400" dist="101600" dir="13500000">
              <a:schemeClr val="accent3">
                <a:lumMod val="50000"/>
                <a:alpha val="40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dirty="0">
                <a:solidFill>
                  <a:schemeClr val="bg1"/>
                </a:solidFill>
              </a:rPr>
              <a:t>1</a:t>
            </a:r>
            <a:endParaRPr sz="2400" b="1" dirty="0">
              <a:solidFill>
                <a:schemeClr val="bg1"/>
              </a:solidFill>
            </a:endParaRPr>
          </a:p>
        </p:txBody>
      </p:sp>
      <p:sp>
        <p:nvSpPr>
          <p:cNvPr id="28" name="TextBox 27">
            <a:extLst>
              <a:ext uri="{FF2B5EF4-FFF2-40B4-BE49-F238E27FC236}">
                <a16:creationId xmlns:a16="http://schemas.microsoft.com/office/drawing/2014/main" id="{71428924-C3F8-AD23-A029-7B41748237E3}"/>
              </a:ext>
            </a:extLst>
          </p:cNvPr>
          <p:cNvSpPr txBox="1"/>
          <p:nvPr/>
        </p:nvSpPr>
        <p:spPr>
          <a:xfrm>
            <a:off x="267478" y="4631438"/>
            <a:ext cx="3331985" cy="369331"/>
          </a:xfrm>
          <a:prstGeom prst="rect">
            <a:avLst/>
          </a:prstGeom>
          <a:noFill/>
        </p:spPr>
        <p:txBody>
          <a:bodyPr wrap="square" lIns="0" rIns="0" rtlCol="0" anchor="b">
            <a:spAutoFit/>
          </a:bodyPr>
          <a:lstStyle/>
          <a:p>
            <a:pPr algn="r"/>
            <a:r>
              <a:rPr lang="en-US" b="1" dirty="0"/>
              <a:t>Quantify Allele Enrichment</a:t>
            </a:r>
            <a:endParaRPr lang="en-US" sz="2000" b="1" noProof="1"/>
          </a:p>
        </p:txBody>
      </p:sp>
      <p:sp>
        <p:nvSpPr>
          <p:cNvPr id="31" name="TextBox 30">
            <a:extLst>
              <a:ext uri="{FF2B5EF4-FFF2-40B4-BE49-F238E27FC236}">
                <a16:creationId xmlns:a16="http://schemas.microsoft.com/office/drawing/2014/main" id="{7FB8F06D-FC26-5F60-BF33-6284F4203DE4}"/>
              </a:ext>
            </a:extLst>
          </p:cNvPr>
          <p:cNvSpPr txBox="1"/>
          <p:nvPr/>
        </p:nvSpPr>
        <p:spPr>
          <a:xfrm>
            <a:off x="1286933" y="2249613"/>
            <a:ext cx="3614699" cy="414475"/>
          </a:xfrm>
          <a:prstGeom prst="rect">
            <a:avLst/>
          </a:prstGeom>
          <a:noFill/>
        </p:spPr>
        <p:txBody>
          <a:bodyPr wrap="square" lIns="0" rIns="0" rtlCol="0" anchor="b">
            <a:spAutoFit/>
          </a:bodyPr>
          <a:lstStyle/>
          <a:p>
            <a:r>
              <a:rPr lang="en-US" sz="2000" b="1" noProof="1">
                <a:solidFill>
                  <a:schemeClr val="accent3">
                    <a:lumMod val="75000"/>
                  </a:schemeClr>
                </a:solidFill>
              </a:rPr>
              <a:t>Screen 8,258 TP53 Variants</a:t>
            </a:r>
          </a:p>
        </p:txBody>
      </p:sp>
      <p:sp>
        <p:nvSpPr>
          <p:cNvPr id="36" name="TextBox 35">
            <a:extLst>
              <a:ext uri="{FF2B5EF4-FFF2-40B4-BE49-F238E27FC236}">
                <a16:creationId xmlns:a16="http://schemas.microsoft.com/office/drawing/2014/main" id="{61CAC2AA-7851-7415-B7BC-8419E257DE55}"/>
              </a:ext>
            </a:extLst>
          </p:cNvPr>
          <p:cNvSpPr txBox="1"/>
          <p:nvPr/>
        </p:nvSpPr>
        <p:spPr>
          <a:xfrm>
            <a:off x="440870" y="6258822"/>
            <a:ext cx="11321157" cy="861774"/>
          </a:xfrm>
          <a:prstGeom prst="rect">
            <a:avLst/>
          </a:prstGeom>
          <a:noFill/>
        </p:spPr>
        <p:txBody>
          <a:bodyPr wrap="square" rtlCol="0">
            <a:spAutoFit/>
          </a:bodyPr>
          <a:lstStyle/>
          <a:p>
            <a:pPr algn="ctr"/>
            <a:r>
              <a:rPr lang="en-US" sz="1600" dirty="0"/>
              <a:t>Giacomelli, A.O., Yang, X., Lintner, R.E. </a:t>
            </a:r>
            <a:r>
              <a:rPr lang="en-US" sz="1600" i="1" dirty="0"/>
              <a:t>et al.</a:t>
            </a:r>
            <a:r>
              <a:rPr lang="en-US" sz="1600" dirty="0"/>
              <a:t> Mutational processes shape the landscape of </a:t>
            </a:r>
            <a:r>
              <a:rPr lang="en-US" sz="1600" i="1" dirty="0"/>
              <a:t>TP53</a:t>
            </a:r>
            <a:r>
              <a:rPr lang="en-US" sz="1600" dirty="0"/>
              <a:t> mutations in human cancer. </a:t>
            </a:r>
            <a:r>
              <a:rPr lang="en-US" sz="1600" i="1" dirty="0"/>
              <a:t>Nat Genet</a:t>
            </a:r>
            <a:r>
              <a:rPr lang="en-US" sz="1600" dirty="0"/>
              <a:t> 50, 1381–1387 (2018).</a:t>
            </a:r>
            <a:endParaRPr lang="en-IL" sz="1600" dirty="0"/>
          </a:p>
          <a:p>
            <a:endParaRPr lang="en-IL" dirty="0"/>
          </a:p>
        </p:txBody>
      </p:sp>
      <p:sp>
        <p:nvSpPr>
          <p:cNvPr id="49" name="TextBox 48">
            <a:extLst>
              <a:ext uri="{FF2B5EF4-FFF2-40B4-BE49-F238E27FC236}">
                <a16:creationId xmlns:a16="http://schemas.microsoft.com/office/drawing/2014/main" id="{A3346886-1E0C-9717-3143-983684FF5096}"/>
              </a:ext>
            </a:extLst>
          </p:cNvPr>
          <p:cNvSpPr txBox="1"/>
          <p:nvPr/>
        </p:nvSpPr>
        <p:spPr>
          <a:xfrm>
            <a:off x="446568" y="-1"/>
            <a:ext cx="3712984" cy="468000"/>
          </a:xfrm>
          <a:prstGeom prst="rect">
            <a:avLst/>
          </a:prstGeom>
          <a:solidFill>
            <a:srgbClr val="4D1434"/>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Background</a:t>
            </a:r>
          </a:p>
        </p:txBody>
      </p:sp>
      <p:pic>
        <p:nvPicPr>
          <p:cNvPr id="1028" name="Picture 4" descr="Fig. 2: Comprehensive mutational scanning of TP53.">
            <a:extLst>
              <a:ext uri="{FF2B5EF4-FFF2-40B4-BE49-F238E27FC236}">
                <a16:creationId xmlns:a16="http://schemas.microsoft.com/office/drawing/2014/main" id="{B34741D3-1514-3CD8-E18E-B25A3C46E46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784" t="3317" r="71211" b="77069"/>
          <a:stretch>
            <a:fillRect/>
          </a:stretch>
        </p:blipFill>
        <p:spPr bwMode="auto">
          <a:xfrm>
            <a:off x="8619550" y="2030181"/>
            <a:ext cx="3112039" cy="1814294"/>
          </a:xfrm>
          <a:prstGeom prst="rect">
            <a:avLst/>
          </a:prstGeom>
          <a:noFill/>
          <a:ln w="12700">
            <a:solidFill>
              <a:schemeClr val="accent1"/>
            </a:solidFill>
          </a:ln>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B2017DD6-D740-DA0B-9FD4-35A26585108D}"/>
              </a:ext>
            </a:extLst>
          </p:cNvPr>
          <p:cNvSpPr txBox="1"/>
          <p:nvPr/>
        </p:nvSpPr>
        <p:spPr>
          <a:xfrm>
            <a:off x="8559805" y="4600659"/>
            <a:ext cx="3276783" cy="400110"/>
          </a:xfrm>
          <a:prstGeom prst="rect">
            <a:avLst/>
          </a:prstGeom>
          <a:noFill/>
        </p:spPr>
        <p:txBody>
          <a:bodyPr wrap="square" lIns="0" rIns="0" rtlCol="0" anchor="b">
            <a:spAutoFit/>
          </a:bodyPr>
          <a:lstStyle/>
          <a:p>
            <a:r>
              <a:rPr lang="en-US" sz="2000" b="1" noProof="1"/>
              <a:t>Calculate Functional Score</a:t>
            </a:r>
          </a:p>
        </p:txBody>
      </p:sp>
    </p:spTree>
    <p:extLst>
      <p:ext uri="{BB962C8B-B14F-4D97-AF65-F5344CB8AC3E}">
        <p14:creationId xmlns:p14="http://schemas.microsoft.com/office/powerpoint/2010/main" val="18291268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58EF4-9571-AEBD-4097-BF887B2D8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A5036D-21E5-E69F-DDAC-19BC4CE5421A}"/>
              </a:ext>
            </a:extLst>
          </p:cNvPr>
          <p:cNvSpPr>
            <a:spLocks noGrp="1"/>
          </p:cNvSpPr>
          <p:nvPr>
            <p:ph type="title"/>
          </p:nvPr>
        </p:nvSpPr>
        <p:spPr>
          <a:xfrm>
            <a:off x="1170052" y="774559"/>
            <a:ext cx="6750756" cy="688622"/>
          </a:xfrm>
        </p:spPr>
        <p:txBody>
          <a:bodyPr>
            <a:normAutofit/>
          </a:bodyPr>
          <a:lstStyle/>
          <a:p>
            <a:r>
              <a:rPr lang="en-US" dirty="0"/>
              <a:t>Experimental Functional Score</a:t>
            </a:r>
            <a:endParaRPr lang="en-IL" dirty="0"/>
          </a:p>
        </p:txBody>
      </p:sp>
      <p:grpSp>
        <p:nvGrpSpPr>
          <p:cNvPr id="7" name="Group 6">
            <a:extLst>
              <a:ext uri="{FF2B5EF4-FFF2-40B4-BE49-F238E27FC236}">
                <a16:creationId xmlns:a16="http://schemas.microsoft.com/office/drawing/2014/main" id="{7D33C76D-1C6F-D0DA-AF94-08480681CA89}"/>
              </a:ext>
            </a:extLst>
          </p:cNvPr>
          <p:cNvGrpSpPr/>
          <p:nvPr/>
        </p:nvGrpSpPr>
        <p:grpSpPr>
          <a:xfrm>
            <a:off x="3867222" y="4593166"/>
            <a:ext cx="1459397" cy="1460406"/>
            <a:chOff x="9094660" y="1419321"/>
            <a:chExt cx="1663059" cy="1664208"/>
          </a:xfrm>
        </p:grpSpPr>
        <p:sp>
          <p:nvSpPr>
            <p:cNvPr id="8" name="Oval 7">
              <a:extLst>
                <a:ext uri="{FF2B5EF4-FFF2-40B4-BE49-F238E27FC236}">
                  <a16:creationId xmlns:a16="http://schemas.microsoft.com/office/drawing/2014/main" id="{B6BA6F8D-8F8A-615B-497B-CA8F99663F16}"/>
                </a:ext>
              </a:extLst>
            </p:cNvPr>
            <p:cNvSpPr/>
            <p:nvPr/>
          </p:nvSpPr>
          <p:spPr>
            <a:xfrm>
              <a:off x="9094660" y="1419321"/>
              <a:ext cx="1663059" cy="1664208"/>
            </a:xfrm>
            <a:prstGeom prst="ellipse">
              <a:avLst/>
            </a:prstGeom>
            <a:solidFill>
              <a:schemeClr val="bg1">
                <a:lumMod val="95000"/>
              </a:schemeClr>
            </a:solidFill>
            <a:ln w="12700">
              <a:miter lim="400000"/>
            </a:ln>
            <a:effectLst>
              <a:outerShdw blurRad="254000" dist="190500" dir="13500000" algn="tl" rotWithShape="0">
                <a:schemeClr val="bg1"/>
              </a:outerShdw>
            </a:effectLst>
          </p:spPr>
          <p:txBody>
            <a:bodyPr lIns="28575" tIns="28575" rIns="28575" bIns="28575" anchor="ctr"/>
            <a:lstStyle/>
            <a:p>
              <a:endParaRPr lang="en-US" sz="2400">
                <a:solidFill>
                  <a:srgbClr val="FFFFFF"/>
                </a:solidFill>
              </a:endParaRPr>
            </a:p>
          </p:txBody>
        </p:sp>
        <p:sp>
          <p:nvSpPr>
            <p:cNvPr id="9" name="Oval 8">
              <a:extLst>
                <a:ext uri="{FF2B5EF4-FFF2-40B4-BE49-F238E27FC236}">
                  <a16:creationId xmlns:a16="http://schemas.microsoft.com/office/drawing/2014/main" id="{D4B4A215-6A52-F48A-BD20-135BC4819CF7}"/>
                </a:ext>
              </a:extLst>
            </p:cNvPr>
            <p:cNvSpPr/>
            <p:nvPr/>
          </p:nvSpPr>
          <p:spPr>
            <a:xfrm>
              <a:off x="9094660" y="1419321"/>
              <a:ext cx="1663059" cy="1664208"/>
            </a:xfrm>
            <a:prstGeom prst="ellipse">
              <a:avLst/>
            </a:prstGeom>
            <a:solidFill>
              <a:srgbClr val="F1EFF0"/>
            </a:solidFill>
            <a:ln w="12700">
              <a:miter lim="400000"/>
            </a:ln>
            <a:effectLst>
              <a:outerShdw blurRad="254000" dist="190500" dir="2700000" algn="tl" rotWithShape="0">
                <a:schemeClr val="bg1">
                  <a:lumMod val="75000"/>
                  <a:alpha val="40000"/>
                </a:schemeClr>
              </a:outerShdw>
            </a:effectLst>
          </p:spPr>
          <p:txBody>
            <a:bodyPr lIns="28575" tIns="28575" rIns="28575" bIns="28575" anchor="ctr"/>
            <a:lstStyle/>
            <a:p>
              <a:pPr algn="ctr"/>
              <a:r>
                <a:rPr lang="en-US" sz="2400" b="1" dirty="0"/>
                <a:t>2</a:t>
              </a:r>
            </a:p>
          </p:txBody>
        </p:sp>
      </p:grpSp>
      <p:grpSp>
        <p:nvGrpSpPr>
          <p:cNvPr id="10" name="Group 9">
            <a:extLst>
              <a:ext uri="{FF2B5EF4-FFF2-40B4-BE49-F238E27FC236}">
                <a16:creationId xmlns:a16="http://schemas.microsoft.com/office/drawing/2014/main" id="{4DA9C1E7-A4C4-0312-AAF4-06E37D9CD97E}"/>
              </a:ext>
            </a:extLst>
          </p:cNvPr>
          <p:cNvGrpSpPr/>
          <p:nvPr/>
        </p:nvGrpSpPr>
        <p:grpSpPr>
          <a:xfrm>
            <a:off x="6865383" y="4593166"/>
            <a:ext cx="1459397" cy="1460406"/>
            <a:chOff x="9094660" y="1419321"/>
            <a:chExt cx="1663059" cy="1664208"/>
          </a:xfrm>
        </p:grpSpPr>
        <p:sp>
          <p:nvSpPr>
            <p:cNvPr id="14" name="Oval 13">
              <a:extLst>
                <a:ext uri="{FF2B5EF4-FFF2-40B4-BE49-F238E27FC236}">
                  <a16:creationId xmlns:a16="http://schemas.microsoft.com/office/drawing/2014/main" id="{5A56F910-0894-8726-4028-7414D9CD49BA}"/>
                </a:ext>
              </a:extLst>
            </p:cNvPr>
            <p:cNvSpPr/>
            <p:nvPr/>
          </p:nvSpPr>
          <p:spPr>
            <a:xfrm>
              <a:off x="9094660" y="1419321"/>
              <a:ext cx="1663059" cy="1664208"/>
            </a:xfrm>
            <a:prstGeom prst="ellipse">
              <a:avLst/>
            </a:prstGeom>
            <a:solidFill>
              <a:schemeClr val="bg1">
                <a:lumMod val="95000"/>
              </a:schemeClr>
            </a:solidFill>
            <a:ln w="12700">
              <a:miter lim="400000"/>
            </a:ln>
            <a:effectLst>
              <a:outerShdw blurRad="254000" dist="190500" dir="13500000" algn="tl" rotWithShape="0">
                <a:schemeClr val="bg1"/>
              </a:outerShdw>
            </a:effectLst>
          </p:spPr>
          <p:txBody>
            <a:bodyPr lIns="28575" tIns="28575" rIns="28575" bIns="28575" anchor="ctr"/>
            <a:lstStyle/>
            <a:p>
              <a:endParaRPr lang="en-US" sz="2400">
                <a:solidFill>
                  <a:srgbClr val="FFFFFF"/>
                </a:solidFill>
              </a:endParaRPr>
            </a:p>
          </p:txBody>
        </p:sp>
        <p:sp>
          <p:nvSpPr>
            <p:cNvPr id="15" name="Oval 14">
              <a:extLst>
                <a:ext uri="{FF2B5EF4-FFF2-40B4-BE49-F238E27FC236}">
                  <a16:creationId xmlns:a16="http://schemas.microsoft.com/office/drawing/2014/main" id="{02BAB27C-C5C4-8191-296B-C6FBE632FC48}"/>
                </a:ext>
              </a:extLst>
            </p:cNvPr>
            <p:cNvSpPr/>
            <p:nvPr/>
          </p:nvSpPr>
          <p:spPr>
            <a:xfrm>
              <a:off x="9094660" y="1419321"/>
              <a:ext cx="1663059" cy="1664208"/>
            </a:xfrm>
            <a:prstGeom prst="ellipse">
              <a:avLst/>
            </a:prstGeom>
            <a:solidFill>
              <a:srgbClr val="F1EFF0"/>
            </a:solidFill>
            <a:ln w="12700">
              <a:miter lim="400000"/>
            </a:ln>
            <a:effectLst>
              <a:outerShdw blurRad="254000" dist="190500" dir="2700000" algn="tl" rotWithShape="0">
                <a:schemeClr val="bg1">
                  <a:lumMod val="75000"/>
                  <a:alpha val="40000"/>
                </a:schemeClr>
              </a:outerShdw>
            </a:effectLst>
          </p:spPr>
          <p:txBody>
            <a:bodyPr lIns="28575" tIns="28575" rIns="28575" bIns="28575" anchor="ctr"/>
            <a:lstStyle/>
            <a:p>
              <a:pPr algn="ctr"/>
              <a:r>
                <a:rPr lang="en-US" sz="2400" b="1" dirty="0"/>
                <a:t>3</a:t>
              </a:r>
            </a:p>
          </p:txBody>
        </p:sp>
      </p:grpSp>
      <p:grpSp>
        <p:nvGrpSpPr>
          <p:cNvPr id="16" name="Group 15">
            <a:extLst>
              <a:ext uri="{FF2B5EF4-FFF2-40B4-BE49-F238E27FC236}">
                <a16:creationId xmlns:a16="http://schemas.microsoft.com/office/drawing/2014/main" id="{C1D02CDC-EE64-9209-BC87-E09AB5DBA907}"/>
              </a:ext>
            </a:extLst>
          </p:cNvPr>
          <p:cNvGrpSpPr/>
          <p:nvPr/>
        </p:nvGrpSpPr>
        <p:grpSpPr>
          <a:xfrm>
            <a:off x="4545430" y="3178295"/>
            <a:ext cx="3112039" cy="2812279"/>
            <a:chOff x="8212798" y="998309"/>
            <a:chExt cx="3546329" cy="3204737"/>
          </a:xfrm>
        </p:grpSpPr>
        <p:sp>
          <p:nvSpPr>
            <p:cNvPr id="17" name="Shape">
              <a:extLst>
                <a:ext uri="{FF2B5EF4-FFF2-40B4-BE49-F238E27FC236}">
                  <a16:creationId xmlns:a16="http://schemas.microsoft.com/office/drawing/2014/main" id="{31050582-7E10-9FC7-E18B-115D39EA3FF7}"/>
                </a:ext>
              </a:extLst>
            </p:cNvPr>
            <p:cNvSpPr/>
            <p:nvPr/>
          </p:nvSpPr>
          <p:spPr>
            <a:xfrm>
              <a:off x="8212798" y="998309"/>
              <a:ext cx="3546329" cy="3204737"/>
            </a:xfrm>
            <a:custGeom>
              <a:avLst/>
              <a:gdLst/>
              <a:ahLst/>
              <a:cxnLst>
                <a:cxn ang="0">
                  <a:pos x="wd2" y="hd2"/>
                </a:cxn>
                <a:cxn ang="5400000">
                  <a:pos x="wd2" y="hd2"/>
                </a:cxn>
                <a:cxn ang="10800000">
                  <a:pos x="wd2" y="hd2"/>
                </a:cxn>
                <a:cxn ang="16200000">
                  <a:pos x="wd2" y="hd2"/>
                </a:cxn>
              </a:cxnLst>
              <a:rect l="0" t="0" r="r" b="b"/>
              <a:pathLst>
                <a:path w="21600" h="21600" extrusionOk="0">
                  <a:moveTo>
                    <a:pt x="13725" y="15733"/>
                  </a:moveTo>
                  <a:cubicBezTo>
                    <a:pt x="13725" y="11853"/>
                    <a:pt x="16569" y="8707"/>
                    <a:pt x="20074" y="8707"/>
                  </a:cubicBezTo>
                  <a:cubicBezTo>
                    <a:pt x="20598" y="8707"/>
                    <a:pt x="21108" y="8777"/>
                    <a:pt x="21600" y="8909"/>
                  </a:cubicBezTo>
                  <a:cubicBezTo>
                    <a:pt x="21405" y="5260"/>
                    <a:pt x="19734" y="2051"/>
                    <a:pt x="17231" y="0"/>
                  </a:cubicBezTo>
                  <a:cubicBezTo>
                    <a:pt x="16348" y="3000"/>
                    <a:pt x="13801" y="5170"/>
                    <a:pt x="10800" y="5170"/>
                  </a:cubicBezTo>
                  <a:cubicBezTo>
                    <a:pt x="7793" y="5170"/>
                    <a:pt x="5246" y="3000"/>
                    <a:pt x="4369" y="0"/>
                  </a:cubicBezTo>
                  <a:cubicBezTo>
                    <a:pt x="1873" y="2044"/>
                    <a:pt x="202" y="5247"/>
                    <a:pt x="0" y="8888"/>
                  </a:cubicBezTo>
                  <a:cubicBezTo>
                    <a:pt x="467" y="8763"/>
                    <a:pt x="958" y="8700"/>
                    <a:pt x="1463" y="8700"/>
                  </a:cubicBezTo>
                  <a:cubicBezTo>
                    <a:pt x="4968" y="8700"/>
                    <a:pt x="7812" y="11847"/>
                    <a:pt x="7812" y="15726"/>
                  </a:cubicBezTo>
                  <a:cubicBezTo>
                    <a:pt x="7812" y="17547"/>
                    <a:pt x="7187" y="19200"/>
                    <a:pt x="6166" y="20449"/>
                  </a:cubicBezTo>
                  <a:cubicBezTo>
                    <a:pt x="7572" y="21188"/>
                    <a:pt x="9148" y="21600"/>
                    <a:pt x="10806" y="21600"/>
                  </a:cubicBezTo>
                  <a:cubicBezTo>
                    <a:pt x="12452" y="21600"/>
                    <a:pt x="14009" y="21195"/>
                    <a:pt x="15402" y="20470"/>
                  </a:cubicBezTo>
                  <a:cubicBezTo>
                    <a:pt x="14356" y="19228"/>
                    <a:pt x="13725" y="17560"/>
                    <a:pt x="13725" y="15733"/>
                  </a:cubicBezTo>
                  <a:close/>
                </a:path>
              </a:pathLst>
            </a:custGeom>
            <a:solidFill>
              <a:schemeClr val="bg1">
                <a:lumMod val="95000"/>
              </a:schemeClr>
            </a:solidFill>
            <a:ln w="12700">
              <a:miter lim="400000"/>
            </a:ln>
            <a:effectLst>
              <a:outerShdw blurRad="254000" dist="190500" dir="13500000" algn="tl" rotWithShape="0">
                <a:schemeClr val="bg1"/>
              </a:outerShdw>
            </a:effectLst>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2250">
                <a:solidFill>
                  <a:srgbClr val="FFFFFF"/>
                </a:solidFill>
              </a:endParaRPr>
            </a:p>
          </p:txBody>
        </p:sp>
        <p:sp>
          <p:nvSpPr>
            <p:cNvPr id="18" name="Shape">
              <a:extLst>
                <a:ext uri="{FF2B5EF4-FFF2-40B4-BE49-F238E27FC236}">
                  <a16:creationId xmlns:a16="http://schemas.microsoft.com/office/drawing/2014/main" id="{D02D98C3-CFC8-6615-DD45-5C2195189EEC}"/>
                </a:ext>
              </a:extLst>
            </p:cNvPr>
            <p:cNvSpPr/>
            <p:nvPr/>
          </p:nvSpPr>
          <p:spPr>
            <a:xfrm>
              <a:off x="8212798" y="998309"/>
              <a:ext cx="3546329" cy="3204737"/>
            </a:xfrm>
            <a:custGeom>
              <a:avLst/>
              <a:gdLst/>
              <a:ahLst/>
              <a:cxnLst>
                <a:cxn ang="0">
                  <a:pos x="wd2" y="hd2"/>
                </a:cxn>
                <a:cxn ang="5400000">
                  <a:pos x="wd2" y="hd2"/>
                </a:cxn>
                <a:cxn ang="10800000">
                  <a:pos x="wd2" y="hd2"/>
                </a:cxn>
                <a:cxn ang="16200000">
                  <a:pos x="wd2" y="hd2"/>
                </a:cxn>
              </a:cxnLst>
              <a:rect l="0" t="0" r="r" b="b"/>
              <a:pathLst>
                <a:path w="21600" h="21600" extrusionOk="0">
                  <a:moveTo>
                    <a:pt x="13725" y="15733"/>
                  </a:moveTo>
                  <a:cubicBezTo>
                    <a:pt x="13725" y="11853"/>
                    <a:pt x="16569" y="8707"/>
                    <a:pt x="20074" y="8707"/>
                  </a:cubicBezTo>
                  <a:cubicBezTo>
                    <a:pt x="20598" y="8707"/>
                    <a:pt x="21108" y="8777"/>
                    <a:pt x="21600" y="8909"/>
                  </a:cubicBezTo>
                  <a:cubicBezTo>
                    <a:pt x="21405" y="5260"/>
                    <a:pt x="19734" y="2051"/>
                    <a:pt x="17231" y="0"/>
                  </a:cubicBezTo>
                  <a:cubicBezTo>
                    <a:pt x="16348" y="3000"/>
                    <a:pt x="13801" y="5170"/>
                    <a:pt x="10800" y="5170"/>
                  </a:cubicBezTo>
                  <a:cubicBezTo>
                    <a:pt x="7793" y="5170"/>
                    <a:pt x="5246" y="3000"/>
                    <a:pt x="4369" y="0"/>
                  </a:cubicBezTo>
                  <a:cubicBezTo>
                    <a:pt x="1873" y="2044"/>
                    <a:pt x="202" y="5247"/>
                    <a:pt x="0" y="8888"/>
                  </a:cubicBezTo>
                  <a:cubicBezTo>
                    <a:pt x="467" y="8763"/>
                    <a:pt x="958" y="8700"/>
                    <a:pt x="1463" y="8700"/>
                  </a:cubicBezTo>
                  <a:cubicBezTo>
                    <a:pt x="4968" y="8700"/>
                    <a:pt x="7812" y="11847"/>
                    <a:pt x="7812" y="15726"/>
                  </a:cubicBezTo>
                  <a:cubicBezTo>
                    <a:pt x="7812" y="17547"/>
                    <a:pt x="7187" y="19200"/>
                    <a:pt x="6166" y="20449"/>
                  </a:cubicBezTo>
                  <a:cubicBezTo>
                    <a:pt x="7572" y="21188"/>
                    <a:pt x="9148" y="21600"/>
                    <a:pt x="10806" y="21600"/>
                  </a:cubicBezTo>
                  <a:cubicBezTo>
                    <a:pt x="12452" y="21600"/>
                    <a:pt x="14009" y="21195"/>
                    <a:pt x="15402" y="20470"/>
                  </a:cubicBezTo>
                  <a:cubicBezTo>
                    <a:pt x="14356" y="19228"/>
                    <a:pt x="13725" y="17560"/>
                    <a:pt x="13725" y="15733"/>
                  </a:cubicBezTo>
                  <a:close/>
                </a:path>
              </a:pathLst>
            </a:custGeom>
            <a:solidFill>
              <a:schemeClr val="bg1">
                <a:lumMod val="95000"/>
              </a:schemeClr>
            </a:solidFill>
            <a:ln w="12700">
              <a:miter lim="400000"/>
            </a:ln>
            <a:effectLst>
              <a:outerShdw blurRad="254000" dist="190500" dir="2700000" algn="tl" rotWithShape="0">
                <a:schemeClr val="bg1">
                  <a:lumMod val="75000"/>
                  <a:alpha val="40000"/>
                </a:schemeClr>
              </a:outerShdw>
            </a:effectLst>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2250" dirty="0">
                <a:solidFill>
                  <a:srgbClr val="FFFFFF"/>
                </a:solidFill>
              </a:endParaRPr>
            </a:p>
          </p:txBody>
        </p:sp>
      </p:grpSp>
      <p:pic>
        <p:nvPicPr>
          <p:cNvPr id="19" name="Graphic 31" descr="Lights On">
            <a:extLst>
              <a:ext uri="{FF2B5EF4-FFF2-40B4-BE49-F238E27FC236}">
                <a16:creationId xmlns:a16="http://schemas.microsoft.com/office/drawing/2014/main" id="{CA71D7CB-D14E-3ED9-2156-6654656FF545}"/>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3853" y="4424362"/>
            <a:ext cx="764292" cy="764292"/>
          </a:xfrm>
          <a:prstGeom prst="rect">
            <a:avLst/>
          </a:prstGeom>
        </p:spPr>
      </p:pic>
      <p:sp>
        <p:nvSpPr>
          <p:cNvPr id="20" name="TextBox 13">
            <a:extLst>
              <a:ext uri="{FF2B5EF4-FFF2-40B4-BE49-F238E27FC236}">
                <a16:creationId xmlns:a16="http://schemas.microsoft.com/office/drawing/2014/main" id="{4ED36199-B78B-78A1-9B40-1B1AB69AFB2B}"/>
              </a:ext>
            </a:extLst>
          </p:cNvPr>
          <p:cNvSpPr txBox="1"/>
          <p:nvPr/>
        </p:nvSpPr>
        <p:spPr>
          <a:xfrm>
            <a:off x="5219477" y="3971152"/>
            <a:ext cx="1743042" cy="415498"/>
          </a:xfrm>
          <a:prstGeom prst="rect">
            <a:avLst/>
          </a:prstGeom>
          <a:noFill/>
        </p:spPr>
        <p:txBody>
          <a:bodyPr wrap="square" lIns="0" r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00" b="1" noProof="1"/>
              <a:t>Combined Phenotype Score (EFS)</a:t>
            </a:r>
          </a:p>
          <a:p>
            <a:pPr algn="ctr"/>
            <a:r>
              <a:rPr lang="en-US" sz="700" b="1" noProof="1"/>
              <a:t>Low = Loss of Function</a:t>
            </a:r>
          </a:p>
          <a:p>
            <a:pPr algn="ctr"/>
            <a:r>
              <a:rPr lang="en-US" sz="700" b="1" noProof="1"/>
              <a:t>High = WT-like Activity</a:t>
            </a:r>
          </a:p>
        </p:txBody>
      </p:sp>
      <p:sp>
        <p:nvSpPr>
          <p:cNvPr id="28" name="TextBox 27">
            <a:extLst>
              <a:ext uri="{FF2B5EF4-FFF2-40B4-BE49-F238E27FC236}">
                <a16:creationId xmlns:a16="http://schemas.microsoft.com/office/drawing/2014/main" id="{8942A983-A5F6-ABFD-0224-23DB26EE91EE}"/>
              </a:ext>
            </a:extLst>
          </p:cNvPr>
          <p:cNvSpPr txBox="1"/>
          <p:nvPr/>
        </p:nvSpPr>
        <p:spPr>
          <a:xfrm>
            <a:off x="267478" y="4631438"/>
            <a:ext cx="3331985" cy="369331"/>
          </a:xfrm>
          <a:prstGeom prst="rect">
            <a:avLst/>
          </a:prstGeom>
          <a:noFill/>
        </p:spPr>
        <p:txBody>
          <a:bodyPr wrap="square" lIns="0" rIns="0" rtlCol="0" anchor="b">
            <a:spAutoFit/>
          </a:bodyPr>
          <a:lstStyle/>
          <a:p>
            <a:pPr algn="r"/>
            <a:r>
              <a:rPr lang="en-US" b="1" dirty="0">
                <a:solidFill>
                  <a:schemeClr val="accent3">
                    <a:lumMod val="75000"/>
                  </a:schemeClr>
                </a:solidFill>
              </a:rPr>
              <a:t>Quantify Allele Enrichment</a:t>
            </a:r>
            <a:endParaRPr lang="en-US" sz="2000" b="1" noProof="1">
              <a:solidFill>
                <a:schemeClr val="accent3">
                  <a:lumMod val="75000"/>
                </a:schemeClr>
              </a:solidFill>
            </a:endParaRPr>
          </a:p>
        </p:txBody>
      </p:sp>
      <p:sp>
        <p:nvSpPr>
          <p:cNvPr id="31" name="TextBox 30">
            <a:extLst>
              <a:ext uri="{FF2B5EF4-FFF2-40B4-BE49-F238E27FC236}">
                <a16:creationId xmlns:a16="http://schemas.microsoft.com/office/drawing/2014/main" id="{3D260321-9767-EB34-9D32-B3E6B7A5E920}"/>
              </a:ext>
            </a:extLst>
          </p:cNvPr>
          <p:cNvSpPr txBox="1"/>
          <p:nvPr/>
        </p:nvSpPr>
        <p:spPr>
          <a:xfrm>
            <a:off x="1286933" y="2249613"/>
            <a:ext cx="3614699" cy="414475"/>
          </a:xfrm>
          <a:prstGeom prst="rect">
            <a:avLst/>
          </a:prstGeom>
          <a:noFill/>
        </p:spPr>
        <p:txBody>
          <a:bodyPr wrap="square" lIns="0" rIns="0" rtlCol="0" anchor="b">
            <a:spAutoFit/>
          </a:bodyPr>
          <a:lstStyle/>
          <a:p>
            <a:r>
              <a:rPr lang="en-US" sz="2000" b="1" noProof="1"/>
              <a:t>Screen 8,258 TP53 Variants</a:t>
            </a:r>
          </a:p>
        </p:txBody>
      </p:sp>
      <p:sp>
        <p:nvSpPr>
          <p:cNvPr id="36" name="TextBox 35">
            <a:extLst>
              <a:ext uri="{FF2B5EF4-FFF2-40B4-BE49-F238E27FC236}">
                <a16:creationId xmlns:a16="http://schemas.microsoft.com/office/drawing/2014/main" id="{AA877511-70EC-877E-C1A7-DBA3712DD495}"/>
              </a:ext>
            </a:extLst>
          </p:cNvPr>
          <p:cNvSpPr txBox="1"/>
          <p:nvPr/>
        </p:nvSpPr>
        <p:spPr>
          <a:xfrm>
            <a:off x="440870" y="6258822"/>
            <a:ext cx="11321157" cy="861774"/>
          </a:xfrm>
          <a:prstGeom prst="rect">
            <a:avLst/>
          </a:prstGeom>
          <a:noFill/>
        </p:spPr>
        <p:txBody>
          <a:bodyPr wrap="square" rtlCol="0">
            <a:spAutoFit/>
          </a:bodyPr>
          <a:lstStyle/>
          <a:p>
            <a:pPr algn="ctr"/>
            <a:r>
              <a:rPr lang="en-US" sz="1600" dirty="0"/>
              <a:t>Giacomelli, A.O., Yang, X., Lintner, R.E. </a:t>
            </a:r>
            <a:r>
              <a:rPr lang="en-US" sz="1600" i="1" dirty="0"/>
              <a:t>et al.</a:t>
            </a:r>
            <a:r>
              <a:rPr lang="en-US" sz="1600" dirty="0"/>
              <a:t> Mutational processes shape the landscape of </a:t>
            </a:r>
            <a:r>
              <a:rPr lang="en-US" sz="1600" i="1" dirty="0"/>
              <a:t>TP53</a:t>
            </a:r>
            <a:r>
              <a:rPr lang="en-US" sz="1600" dirty="0"/>
              <a:t> mutations in human cancer. </a:t>
            </a:r>
            <a:r>
              <a:rPr lang="en-US" sz="1600" i="1" dirty="0"/>
              <a:t>Nat Genet</a:t>
            </a:r>
            <a:r>
              <a:rPr lang="en-US" sz="1600" dirty="0"/>
              <a:t> 50, 1381–1387 (2018).</a:t>
            </a:r>
            <a:endParaRPr lang="en-IL" sz="1600" dirty="0"/>
          </a:p>
          <a:p>
            <a:endParaRPr lang="en-IL" dirty="0"/>
          </a:p>
        </p:txBody>
      </p:sp>
      <p:sp>
        <p:nvSpPr>
          <p:cNvPr id="3" name="Circle">
            <a:extLst>
              <a:ext uri="{FF2B5EF4-FFF2-40B4-BE49-F238E27FC236}">
                <a16:creationId xmlns:a16="http://schemas.microsoft.com/office/drawing/2014/main" id="{26DC282D-94D0-79C8-AA07-DEF57C74BA94}"/>
              </a:ext>
            </a:extLst>
          </p:cNvPr>
          <p:cNvSpPr>
            <a:spLocks/>
          </p:cNvSpPr>
          <p:nvPr/>
        </p:nvSpPr>
        <p:spPr>
          <a:xfrm>
            <a:off x="3862264" y="4591900"/>
            <a:ext cx="1459398" cy="1501932"/>
          </a:xfrm>
          <a:prstGeom prst="ellipse">
            <a:avLst/>
          </a:prstGeom>
          <a:gradFill>
            <a:gsLst>
              <a:gs pos="50000">
                <a:schemeClr val="accent3"/>
              </a:gs>
              <a:gs pos="85000">
                <a:schemeClr val="accent3">
                  <a:lumMod val="40000"/>
                  <a:lumOff val="60000"/>
                </a:schemeClr>
              </a:gs>
            </a:gsLst>
            <a:lin ang="2700000" scaled="0"/>
          </a:gradFill>
          <a:ln>
            <a:noFill/>
          </a:ln>
          <a:effectLst>
            <a:innerShdw blurRad="152400" dist="101600" dir="13500000">
              <a:schemeClr val="accent3">
                <a:lumMod val="50000"/>
                <a:alpha val="40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dirty="0">
                <a:solidFill>
                  <a:schemeClr val="bg1"/>
                </a:solidFill>
              </a:rPr>
              <a:t>2</a:t>
            </a:r>
            <a:endParaRPr sz="2400" b="1" dirty="0">
              <a:solidFill>
                <a:schemeClr val="bg1"/>
              </a:solidFill>
            </a:endParaRPr>
          </a:p>
        </p:txBody>
      </p:sp>
      <p:grpSp>
        <p:nvGrpSpPr>
          <p:cNvPr id="4" name="Group 3">
            <a:extLst>
              <a:ext uri="{FF2B5EF4-FFF2-40B4-BE49-F238E27FC236}">
                <a16:creationId xmlns:a16="http://schemas.microsoft.com/office/drawing/2014/main" id="{9922419D-E055-2B2E-CA04-4BE3C8EDA600}"/>
              </a:ext>
            </a:extLst>
          </p:cNvPr>
          <p:cNvGrpSpPr/>
          <p:nvPr/>
        </p:nvGrpSpPr>
        <p:grpSpPr>
          <a:xfrm>
            <a:off x="5371749" y="2023470"/>
            <a:ext cx="1459397" cy="1460406"/>
            <a:chOff x="9094660" y="1419321"/>
            <a:chExt cx="1663059" cy="1664208"/>
          </a:xfrm>
        </p:grpSpPr>
        <p:sp>
          <p:nvSpPr>
            <p:cNvPr id="5" name="Oval 4">
              <a:extLst>
                <a:ext uri="{FF2B5EF4-FFF2-40B4-BE49-F238E27FC236}">
                  <a16:creationId xmlns:a16="http://schemas.microsoft.com/office/drawing/2014/main" id="{352BCFB2-22BE-ACE8-C6D5-F4ABD74175ED}"/>
                </a:ext>
              </a:extLst>
            </p:cNvPr>
            <p:cNvSpPr/>
            <p:nvPr/>
          </p:nvSpPr>
          <p:spPr>
            <a:xfrm>
              <a:off x="9094660" y="1419321"/>
              <a:ext cx="1663059" cy="1664208"/>
            </a:xfrm>
            <a:prstGeom prst="ellipse">
              <a:avLst/>
            </a:prstGeom>
            <a:solidFill>
              <a:schemeClr val="bg1">
                <a:lumMod val="95000"/>
              </a:schemeClr>
            </a:solidFill>
            <a:ln w="12700">
              <a:miter lim="400000"/>
            </a:ln>
            <a:effectLst>
              <a:outerShdw blurRad="254000" dist="190500" dir="13500000" algn="tl" rotWithShape="0">
                <a:schemeClr val="bg1"/>
              </a:outerShdw>
            </a:effectLst>
          </p:spPr>
          <p:txBody>
            <a:bodyPr lIns="28575" tIns="28575" rIns="28575" bIns="28575" anchor="ctr"/>
            <a:lstStyle/>
            <a:p>
              <a:endParaRPr lang="en-US" sz="2400">
                <a:solidFill>
                  <a:srgbClr val="FFFFFF"/>
                </a:solidFill>
              </a:endParaRPr>
            </a:p>
          </p:txBody>
        </p:sp>
        <p:sp>
          <p:nvSpPr>
            <p:cNvPr id="6" name="Oval 5">
              <a:extLst>
                <a:ext uri="{FF2B5EF4-FFF2-40B4-BE49-F238E27FC236}">
                  <a16:creationId xmlns:a16="http://schemas.microsoft.com/office/drawing/2014/main" id="{E2C32C73-C5AB-A460-1964-50E655172D4D}"/>
                </a:ext>
              </a:extLst>
            </p:cNvPr>
            <p:cNvSpPr/>
            <p:nvPr/>
          </p:nvSpPr>
          <p:spPr>
            <a:xfrm>
              <a:off x="9094660" y="1419321"/>
              <a:ext cx="1663059" cy="1664208"/>
            </a:xfrm>
            <a:prstGeom prst="ellipse">
              <a:avLst/>
            </a:prstGeom>
            <a:solidFill>
              <a:srgbClr val="F1EFF0"/>
            </a:solidFill>
            <a:ln w="12700">
              <a:miter lim="400000"/>
            </a:ln>
            <a:effectLst>
              <a:outerShdw blurRad="254000" dist="190500" dir="2700000" algn="tl" rotWithShape="0">
                <a:schemeClr val="bg1">
                  <a:lumMod val="75000"/>
                  <a:alpha val="40000"/>
                </a:schemeClr>
              </a:outerShdw>
            </a:effectLst>
          </p:spPr>
          <p:txBody>
            <a:bodyPr lIns="28575" tIns="28575" rIns="28575" bIns="28575" anchor="ctr"/>
            <a:lstStyle/>
            <a:p>
              <a:pPr algn="ctr"/>
              <a:r>
                <a:rPr lang="en-US" sz="2400" b="1" dirty="0"/>
                <a:t>1</a:t>
              </a:r>
            </a:p>
          </p:txBody>
        </p:sp>
      </p:grpSp>
      <p:sp>
        <p:nvSpPr>
          <p:cNvPr id="33" name="TextBox 32">
            <a:extLst>
              <a:ext uri="{FF2B5EF4-FFF2-40B4-BE49-F238E27FC236}">
                <a16:creationId xmlns:a16="http://schemas.microsoft.com/office/drawing/2014/main" id="{5D6697AC-B138-08EF-B17D-EE1452D055FB}"/>
              </a:ext>
            </a:extLst>
          </p:cNvPr>
          <p:cNvSpPr txBox="1"/>
          <p:nvPr/>
        </p:nvSpPr>
        <p:spPr>
          <a:xfrm>
            <a:off x="446568" y="-1"/>
            <a:ext cx="3712984" cy="468000"/>
          </a:xfrm>
          <a:prstGeom prst="rect">
            <a:avLst/>
          </a:prstGeom>
          <a:solidFill>
            <a:srgbClr val="4D1434"/>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Background</a:t>
            </a:r>
          </a:p>
        </p:txBody>
      </p:sp>
      <p:pic>
        <p:nvPicPr>
          <p:cNvPr id="2050" name="Picture 2" descr="Fig. 2: Comprehensive mutational scanning of TP53.">
            <a:extLst>
              <a:ext uri="{FF2B5EF4-FFF2-40B4-BE49-F238E27FC236}">
                <a16:creationId xmlns:a16="http://schemas.microsoft.com/office/drawing/2014/main" id="{CF0DE577-6944-CDF6-5AC2-08D75F2FD64E}"/>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377" t="28507" r="68816" b="51724"/>
          <a:stretch>
            <a:fillRect/>
          </a:stretch>
        </p:blipFill>
        <p:spPr bwMode="auto">
          <a:xfrm>
            <a:off x="7990286" y="1978178"/>
            <a:ext cx="3771741" cy="1826083"/>
          </a:xfrm>
          <a:prstGeom prst="rect">
            <a:avLst/>
          </a:prstGeom>
          <a:noFill/>
          <a:ln w="12700">
            <a:solidFill>
              <a:schemeClr val="accent1"/>
            </a:solidFill>
          </a:ln>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E2C4D7A4-18DC-99E0-5260-56985152EFDE}"/>
              </a:ext>
            </a:extLst>
          </p:cNvPr>
          <p:cNvSpPr txBox="1"/>
          <p:nvPr/>
        </p:nvSpPr>
        <p:spPr>
          <a:xfrm>
            <a:off x="8559805" y="4600659"/>
            <a:ext cx="3276783" cy="400110"/>
          </a:xfrm>
          <a:prstGeom prst="rect">
            <a:avLst/>
          </a:prstGeom>
          <a:noFill/>
        </p:spPr>
        <p:txBody>
          <a:bodyPr wrap="square" lIns="0" rIns="0" rtlCol="0" anchor="b">
            <a:spAutoFit/>
          </a:bodyPr>
          <a:lstStyle/>
          <a:p>
            <a:r>
              <a:rPr lang="en-US" sz="2000" b="1" noProof="1"/>
              <a:t>Calculate Functional Score</a:t>
            </a:r>
          </a:p>
        </p:txBody>
      </p:sp>
    </p:spTree>
    <p:extLst>
      <p:ext uri="{BB962C8B-B14F-4D97-AF65-F5344CB8AC3E}">
        <p14:creationId xmlns:p14="http://schemas.microsoft.com/office/powerpoint/2010/main" val="7134659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4443DF-98F7-95DF-F695-5A8181BCFEC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E1DF23-4A25-1848-D659-2C79EA9810D2}"/>
              </a:ext>
            </a:extLst>
          </p:cNvPr>
          <p:cNvSpPr>
            <a:spLocks noGrp="1"/>
          </p:cNvSpPr>
          <p:nvPr>
            <p:ph type="title"/>
          </p:nvPr>
        </p:nvSpPr>
        <p:spPr>
          <a:xfrm>
            <a:off x="1170052" y="774559"/>
            <a:ext cx="6750756" cy="688622"/>
          </a:xfrm>
        </p:spPr>
        <p:txBody>
          <a:bodyPr>
            <a:normAutofit/>
          </a:bodyPr>
          <a:lstStyle/>
          <a:p>
            <a:r>
              <a:rPr lang="en-US" dirty="0"/>
              <a:t>Experimental Functional Score</a:t>
            </a:r>
            <a:endParaRPr lang="en-IL" dirty="0"/>
          </a:p>
        </p:txBody>
      </p:sp>
      <p:grpSp>
        <p:nvGrpSpPr>
          <p:cNvPr id="7" name="Group 6">
            <a:extLst>
              <a:ext uri="{FF2B5EF4-FFF2-40B4-BE49-F238E27FC236}">
                <a16:creationId xmlns:a16="http://schemas.microsoft.com/office/drawing/2014/main" id="{B6512411-125B-95BE-6A95-D424A9A86BCD}"/>
              </a:ext>
            </a:extLst>
          </p:cNvPr>
          <p:cNvGrpSpPr/>
          <p:nvPr/>
        </p:nvGrpSpPr>
        <p:grpSpPr>
          <a:xfrm>
            <a:off x="3860398" y="4606814"/>
            <a:ext cx="1459397" cy="1460406"/>
            <a:chOff x="9094660" y="1419321"/>
            <a:chExt cx="1663059" cy="1664208"/>
          </a:xfrm>
        </p:grpSpPr>
        <p:sp>
          <p:nvSpPr>
            <p:cNvPr id="8" name="Oval 7">
              <a:extLst>
                <a:ext uri="{FF2B5EF4-FFF2-40B4-BE49-F238E27FC236}">
                  <a16:creationId xmlns:a16="http://schemas.microsoft.com/office/drawing/2014/main" id="{CEDCFE01-3B2A-E5B1-D7BA-438FE7EF142D}"/>
                </a:ext>
              </a:extLst>
            </p:cNvPr>
            <p:cNvSpPr/>
            <p:nvPr/>
          </p:nvSpPr>
          <p:spPr>
            <a:xfrm>
              <a:off x="9094660" y="1419321"/>
              <a:ext cx="1663059" cy="1664208"/>
            </a:xfrm>
            <a:prstGeom prst="ellipse">
              <a:avLst/>
            </a:prstGeom>
            <a:solidFill>
              <a:schemeClr val="bg1">
                <a:lumMod val="95000"/>
              </a:schemeClr>
            </a:solidFill>
            <a:ln w="12700">
              <a:miter lim="400000"/>
            </a:ln>
            <a:effectLst>
              <a:outerShdw blurRad="254000" dist="190500" dir="13500000" algn="tl" rotWithShape="0">
                <a:schemeClr val="bg1"/>
              </a:outerShdw>
            </a:effectLst>
          </p:spPr>
          <p:txBody>
            <a:bodyPr lIns="28575" tIns="28575" rIns="28575" bIns="28575" anchor="ctr"/>
            <a:lstStyle/>
            <a:p>
              <a:endParaRPr lang="en-US" sz="2400">
                <a:solidFill>
                  <a:srgbClr val="FFFFFF"/>
                </a:solidFill>
              </a:endParaRPr>
            </a:p>
          </p:txBody>
        </p:sp>
        <p:sp>
          <p:nvSpPr>
            <p:cNvPr id="9" name="Oval 8">
              <a:extLst>
                <a:ext uri="{FF2B5EF4-FFF2-40B4-BE49-F238E27FC236}">
                  <a16:creationId xmlns:a16="http://schemas.microsoft.com/office/drawing/2014/main" id="{98E92F83-D3C9-B664-B770-59FEC9C31F69}"/>
                </a:ext>
              </a:extLst>
            </p:cNvPr>
            <p:cNvSpPr/>
            <p:nvPr/>
          </p:nvSpPr>
          <p:spPr>
            <a:xfrm>
              <a:off x="9094660" y="1419321"/>
              <a:ext cx="1663059" cy="1664208"/>
            </a:xfrm>
            <a:prstGeom prst="ellipse">
              <a:avLst/>
            </a:prstGeom>
            <a:solidFill>
              <a:srgbClr val="F1EFF0"/>
            </a:solidFill>
            <a:ln w="12700">
              <a:miter lim="400000"/>
            </a:ln>
            <a:effectLst>
              <a:outerShdw blurRad="254000" dist="190500" dir="2700000" algn="tl" rotWithShape="0">
                <a:schemeClr val="bg1">
                  <a:lumMod val="75000"/>
                  <a:alpha val="40000"/>
                </a:schemeClr>
              </a:outerShdw>
            </a:effectLst>
          </p:spPr>
          <p:txBody>
            <a:bodyPr lIns="28575" tIns="28575" rIns="28575" bIns="28575" anchor="ctr"/>
            <a:lstStyle/>
            <a:p>
              <a:pPr algn="ctr"/>
              <a:r>
                <a:rPr lang="en-US" sz="2400" b="1" dirty="0"/>
                <a:t>2</a:t>
              </a:r>
            </a:p>
          </p:txBody>
        </p:sp>
      </p:grpSp>
      <p:grpSp>
        <p:nvGrpSpPr>
          <p:cNvPr id="10" name="Group 9">
            <a:extLst>
              <a:ext uri="{FF2B5EF4-FFF2-40B4-BE49-F238E27FC236}">
                <a16:creationId xmlns:a16="http://schemas.microsoft.com/office/drawing/2014/main" id="{B5B92404-62F1-2A5C-3C5E-B017E10579D1}"/>
              </a:ext>
            </a:extLst>
          </p:cNvPr>
          <p:cNvGrpSpPr/>
          <p:nvPr/>
        </p:nvGrpSpPr>
        <p:grpSpPr>
          <a:xfrm>
            <a:off x="6865383" y="4593166"/>
            <a:ext cx="1459397" cy="1460406"/>
            <a:chOff x="9094660" y="1419321"/>
            <a:chExt cx="1663059" cy="1664208"/>
          </a:xfrm>
        </p:grpSpPr>
        <p:sp>
          <p:nvSpPr>
            <p:cNvPr id="14" name="Oval 13">
              <a:extLst>
                <a:ext uri="{FF2B5EF4-FFF2-40B4-BE49-F238E27FC236}">
                  <a16:creationId xmlns:a16="http://schemas.microsoft.com/office/drawing/2014/main" id="{53F41867-AF60-B5F3-04BE-9F48A1BB09B0}"/>
                </a:ext>
              </a:extLst>
            </p:cNvPr>
            <p:cNvSpPr/>
            <p:nvPr/>
          </p:nvSpPr>
          <p:spPr>
            <a:xfrm>
              <a:off x="9094660" y="1419321"/>
              <a:ext cx="1663059" cy="1664208"/>
            </a:xfrm>
            <a:prstGeom prst="ellipse">
              <a:avLst/>
            </a:prstGeom>
            <a:solidFill>
              <a:schemeClr val="bg1">
                <a:lumMod val="95000"/>
              </a:schemeClr>
            </a:solidFill>
            <a:ln w="12700">
              <a:miter lim="400000"/>
            </a:ln>
            <a:effectLst>
              <a:outerShdw blurRad="254000" dist="190500" dir="13500000" algn="tl" rotWithShape="0">
                <a:schemeClr val="bg1"/>
              </a:outerShdw>
            </a:effectLst>
          </p:spPr>
          <p:txBody>
            <a:bodyPr lIns="28575" tIns="28575" rIns="28575" bIns="28575" anchor="ctr"/>
            <a:lstStyle/>
            <a:p>
              <a:endParaRPr lang="en-US" sz="2400">
                <a:solidFill>
                  <a:srgbClr val="FFFFFF"/>
                </a:solidFill>
              </a:endParaRPr>
            </a:p>
          </p:txBody>
        </p:sp>
        <p:sp>
          <p:nvSpPr>
            <p:cNvPr id="15" name="Oval 14">
              <a:extLst>
                <a:ext uri="{FF2B5EF4-FFF2-40B4-BE49-F238E27FC236}">
                  <a16:creationId xmlns:a16="http://schemas.microsoft.com/office/drawing/2014/main" id="{271F0C38-0FE4-362E-3F57-FC310EF4C202}"/>
                </a:ext>
              </a:extLst>
            </p:cNvPr>
            <p:cNvSpPr/>
            <p:nvPr/>
          </p:nvSpPr>
          <p:spPr>
            <a:xfrm>
              <a:off x="9094660" y="1419321"/>
              <a:ext cx="1663059" cy="1664208"/>
            </a:xfrm>
            <a:prstGeom prst="ellipse">
              <a:avLst/>
            </a:prstGeom>
            <a:solidFill>
              <a:srgbClr val="F1EFF0"/>
            </a:solidFill>
            <a:ln w="12700">
              <a:miter lim="400000"/>
            </a:ln>
            <a:effectLst>
              <a:outerShdw blurRad="254000" dist="190500" dir="2700000" algn="tl" rotWithShape="0">
                <a:schemeClr val="bg1">
                  <a:lumMod val="75000"/>
                  <a:alpha val="40000"/>
                </a:schemeClr>
              </a:outerShdw>
            </a:effectLst>
          </p:spPr>
          <p:txBody>
            <a:bodyPr lIns="28575" tIns="28575" rIns="28575" bIns="28575" anchor="ctr"/>
            <a:lstStyle/>
            <a:p>
              <a:pPr algn="ctr"/>
              <a:r>
                <a:rPr lang="en-US" sz="2400" b="1" dirty="0"/>
                <a:t>3</a:t>
              </a:r>
            </a:p>
          </p:txBody>
        </p:sp>
      </p:grpSp>
      <p:grpSp>
        <p:nvGrpSpPr>
          <p:cNvPr id="16" name="Group 15">
            <a:extLst>
              <a:ext uri="{FF2B5EF4-FFF2-40B4-BE49-F238E27FC236}">
                <a16:creationId xmlns:a16="http://schemas.microsoft.com/office/drawing/2014/main" id="{2E3B01F4-EF93-339F-B824-3A33423F0BA2}"/>
              </a:ext>
            </a:extLst>
          </p:cNvPr>
          <p:cNvGrpSpPr/>
          <p:nvPr/>
        </p:nvGrpSpPr>
        <p:grpSpPr>
          <a:xfrm>
            <a:off x="4545430" y="3178295"/>
            <a:ext cx="3112039" cy="2812279"/>
            <a:chOff x="8212798" y="998309"/>
            <a:chExt cx="3546329" cy="3204737"/>
          </a:xfrm>
        </p:grpSpPr>
        <p:sp>
          <p:nvSpPr>
            <p:cNvPr id="17" name="Shape">
              <a:extLst>
                <a:ext uri="{FF2B5EF4-FFF2-40B4-BE49-F238E27FC236}">
                  <a16:creationId xmlns:a16="http://schemas.microsoft.com/office/drawing/2014/main" id="{3995BD10-0928-A499-1331-CCDD83904A5C}"/>
                </a:ext>
              </a:extLst>
            </p:cNvPr>
            <p:cNvSpPr/>
            <p:nvPr/>
          </p:nvSpPr>
          <p:spPr>
            <a:xfrm>
              <a:off x="8212798" y="998309"/>
              <a:ext cx="3546329" cy="3204737"/>
            </a:xfrm>
            <a:custGeom>
              <a:avLst/>
              <a:gdLst/>
              <a:ahLst/>
              <a:cxnLst>
                <a:cxn ang="0">
                  <a:pos x="wd2" y="hd2"/>
                </a:cxn>
                <a:cxn ang="5400000">
                  <a:pos x="wd2" y="hd2"/>
                </a:cxn>
                <a:cxn ang="10800000">
                  <a:pos x="wd2" y="hd2"/>
                </a:cxn>
                <a:cxn ang="16200000">
                  <a:pos x="wd2" y="hd2"/>
                </a:cxn>
              </a:cxnLst>
              <a:rect l="0" t="0" r="r" b="b"/>
              <a:pathLst>
                <a:path w="21600" h="21600" extrusionOk="0">
                  <a:moveTo>
                    <a:pt x="13725" y="15733"/>
                  </a:moveTo>
                  <a:cubicBezTo>
                    <a:pt x="13725" y="11853"/>
                    <a:pt x="16569" y="8707"/>
                    <a:pt x="20074" y="8707"/>
                  </a:cubicBezTo>
                  <a:cubicBezTo>
                    <a:pt x="20598" y="8707"/>
                    <a:pt x="21108" y="8777"/>
                    <a:pt x="21600" y="8909"/>
                  </a:cubicBezTo>
                  <a:cubicBezTo>
                    <a:pt x="21405" y="5260"/>
                    <a:pt x="19734" y="2051"/>
                    <a:pt x="17231" y="0"/>
                  </a:cubicBezTo>
                  <a:cubicBezTo>
                    <a:pt x="16348" y="3000"/>
                    <a:pt x="13801" y="5170"/>
                    <a:pt x="10800" y="5170"/>
                  </a:cubicBezTo>
                  <a:cubicBezTo>
                    <a:pt x="7793" y="5170"/>
                    <a:pt x="5246" y="3000"/>
                    <a:pt x="4369" y="0"/>
                  </a:cubicBezTo>
                  <a:cubicBezTo>
                    <a:pt x="1873" y="2044"/>
                    <a:pt x="202" y="5247"/>
                    <a:pt x="0" y="8888"/>
                  </a:cubicBezTo>
                  <a:cubicBezTo>
                    <a:pt x="467" y="8763"/>
                    <a:pt x="958" y="8700"/>
                    <a:pt x="1463" y="8700"/>
                  </a:cubicBezTo>
                  <a:cubicBezTo>
                    <a:pt x="4968" y="8700"/>
                    <a:pt x="7812" y="11847"/>
                    <a:pt x="7812" y="15726"/>
                  </a:cubicBezTo>
                  <a:cubicBezTo>
                    <a:pt x="7812" y="17547"/>
                    <a:pt x="7187" y="19200"/>
                    <a:pt x="6166" y="20449"/>
                  </a:cubicBezTo>
                  <a:cubicBezTo>
                    <a:pt x="7572" y="21188"/>
                    <a:pt x="9148" y="21600"/>
                    <a:pt x="10806" y="21600"/>
                  </a:cubicBezTo>
                  <a:cubicBezTo>
                    <a:pt x="12452" y="21600"/>
                    <a:pt x="14009" y="21195"/>
                    <a:pt x="15402" y="20470"/>
                  </a:cubicBezTo>
                  <a:cubicBezTo>
                    <a:pt x="14356" y="19228"/>
                    <a:pt x="13725" y="17560"/>
                    <a:pt x="13725" y="15733"/>
                  </a:cubicBezTo>
                  <a:close/>
                </a:path>
              </a:pathLst>
            </a:custGeom>
            <a:solidFill>
              <a:schemeClr val="bg1">
                <a:lumMod val="95000"/>
              </a:schemeClr>
            </a:solidFill>
            <a:ln w="12700">
              <a:miter lim="400000"/>
            </a:ln>
            <a:effectLst>
              <a:outerShdw blurRad="254000" dist="190500" dir="13500000" algn="tl" rotWithShape="0">
                <a:schemeClr val="bg1"/>
              </a:outerShdw>
            </a:effectLst>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2250">
                <a:solidFill>
                  <a:srgbClr val="FFFFFF"/>
                </a:solidFill>
              </a:endParaRPr>
            </a:p>
          </p:txBody>
        </p:sp>
        <p:sp>
          <p:nvSpPr>
            <p:cNvPr id="18" name="Shape">
              <a:extLst>
                <a:ext uri="{FF2B5EF4-FFF2-40B4-BE49-F238E27FC236}">
                  <a16:creationId xmlns:a16="http://schemas.microsoft.com/office/drawing/2014/main" id="{A5C2C977-C5E9-1B8F-530A-8BDBD770B5EE}"/>
                </a:ext>
              </a:extLst>
            </p:cNvPr>
            <p:cNvSpPr/>
            <p:nvPr/>
          </p:nvSpPr>
          <p:spPr>
            <a:xfrm>
              <a:off x="8212798" y="998309"/>
              <a:ext cx="3546329" cy="3204737"/>
            </a:xfrm>
            <a:custGeom>
              <a:avLst/>
              <a:gdLst/>
              <a:ahLst/>
              <a:cxnLst>
                <a:cxn ang="0">
                  <a:pos x="wd2" y="hd2"/>
                </a:cxn>
                <a:cxn ang="5400000">
                  <a:pos x="wd2" y="hd2"/>
                </a:cxn>
                <a:cxn ang="10800000">
                  <a:pos x="wd2" y="hd2"/>
                </a:cxn>
                <a:cxn ang="16200000">
                  <a:pos x="wd2" y="hd2"/>
                </a:cxn>
              </a:cxnLst>
              <a:rect l="0" t="0" r="r" b="b"/>
              <a:pathLst>
                <a:path w="21600" h="21600" extrusionOk="0">
                  <a:moveTo>
                    <a:pt x="13725" y="15733"/>
                  </a:moveTo>
                  <a:cubicBezTo>
                    <a:pt x="13725" y="11853"/>
                    <a:pt x="16569" y="8707"/>
                    <a:pt x="20074" y="8707"/>
                  </a:cubicBezTo>
                  <a:cubicBezTo>
                    <a:pt x="20598" y="8707"/>
                    <a:pt x="21108" y="8777"/>
                    <a:pt x="21600" y="8909"/>
                  </a:cubicBezTo>
                  <a:cubicBezTo>
                    <a:pt x="21405" y="5260"/>
                    <a:pt x="19734" y="2051"/>
                    <a:pt x="17231" y="0"/>
                  </a:cubicBezTo>
                  <a:cubicBezTo>
                    <a:pt x="16348" y="3000"/>
                    <a:pt x="13801" y="5170"/>
                    <a:pt x="10800" y="5170"/>
                  </a:cubicBezTo>
                  <a:cubicBezTo>
                    <a:pt x="7793" y="5170"/>
                    <a:pt x="5246" y="3000"/>
                    <a:pt x="4369" y="0"/>
                  </a:cubicBezTo>
                  <a:cubicBezTo>
                    <a:pt x="1873" y="2044"/>
                    <a:pt x="202" y="5247"/>
                    <a:pt x="0" y="8888"/>
                  </a:cubicBezTo>
                  <a:cubicBezTo>
                    <a:pt x="467" y="8763"/>
                    <a:pt x="958" y="8700"/>
                    <a:pt x="1463" y="8700"/>
                  </a:cubicBezTo>
                  <a:cubicBezTo>
                    <a:pt x="4968" y="8700"/>
                    <a:pt x="7812" y="11847"/>
                    <a:pt x="7812" y="15726"/>
                  </a:cubicBezTo>
                  <a:cubicBezTo>
                    <a:pt x="7812" y="17547"/>
                    <a:pt x="7187" y="19200"/>
                    <a:pt x="6166" y="20449"/>
                  </a:cubicBezTo>
                  <a:cubicBezTo>
                    <a:pt x="7572" y="21188"/>
                    <a:pt x="9148" y="21600"/>
                    <a:pt x="10806" y="21600"/>
                  </a:cubicBezTo>
                  <a:cubicBezTo>
                    <a:pt x="12452" y="21600"/>
                    <a:pt x="14009" y="21195"/>
                    <a:pt x="15402" y="20470"/>
                  </a:cubicBezTo>
                  <a:cubicBezTo>
                    <a:pt x="14356" y="19228"/>
                    <a:pt x="13725" y="17560"/>
                    <a:pt x="13725" y="15733"/>
                  </a:cubicBezTo>
                  <a:close/>
                </a:path>
              </a:pathLst>
            </a:custGeom>
            <a:solidFill>
              <a:schemeClr val="bg1">
                <a:lumMod val="95000"/>
              </a:schemeClr>
            </a:solidFill>
            <a:ln w="12700">
              <a:miter lim="400000"/>
            </a:ln>
            <a:effectLst>
              <a:outerShdw blurRad="254000" dist="190500" dir="2700000" algn="tl" rotWithShape="0">
                <a:schemeClr val="bg1">
                  <a:lumMod val="75000"/>
                  <a:alpha val="40000"/>
                </a:schemeClr>
              </a:outerShdw>
            </a:effectLst>
          </p:spPr>
          <p:txBody>
            <a:bodyPr lIns="28575" tIns="28575" rIns="28575" bIns="28575"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sz="2250" dirty="0">
                <a:solidFill>
                  <a:srgbClr val="FFFFFF"/>
                </a:solidFill>
              </a:endParaRPr>
            </a:p>
          </p:txBody>
        </p:sp>
      </p:grpSp>
      <p:pic>
        <p:nvPicPr>
          <p:cNvPr id="19" name="Graphic 31" descr="Lights On">
            <a:extLst>
              <a:ext uri="{FF2B5EF4-FFF2-40B4-BE49-F238E27FC236}">
                <a16:creationId xmlns:a16="http://schemas.microsoft.com/office/drawing/2014/main" id="{1CA274DC-454A-6E5E-6D25-51991BFEC0ED}"/>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713853" y="4424362"/>
            <a:ext cx="764292" cy="764292"/>
          </a:xfrm>
          <a:prstGeom prst="rect">
            <a:avLst/>
          </a:prstGeom>
        </p:spPr>
      </p:pic>
      <p:sp>
        <p:nvSpPr>
          <p:cNvPr id="20" name="TextBox 13">
            <a:extLst>
              <a:ext uri="{FF2B5EF4-FFF2-40B4-BE49-F238E27FC236}">
                <a16:creationId xmlns:a16="http://schemas.microsoft.com/office/drawing/2014/main" id="{E2975257-5C90-B058-DBB8-F814A8F17989}"/>
              </a:ext>
            </a:extLst>
          </p:cNvPr>
          <p:cNvSpPr txBox="1"/>
          <p:nvPr/>
        </p:nvSpPr>
        <p:spPr>
          <a:xfrm>
            <a:off x="5219477" y="3971152"/>
            <a:ext cx="1743042" cy="415498"/>
          </a:xfrm>
          <a:prstGeom prst="rect">
            <a:avLst/>
          </a:prstGeom>
          <a:noFill/>
        </p:spPr>
        <p:txBody>
          <a:bodyPr wrap="square" lIns="0" rIns="0" rtlCol="0"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700" b="1" noProof="1"/>
              <a:t>Combined Phenotype Score (EFS)</a:t>
            </a:r>
          </a:p>
          <a:p>
            <a:pPr algn="ctr"/>
            <a:r>
              <a:rPr lang="en-US" sz="700" b="1" noProof="1"/>
              <a:t>Low = Loss of Function</a:t>
            </a:r>
          </a:p>
          <a:p>
            <a:pPr algn="ctr"/>
            <a:r>
              <a:rPr lang="en-US" sz="700" b="1" noProof="1"/>
              <a:t>High = WT-like Activity</a:t>
            </a:r>
          </a:p>
        </p:txBody>
      </p:sp>
      <p:sp>
        <p:nvSpPr>
          <p:cNvPr id="28" name="TextBox 27">
            <a:extLst>
              <a:ext uri="{FF2B5EF4-FFF2-40B4-BE49-F238E27FC236}">
                <a16:creationId xmlns:a16="http://schemas.microsoft.com/office/drawing/2014/main" id="{C068C0E7-73EB-621D-7356-C23796AAF798}"/>
              </a:ext>
            </a:extLst>
          </p:cNvPr>
          <p:cNvSpPr txBox="1"/>
          <p:nvPr/>
        </p:nvSpPr>
        <p:spPr>
          <a:xfrm>
            <a:off x="267478" y="4631438"/>
            <a:ext cx="3331985" cy="369331"/>
          </a:xfrm>
          <a:prstGeom prst="rect">
            <a:avLst/>
          </a:prstGeom>
          <a:noFill/>
        </p:spPr>
        <p:txBody>
          <a:bodyPr wrap="square" lIns="0" rIns="0" rtlCol="0" anchor="b">
            <a:spAutoFit/>
          </a:bodyPr>
          <a:lstStyle/>
          <a:p>
            <a:pPr algn="r"/>
            <a:r>
              <a:rPr lang="en-US" b="1" dirty="0"/>
              <a:t>Quantify Allele Enrichment</a:t>
            </a:r>
            <a:endParaRPr lang="en-US" sz="2000" b="1" noProof="1"/>
          </a:p>
        </p:txBody>
      </p:sp>
      <p:sp>
        <p:nvSpPr>
          <p:cNvPr id="31" name="TextBox 30">
            <a:extLst>
              <a:ext uri="{FF2B5EF4-FFF2-40B4-BE49-F238E27FC236}">
                <a16:creationId xmlns:a16="http://schemas.microsoft.com/office/drawing/2014/main" id="{C179F1FA-36D8-4879-074A-1A5D6C93F38A}"/>
              </a:ext>
            </a:extLst>
          </p:cNvPr>
          <p:cNvSpPr txBox="1"/>
          <p:nvPr/>
        </p:nvSpPr>
        <p:spPr>
          <a:xfrm>
            <a:off x="1286933" y="2249613"/>
            <a:ext cx="3614699" cy="414475"/>
          </a:xfrm>
          <a:prstGeom prst="rect">
            <a:avLst/>
          </a:prstGeom>
          <a:noFill/>
        </p:spPr>
        <p:txBody>
          <a:bodyPr wrap="square" lIns="0" rIns="0" rtlCol="0" anchor="b">
            <a:spAutoFit/>
          </a:bodyPr>
          <a:lstStyle/>
          <a:p>
            <a:r>
              <a:rPr lang="en-US" sz="2000" b="1" noProof="1"/>
              <a:t>Screen 8,258 TP53 Variants</a:t>
            </a:r>
          </a:p>
        </p:txBody>
      </p:sp>
      <p:sp>
        <p:nvSpPr>
          <p:cNvPr id="36" name="TextBox 35">
            <a:extLst>
              <a:ext uri="{FF2B5EF4-FFF2-40B4-BE49-F238E27FC236}">
                <a16:creationId xmlns:a16="http://schemas.microsoft.com/office/drawing/2014/main" id="{95D58AF2-E905-8DD8-F9E7-C14EF010632A}"/>
              </a:ext>
            </a:extLst>
          </p:cNvPr>
          <p:cNvSpPr txBox="1"/>
          <p:nvPr/>
        </p:nvSpPr>
        <p:spPr>
          <a:xfrm>
            <a:off x="440870" y="6258822"/>
            <a:ext cx="11321157" cy="861774"/>
          </a:xfrm>
          <a:prstGeom prst="rect">
            <a:avLst/>
          </a:prstGeom>
          <a:noFill/>
        </p:spPr>
        <p:txBody>
          <a:bodyPr wrap="square" rtlCol="0">
            <a:spAutoFit/>
          </a:bodyPr>
          <a:lstStyle/>
          <a:p>
            <a:pPr algn="ctr"/>
            <a:r>
              <a:rPr lang="en-US" sz="1600" dirty="0"/>
              <a:t>Giacomelli, A.O., Yang, X., Lintner, R.E. </a:t>
            </a:r>
            <a:r>
              <a:rPr lang="en-US" sz="1600" i="1" dirty="0"/>
              <a:t>et al.</a:t>
            </a:r>
            <a:r>
              <a:rPr lang="en-US" sz="1600" dirty="0"/>
              <a:t> Mutational processes shape the landscape of </a:t>
            </a:r>
            <a:r>
              <a:rPr lang="en-US" sz="1600" i="1" dirty="0"/>
              <a:t>TP53</a:t>
            </a:r>
            <a:r>
              <a:rPr lang="en-US" sz="1600" dirty="0"/>
              <a:t> mutations in human cancer. </a:t>
            </a:r>
            <a:r>
              <a:rPr lang="en-US" sz="1600" i="1" dirty="0"/>
              <a:t>Nat Genet</a:t>
            </a:r>
            <a:r>
              <a:rPr lang="en-US" sz="1600" dirty="0"/>
              <a:t> 50, 1381–1387 (2018).</a:t>
            </a:r>
            <a:endParaRPr lang="en-IL" sz="1600" dirty="0"/>
          </a:p>
          <a:p>
            <a:endParaRPr lang="en-IL" dirty="0"/>
          </a:p>
        </p:txBody>
      </p:sp>
      <p:sp>
        <p:nvSpPr>
          <p:cNvPr id="3" name="Circle">
            <a:extLst>
              <a:ext uri="{FF2B5EF4-FFF2-40B4-BE49-F238E27FC236}">
                <a16:creationId xmlns:a16="http://schemas.microsoft.com/office/drawing/2014/main" id="{6BF07ACD-7958-F801-5A96-DFBCF58B89B6}"/>
              </a:ext>
            </a:extLst>
          </p:cNvPr>
          <p:cNvSpPr>
            <a:spLocks/>
          </p:cNvSpPr>
          <p:nvPr/>
        </p:nvSpPr>
        <p:spPr>
          <a:xfrm>
            <a:off x="6865379" y="4595756"/>
            <a:ext cx="1459397" cy="1460406"/>
          </a:xfrm>
          <a:prstGeom prst="ellipse">
            <a:avLst/>
          </a:prstGeom>
          <a:gradFill>
            <a:gsLst>
              <a:gs pos="50000">
                <a:schemeClr val="accent3"/>
              </a:gs>
              <a:gs pos="85000">
                <a:schemeClr val="accent3">
                  <a:lumMod val="40000"/>
                  <a:lumOff val="60000"/>
                </a:schemeClr>
              </a:gs>
            </a:gsLst>
            <a:lin ang="2700000" scaled="0"/>
          </a:gradFill>
          <a:ln>
            <a:noFill/>
          </a:ln>
          <a:effectLst>
            <a:innerShdw blurRad="152400" dist="101600" dir="13500000">
              <a:schemeClr val="accent3">
                <a:lumMod val="50000"/>
                <a:alpha val="40000"/>
              </a:schemeClr>
            </a:inn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2400" b="1" dirty="0">
                <a:solidFill>
                  <a:schemeClr val="bg1"/>
                </a:solidFill>
              </a:rPr>
              <a:t>3</a:t>
            </a:r>
            <a:endParaRPr sz="2400" b="1" dirty="0">
              <a:solidFill>
                <a:schemeClr val="bg1"/>
              </a:solidFill>
            </a:endParaRPr>
          </a:p>
        </p:txBody>
      </p:sp>
      <p:grpSp>
        <p:nvGrpSpPr>
          <p:cNvPr id="4" name="Group 3">
            <a:extLst>
              <a:ext uri="{FF2B5EF4-FFF2-40B4-BE49-F238E27FC236}">
                <a16:creationId xmlns:a16="http://schemas.microsoft.com/office/drawing/2014/main" id="{2FAD9B7E-139E-9756-E43F-B22E28E10D2B}"/>
              </a:ext>
            </a:extLst>
          </p:cNvPr>
          <p:cNvGrpSpPr/>
          <p:nvPr/>
        </p:nvGrpSpPr>
        <p:grpSpPr>
          <a:xfrm>
            <a:off x="5371749" y="2023470"/>
            <a:ext cx="1459397" cy="1460406"/>
            <a:chOff x="9094660" y="1419321"/>
            <a:chExt cx="1663059" cy="1664208"/>
          </a:xfrm>
        </p:grpSpPr>
        <p:sp>
          <p:nvSpPr>
            <p:cNvPr id="5" name="Oval 4">
              <a:extLst>
                <a:ext uri="{FF2B5EF4-FFF2-40B4-BE49-F238E27FC236}">
                  <a16:creationId xmlns:a16="http://schemas.microsoft.com/office/drawing/2014/main" id="{84364443-2463-4F2E-736F-D6F14070BC18}"/>
                </a:ext>
              </a:extLst>
            </p:cNvPr>
            <p:cNvSpPr/>
            <p:nvPr/>
          </p:nvSpPr>
          <p:spPr>
            <a:xfrm>
              <a:off x="9094660" y="1419321"/>
              <a:ext cx="1663059" cy="1664208"/>
            </a:xfrm>
            <a:prstGeom prst="ellipse">
              <a:avLst/>
            </a:prstGeom>
            <a:solidFill>
              <a:schemeClr val="bg1">
                <a:lumMod val="95000"/>
              </a:schemeClr>
            </a:solidFill>
            <a:ln w="12700">
              <a:miter lim="400000"/>
            </a:ln>
            <a:effectLst>
              <a:outerShdw blurRad="254000" dist="190500" dir="13500000" algn="tl" rotWithShape="0">
                <a:schemeClr val="bg1"/>
              </a:outerShdw>
            </a:effectLst>
          </p:spPr>
          <p:txBody>
            <a:bodyPr lIns="28575" tIns="28575" rIns="28575" bIns="28575" anchor="ctr"/>
            <a:lstStyle/>
            <a:p>
              <a:endParaRPr lang="en-US" sz="2400">
                <a:solidFill>
                  <a:srgbClr val="FFFFFF"/>
                </a:solidFill>
              </a:endParaRPr>
            </a:p>
          </p:txBody>
        </p:sp>
        <p:sp>
          <p:nvSpPr>
            <p:cNvPr id="6" name="Oval 5">
              <a:extLst>
                <a:ext uri="{FF2B5EF4-FFF2-40B4-BE49-F238E27FC236}">
                  <a16:creationId xmlns:a16="http://schemas.microsoft.com/office/drawing/2014/main" id="{38C97F78-302D-4513-0AEA-0F96BA8FE337}"/>
                </a:ext>
              </a:extLst>
            </p:cNvPr>
            <p:cNvSpPr/>
            <p:nvPr/>
          </p:nvSpPr>
          <p:spPr>
            <a:xfrm>
              <a:off x="9094660" y="1419321"/>
              <a:ext cx="1663059" cy="1664208"/>
            </a:xfrm>
            <a:prstGeom prst="ellipse">
              <a:avLst/>
            </a:prstGeom>
            <a:solidFill>
              <a:srgbClr val="F1EFF0"/>
            </a:solidFill>
            <a:ln w="12700">
              <a:miter lim="400000"/>
            </a:ln>
            <a:effectLst>
              <a:outerShdw blurRad="254000" dist="190500" dir="2700000" algn="tl" rotWithShape="0">
                <a:schemeClr val="bg1">
                  <a:lumMod val="75000"/>
                  <a:alpha val="40000"/>
                </a:schemeClr>
              </a:outerShdw>
            </a:effectLst>
          </p:spPr>
          <p:txBody>
            <a:bodyPr lIns="28575" tIns="28575" rIns="28575" bIns="28575" anchor="ctr"/>
            <a:lstStyle/>
            <a:p>
              <a:pPr algn="ctr"/>
              <a:r>
                <a:rPr lang="en-US" sz="2400" b="1" dirty="0"/>
                <a:t>1</a:t>
              </a:r>
            </a:p>
          </p:txBody>
        </p:sp>
      </p:grpSp>
      <p:sp>
        <p:nvSpPr>
          <p:cNvPr id="33" name="TextBox 32">
            <a:extLst>
              <a:ext uri="{FF2B5EF4-FFF2-40B4-BE49-F238E27FC236}">
                <a16:creationId xmlns:a16="http://schemas.microsoft.com/office/drawing/2014/main" id="{011AC7CC-5E93-8896-B9C3-F186819264CE}"/>
              </a:ext>
            </a:extLst>
          </p:cNvPr>
          <p:cNvSpPr txBox="1"/>
          <p:nvPr/>
        </p:nvSpPr>
        <p:spPr>
          <a:xfrm>
            <a:off x="446568" y="-1"/>
            <a:ext cx="3712984" cy="468000"/>
          </a:xfrm>
          <a:prstGeom prst="rect">
            <a:avLst/>
          </a:prstGeom>
          <a:solidFill>
            <a:srgbClr val="4D1434"/>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Background</a:t>
            </a:r>
          </a:p>
        </p:txBody>
      </p:sp>
      <p:sp>
        <p:nvSpPr>
          <p:cNvPr id="11" name="TextBox 10">
            <a:extLst>
              <a:ext uri="{FF2B5EF4-FFF2-40B4-BE49-F238E27FC236}">
                <a16:creationId xmlns:a16="http://schemas.microsoft.com/office/drawing/2014/main" id="{52F7814D-2864-116E-71FD-D49FD17CE8AB}"/>
              </a:ext>
            </a:extLst>
          </p:cNvPr>
          <p:cNvSpPr txBox="1"/>
          <p:nvPr/>
        </p:nvSpPr>
        <p:spPr>
          <a:xfrm>
            <a:off x="8559805" y="4600659"/>
            <a:ext cx="3276783" cy="400110"/>
          </a:xfrm>
          <a:prstGeom prst="rect">
            <a:avLst/>
          </a:prstGeom>
          <a:noFill/>
        </p:spPr>
        <p:txBody>
          <a:bodyPr wrap="square" lIns="0" rIns="0" rtlCol="0" anchor="b">
            <a:spAutoFit/>
          </a:bodyPr>
          <a:lstStyle/>
          <a:p>
            <a:r>
              <a:rPr lang="en-US" sz="2000" b="1" noProof="1">
                <a:solidFill>
                  <a:srgbClr val="903063"/>
                </a:solidFill>
              </a:rPr>
              <a:t>Calculate Functional Score</a:t>
            </a:r>
          </a:p>
        </p:txBody>
      </p:sp>
      <p:sp>
        <p:nvSpPr>
          <p:cNvPr id="12" name="TextBox 11">
            <a:extLst>
              <a:ext uri="{FF2B5EF4-FFF2-40B4-BE49-F238E27FC236}">
                <a16:creationId xmlns:a16="http://schemas.microsoft.com/office/drawing/2014/main" id="{C3937F33-FAFC-5F41-1DB1-44F6F9FB5B3D}"/>
              </a:ext>
            </a:extLst>
          </p:cNvPr>
          <p:cNvSpPr txBox="1"/>
          <p:nvPr/>
        </p:nvSpPr>
        <p:spPr>
          <a:xfrm>
            <a:off x="8712017" y="2377178"/>
            <a:ext cx="3092506" cy="1123384"/>
          </a:xfrm>
          <a:prstGeom prst="rect">
            <a:avLst/>
          </a:prstGeom>
          <a:noFill/>
        </p:spPr>
        <p:txBody>
          <a:bodyPr wrap="square" rtlCol="0">
            <a:spAutoFit/>
          </a:bodyPr>
          <a:lstStyle/>
          <a:p>
            <a:pPr algn="ctr"/>
            <a:r>
              <a:rPr lang="en-US" sz="1400" dirty="0"/>
              <a:t>[Z(</a:t>
            </a:r>
            <a:r>
              <a:rPr lang="en-US" sz="1400" dirty="0" err="1"/>
              <a:t>WT+nutlin</a:t>
            </a:r>
            <a:r>
              <a:rPr lang="en-US" sz="1400" dirty="0"/>
              <a:t>) + Z(</a:t>
            </a:r>
            <a:r>
              <a:rPr lang="en-US" sz="1400" dirty="0" err="1"/>
              <a:t>NULL+nutlin</a:t>
            </a:r>
            <a:r>
              <a:rPr lang="en-US" sz="1400" dirty="0"/>
              <a:t>) - Z(</a:t>
            </a:r>
            <a:r>
              <a:rPr lang="en-US" sz="1400" dirty="0" err="1"/>
              <a:t>NULL+etop</a:t>
            </a:r>
            <a:r>
              <a:rPr lang="en-US" sz="1400" dirty="0"/>
              <a:t>)]</a:t>
            </a:r>
          </a:p>
          <a:p>
            <a:pPr algn="ctr"/>
            <a:r>
              <a:rPr lang="en-US" sz="1400" dirty="0"/>
              <a:t>____________________________</a:t>
            </a:r>
          </a:p>
          <a:p>
            <a:pPr algn="ctr"/>
            <a:endParaRPr lang="en-US" sz="1100" dirty="0"/>
          </a:p>
          <a:p>
            <a:pPr algn="ctr"/>
            <a:r>
              <a:rPr lang="en-US" sz="1400" dirty="0"/>
              <a:t>3</a:t>
            </a:r>
          </a:p>
        </p:txBody>
      </p:sp>
      <p:sp>
        <p:nvSpPr>
          <p:cNvPr id="13" name="TextBox 12">
            <a:extLst>
              <a:ext uri="{FF2B5EF4-FFF2-40B4-BE49-F238E27FC236}">
                <a16:creationId xmlns:a16="http://schemas.microsoft.com/office/drawing/2014/main" id="{75673C05-49DD-3F2C-6DF9-6F2930A59569}"/>
              </a:ext>
            </a:extLst>
          </p:cNvPr>
          <p:cNvSpPr txBox="1"/>
          <p:nvPr/>
        </p:nvSpPr>
        <p:spPr>
          <a:xfrm>
            <a:off x="8044920" y="2870577"/>
            <a:ext cx="514885" cy="369332"/>
          </a:xfrm>
          <a:prstGeom prst="rect">
            <a:avLst/>
          </a:prstGeom>
          <a:noFill/>
        </p:spPr>
        <p:txBody>
          <a:bodyPr wrap="none" rtlCol="0">
            <a:spAutoFit/>
          </a:bodyPr>
          <a:lstStyle/>
          <a:p>
            <a:r>
              <a:rPr lang="en-IL" dirty="0"/>
              <a:t>EFS</a:t>
            </a:r>
          </a:p>
        </p:txBody>
      </p:sp>
      <p:sp>
        <p:nvSpPr>
          <p:cNvPr id="21" name="TextBox 20">
            <a:extLst>
              <a:ext uri="{FF2B5EF4-FFF2-40B4-BE49-F238E27FC236}">
                <a16:creationId xmlns:a16="http://schemas.microsoft.com/office/drawing/2014/main" id="{B80031CB-6D8D-D75F-F5C7-B4AB49F1FB13}"/>
              </a:ext>
            </a:extLst>
          </p:cNvPr>
          <p:cNvSpPr txBox="1"/>
          <p:nvPr/>
        </p:nvSpPr>
        <p:spPr>
          <a:xfrm>
            <a:off x="8552358" y="2870577"/>
            <a:ext cx="319318" cy="369332"/>
          </a:xfrm>
          <a:prstGeom prst="rect">
            <a:avLst/>
          </a:prstGeom>
          <a:noFill/>
        </p:spPr>
        <p:txBody>
          <a:bodyPr wrap="none" rtlCol="0">
            <a:spAutoFit/>
          </a:bodyPr>
          <a:lstStyle/>
          <a:p>
            <a:r>
              <a:rPr lang="en-IL" dirty="0"/>
              <a:t>=</a:t>
            </a:r>
          </a:p>
        </p:txBody>
      </p:sp>
    </p:spTree>
    <p:extLst>
      <p:ext uri="{BB962C8B-B14F-4D97-AF65-F5344CB8AC3E}">
        <p14:creationId xmlns:p14="http://schemas.microsoft.com/office/powerpoint/2010/main" val="2559149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8F8A75-3D0E-FBA7-C9A9-52E29C13E2B4}"/>
              </a:ext>
            </a:extLst>
          </p:cNvPr>
          <p:cNvSpPr>
            <a:spLocks noGrp="1"/>
          </p:cNvSpPr>
          <p:nvPr>
            <p:ph type="title"/>
          </p:nvPr>
        </p:nvSpPr>
        <p:spPr>
          <a:xfrm>
            <a:off x="1043950" y="1179151"/>
            <a:ext cx="3300646" cy="4463889"/>
          </a:xfrm>
        </p:spPr>
        <p:txBody>
          <a:bodyPr anchor="ctr">
            <a:normAutofit/>
          </a:bodyPr>
          <a:lstStyle/>
          <a:p>
            <a:r>
              <a:rPr lang="en-IL" dirty="0"/>
              <a:t>Hypothesis</a:t>
            </a:r>
          </a:p>
        </p:txBody>
      </p:sp>
      <p:sp>
        <p:nvSpPr>
          <p:cNvPr id="3" name="Content Placeholder 2">
            <a:extLst>
              <a:ext uri="{FF2B5EF4-FFF2-40B4-BE49-F238E27FC236}">
                <a16:creationId xmlns:a16="http://schemas.microsoft.com/office/drawing/2014/main" id="{450371DA-6225-3ED0-31FB-0CFC1E1B1070}"/>
              </a:ext>
            </a:extLst>
          </p:cNvPr>
          <p:cNvSpPr>
            <a:spLocks noGrp="1"/>
          </p:cNvSpPr>
          <p:nvPr>
            <p:ph idx="1"/>
          </p:nvPr>
        </p:nvSpPr>
        <p:spPr>
          <a:xfrm>
            <a:off x="616688" y="2475595"/>
            <a:ext cx="10958623" cy="3572037"/>
          </a:xfrm>
        </p:spPr>
        <p:txBody>
          <a:bodyPr anchor="ctr">
            <a:normAutofit/>
          </a:bodyPr>
          <a:lstStyle/>
          <a:p>
            <a:pPr marL="0" indent="0" algn="ctr">
              <a:buNone/>
            </a:pPr>
            <a:r>
              <a:rPr lang="en-US" sz="4000" dirty="0"/>
              <a:t>Patients with TP53 mutations that have</a:t>
            </a:r>
            <a:r>
              <a:rPr lang="he-IL" sz="4000" dirty="0"/>
              <a:t> </a:t>
            </a:r>
            <a:r>
              <a:rPr lang="en-US" sz="4000" dirty="0"/>
              <a:t>the</a:t>
            </a:r>
            <a:endParaRPr lang="he-IL" sz="4000" dirty="0"/>
          </a:p>
          <a:p>
            <a:pPr marL="0" indent="0" algn="ctr">
              <a:buNone/>
            </a:pPr>
            <a:r>
              <a:rPr lang="en-US" sz="4000" dirty="0"/>
              <a:t>lowest</a:t>
            </a:r>
            <a:r>
              <a:rPr lang="he-IL" sz="4000" dirty="0"/>
              <a:t> </a:t>
            </a:r>
            <a:r>
              <a:rPr lang="en-US" sz="4000" dirty="0">
                <a:solidFill>
                  <a:srgbClr val="00B050"/>
                </a:solidFill>
              </a:rPr>
              <a:t>experimental function scores (EFS) </a:t>
            </a:r>
            <a:r>
              <a:rPr lang="en-US" sz="4000" dirty="0"/>
              <a:t>will show </a:t>
            </a:r>
            <a:endParaRPr lang="he-IL" sz="4000" dirty="0"/>
          </a:p>
          <a:p>
            <a:pPr marL="0" indent="0" algn="ctr">
              <a:buNone/>
            </a:pPr>
            <a:r>
              <a:rPr lang="en-US" sz="4000" dirty="0"/>
              <a:t>the highest </a:t>
            </a:r>
            <a:r>
              <a:rPr lang="en-US" sz="4000" dirty="0">
                <a:solidFill>
                  <a:srgbClr val="FF0000"/>
                </a:solidFill>
              </a:rPr>
              <a:t>Fraction Genome Altered (FGA)</a:t>
            </a:r>
            <a:endParaRPr lang="en-IL" sz="4000" dirty="0">
              <a:solidFill>
                <a:srgbClr val="FF0000"/>
              </a:solidFill>
            </a:endParaRPr>
          </a:p>
        </p:txBody>
      </p:sp>
      <p:sp>
        <p:nvSpPr>
          <p:cNvPr id="5" name="Title 1">
            <a:extLst>
              <a:ext uri="{FF2B5EF4-FFF2-40B4-BE49-F238E27FC236}">
                <a16:creationId xmlns:a16="http://schemas.microsoft.com/office/drawing/2014/main" id="{BC41C240-75A6-F0C4-6E17-4569BB826D9A}"/>
              </a:ext>
            </a:extLst>
          </p:cNvPr>
          <p:cNvSpPr txBox="1">
            <a:spLocks/>
          </p:cNvSpPr>
          <p:nvPr/>
        </p:nvSpPr>
        <p:spPr>
          <a:xfrm>
            <a:off x="1170052" y="774559"/>
            <a:ext cx="6750756" cy="688622"/>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err="1"/>
              <a:t>iNITIAL</a:t>
            </a:r>
            <a:r>
              <a:rPr lang="en-US" dirty="0"/>
              <a:t> Hypothesis</a:t>
            </a:r>
            <a:endParaRPr lang="en-IL" dirty="0"/>
          </a:p>
        </p:txBody>
      </p:sp>
      <p:sp>
        <p:nvSpPr>
          <p:cNvPr id="13" name="TextBox 12">
            <a:extLst>
              <a:ext uri="{FF2B5EF4-FFF2-40B4-BE49-F238E27FC236}">
                <a16:creationId xmlns:a16="http://schemas.microsoft.com/office/drawing/2014/main" id="{55CA4A04-F3CC-E50D-A930-C2617987304C}"/>
              </a:ext>
            </a:extLst>
          </p:cNvPr>
          <p:cNvSpPr txBox="1"/>
          <p:nvPr/>
        </p:nvSpPr>
        <p:spPr>
          <a:xfrm>
            <a:off x="446568" y="-1"/>
            <a:ext cx="3712984" cy="468000"/>
          </a:xfrm>
          <a:prstGeom prst="rect">
            <a:avLst/>
          </a:prstGeom>
          <a:solidFill>
            <a:srgbClr val="4D1434"/>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Background</a:t>
            </a:r>
          </a:p>
        </p:txBody>
      </p:sp>
    </p:spTree>
    <p:extLst>
      <p:ext uri="{BB962C8B-B14F-4D97-AF65-F5344CB8AC3E}">
        <p14:creationId xmlns:p14="http://schemas.microsoft.com/office/powerpoint/2010/main" val="32634380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E98ABE-CF8B-D69D-E84E-44B2D17D2AA8}"/>
              </a:ext>
            </a:extLst>
          </p:cNvPr>
          <p:cNvSpPr>
            <a:spLocks noGrp="1"/>
          </p:cNvSpPr>
          <p:nvPr>
            <p:ph type="title"/>
          </p:nvPr>
        </p:nvSpPr>
        <p:spPr>
          <a:xfrm>
            <a:off x="1170927" y="815975"/>
            <a:ext cx="4090285" cy="624060"/>
          </a:xfrm>
        </p:spPr>
        <p:txBody>
          <a:bodyPr>
            <a:normAutofit/>
          </a:bodyPr>
          <a:lstStyle/>
          <a:p>
            <a:r>
              <a:rPr lang="en-US" dirty="0"/>
              <a:t>Research Questions</a:t>
            </a:r>
            <a:endParaRPr lang="en-IL" dirty="0"/>
          </a:p>
        </p:txBody>
      </p:sp>
      <p:graphicFrame>
        <p:nvGraphicFramePr>
          <p:cNvPr id="14" name="Content Placeholder 2">
            <a:extLst>
              <a:ext uri="{FF2B5EF4-FFF2-40B4-BE49-F238E27FC236}">
                <a16:creationId xmlns:a16="http://schemas.microsoft.com/office/drawing/2014/main" id="{3D6605E1-D9B9-4C0E-8948-1BDE3BBABAE1}"/>
              </a:ext>
            </a:extLst>
          </p:cNvPr>
          <p:cNvGraphicFramePr>
            <a:graphicFrameLocks noGrp="1"/>
          </p:cNvGraphicFramePr>
          <p:nvPr>
            <p:ph idx="1"/>
            <p:extLst>
              <p:ext uri="{D42A27DB-BD31-4B8C-83A1-F6EECF244321}">
                <p14:modId xmlns:p14="http://schemas.microsoft.com/office/powerpoint/2010/main" val="1234365697"/>
              </p:ext>
            </p:extLst>
          </p:nvPr>
        </p:nvGraphicFramePr>
        <p:xfrm>
          <a:off x="1286933" y="2180555"/>
          <a:ext cx="9618133" cy="409348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TextBox 5">
            <a:extLst>
              <a:ext uri="{FF2B5EF4-FFF2-40B4-BE49-F238E27FC236}">
                <a16:creationId xmlns:a16="http://schemas.microsoft.com/office/drawing/2014/main" id="{47A52DF3-CC9E-2060-FEF8-AF5B00368D9C}"/>
              </a:ext>
            </a:extLst>
          </p:cNvPr>
          <p:cNvSpPr txBox="1"/>
          <p:nvPr/>
        </p:nvSpPr>
        <p:spPr>
          <a:xfrm>
            <a:off x="446568" y="-1"/>
            <a:ext cx="3712984" cy="468000"/>
          </a:xfrm>
          <a:prstGeom prst="rect">
            <a:avLst/>
          </a:prstGeom>
          <a:solidFill>
            <a:srgbClr val="4D1434"/>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Background</a:t>
            </a:r>
          </a:p>
        </p:txBody>
      </p:sp>
    </p:spTree>
    <p:extLst>
      <p:ext uri="{BB962C8B-B14F-4D97-AF65-F5344CB8AC3E}">
        <p14:creationId xmlns:p14="http://schemas.microsoft.com/office/powerpoint/2010/main" val="8175889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123E3D-3081-6279-96AE-306C13DFF5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EDB3BD-D1C6-E2CF-8283-E2C584FD5742}"/>
              </a:ext>
            </a:extLst>
          </p:cNvPr>
          <p:cNvSpPr>
            <a:spLocks noGrp="1"/>
          </p:cNvSpPr>
          <p:nvPr>
            <p:ph type="title"/>
          </p:nvPr>
        </p:nvSpPr>
        <p:spPr>
          <a:xfrm>
            <a:off x="1075907" y="348735"/>
            <a:ext cx="10464799" cy="1320800"/>
          </a:xfrm>
        </p:spPr>
        <p:txBody>
          <a:bodyPr>
            <a:normAutofit/>
          </a:bodyPr>
          <a:lstStyle/>
          <a:p>
            <a:r>
              <a:rPr lang="en-US" dirty="0"/>
              <a:t>Data Sources:</a:t>
            </a:r>
            <a:br>
              <a:rPr lang="en-US" dirty="0"/>
            </a:br>
            <a:r>
              <a:rPr lang="en-US" dirty="0"/>
              <a:t>Integrating Phenotype &amp; Genotype</a:t>
            </a:r>
            <a:endParaRPr lang="en-IL" dirty="0"/>
          </a:p>
        </p:txBody>
      </p:sp>
      <p:sp>
        <p:nvSpPr>
          <p:cNvPr id="3" name="Content Placeholder 2">
            <a:extLst>
              <a:ext uri="{FF2B5EF4-FFF2-40B4-BE49-F238E27FC236}">
                <a16:creationId xmlns:a16="http://schemas.microsoft.com/office/drawing/2014/main" id="{01AA0A3D-8BE3-0B9A-CB05-49515B9F5340}"/>
              </a:ext>
            </a:extLst>
          </p:cNvPr>
          <p:cNvSpPr>
            <a:spLocks noGrp="1"/>
          </p:cNvSpPr>
          <p:nvPr>
            <p:ph idx="1"/>
          </p:nvPr>
        </p:nvSpPr>
        <p:spPr>
          <a:xfrm>
            <a:off x="6784289" y="2018271"/>
            <a:ext cx="3981164" cy="3880773"/>
          </a:xfrm>
        </p:spPr>
        <p:txBody>
          <a:bodyPr>
            <a:normAutofit/>
          </a:bodyPr>
          <a:lstStyle/>
          <a:p>
            <a:pPr>
              <a:buFont typeface="Wingdings" pitchFamily="2" charset="2"/>
              <a:buChar char="Ø"/>
            </a:pPr>
            <a:r>
              <a:rPr lang="en-US" dirty="0"/>
              <a:t>Giacomelli et al., Nature Genetics, 2018 (25,217 variants, 8,274 unique)</a:t>
            </a:r>
          </a:p>
          <a:p>
            <a:pPr>
              <a:buFont typeface="Wingdings" pitchFamily="2" charset="2"/>
              <a:buChar char="Ø"/>
            </a:pPr>
            <a:r>
              <a:rPr lang="en-US" dirty="0"/>
              <a:t>Role: Experimental "fitness" scores for every possible TP53 mutation - </a:t>
            </a:r>
            <a:r>
              <a:rPr lang="en-US" u="sng" dirty="0"/>
              <a:t>the genotype</a:t>
            </a:r>
          </a:p>
          <a:p>
            <a:pPr>
              <a:buFont typeface="Wingdings" pitchFamily="2" charset="2"/>
              <a:buChar char="Ø"/>
            </a:pPr>
            <a:r>
              <a:rPr lang="en-US" dirty="0"/>
              <a:t>Metric: Experimental Functional Score (derived from cell line fitness screens) quantifies exactly how well each specific TP53 mutant can suppress tumor growth in a controlled lab setting</a:t>
            </a:r>
          </a:p>
        </p:txBody>
      </p:sp>
      <p:sp>
        <p:nvSpPr>
          <p:cNvPr id="4" name="Content Placeholder 2">
            <a:extLst>
              <a:ext uri="{FF2B5EF4-FFF2-40B4-BE49-F238E27FC236}">
                <a16:creationId xmlns:a16="http://schemas.microsoft.com/office/drawing/2014/main" id="{E9705883-5B8C-C2EF-4572-7F0261B08839}"/>
              </a:ext>
            </a:extLst>
          </p:cNvPr>
          <p:cNvSpPr txBox="1">
            <a:spLocks/>
          </p:cNvSpPr>
          <p:nvPr/>
        </p:nvSpPr>
        <p:spPr>
          <a:xfrm>
            <a:off x="1426547" y="2306927"/>
            <a:ext cx="3821288" cy="3880773"/>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a:buFont typeface="Wingdings" pitchFamily="2" charset="2"/>
              <a:buChar char="Ø"/>
            </a:pPr>
            <a:r>
              <a:rPr lang="en-US" dirty="0"/>
              <a:t>AACR GENIE v19.0 (~271,000 samples, 100,418 with FGA).</a:t>
            </a:r>
          </a:p>
          <a:p>
            <a:pPr>
              <a:buFont typeface="Wingdings" pitchFamily="2" charset="2"/>
              <a:buChar char="Ø"/>
            </a:pPr>
            <a:r>
              <a:rPr lang="en-US" dirty="0"/>
              <a:t>Role: Real-world patient data - </a:t>
            </a:r>
            <a:r>
              <a:rPr lang="en-US" u="sng" dirty="0"/>
              <a:t>the phenotype</a:t>
            </a:r>
          </a:p>
          <a:p>
            <a:pPr>
              <a:buFont typeface="Wingdings" pitchFamily="2" charset="2"/>
              <a:buChar char="Ø"/>
            </a:pPr>
            <a:r>
              <a:rPr lang="en-US" dirty="0"/>
              <a:t>Metric: FRACTION_GENOME_ALTERED (FGA), a quantitative measure of chromosomal instability</a:t>
            </a:r>
          </a:p>
          <a:p>
            <a:pPr>
              <a:buFont typeface="Wingdings" pitchFamily="2" charset="2"/>
              <a:buChar char="Ø"/>
            </a:pPr>
            <a:r>
              <a:rPr lang="en-US" dirty="0"/>
              <a:t>35,357 TP53-mutant</a:t>
            </a:r>
          </a:p>
          <a:p>
            <a:pPr>
              <a:buFont typeface="Wingdings" pitchFamily="2" charset="2"/>
              <a:buChar char="Ø"/>
            </a:pPr>
            <a:r>
              <a:rPr lang="en-US" dirty="0"/>
              <a:t>65,061 TP53-WT</a:t>
            </a:r>
          </a:p>
        </p:txBody>
      </p:sp>
      <p:sp>
        <p:nvSpPr>
          <p:cNvPr id="6" name="TextBox 5">
            <a:extLst>
              <a:ext uri="{FF2B5EF4-FFF2-40B4-BE49-F238E27FC236}">
                <a16:creationId xmlns:a16="http://schemas.microsoft.com/office/drawing/2014/main" id="{3DC19C54-F4B6-77C2-43EE-6855AEF25ABD}"/>
              </a:ext>
            </a:extLst>
          </p:cNvPr>
          <p:cNvSpPr txBox="1"/>
          <p:nvPr/>
        </p:nvSpPr>
        <p:spPr>
          <a:xfrm>
            <a:off x="2104783" y="6187700"/>
            <a:ext cx="7945508" cy="369332"/>
          </a:xfrm>
          <a:prstGeom prst="rect">
            <a:avLst/>
          </a:prstGeom>
          <a:noFill/>
        </p:spPr>
        <p:txBody>
          <a:bodyPr wrap="none" rtlCol="0">
            <a:spAutoFit/>
          </a:bodyPr>
          <a:lstStyle/>
          <a:p>
            <a:pPr lvl="0"/>
            <a:r>
              <a:rPr lang="en-US" b="1" dirty="0">
                <a:solidFill>
                  <a:srgbClr val="C00000"/>
                </a:solidFill>
              </a:rPr>
              <a:t>Goal: to show that the physical structure of the genome is breaking down</a:t>
            </a:r>
          </a:p>
        </p:txBody>
      </p:sp>
      <p:sp>
        <p:nvSpPr>
          <p:cNvPr id="10" name="TextBox 9">
            <a:extLst>
              <a:ext uri="{FF2B5EF4-FFF2-40B4-BE49-F238E27FC236}">
                <a16:creationId xmlns:a16="http://schemas.microsoft.com/office/drawing/2014/main" id="{F180386E-378B-FAFF-E227-36C13857EF32}"/>
              </a:ext>
            </a:extLst>
          </p:cNvPr>
          <p:cNvSpPr txBox="1"/>
          <p:nvPr/>
        </p:nvSpPr>
        <p:spPr>
          <a:xfrm>
            <a:off x="446568" y="-1"/>
            <a:ext cx="3712984" cy="468000"/>
          </a:xfrm>
          <a:prstGeom prst="rect">
            <a:avLst/>
          </a:prstGeom>
          <a:solidFill>
            <a:srgbClr val="4D1434"/>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Background</a:t>
            </a:r>
          </a:p>
        </p:txBody>
      </p:sp>
    </p:spTree>
    <p:extLst>
      <p:ext uri="{BB962C8B-B14F-4D97-AF65-F5344CB8AC3E}">
        <p14:creationId xmlns:p14="http://schemas.microsoft.com/office/powerpoint/2010/main" val="308267115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24D48C21-D9D6-2A8D-E5A9-03D57CD6983B}"/>
              </a:ext>
            </a:extLst>
          </p:cNvPr>
          <p:cNvSpPr txBox="1"/>
          <p:nvPr/>
        </p:nvSpPr>
        <p:spPr>
          <a:xfrm>
            <a:off x="4244454" y="6210"/>
            <a:ext cx="3698414" cy="468000"/>
          </a:xfrm>
          <a:prstGeom prst="rect">
            <a:avLst/>
          </a:prstGeom>
          <a:solidFill>
            <a:srgbClr val="903063"/>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Results</a:t>
            </a:r>
          </a:p>
        </p:txBody>
      </p:sp>
      <p:sp>
        <p:nvSpPr>
          <p:cNvPr id="7" name="Title 1">
            <a:extLst>
              <a:ext uri="{FF2B5EF4-FFF2-40B4-BE49-F238E27FC236}">
                <a16:creationId xmlns:a16="http://schemas.microsoft.com/office/drawing/2014/main" id="{650D5BB2-B032-C09A-7B4B-4C9C1F6F2A6D}"/>
              </a:ext>
            </a:extLst>
          </p:cNvPr>
          <p:cNvSpPr txBox="1">
            <a:spLocks/>
          </p:cNvSpPr>
          <p:nvPr/>
        </p:nvSpPr>
        <p:spPr>
          <a:xfrm>
            <a:off x="1020801" y="781856"/>
            <a:ext cx="10395551" cy="624060"/>
          </a:xfrm>
          <a:prstGeom prst="rect">
            <a:avLst/>
          </a:prstGeom>
        </p:spPr>
        <p:txBody>
          <a:bodyPr vert="horz" lIns="91440" tIns="45720" rIns="91440" bIns="45720" rtlCol="0" anchor="b">
            <a:normAutofit fontScale="77500" lnSpcReduction="2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Do TP53 mutations correlate with higher genomic instability (FGA)?</a:t>
            </a:r>
            <a:endParaRPr lang="en-IL" dirty="0"/>
          </a:p>
        </p:txBody>
      </p:sp>
      <p:sp>
        <p:nvSpPr>
          <p:cNvPr id="13" name="TextBox 12">
            <a:extLst>
              <a:ext uri="{FF2B5EF4-FFF2-40B4-BE49-F238E27FC236}">
                <a16:creationId xmlns:a16="http://schemas.microsoft.com/office/drawing/2014/main" id="{C7149966-4352-0034-EA18-0391EB8BAE2C}"/>
              </a:ext>
            </a:extLst>
          </p:cNvPr>
          <p:cNvSpPr txBox="1"/>
          <p:nvPr/>
        </p:nvSpPr>
        <p:spPr>
          <a:xfrm>
            <a:off x="1537775" y="6076144"/>
            <a:ext cx="9361602" cy="369332"/>
          </a:xfrm>
          <a:prstGeom prst="rect">
            <a:avLst/>
          </a:prstGeom>
          <a:noFill/>
        </p:spPr>
        <p:txBody>
          <a:bodyPr wrap="none" rtlCol="0">
            <a:spAutoFit/>
          </a:bodyPr>
          <a:lstStyle/>
          <a:p>
            <a:r>
              <a:rPr lang="en-US" dirty="0"/>
              <a:t>TP53 mutant tumors have significantly higher FGA than WT (median 0.182 vs 0.037, p &lt; 1×10⁻</a:t>
            </a:r>
            <a:r>
              <a:rPr lang="en-US" baseline="30000" dirty="0"/>
              <a:t>300</a:t>
            </a:r>
            <a:r>
              <a:rPr lang="en-US" dirty="0"/>
              <a:t>)</a:t>
            </a:r>
          </a:p>
        </p:txBody>
      </p:sp>
      <p:pic>
        <p:nvPicPr>
          <p:cNvPr id="14" name="Picture 13">
            <a:extLst>
              <a:ext uri="{FF2B5EF4-FFF2-40B4-BE49-F238E27FC236}">
                <a16:creationId xmlns:a16="http://schemas.microsoft.com/office/drawing/2014/main" id="{3295D02F-25C7-4C16-5200-8AF8D295E981}"/>
              </a:ext>
            </a:extLst>
          </p:cNvPr>
          <p:cNvPicPr>
            <a:picLocks noChangeAspect="1"/>
          </p:cNvPicPr>
          <p:nvPr/>
        </p:nvPicPr>
        <p:blipFill>
          <a:blip r:embed="rId3"/>
          <a:stretch>
            <a:fillRect/>
          </a:stretch>
        </p:blipFill>
        <p:spPr>
          <a:xfrm>
            <a:off x="2207461" y="2231141"/>
            <a:ext cx="7772400" cy="3671624"/>
          </a:xfrm>
          <a:prstGeom prst="rect">
            <a:avLst/>
          </a:prstGeom>
        </p:spPr>
      </p:pic>
    </p:spTree>
    <p:extLst>
      <p:ext uri="{BB962C8B-B14F-4D97-AF65-F5344CB8AC3E}">
        <p14:creationId xmlns:p14="http://schemas.microsoft.com/office/powerpoint/2010/main" val="2411909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72F011-000C-1AE0-7D31-CBAC7023690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70276BC-0AC6-A717-FA6A-AE32621A2EB8}"/>
              </a:ext>
            </a:extLst>
          </p:cNvPr>
          <p:cNvSpPr txBox="1"/>
          <p:nvPr/>
        </p:nvSpPr>
        <p:spPr>
          <a:xfrm>
            <a:off x="4244454" y="6210"/>
            <a:ext cx="3698414" cy="504000"/>
          </a:xfrm>
          <a:prstGeom prst="rect">
            <a:avLst/>
          </a:prstGeom>
          <a:solidFill>
            <a:srgbClr val="903063"/>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Results</a:t>
            </a:r>
          </a:p>
        </p:txBody>
      </p:sp>
      <p:sp>
        <p:nvSpPr>
          <p:cNvPr id="7" name="Title 1">
            <a:extLst>
              <a:ext uri="{FF2B5EF4-FFF2-40B4-BE49-F238E27FC236}">
                <a16:creationId xmlns:a16="http://schemas.microsoft.com/office/drawing/2014/main" id="{2036B11B-88A0-682B-9FD9-78FF979F19E7}"/>
              </a:ext>
            </a:extLst>
          </p:cNvPr>
          <p:cNvSpPr txBox="1">
            <a:spLocks/>
          </p:cNvSpPr>
          <p:nvPr/>
        </p:nvSpPr>
        <p:spPr>
          <a:xfrm>
            <a:off x="1020801" y="815976"/>
            <a:ext cx="10395551" cy="62406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 Is there a correlation between EFS and FGA?</a:t>
            </a:r>
          </a:p>
        </p:txBody>
      </p:sp>
      <p:sp>
        <p:nvSpPr>
          <p:cNvPr id="13" name="TextBox 12">
            <a:extLst>
              <a:ext uri="{FF2B5EF4-FFF2-40B4-BE49-F238E27FC236}">
                <a16:creationId xmlns:a16="http://schemas.microsoft.com/office/drawing/2014/main" id="{D9DAE156-E127-133B-B04F-6C8288694112}"/>
              </a:ext>
            </a:extLst>
          </p:cNvPr>
          <p:cNvSpPr txBox="1"/>
          <p:nvPr/>
        </p:nvSpPr>
        <p:spPr>
          <a:xfrm>
            <a:off x="1896807" y="6074821"/>
            <a:ext cx="8393708" cy="369332"/>
          </a:xfrm>
          <a:prstGeom prst="rect">
            <a:avLst/>
          </a:prstGeom>
          <a:noFill/>
        </p:spPr>
        <p:txBody>
          <a:bodyPr wrap="none" rtlCol="0">
            <a:spAutoFit/>
          </a:bodyPr>
          <a:lstStyle/>
          <a:p>
            <a:r>
              <a:rPr lang="en-US" dirty="0"/>
              <a:t>Weak correlation. The hypothesis partially holds but EFS alone doesn't predict FGA well</a:t>
            </a:r>
          </a:p>
        </p:txBody>
      </p:sp>
      <p:pic>
        <p:nvPicPr>
          <p:cNvPr id="3" name="Picture 2">
            <a:extLst>
              <a:ext uri="{FF2B5EF4-FFF2-40B4-BE49-F238E27FC236}">
                <a16:creationId xmlns:a16="http://schemas.microsoft.com/office/drawing/2014/main" id="{27C1CB25-1DF6-0CAF-F6B5-069EF6524031}"/>
              </a:ext>
            </a:extLst>
          </p:cNvPr>
          <p:cNvPicPr>
            <a:picLocks noChangeAspect="1"/>
          </p:cNvPicPr>
          <p:nvPr/>
        </p:nvPicPr>
        <p:blipFill>
          <a:blip r:embed="rId3"/>
          <a:srcRect r="50000"/>
          <a:stretch>
            <a:fillRect/>
          </a:stretch>
        </p:blipFill>
        <p:spPr>
          <a:xfrm>
            <a:off x="3817096" y="2064852"/>
            <a:ext cx="4553129" cy="3948596"/>
          </a:xfrm>
          <a:prstGeom prst="rect">
            <a:avLst/>
          </a:prstGeom>
        </p:spPr>
      </p:pic>
    </p:spTree>
    <p:extLst>
      <p:ext uri="{BB962C8B-B14F-4D97-AF65-F5344CB8AC3E}">
        <p14:creationId xmlns:p14="http://schemas.microsoft.com/office/powerpoint/2010/main" val="355303122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52E269-B919-A0CE-D943-1E6DFA1B89EA}"/>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2485392-FF72-2B72-BD76-DE0A2F158F18}"/>
              </a:ext>
            </a:extLst>
          </p:cNvPr>
          <p:cNvSpPr txBox="1"/>
          <p:nvPr/>
        </p:nvSpPr>
        <p:spPr>
          <a:xfrm>
            <a:off x="4244454" y="6210"/>
            <a:ext cx="3698414" cy="468000"/>
          </a:xfrm>
          <a:prstGeom prst="rect">
            <a:avLst/>
          </a:prstGeom>
          <a:solidFill>
            <a:srgbClr val="903063"/>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Results</a:t>
            </a:r>
          </a:p>
        </p:txBody>
      </p:sp>
      <p:sp>
        <p:nvSpPr>
          <p:cNvPr id="7" name="Title 1">
            <a:extLst>
              <a:ext uri="{FF2B5EF4-FFF2-40B4-BE49-F238E27FC236}">
                <a16:creationId xmlns:a16="http://schemas.microsoft.com/office/drawing/2014/main" id="{82547B83-2C72-0FFA-8ED4-EA2AF20BE789}"/>
              </a:ext>
            </a:extLst>
          </p:cNvPr>
          <p:cNvSpPr txBox="1">
            <a:spLocks/>
          </p:cNvSpPr>
          <p:nvPr/>
        </p:nvSpPr>
        <p:spPr>
          <a:xfrm>
            <a:off x="705067" y="991992"/>
            <a:ext cx="11037048" cy="624060"/>
          </a:xfrm>
          <a:prstGeom prst="rect">
            <a:avLst/>
          </a:prstGeom>
        </p:spPr>
        <p:txBody>
          <a:bodyPr vert="horz" lIns="91440" tIns="45720" rIns="91440" bIns="45720" rtlCol="0" anchor="b">
            <a:normAutofit fontScale="70000" lnSpcReduction="2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Do "Hotspot" mutations drive higher genomic instability than rare mutations?</a:t>
            </a:r>
          </a:p>
          <a:p>
            <a:endParaRPr lang="en-US" dirty="0"/>
          </a:p>
        </p:txBody>
      </p:sp>
      <p:sp>
        <p:nvSpPr>
          <p:cNvPr id="13" name="TextBox 12">
            <a:extLst>
              <a:ext uri="{FF2B5EF4-FFF2-40B4-BE49-F238E27FC236}">
                <a16:creationId xmlns:a16="http://schemas.microsoft.com/office/drawing/2014/main" id="{7E0EF9D9-E489-49CE-71A9-5D56630B5D83}"/>
              </a:ext>
            </a:extLst>
          </p:cNvPr>
          <p:cNvSpPr txBox="1"/>
          <p:nvPr/>
        </p:nvSpPr>
        <p:spPr>
          <a:xfrm>
            <a:off x="1018041" y="6174992"/>
            <a:ext cx="10151240" cy="369332"/>
          </a:xfrm>
          <a:prstGeom prst="rect">
            <a:avLst/>
          </a:prstGeom>
          <a:noFill/>
        </p:spPr>
        <p:txBody>
          <a:bodyPr wrap="none" rtlCol="0">
            <a:spAutoFit/>
          </a:bodyPr>
          <a:lstStyle/>
          <a:p>
            <a:r>
              <a:rPr lang="en-US" dirty="0"/>
              <a:t>Rare mutations have higher median FGA. ”Hotspot” mutations have lower FGA median than rare mutations</a:t>
            </a:r>
          </a:p>
        </p:txBody>
      </p:sp>
      <p:pic>
        <p:nvPicPr>
          <p:cNvPr id="10" name="Picture 9">
            <a:extLst>
              <a:ext uri="{FF2B5EF4-FFF2-40B4-BE49-F238E27FC236}">
                <a16:creationId xmlns:a16="http://schemas.microsoft.com/office/drawing/2014/main" id="{B9EED151-DAE9-8272-1813-D69686A9F18D}"/>
              </a:ext>
            </a:extLst>
          </p:cNvPr>
          <p:cNvPicPr>
            <a:picLocks noChangeAspect="1"/>
          </p:cNvPicPr>
          <p:nvPr/>
        </p:nvPicPr>
        <p:blipFill>
          <a:blip r:embed="rId3"/>
          <a:stretch>
            <a:fillRect/>
          </a:stretch>
        </p:blipFill>
        <p:spPr>
          <a:xfrm>
            <a:off x="577476" y="2133835"/>
            <a:ext cx="11037048" cy="3799132"/>
          </a:xfrm>
          <a:prstGeom prst="rect">
            <a:avLst/>
          </a:prstGeom>
        </p:spPr>
      </p:pic>
    </p:spTree>
    <p:extLst>
      <p:ext uri="{BB962C8B-B14F-4D97-AF65-F5344CB8AC3E}">
        <p14:creationId xmlns:p14="http://schemas.microsoft.com/office/powerpoint/2010/main" val="2765281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6CE85B-3309-1B69-BD5B-E101E2A88CC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1B9404A-6A00-538C-10D9-D01D95DC6116}"/>
              </a:ext>
            </a:extLst>
          </p:cNvPr>
          <p:cNvSpPr txBox="1"/>
          <p:nvPr/>
        </p:nvSpPr>
        <p:spPr>
          <a:xfrm>
            <a:off x="4244454" y="6210"/>
            <a:ext cx="3698414" cy="468000"/>
          </a:xfrm>
          <a:prstGeom prst="rect">
            <a:avLst/>
          </a:prstGeom>
          <a:solidFill>
            <a:srgbClr val="903063"/>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Results</a:t>
            </a:r>
          </a:p>
        </p:txBody>
      </p:sp>
      <p:sp>
        <p:nvSpPr>
          <p:cNvPr id="13" name="TextBox 12">
            <a:extLst>
              <a:ext uri="{FF2B5EF4-FFF2-40B4-BE49-F238E27FC236}">
                <a16:creationId xmlns:a16="http://schemas.microsoft.com/office/drawing/2014/main" id="{FD78E343-857C-92B0-92F1-B3E4ECE429F5}"/>
              </a:ext>
            </a:extLst>
          </p:cNvPr>
          <p:cNvSpPr txBox="1"/>
          <p:nvPr/>
        </p:nvSpPr>
        <p:spPr>
          <a:xfrm>
            <a:off x="2832736" y="6206143"/>
            <a:ext cx="6521850" cy="369332"/>
          </a:xfrm>
          <a:prstGeom prst="rect">
            <a:avLst/>
          </a:prstGeom>
          <a:noFill/>
        </p:spPr>
        <p:txBody>
          <a:bodyPr wrap="none" rtlCol="0">
            <a:spAutoFit/>
          </a:bodyPr>
          <a:lstStyle/>
          <a:p>
            <a:r>
              <a:rPr lang="en-US" dirty="0"/>
              <a:t>The loss of TP53 function itself drives genomic instability uniformly.</a:t>
            </a:r>
          </a:p>
        </p:txBody>
      </p:sp>
      <p:pic>
        <p:nvPicPr>
          <p:cNvPr id="8" name="Picture 7">
            <a:extLst>
              <a:ext uri="{FF2B5EF4-FFF2-40B4-BE49-F238E27FC236}">
                <a16:creationId xmlns:a16="http://schemas.microsoft.com/office/drawing/2014/main" id="{FDE45903-0388-A24D-CF78-EB50EA792B9D}"/>
              </a:ext>
            </a:extLst>
          </p:cNvPr>
          <p:cNvPicPr>
            <a:picLocks noChangeAspect="1"/>
          </p:cNvPicPr>
          <p:nvPr/>
        </p:nvPicPr>
        <p:blipFill>
          <a:blip r:embed="rId3"/>
          <a:srcRect t="9479"/>
          <a:stretch>
            <a:fillRect/>
          </a:stretch>
        </p:blipFill>
        <p:spPr>
          <a:xfrm>
            <a:off x="984518" y="2063261"/>
            <a:ext cx="10222963" cy="3880339"/>
          </a:xfrm>
          <a:prstGeom prst="rect">
            <a:avLst/>
          </a:prstGeom>
        </p:spPr>
      </p:pic>
      <p:sp>
        <p:nvSpPr>
          <p:cNvPr id="2" name="Title 1">
            <a:extLst>
              <a:ext uri="{FF2B5EF4-FFF2-40B4-BE49-F238E27FC236}">
                <a16:creationId xmlns:a16="http://schemas.microsoft.com/office/drawing/2014/main" id="{E0895FE1-4970-5175-634D-1C6A90FF7541}"/>
              </a:ext>
            </a:extLst>
          </p:cNvPr>
          <p:cNvSpPr txBox="1">
            <a:spLocks/>
          </p:cNvSpPr>
          <p:nvPr/>
        </p:nvSpPr>
        <p:spPr>
          <a:xfrm>
            <a:off x="705067" y="991992"/>
            <a:ext cx="11037048" cy="624060"/>
          </a:xfrm>
          <a:prstGeom prst="rect">
            <a:avLst/>
          </a:prstGeom>
        </p:spPr>
        <p:txBody>
          <a:bodyPr vert="horz" lIns="91440" tIns="45720" rIns="91440" bIns="45720" rtlCol="0" anchor="b">
            <a:normAutofit fontScale="70000" lnSpcReduction="20000"/>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Do "Hotspot" mutations drive higher genomic instability than rare mutations?</a:t>
            </a:r>
          </a:p>
          <a:p>
            <a:endParaRPr lang="en-US" dirty="0"/>
          </a:p>
        </p:txBody>
      </p:sp>
    </p:spTree>
    <p:extLst>
      <p:ext uri="{BB962C8B-B14F-4D97-AF65-F5344CB8AC3E}">
        <p14:creationId xmlns:p14="http://schemas.microsoft.com/office/powerpoint/2010/main" val="354013027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4F387-8656-ECB8-2928-1EB11651CD1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FAFA7E82-AC1C-DDBE-C702-5EFE13545870}"/>
              </a:ext>
            </a:extLst>
          </p:cNvPr>
          <p:cNvSpPr txBox="1"/>
          <p:nvPr/>
        </p:nvSpPr>
        <p:spPr>
          <a:xfrm>
            <a:off x="4244454" y="6210"/>
            <a:ext cx="3698414" cy="468000"/>
          </a:xfrm>
          <a:prstGeom prst="rect">
            <a:avLst/>
          </a:prstGeom>
          <a:solidFill>
            <a:srgbClr val="903063"/>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Results</a:t>
            </a:r>
          </a:p>
        </p:txBody>
      </p:sp>
      <p:sp>
        <p:nvSpPr>
          <p:cNvPr id="7" name="Title 1">
            <a:extLst>
              <a:ext uri="{FF2B5EF4-FFF2-40B4-BE49-F238E27FC236}">
                <a16:creationId xmlns:a16="http://schemas.microsoft.com/office/drawing/2014/main" id="{62970265-613D-7411-DDFD-4EF5DD9D036D}"/>
              </a:ext>
            </a:extLst>
          </p:cNvPr>
          <p:cNvSpPr txBox="1">
            <a:spLocks/>
          </p:cNvSpPr>
          <p:nvPr/>
        </p:nvSpPr>
        <p:spPr>
          <a:xfrm>
            <a:off x="1020801" y="822800"/>
            <a:ext cx="10395551" cy="62406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Is this cancer-type specific?</a:t>
            </a:r>
          </a:p>
        </p:txBody>
      </p:sp>
      <p:sp>
        <p:nvSpPr>
          <p:cNvPr id="13" name="TextBox 12">
            <a:extLst>
              <a:ext uri="{FF2B5EF4-FFF2-40B4-BE49-F238E27FC236}">
                <a16:creationId xmlns:a16="http://schemas.microsoft.com/office/drawing/2014/main" id="{BC06C175-0B76-F25D-CD66-7276044E17BB}"/>
              </a:ext>
            </a:extLst>
          </p:cNvPr>
          <p:cNvSpPr txBox="1"/>
          <p:nvPr/>
        </p:nvSpPr>
        <p:spPr>
          <a:xfrm>
            <a:off x="895881" y="5821166"/>
            <a:ext cx="10395551" cy="923330"/>
          </a:xfrm>
          <a:prstGeom prst="rect">
            <a:avLst/>
          </a:prstGeom>
          <a:noFill/>
        </p:spPr>
        <p:txBody>
          <a:bodyPr wrap="square" rtlCol="0">
            <a:spAutoFit/>
          </a:bodyPr>
          <a:lstStyle/>
          <a:p>
            <a:pPr algn="ctr"/>
            <a:r>
              <a:rPr lang="en-US" dirty="0"/>
              <a:t>All top absolute FGA cancers are solid tumors (Ovarian Cancer, Soft Tissue Sarcoma, and Colorectal Cancer).</a:t>
            </a:r>
          </a:p>
          <a:p>
            <a:pPr algn="ctr"/>
            <a:r>
              <a:rPr lang="en-US" dirty="0"/>
              <a:t>The blood cancers have the highest fold change but tiny absolute FGA values (~0.03–0.07) because their WT baseline is essentially zero.</a:t>
            </a:r>
          </a:p>
        </p:txBody>
      </p:sp>
      <p:pic>
        <p:nvPicPr>
          <p:cNvPr id="6" name="Picture 5">
            <a:extLst>
              <a:ext uri="{FF2B5EF4-FFF2-40B4-BE49-F238E27FC236}">
                <a16:creationId xmlns:a16="http://schemas.microsoft.com/office/drawing/2014/main" id="{405032C8-B68F-E5B1-5A9F-C9DCAD7677EA}"/>
              </a:ext>
            </a:extLst>
          </p:cNvPr>
          <p:cNvPicPr>
            <a:picLocks noChangeAspect="1"/>
          </p:cNvPicPr>
          <p:nvPr/>
        </p:nvPicPr>
        <p:blipFill>
          <a:blip r:embed="rId3"/>
          <a:stretch>
            <a:fillRect/>
          </a:stretch>
        </p:blipFill>
        <p:spPr>
          <a:xfrm>
            <a:off x="1672352" y="1934359"/>
            <a:ext cx="8842611" cy="3860973"/>
          </a:xfrm>
          <a:prstGeom prst="rect">
            <a:avLst/>
          </a:prstGeom>
        </p:spPr>
      </p:pic>
    </p:spTree>
    <p:extLst>
      <p:ext uri="{BB962C8B-B14F-4D97-AF65-F5344CB8AC3E}">
        <p14:creationId xmlns:p14="http://schemas.microsoft.com/office/powerpoint/2010/main" val="10180632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CB8FF6F-4BEA-6F3E-3F23-5A89C248E7B4}"/>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B639E3F-4B1A-153B-CB66-47213375D7FA}"/>
              </a:ext>
            </a:extLst>
          </p:cNvPr>
          <p:cNvSpPr txBox="1"/>
          <p:nvPr/>
        </p:nvSpPr>
        <p:spPr>
          <a:xfrm>
            <a:off x="8043084" y="0"/>
            <a:ext cx="3700815" cy="468000"/>
          </a:xfrm>
          <a:prstGeom prst="rect">
            <a:avLst/>
          </a:prstGeom>
          <a:solidFill>
            <a:srgbClr val="96A0A7"/>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Discussion</a:t>
            </a:r>
          </a:p>
        </p:txBody>
      </p:sp>
      <p:sp>
        <p:nvSpPr>
          <p:cNvPr id="3" name="Title 1">
            <a:extLst>
              <a:ext uri="{FF2B5EF4-FFF2-40B4-BE49-F238E27FC236}">
                <a16:creationId xmlns:a16="http://schemas.microsoft.com/office/drawing/2014/main" id="{DFAAF338-1ECF-E45A-E298-522A12B8B2BD}"/>
              </a:ext>
            </a:extLst>
          </p:cNvPr>
          <p:cNvSpPr txBox="1">
            <a:spLocks/>
          </p:cNvSpPr>
          <p:nvPr/>
        </p:nvSpPr>
        <p:spPr>
          <a:xfrm>
            <a:off x="1020801" y="822800"/>
            <a:ext cx="10395551" cy="62406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Conclusions</a:t>
            </a:r>
          </a:p>
        </p:txBody>
      </p:sp>
      <p:sp>
        <p:nvSpPr>
          <p:cNvPr id="7" name="TextBox 6">
            <a:extLst>
              <a:ext uri="{FF2B5EF4-FFF2-40B4-BE49-F238E27FC236}">
                <a16:creationId xmlns:a16="http://schemas.microsoft.com/office/drawing/2014/main" id="{4E8F13B0-6EAA-EE2F-2862-05D00F6DFCC3}"/>
              </a:ext>
            </a:extLst>
          </p:cNvPr>
          <p:cNvSpPr txBox="1"/>
          <p:nvPr/>
        </p:nvSpPr>
        <p:spPr>
          <a:xfrm>
            <a:off x="1020801" y="2333767"/>
            <a:ext cx="10395550" cy="954107"/>
          </a:xfrm>
          <a:prstGeom prst="rect">
            <a:avLst/>
          </a:prstGeom>
          <a:noFill/>
        </p:spPr>
        <p:txBody>
          <a:bodyPr wrap="square" rtlCol="0">
            <a:spAutoFit/>
          </a:bodyPr>
          <a:lstStyle/>
          <a:p>
            <a:pPr marL="285750" indent="-285750">
              <a:buFont typeface="Wingdings" pitchFamily="2" charset="2"/>
              <a:buChar char="Ø"/>
            </a:pPr>
            <a:r>
              <a:rPr lang="en-US" sz="2800" dirty="0"/>
              <a:t>The binary effect (mutant vs WT) is stronger than the continuous effect (EFS vs FGA).</a:t>
            </a:r>
            <a:endParaRPr lang="en-IL" sz="2800" dirty="0"/>
          </a:p>
        </p:txBody>
      </p:sp>
      <p:sp>
        <p:nvSpPr>
          <p:cNvPr id="8" name="TextBox 7">
            <a:extLst>
              <a:ext uri="{FF2B5EF4-FFF2-40B4-BE49-F238E27FC236}">
                <a16:creationId xmlns:a16="http://schemas.microsoft.com/office/drawing/2014/main" id="{CEABEF96-7F43-EBF9-A13B-2B3AD8DA053F}"/>
              </a:ext>
            </a:extLst>
          </p:cNvPr>
          <p:cNvSpPr txBox="1"/>
          <p:nvPr/>
        </p:nvSpPr>
        <p:spPr>
          <a:xfrm>
            <a:off x="1020799" y="3632964"/>
            <a:ext cx="10395551" cy="1384995"/>
          </a:xfrm>
          <a:prstGeom prst="rect">
            <a:avLst/>
          </a:prstGeom>
          <a:noFill/>
        </p:spPr>
        <p:txBody>
          <a:bodyPr wrap="square" rtlCol="0">
            <a:spAutoFit/>
          </a:bodyPr>
          <a:lstStyle/>
          <a:p>
            <a:pPr marL="285750" indent="-285750">
              <a:buFont typeface="Wingdings" pitchFamily="2" charset="2"/>
              <a:buChar char="Ø"/>
            </a:pPr>
            <a:r>
              <a:rPr lang="en-US" sz="2800" dirty="0"/>
              <a:t>This suggests a </a:t>
            </a:r>
            <a:r>
              <a:rPr lang="en-US" sz="2800" u="sng" dirty="0"/>
              <a:t>threshold model</a:t>
            </a:r>
            <a:r>
              <a:rPr lang="en-US" sz="2800" dirty="0"/>
              <a:t>: once TP53 changes its function, genomic chaos follows, but the </a:t>
            </a:r>
            <a:r>
              <a:rPr lang="en-US" sz="2800" u="sng" dirty="0"/>
              <a:t>specific degree</a:t>
            </a:r>
            <a:r>
              <a:rPr lang="en-US" sz="2800" dirty="0"/>
              <a:t> of functional loss matters less than its </a:t>
            </a:r>
            <a:r>
              <a:rPr lang="en-US" sz="2800" u="sng" dirty="0"/>
              <a:t>presence</a:t>
            </a:r>
            <a:endParaRPr lang="en-IL" sz="2800" dirty="0"/>
          </a:p>
        </p:txBody>
      </p:sp>
      <p:sp>
        <p:nvSpPr>
          <p:cNvPr id="9" name="TextBox 8">
            <a:extLst>
              <a:ext uri="{FF2B5EF4-FFF2-40B4-BE49-F238E27FC236}">
                <a16:creationId xmlns:a16="http://schemas.microsoft.com/office/drawing/2014/main" id="{91CF58FC-D142-D3D0-2598-79549E45F738}"/>
              </a:ext>
            </a:extLst>
          </p:cNvPr>
          <p:cNvSpPr txBox="1"/>
          <p:nvPr/>
        </p:nvSpPr>
        <p:spPr>
          <a:xfrm>
            <a:off x="1020800" y="5363049"/>
            <a:ext cx="10395551" cy="523220"/>
          </a:xfrm>
          <a:prstGeom prst="rect">
            <a:avLst/>
          </a:prstGeom>
          <a:noFill/>
        </p:spPr>
        <p:txBody>
          <a:bodyPr wrap="square" rtlCol="0">
            <a:spAutoFit/>
          </a:bodyPr>
          <a:lstStyle/>
          <a:p>
            <a:pPr marL="285750" indent="-285750">
              <a:buFont typeface="Wingdings" pitchFamily="2" charset="2"/>
              <a:buChar char="Ø"/>
            </a:pPr>
            <a:r>
              <a:rPr lang="en-US" sz="2800" dirty="0"/>
              <a:t>Other tumor-intrinsic and tissue-specific factors play a larger role</a:t>
            </a:r>
            <a:endParaRPr lang="en-IL" sz="2800" dirty="0"/>
          </a:p>
        </p:txBody>
      </p:sp>
    </p:spTree>
    <p:extLst>
      <p:ext uri="{BB962C8B-B14F-4D97-AF65-F5344CB8AC3E}">
        <p14:creationId xmlns:p14="http://schemas.microsoft.com/office/powerpoint/2010/main" val="1065089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96F576C-EB48-52F6-5A79-0822C7E173B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43D6910E-825C-3411-A9AA-7AC88F9B34F8}"/>
              </a:ext>
            </a:extLst>
          </p:cNvPr>
          <p:cNvSpPr txBox="1"/>
          <p:nvPr/>
        </p:nvSpPr>
        <p:spPr>
          <a:xfrm>
            <a:off x="8043084" y="0"/>
            <a:ext cx="3700815" cy="468000"/>
          </a:xfrm>
          <a:prstGeom prst="rect">
            <a:avLst/>
          </a:prstGeom>
          <a:solidFill>
            <a:srgbClr val="96A0A7"/>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Discussion</a:t>
            </a:r>
          </a:p>
        </p:txBody>
      </p:sp>
      <p:sp>
        <p:nvSpPr>
          <p:cNvPr id="3" name="Title 1">
            <a:extLst>
              <a:ext uri="{FF2B5EF4-FFF2-40B4-BE49-F238E27FC236}">
                <a16:creationId xmlns:a16="http://schemas.microsoft.com/office/drawing/2014/main" id="{9C31A4FE-D124-BE44-DCE1-8BF1EAF1A6BD}"/>
              </a:ext>
            </a:extLst>
          </p:cNvPr>
          <p:cNvSpPr txBox="1">
            <a:spLocks/>
          </p:cNvSpPr>
          <p:nvPr/>
        </p:nvSpPr>
        <p:spPr>
          <a:xfrm>
            <a:off x="1020801" y="822800"/>
            <a:ext cx="10395551" cy="62406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Conclusions</a:t>
            </a:r>
          </a:p>
        </p:txBody>
      </p:sp>
      <p:sp>
        <p:nvSpPr>
          <p:cNvPr id="7" name="TextBox 6">
            <a:extLst>
              <a:ext uri="{FF2B5EF4-FFF2-40B4-BE49-F238E27FC236}">
                <a16:creationId xmlns:a16="http://schemas.microsoft.com/office/drawing/2014/main" id="{C2BD100E-D4DA-1C6C-09A5-C56EC2A38BBE}"/>
              </a:ext>
            </a:extLst>
          </p:cNvPr>
          <p:cNvSpPr txBox="1"/>
          <p:nvPr/>
        </p:nvSpPr>
        <p:spPr>
          <a:xfrm>
            <a:off x="1020801" y="2333767"/>
            <a:ext cx="9931527" cy="1815882"/>
          </a:xfrm>
          <a:prstGeom prst="rect">
            <a:avLst/>
          </a:prstGeom>
          <a:noFill/>
        </p:spPr>
        <p:txBody>
          <a:bodyPr wrap="square" rtlCol="0">
            <a:spAutoFit/>
          </a:bodyPr>
          <a:lstStyle/>
          <a:p>
            <a:pPr marL="285750" indent="-285750">
              <a:buFont typeface="Wingdings" pitchFamily="2" charset="2"/>
              <a:buChar char="Ø"/>
            </a:pPr>
            <a:r>
              <a:rPr lang="en-US" sz="2800" dirty="0"/>
              <a:t>Hotspot mutations dominate in tumors not because they're functionally the worst (Giacomelli showed this), but because their DNA sequences are highly mutable. Yet they still drive genomic instability, consistent with the threshold model.</a:t>
            </a:r>
          </a:p>
        </p:txBody>
      </p:sp>
    </p:spTree>
    <p:extLst>
      <p:ext uri="{BB962C8B-B14F-4D97-AF65-F5344CB8AC3E}">
        <p14:creationId xmlns:p14="http://schemas.microsoft.com/office/powerpoint/2010/main" val="167903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4B59AA-C2FC-5D5B-688C-2CB4457CBB3D}"/>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51EFF4C-6D0D-B1A7-7ACD-A1722EFC2D36}"/>
              </a:ext>
            </a:extLst>
          </p:cNvPr>
          <p:cNvSpPr txBox="1"/>
          <p:nvPr/>
        </p:nvSpPr>
        <p:spPr>
          <a:xfrm>
            <a:off x="8043084" y="0"/>
            <a:ext cx="3700815" cy="468000"/>
          </a:xfrm>
          <a:prstGeom prst="rect">
            <a:avLst/>
          </a:prstGeom>
          <a:solidFill>
            <a:srgbClr val="96A0A7"/>
          </a:solidFill>
        </p:spPr>
        <p:txBody>
          <a:bodyPr wrap="square" rtlCol="0">
            <a:spAutoFit/>
          </a:bodyPr>
          <a:lstStyle/>
          <a:p>
            <a:pPr algn="ctr"/>
            <a:endParaRPr lang="en-IL" sz="700" dirty="0">
              <a:solidFill>
                <a:schemeClr val="bg1"/>
              </a:solidFill>
            </a:endParaRPr>
          </a:p>
          <a:p>
            <a:pPr algn="ctr"/>
            <a:r>
              <a:rPr lang="en-IL" sz="1400" i="1" dirty="0">
                <a:solidFill>
                  <a:schemeClr val="bg1"/>
                </a:solidFill>
                <a:latin typeface="Abadi MT Condensed Light" panose="020B0306030101010103" pitchFamily="34" charset="77"/>
                <a:ea typeface="Batang" panose="02030600000101010101" pitchFamily="18" charset="-127"/>
                <a:cs typeface="Corsiva Hebrew" pitchFamily="2" charset="-79"/>
              </a:rPr>
              <a:t>Discussion</a:t>
            </a:r>
          </a:p>
        </p:txBody>
      </p:sp>
      <p:sp>
        <p:nvSpPr>
          <p:cNvPr id="3" name="Title 1">
            <a:extLst>
              <a:ext uri="{FF2B5EF4-FFF2-40B4-BE49-F238E27FC236}">
                <a16:creationId xmlns:a16="http://schemas.microsoft.com/office/drawing/2014/main" id="{763DACFC-91D9-69A5-56DC-A764E8036EC8}"/>
              </a:ext>
            </a:extLst>
          </p:cNvPr>
          <p:cNvSpPr txBox="1">
            <a:spLocks/>
          </p:cNvSpPr>
          <p:nvPr/>
        </p:nvSpPr>
        <p:spPr>
          <a:xfrm>
            <a:off x="1020801" y="822800"/>
            <a:ext cx="10395551" cy="624060"/>
          </a:xfrm>
          <a:prstGeom prst="rect">
            <a:avLst/>
          </a:prstGeom>
        </p:spPr>
        <p:txBody>
          <a:bodyPr vert="horz" lIns="91440" tIns="45720" rIns="91440" bIns="45720" rtlCol="0" anchor="b">
            <a:normAutofit/>
          </a:bodyPr>
          <a:lst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Constrains and future directions</a:t>
            </a:r>
          </a:p>
        </p:txBody>
      </p:sp>
      <p:sp>
        <p:nvSpPr>
          <p:cNvPr id="7" name="TextBox 6">
            <a:extLst>
              <a:ext uri="{FF2B5EF4-FFF2-40B4-BE49-F238E27FC236}">
                <a16:creationId xmlns:a16="http://schemas.microsoft.com/office/drawing/2014/main" id="{B5508A9F-418E-84DC-5FE9-AABEE2687AFA}"/>
              </a:ext>
            </a:extLst>
          </p:cNvPr>
          <p:cNvSpPr txBox="1"/>
          <p:nvPr/>
        </p:nvSpPr>
        <p:spPr>
          <a:xfrm>
            <a:off x="1020801" y="2333767"/>
            <a:ext cx="9931527" cy="954107"/>
          </a:xfrm>
          <a:prstGeom prst="rect">
            <a:avLst/>
          </a:prstGeom>
          <a:noFill/>
        </p:spPr>
        <p:txBody>
          <a:bodyPr wrap="square" rtlCol="0">
            <a:spAutoFit/>
          </a:bodyPr>
          <a:lstStyle/>
          <a:p>
            <a:pPr marL="285750" indent="-285750">
              <a:buFont typeface="Wingdings" pitchFamily="2" charset="2"/>
              <a:buChar char="Ø"/>
            </a:pPr>
            <a:r>
              <a:rPr lang="en-US" sz="2800" dirty="0"/>
              <a:t>EFS derived from one lung cell line. That may not generalize across tissues</a:t>
            </a:r>
          </a:p>
        </p:txBody>
      </p:sp>
      <p:sp>
        <p:nvSpPr>
          <p:cNvPr id="2" name="TextBox 1">
            <a:extLst>
              <a:ext uri="{FF2B5EF4-FFF2-40B4-BE49-F238E27FC236}">
                <a16:creationId xmlns:a16="http://schemas.microsoft.com/office/drawing/2014/main" id="{5B443CA9-DD0B-9E6C-F746-8A4B863685D0}"/>
              </a:ext>
            </a:extLst>
          </p:cNvPr>
          <p:cNvSpPr txBox="1"/>
          <p:nvPr/>
        </p:nvSpPr>
        <p:spPr>
          <a:xfrm>
            <a:off x="1020801" y="3570127"/>
            <a:ext cx="9931527" cy="954107"/>
          </a:xfrm>
          <a:prstGeom prst="rect">
            <a:avLst/>
          </a:prstGeom>
          <a:noFill/>
        </p:spPr>
        <p:txBody>
          <a:bodyPr wrap="square" rtlCol="0">
            <a:spAutoFit/>
          </a:bodyPr>
          <a:lstStyle/>
          <a:p>
            <a:pPr marL="285750" indent="-285750">
              <a:buFont typeface="Wingdings" pitchFamily="2" charset="2"/>
              <a:buChar char="Ø"/>
            </a:pPr>
            <a:r>
              <a:rPr lang="en-US" sz="2800" dirty="0"/>
              <a:t>FGA is a bulk measure, and it doesn’t capture which specific chromosomal regions break</a:t>
            </a:r>
          </a:p>
        </p:txBody>
      </p:sp>
    </p:spTree>
    <p:extLst>
      <p:ext uri="{BB962C8B-B14F-4D97-AF65-F5344CB8AC3E}">
        <p14:creationId xmlns:p14="http://schemas.microsoft.com/office/powerpoint/2010/main" val="18716801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 grpId="0"/>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C7B6FD1-38A4-D753-E777-86AD4369D5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2BE7E1C-DBED-BE8A-25C1-FF54E557790A}"/>
              </a:ext>
            </a:extLst>
          </p:cNvPr>
          <p:cNvSpPr>
            <a:spLocks noGrp="1"/>
          </p:cNvSpPr>
          <p:nvPr>
            <p:ph type="ctrTitle"/>
          </p:nvPr>
        </p:nvSpPr>
        <p:spPr>
          <a:xfrm>
            <a:off x="1852977" y="378485"/>
            <a:ext cx="8486046" cy="2876471"/>
          </a:xfrm>
        </p:spPr>
        <p:txBody>
          <a:bodyPr anchor="ctr">
            <a:normAutofit/>
          </a:bodyPr>
          <a:lstStyle/>
          <a:p>
            <a:pPr algn="ctr"/>
            <a:r>
              <a:rPr lang="en-US" dirty="0">
                <a:solidFill>
                  <a:schemeClr val="accent1">
                    <a:lumMod val="50000"/>
                  </a:schemeClr>
                </a:solidFill>
              </a:rPr>
              <a:t>Thank you!</a:t>
            </a:r>
          </a:p>
        </p:txBody>
      </p:sp>
    </p:spTree>
    <p:extLst>
      <p:ext uri="{BB962C8B-B14F-4D97-AF65-F5344CB8AC3E}">
        <p14:creationId xmlns:p14="http://schemas.microsoft.com/office/powerpoint/2010/main" val="3900602769"/>
      </p:ext>
    </p:extLst>
  </p:cSld>
  <p:clrMapOvr>
    <a:masterClrMapping/>
  </p:clrMapOvr>
</p:sld>
</file>

<file path=ppt/theme/theme1.xml><?xml version="1.0" encoding="utf-8"?>
<a:theme xmlns:a="http://schemas.openxmlformats.org/drawingml/2006/main" name="Dividend">
  <a:themeElements>
    <a:clrScheme name="Dividend">
      <a:dk1>
        <a:sysClr val="windowText" lastClr="000000"/>
      </a:dk1>
      <a:lt1>
        <a:sysClr val="window" lastClr="FFFFFF"/>
      </a:lt1>
      <a:dk2>
        <a:srgbClr val="3D3D3D"/>
      </a:dk2>
      <a:lt2>
        <a:srgbClr val="EBEBEB"/>
      </a:lt2>
      <a:accent1>
        <a:srgbClr val="4D1434"/>
      </a:accent1>
      <a:accent2>
        <a:srgbClr val="903163"/>
      </a:accent2>
      <a:accent3>
        <a:srgbClr val="B2324B"/>
      </a:accent3>
      <a:accent4>
        <a:srgbClr val="969FA7"/>
      </a:accent4>
      <a:accent5>
        <a:srgbClr val="66B1CE"/>
      </a:accent5>
      <a:accent6>
        <a:srgbClr val="40619D"/>
      </a:accent6>
      <a:hlink>
        <a:srgbClr val="828282"/>
      </a:hlink>
      <a:folHlink>
        <a:srgbClr val="A5A5A5"/>
      </a:folHlink>
    </a:clrScheme>
    <a:fontScheme name="Dividend">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C21699FF-00E4-43C8-BBCC-D7E5536C371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Dividend</Template>
  <TotalTime>11391</TotalTime>
  <Words>934</Words>
  <Application>Microsoft Macintosh PowerPoint</Application>
  <PresentationFormat>Widescreen</PresentationFormat>
  <Paragraphs>155</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Abadi MT Condensed Light</vt:lpstr>
      <vt:lpstr>Aptos</vt:lpstr>
      <vt:lpstr>Gill Sans MT</vt:lpstr>
      <vt:lpstr>Wingdings</vt:lpstr>
      <vt:lpstr>Wingdings 2</vt:lpstr>
      <vt:lpstr>Dividend</vt:lpstr>
      <vt:lpstr>TP53 mutations that are associated with an increased Copy Number Variation</vt:lpstr>
      <vt:lpstr>TP53</vt:lpstr>
      <vt:lpstr>Copy Number Variation</vt:lpstr>
      <vt:lpstr>Experimental Functional Score</vt:lpstr>
      <vt:lpstr>Experimental Functional Score</vt:lpstr>
      <vt:lpstr>Experimental Functional Score</vt:lpstr>
      <vt:lpstr>Hypothesis</vt:lpstr>
      <vt:lpstr>Research Questions</vt:lpstr>
      <vt:lpstr>Data Sources: Integrating Phenotype &amp; Genotype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Ornit Bhonkar</dc:creator>
  <cp:lastModifiedBy>Ornit Bhonkar</cp:lastModifiedBy>
  <cp:revision>575</cp:revision>
  <dcterms:created xsi:type="dcterms:W3CDTF">2026-01-27T21:31:11Z</dcterms:created>
  <dcterms:modified xsi:type="dcterms:W3CDTF">2026-03-18T23:14:09Z</dcterms:modified>
</cp:coreProperties>
</file>