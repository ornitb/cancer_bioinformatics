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9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4012" r:id="rId1"/>
  </p:sldMasterIdLst>
  <p:notesMasterIdLst>
    <p:notesMasterId r:id="rId13"/>
  </p:notesMasterIdLst>
  <p:sldIdLst>
    <p:sldId id="256" r:id="rId2"/>
    <p:sldId id="266" r:id="rId3"/>
    <p:sldId id="257" r:id="rId4"/>
    <p:sldId id="268" r:id="rId5"/>
    <p:sldId id="265" r:id="rId6"/>
    <p:sldId id="260" r:id="rId7"/>
    <p:sldId id="258" r:id="rId8"/>
    <p:sldId id="259" r:id="rId9"/>
    <p:sldId id="261" r:id="rId10"/>
    <p:sldId id="263" r:id="rId11"/>
    <p:sldId id="27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8987"/>
    <p:restoredTop sz="81265"/>
  </p:normalViewPr>
  <p:slideViewPr>
    <p:cSldViewPr snapToGrid="0">
      <p:cViewPr varScale="1">
        <p:scale>
          <a:sx n="117" d="100"/>
          <a:sy n="117" d="100"/>
        </p:scale>
        <p:origin x="1416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svg"/><Relationship Id="rId1" Type="http://schemas.openxmlformats.org/officeDocument/2006/relationships/image" Target="../media/image3.png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6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3F21B75-5146-4195-9459-51C622777FCC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9BBC8A45-8DB2-4A0C-82DF-AAFEED00AC93}">
      <dgm:prSet/>
      <dgm:spPr/>
      <dgm:t>
        <a:bodyPr/>
        <a:lstStyle/>
        <a:p>
          <a:r>
            <a:rPr lang="en-US" dirty="0"/>
            <a:t>Is there a correlation between the experimental TP53 EFS(Giacomelli et al.) and patient FGA (GENIE)?</a:t>
          </a:r>
        </a:p>
      </dgm:t>
    </dgm:pt>
    <dgm:pt modelId="{EBB82DBD-5FA3-40DD-9047-DB7B10450E9D}" type="parTrans" cxnId="{4A8B65DD-CC61-47F9-AEED-E83FDB2C97AE}">
      <dgm:prSet/>
      <dgm:spPr/>
      <dgm:t>
        <a:bodyPr/>
        <a:lstStyle/>
        <a:p>
          <a:endParaRPr lang="en-US"/>
        </a:p>
      </dgm:t>
    </dgm:pt>
    <dgm:pt modelId="{641914C6-6F3E-4C04-B6C1-45E8B6E8A99A}" type="sibTrans" cxnId="{4A8B65DD-CC61-47F9-AEED-E83FDB2C97AE}">
      <dgm:prSet/>
      <dgm:spPr/>
      <dgm:t>
        <a:bodyPr/>
        <a:lstStyle/>
        <a:p>
          <a:endParaRPr lang="en-US"/>
        </a:p>
      </dgm:t>
    </dgm:pt>
    <dgm:pt modelId="{D509BDE4-52F2-4A30-93B1-9C4AA34B8A00}">
      <dgm:prSet/>
      <dgm:spPr/>
      <dgm:t>
        <a:bodyPr/>
        <a:lstStyle/>
        <a:p>
          <a:r>
            <a:rPr lang="en-US" dirty="0"/>
            <a:t>Do "Hotspot" mutations drive higher genomic instability than rare mutations?</a:t>
          </a:r>
        </a:p>
      </dgm:t>
    </dgm:pt>
    <dgm:pt modelId="{146E563D-AE1B-4CA0-A906-6F857769FE4C}" type="parTrans" cxnId="{83FA26EB-E73B-4F0E-A208-0D1ECAEDB441}">
      <dgm:prSet/>
      <dgm:spPr/>
      <dgm:t>
        <a:bodyPr/>
        <a:lstStyle/>
        <a:p>
          <a:endParaRPr lang="en-US"/>
        </a:p>
      </dgm:t>
    </dgm:pt>
    <dgm:pt modelId="{19ACE51A-69C9-45BA-BAF3-5F83594449F4}" type="sibTrans" cxnId="{83FA26EB-E73B-4F0E-A208-0D1ECAEDB441}">
      <dgm:prSet/>
      <dgm:spPr/>
      <dgm:t>
        <a:bodyPr/>
        <a:lstStyle/>
        <a:p>
          <a:endParaRPr lang="en-US"/>
        </a:p>
      </dgm:t>
    </dgm:pt>
    <dgm:pt modelId="{6125D1FD-2174-41C1-B9E9-8AB8CFA1E045}">
      <dgm:prSet/>
      <dgm:spPr/>
      <dgm:t>
        <a:bodyPr/>
        <a:lstStyle/>
        <a:p>
          <a:r>
            <a:rPr lang="en-US" dirty="0"/>
            <a:t>Does this correlation hold true across all cancer types or is it specific to certain tissues?</a:t>
          </a:r>
        </a:p>
      </dgm:t>
    </dgm:pt>
    <dgm:pt modelId="{550F4277-5D36-4853-8A58-BD8E286667AF}" type="parTrans" cxnId="{CE9CEED5-4342-4458-BA70-9F798966922A}">
      <dgm:prSet/>
      <dgm:spPr/>
      <dgm:t>
        <a:bodyPr/>
        <a:lstStyle/>
        <a:p>
          <a:endParaRPr lang="en-US"/>
        </a:p>
      </dgm:t>
    </dgm:pt>
    <dgm:pt modelId="{D1B9CC37-8B92-456D-B2DA-C95951955C33}" type="sibTrans" cxnId="{CE9CEED5-4342-4458-BA70-9F798966922A}">
      <dgm:prSet/>
      <dgm:spPr/>
      <dgm:t>
        <a:bodyPr/>
        <a:lstStyle/>
        <a:p>
          <a:endParaRPr lang="en-US"/>
        </a:p>
      </dgm:t>
    </dgm:pt>
    <dgm:pt modelId="{4858335A-3207-4F5D-B354-CDF132D24DF1}" type="pres">
      <dgm:prSet presAssocID="{83F21B75-5146-4195-9459-51C622777FCC}" presName="root" presStyleCnt="0">
        <dgm:presLayoutVars>
          <dgm:dir/>
          <dgm:resizeHandles val="exact"/>
        </dgm:presLayoutVars>
      </dgm:prSet>
      <dgm:spPr/>
    </dgm:pt>
    <dgm:pt modelId="{BF5EE8C4-A69D-40C5-B324-5843A2199C84}" type="pres">
      <dgm:prSet presAssocID="{9BBC8A45-8DB2-4A0C-82DF-AAFEED00AC93}" presName="compNode" presStyleCnt="0"/>
      <dgm:spPr/>
    </dgm:pt>
    <dgm:pt modelId="{BCB2B71C-9545-43F4-8376-864E42A022A4}" type="pres">
      <dgm:prSet presAssocID="{9BBC8A45-8DB2-4A0C-82DF-AAFEED00AC93}" presName="bgRect" presStyleLbl="bgShp" presStyleIdx="0" presStyleCnt="3"/>
      <dgm:spPr/>
    </dgm:pt>
    <dgm:pt modelId="{18DC14EC-2901-496F-8FEF-55A978EC6F84}" type="pres">
      <dgm:prSet presAssocID="{9BBC8A45-8DB2-4A0C-82DF-AAFEED00AC93}" presName="iconRect" presStyleLbl="node1" presStyleIdx="0" presStyleCnt="3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71C848F9-D8F8-449B-A15E-C906710CAEC8}" type="pres">
      <dgm:prSet presAssocID="{9BBC8A45-8DB2-4A0C-82DF-AAFEED00AC93}" presName="spaceRect" presStyleCnt="0"/>
      <dgm:spPr/>
    </dgm:pt>
    <dgm:pt modelId="{C3BC3749-F12B-44EA-AEDB-69785241ABF0}" type="pres">
      <dgm:prSet presAssocID="{9BBC8A45-8DB2-4A0C-82DF-AAFEED00AC93}" presName="parTx" presStyleLbl="revTx" presStyleIdx="0" presStyleCnt="3">
        <dgm:presLayoutVars>
          <dgm:chMax val="0"/>
          <dgm:chPref val="0"/>
        </dgm:presLayoutVars>
      </dgm:prSet>
      <dgm:spPr/>
    </dgm:pt>
    <dgm:pt modelId="{7BA49996-218C-49BC-B8C0-1607C020769C}" type="pres">
      <dgm:prSet presAssocID="{641914C6-6F3E-4C04-B6C1-45E8B6E8A99A}" presName="sibTrans" presStyleCnt="0"/>
      <dgm:spPr/>
    </dgm:pt>
    <dgm:pt modelId="{857074C8-4BA0-4AC9-9F60-83E79CC4E54B}" type="pres">
      <dgm:prSet presAssocID="{D509BDE4-52F2-4A30-93B1-9C4AA34B8A00}" presName="compNode" presStyleCnt="0"/>
      <dgm:spPr/>
    </dgm:pt>
    <dgm:pt modelId="{38BBD7EB-99E3-4E91-A381-FFD8E899A99E}" type="pres">
      <dgm:prSet presAssocID="{D509BDE4-52F2-4A30-93B1-9C4AA34B8A00}" presName="bgRect" presStyleLbl="bgShp" presStyleIdx="1" presStyleCnt="3"/>
      <dgm:spPr/>
    </dgm:pt>
    <dgm:pt modelId="{2A21B101-9457-4CF6-BE8A-092C8EDB98A3}" type="pres">
      <dgm:prSet presAssocID="{D509BDE4-52F2-4A30-93B1-9C4AA34B8A00}" presName="iconRect" presStyleLbl="node1" presStyleIdx="1" presStyleCnt="3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NA"/>
        </a:ext>
      </dgm:extLst>
    </dgm:pt>
    <dgm:pt modelId="{89489B1A-8A70-4907-957A-690FE7B6A587}" type="pres">
      <dgm:prSet presAssocID="{D509BDE4-52F2-4A30-93B1-9C4AA34B8A00}" presName="spaceRect" presStyleCnt="0"/>
      <dgm:spPr/>
    </dgm:pt>
    <dgm:pt modelId="{3D8B549A-F582-407A-8FBE-1DEC81D362E6}" type="pres">
      <dgm:prSet presAssocID="{D509BDE4-52F2-4A30-93B1-9C4AA34B8A00}" presName="parTx" presStyleLbl="revTx" presStyleIdx="1" presStyleCnt="3">
        <dgm:presLayoutVars>
          <dgm:chMax val="0"/>
          <dgm:chPref val="0"/>
        </dgm:presLayoutVars>
      </dgm:prSet>
      <dgm:spPr/>
    </dgm:pt>
    <dgm:pt modelId="{B354B10A-3B39-4AA5-AECC-94BB07B49574}" type="pres">
      <dgm:prSet presAssocID="{19ACE51A-69C9-45BA-BAF3-5F83594449F4}" presName="sibTrans" presStyleCnt="0"/>
      <dgm:spPr/>
    </dgm:pt>
    <dgm:pt modelId="{78B6154E-574F-47A1-9101-EDAE68E3F70F}" type="pres">
      <dgm:prSet presAssocID="{6125D1FD-2174-41C1-B9E9-8AB8CFA1E045}" presName="compNode" presStyleCnt="0"/>
      <dgm:spPr/>
    </dgm:pt>
    <dgm:pt modelId="{4D29B9D9-CAA4-4473-AC64-F3635AD81E37}" type="pres">
      <dgm:prSet presAssocID="{6125D1FD-2174-41C1-B9E9-8AB8CFA1E045}" presName="bgRect" presStyleLbl="bgShp" presStyleIdx="2" presStyleCnt="3"/>
      <dgm:spPr/>
    </dgm:pt>
    <dgm:pt modelId="{008FA23B-86AA-437F-8BC3-11F23665006F}" type="pres">
      <dgm:prSet presAssocID="{6125D1FD-2174-41C1-B9E9-8AB8CFA1E045}" presName="iconRect" presStyleLbl="node1" presStyleIdx="2" presStyleCnt="3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idney"/>
        </a:ext>
      </dgm:extLst>
    </dgm:pt>
    <dgm:pt modelId="{D8258EA5-3BDF-4701-8056-5F8449A081E1}" type="pres">
      <dgm:prSet presAssocID="{6125D1FD-2174-41C1-B9E9-8AB8CFA1E045}" presName="spaceRect" presStyleCnt="0"/>
      <dgm:spPr/>
    </dgm:pt>
    <dgm:pt modelId="{EAB5C3A8-791F-442C-A264-0491E2C1EBEF}" type="pres">
      <dgm:prSet presAssocID="{6125D1FD-2174-41C1-B9E9-8AB8CFA1E045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506A3531-DFD8-4F62-AE1A-5F4A38ECDFC8}" type="presOf" srcId="{6125D1FD-2174-41C1-B9E9-8AB8CFA1E045}" destId="{EAB5C3A8-791F-442C-A264-0491E2C1EBEF}" srcOrd="0" destOrd="0" presId="urn:microsoft.com/office/officeart/2018/2/layout/IconVerticalSolidList"/>
    <dgm:cxn modelId="{427E1CA8-135A-4618-9B43-0DC1200E10B2}" type="presOf" srcId="{83F21B75-5146-4195-9459-51C622777FCC}" destId="{4858335A-3207-4F5D-B354-CDF132D24DF1}" srcOrd="0" destOrd="0" presId="urn:microsoft.com/office/officeart/2018/2/layout/IconVerticalSolidList"/>
    <dgm:cxn modelId="{4EA579C1-ED55-4726-9271-0AFB9BEE1F3A}" type="presOf" srcId="{9BBC8A45-8DB2-4A0C-82DF-AAFEED00AC93}" destId="{C3BC3749-F12B-44EA-AEDB-69785241ABF0}" srcOrd="0" destOrd="0" presId="urn:microsoft.com/office/officeart/2018/2/layout/IconVerticalSolidList"/>
    <dgm:cxn modelId="{CE9CEED5-4342-4458-BA70-9F798966922A}" srcId="{83F21B75-5146-4195-9459-51C622777FCC}" destId="{6125D1FD-2174-41C1-B9E9-8AB8CFA1E045}" srcOrd="2" destOrd="0" parTransId="{550F4277-5D36-4853-8A58-BD8E286667AF}" sibTransId="{D1B9CC37-8B92-456D-B2DA-C95951955C33}"/>
    <dgm:cxn modelId="{4A8B65DD-CC61-47F9-AEED-E83FDB2C97AE}" srcId="{83F21B75-5146-4195-9459-51C622777FCC}" destId="{9BBC8A45-8DB2-4A0C-82DF-AAFEED00AC93}" srcOrd="0" destOrd="0" parTransId="{EBB82DBD-5FA3-40DD-9047-DB7B10450E9D}" sibTransId="{641914C6-6F3E-4C04-B6C1-45E8B6E8A99A}"/>
    <dgm:cxn modelId="{A19F6FE4-A2C2-4350-BD61-7F906E66F3C0}" type="presOf" srcId="{D509BDE4-52F2-4A30-93B1-9C4AA34B8A00}" destId="{3D8B549A-F582-407A-8FBE-1DEC81D362E6}" srcOrd="0" destOrd="0" presId="urn:microsoft.com/office/officeart/2018/2/layout/IconVerticalSolidList"/>
    <dgm:cxn modelId="{83FA26EB-E73B-4F0E-A208-0D1ECAEDB441}" srcId="{83F21B75-5146-4195-9459-51C622777FCC}" destId="{D509BDE4-52F2-4A30-93B1-9C4AA34B8A00}" srcOrd="1" destOrd="0" parTransId="{146E563D-AE1B-4CA0-A906-6F857769FE4C}" sibTransId="{19ACE51A-69C9-45BA-BAF3-5F83594449F4}"/>
    <dgm:cxn modelId="{D6C12E9F-8FCD-4B34-9F59-034795BB93AB}" type="presParOf" srcId="{4858335A-3207-4F5D-B354-CDF132D24DF1}" destId="{BF5EE8C4-A69D-40C5-B324-5843A2199C84}" srcOrd="0" destOrd="0" presId="urn:microsoft.com/office/officeart/2018/2/layout/IconVerticalSolidList"/>
    <dgm:cxn modelId="{50B6D364-B026-49E7-8701-37489D4C61A2}" type="presParOf" srcId="{BF5EE8C4-A69D-40C5-B324-5843A2199C84}" destId="{BCB2B71C-9545-43F4-8376-864E42A022A4}" srcOrd="0" destOrd="0" presId="urn:microsoft.com/office/officeart/2018/2/layout/IconVerticalSolidList"/>
    <dgm:cxn modelId="{EC22320A-B812-4EE9-AF60-611C61958AC3}" type="presParOf" srcId="{BF5EE8C4-A69D-40C5-B324-5843A2199C84}" destId="{18DC14EC-2901-496F-8FEF-55A978EC6F84}" srcOrd="1" destOrd="0" presId="urn:microsoft.com/office/officeart/2018/2/layout/IconVerticalSolidList"/>
    <dgm:cxn modelId="{96472E57-0D73-41E6-9B15-5652F711D86B}" type="presParOf" srcId="{BF5EE8C4-A69D-40C5-B324-5843A2199C84}" destId="{71C848F9-D8F8-449B-A15E-C906710CAEC8}" srcOrd="2" destOrd="0" presId="urn:microsoft.com/office/officeart/2018/2/layout/IconVerticalSolidList"/>
    <dgm:cxn modelId="{DA917739-AF6B-46B0-9425-003400FAABCE}" type="presParOf" srcId="{BF5EE8C4-A69D-40C5-B324-5843A2199C84}" destId="{C3BC3749-F12B-44EA-AEDB-69785241ABF0}" srcOrd="3" destOrd="0" presId="urn:microsoft.com/office/officeart/2018/2/layout/IconVerticalSolidList"/>
    <dgm:cxn modelId="{C508F955-9A64-4E52-9C99-C8CCA80EF64D}" type="presParOf" srcId="{4858335A-3207-4F5D-B354-CDF132D24DF1}" destId="{7BA49996-218C-49BC-B8C0-1607C020769C}" srcOrd="1" destOrd="0" presId="urn:microsoft.com/office/officeart/2018/2/layout/IconVerticalSolidList"/>
    <dgm:cxn modelId="{89705C6C-0AE9-4113-BD8B-8481B7CE0751}" type="presParOf" srcId="{4858335A-3207-4F5D-B354-CDF132D24DF1}" destId="{857074C8-4BA0-4AC9-9F60-83E79CC4E54B}" srcOrd="2" destOrd="0" presId="urn:microsoft.com/office/officeart/2018/2/layout/IconVerticalSolidList"/>
    <dgm:cxn modelId="{C0EF9417-EFBD-4339-A411-07726A306FDE}" type="presParOf" srcId="{857074C8-4BA0-4AC9-9F60-83E79CC4E54B}" destId="{38BBD7EB-99E3-4E91-A381-FFD8E899A99E}" srcOrd="0" destOrd="0" presId="urn:microsoft.com/office/officeart/2018/2/layout/IconVerticalSolidList"/>
    <dgm:cxn modelId="{E93AA1DB-587C-4804-8801-010FB8E8A172}" type="presParOf" srcId="{857074C8-4BA0-4AC9-9F60-83E79CC4E54B}" destId="{2A21B101-9457-4CF6-BE8A-092C8EDB98A3}" srcOrd="1" destOrd="0" presId="urn:microsoft.com/office/officeart/2018/2/layout/IconVerticalSolidList"/>
    <dgm:cxn modelId="{1BEA3888-CF5E-46D0-9DC7-B99CC99C47BB}" type="presParOf" srcId="{857074C8-4BA0-4AC9-9F60-83E79CC4E54B}" destId="{89489B1A-8A70-4907-957A-690FE7B6A587}" srcOrd="2" destOrd="0" presId="urn:microsoft.com/office/officeart/2018/2/layout/IconVerticalSolidList"/>
    <dgm:cxn modelId="{80CF7DC1-3C40-4BF3-9AEC-8101FC0F8035}" type="presParOf" srcId="{857074C8-4BA0-4AC9-9F60-83E79CC4E54B}" destId="{3D8B549A-F582-407A-8FBE-1DEC81D362E6}" srcOrd="3" destOrd="0" presId="urn:microsoft.com/office/officeart/2018/2/layout/IconVerticalSolidList"/>
    <dgm:cxn modelId="{3DC40669-E113-48D3-B35C-585056D38AA5}" type="presParOf" srcId="{4858335A-3207-4F5D-B354-CDF132D24DF1}" destId="{B354B10A-3B39-4AA5-AECC-94BB07B49574}" srcOrd="3" destOrd="0" presId="urn:microsoft.com/office/officeart/2018/2/layout/IconVerticalSolidList"/>
    <dgm:cxn modelId="{A974A118-34DD-48F4-9695-3D177F25A6FE}" type="presParOf" srcId="{4858335A-3207-4F5D-B354-CDF132D24DF1}" destId="{78B6154E-574F-47A1-9101-EDAE68E3F70F}" srcOrd="4" destOrd="0" presId="urn:microsoft.com/office/officeart/2018/2/layout/IconVerticalSolidList"/>
    <dgm:cxn modelId="{8010456C-559C-4F12-A1F7-AF3BC5B557DE}" type="presParOf" srcId="{78B6154E-574F-47A1-9101-EDAE68E3F70F}" destId="{4D29B9D9-CAA4-4473-AC64-F3635AD81E37}" srcOrd="0" destOrd="0" presId="urn:microsoft.com/office/officeart/2018/2/layout/IconVerticalSolidList"/>
    <dgm:cxn modelId="{3A1063E4-E858-487C-B16F-F006C6DEF955}" type="presParOf" srcId="{78B6154E-574F-47A1-9101-EDAE68E3F70F}" destId="{008FA23B-86AA-437F-8BC3-11F23665006F}" srcOrd="1" destOrd="0" presId="urn:microsoft.com/office/officeart/2018/2/layout/IconVerticalSolidList"/>
    <dgm:cxn modelId="{0CA57DEB-FDB4-4BF8-9A00-8FEEC221F52E}" type="presParOf" srcId="{78B6154E-574F-47A1-9101-EDAE68E3F70F}" destId="{D8258EA5-3BDF-4701-8056-5F8449A081E1}" srcOrd="2" destOrd="0" presId="urn:microsoft.com/office/officeart/2018/2/layout/IconVerticalSolidList"/>
    <dgm:cxn modelId="{F209B170-6C57-4BC7-8AF7-91B4F04446A1}" type="presParOf" srcId="{78B6154E-574F-47A1-9101-EDAE68E3F70F}" destId="{EAB5C3A8-791F-442C-A264-0491E2C1EBEF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A0E621B-AC46-4E54-A926-03E708E1EF98}" type="doc">
      <dgm:prSet loTypeId="urn:microsoft.com/office/officeart/2005/8/layout/hierarchy3" loCatId="hierarchy" qsTypeId="urn:microsoft.com/office/officeart/2005/8/quickstyle/simple1" qsCatId="simple" csTypeId="urn:microsoft.com/office/officeart/2005/8/colors/colorful2" csCatId="colorful" phldr="1"/>
      <dgm:spPr/>
      <dgm:t>
        <a:bodyPr/>
        <a:lstStyle/>
        <a:p>
          <a:endParaRPr lang="en-US"/>
        </a:p>
      </dgm:t>
    </dgm:pt>
    <dgm:pt modelId="{F0C01B81-8DAF-432E-B1FE-1CE156F54EF7}">
      <dgm:prSet/>
      <dgm:spPr/>
      <dgm:t>
        <a:bodyPr/>
        <a:lstStyle/>
        <a:p>
          <a:r>
            <a:rPr lang="en-US" dirty="0"/>
            <a:t>Primary Analysis (DNA/GENIE): Statistical Power. With ~200,000 samples, I plan to establish that TP53 mutations result in Genomic Instability. </a:t>
          </a:r>
        </a:p>
      </dgm:t>
    </dgm:pt>
    <dgm:pt modelId="{1AF508F1-DBC2-4E6A-90B6-E54A116159B8}" type="parTrans" cxnId="{9E5FC8F5-5007-4A32-B510-23AC1033151D}">
      <dgm:prSet/>
      <dgm:spPr/>
      <dgm:t>
        <a:bodyPr/>
        <a:lstStyle/>
        <a:p>
          <a:endParaRPr lang="en-US"/>
        </a:p>
      </dgm:t>
    </dgm:pt>
    <dgm:pt modelId="{CBB8732D-8744-4ADC-867E-786F57F6F03E}" type="sibTrans" cxnId="{9E5FC8F5-5007-4A32-B510-23AC1033151D}">
      <dgm:prSet/>
      <dgm:spPr/>
      <dgm:t>
        <a:bodyPr/>
        <a:lstStyle/>
        <a:p>
          <a:endParaRPr lang="en-US"/>
        </a:p>
      </dgm:t>
    </dgm:pt>
    <dgm:pt modelId="{4ACDAFBB-E26C-4B2B-8FBE-3DD9A98BD8B5}">
      <dgm:prSet custT="1"/>
      <dgm:spPr/>
      <dgm:t>
        <a:bodyPr/>
        <a:lstStyle/>
        <a:p>
          <a:r>
            <a:rPr lang="en-US" sz="2000" dirty="0"/>
            <a:t>Show that the physical structure of the genome is breaking down</a:t>
          </a:r>
        </a:p>
      </dgm:t>
    </dgm:pt>
    <dgm:pt modelId="{78C5EAE0-5034-4F73-93A2-F325F6BDAEB0}" type="parTrans" cxnId="{1C277A64-B9C6-4F4F-AEC8-0070930189C5}">
      <dgm:prSet/>
      <dgm:spPr/>
      <dgm:t>
        <a:bodyPr/>
        <a:lstStyle/>
        <a:p>
          <a:endParaRPr lang="en-US"/>
        </a:p>
      </dgm:t>
    </dgm:pt>
    <dgm:pt modelId="{DB03B225-AF72-4434-9442-64D4E7D34A1D}" type="sibTrans" cxnId="{1C277A64-B9C6-4F4F-AEC8-0070930189C5}">
      <dgm:prSet/>
      <dgm:spPr/>
      <dgm:t>
        <a:bodyPr/>
        <a:lstStyle/>
        <a:p>
          <a:endParaRPr lang="en-US"/>
        </a:p>
      </dgm:t>
    </dgm:pt>
    <dgm:pt modelId="{F15730CA-0B7E-4104-9CE3-FF20B51B017D}">
      <dgm:prSet/>
      <dgm:spPr/>
      <dgm:t>
        <a:bodyPr/>
        <a:lstStyle/>
        <a:p>
          <a:r>
            <a:rPr lang="en-US" dirty="0"/>
            <a:t>Secondary Analysis</a:t>
          </a:r>
          <a:r>
            <a:rPr lang="he-IL" dirty="0"/>
            <a:t>: </a:t>
          </a:r>
          <a:r>
            <a:rPr lang="en-US" dirty="0"/>
            <a:t>Biological Insight. Will tell us which pathways are driving the cancer's aggression.</a:t>
          </a:r>
        </a:p>
      </dgm:t>
    </dgm:pt>
    <dgm:pt modelId="{F0D4D1A2-F7D2-4E2E-8C80-67C630F4FF77}" type="parTrans" cxnId="{D13E17B0-37C7-4386-A88C-5691FB9202D7}">
      <dgm:prSet/>
      <dgm:spPr/>
      <dgm:t>
        <a:bodyPr/>
        <a:lstStyle/>
        <a:p>
          <a:endParaRPr lang="en-US"/>
        </a:p>
      </dgm:t>
    </dgm:pt>
    <dgm:pt modelId="{95A16E66-40CB-49CA-A45D-41AA56EFF813}" type="sibTrans" cxnId="{D13E17B0-37C7-4386-A88C-5691FB9202D7}">
      <dgm:prSet/>
      <dgm:spPr/>
      <dgm:t>
        <a:bodyPr/>
        <a:lstStyle/>
        <a:p>
          <a:endParaRPr lang="en-US"/>
        </a:p>
      </dgm:t>
    </dgm:pt>
    <dgm:pt modelId="{CBB4C8A0-0D5B-4116-B787-B9EF3EBF0320}">
      <dgm:prSet custT="1"/>
      <dgm:spPr/>
      <dgm:t>
        <a:bodyPr/>
        <a:lstStyle/>
        <a:p>
          <a:r>
            <a:rPr lang="en-US" sz="2000" dirty="0"/>
            <a:t>Conclude what are the major pathways are triggered</a:t>
          </a:r>
        </a:p>
      </dgm:t>
    </dgm:pt>
    <dgm:pt modelId="{FEDC5362-67BE-4602-80A9-3DB3AFC36E3E}" type="parTrans" cxnId="{2E5B93DB-B7CB-47A2-8A45-29C90DD353BD}">
      <dgm:prSet/>
      <dgm:spPr/>
      <dgm:t>
        <a:bodyPr/>
        <a:lstStyle/>
        <a:p>
          <a:endParaRPr lang="en-US"/>
        </a:p>
      </dgm:t>
    </dgm:pt>
    <dgm:pt modelId="{2966759D-859C-4BDA-9D2A-8E7F0C33EA58}" type="sibTrans" cxnId="{2E5B93DB-B7CB-47A2-8A45-29C90DD353BD}">
      <dgm:prSet/>
      <dgm:spPr/>
      <dgm:t>
        <a:bodyPr/>
        <a:lstStyle/>
        <a:p>
          <a:endParaRPr lang="en-US"/>
        </a:p>
      </dgm:t>
    </dgm:pt>
    <dgm:pt modelId="{4D7765CF-3051-FD49-8344-3E2ED20A2746}" type="pres">
      <dgm:prSet presAssocID="{5A0E621B-AC46-4E54-A926-03E708E1EF98}" presName="diagram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7D6EA5A1-C242-974E-B5D9-8EFD1871695E}" type="pres">
      <dgm:prSet presAssocID="{F0C01B81-8DAF-432E-B1FE-1CE156F54EF7}" presName="root" presStyleCnt="0"/>
      <dgm:spPr/>
    </dgm:pt>
    <dgm:pt modelId="{8B84F33C-4711-7945-B8BF-588EF48F286F}" type="pres">
      <dgm:prSet presAssocID="{F0C01B81-8DAF-432E-B1FE-1CE156F54EF7}" presName="rootComposite" presStyleCnt="0"/>
      <dgm:spPr/>
    </dgm:pt>
    <dgm:pt modelId="{A49C7E3C-55A4-AC42-BC40-F4B66067512F}" type="pres">
      <dgm:prSet presAssocID="{F0C01B81-8DAF-432E-B1FE-1CE156F54EF7}" presName="rootText" presStyleLbl="node1" presStyleIdx="0" presStyleCnt="2"/>
      <dgm:spPr/>
    </dgm:pt>
    <dgm:pt modelId="{C68CF84F-54B2-EC49-86E2-C109055317F1}" type="pres">
      <dgm:prSet presAssocID="{F0C01B81-8DAF-432E-B1FE-1CE156F54EF7}" presName="rootConnector" presStyleLbl="node1" presStyleIdx="0" presStyleCnt="2"/>
      <dgm:spPr/>
    </dgm:pt>
    <dgm:pt modelId="{ED1B4E39-80CD-4B44-ACFC-1A04CA83BA64}" type="pres">
      <dgm:prSet presAssocID="{F0C01B81-8DAF-432E-B1FE-1CE156F54EF7}" presName="childShape" presStyleCnt="0"/>
      <dgm:spPr/>
    </dgm:pt>
    <dgm:pt modelId="{B6E41552-DC51-284F-B30F-7B0AE0AA5325}" type="pres">
      <dgm:prSet presAssocID="{78C5EAE0-5034-4F73-93A2-F325F6BDAEB0}" presName="Name13" presStyleLbl="parChTrans1D2" presStyleIdx="0" presStyleCnt="2"/>
      <dgm:spPr/>
    </dgm:pt>
    <dgm:pt modelId="{AE5E4114-BAEB-BD4B-A02A-0C8ED0A09D73}" type="pres">
      <dgm:prSet presAssocID="{4ACDAFBB-E26C-4B2B-8FBE-3DD9A98BD8B5}" presName="childText" presStyleLbl="bgAcc1" presStyleIdx="0" presStyleCnt="2">
        <dgm:presLayoutVars>
          <dgm:bulletEnabled val="1"/>
        </dgm:presLayoutVars>
      </dgm:prSet>
      <dgm:spPr/>
    </dgm:pt>
    <dgm:pt modelId="{0A7BDFD5-3A27-A648-B476-CB9761604A60}" type="pres">
      <dgm:prSet presAssocID="{F15730CA-0B7E-4104-9CE3-FF20B51B017D}" presName="root" presStyleCnt="0"/>
      <dgm:spPr/>
    </dgm:pt>
    <dgm:pt modelId="{04F73701-C9C7-7042-B8F5-592BA05BD3D5}" type="pres">
      <dgm:prSet presAssocID="{F15730CA-0B7E-4104-9CE3-FF20B51B017D}" presName="rootComposite" presStyleCnt="0"/>
      <dgm:spPr/>
    </dgm:pt>
    <dgm:pt modelId="{4448B8C0-36F3-D247-B185-40ACDBC248AD}" type="pres">
      <dgm:prSet presAssocID="{F15730CA-0B7E-4104-9CE3-FF20B51B017D}" presName="rootText" presStyleLbl="node1" presStyleIdx="1" presStyleCnt="2"/>
      <dgm:spPr/>
    </dgm:pt>
    <dgm:pt modelId="{78DB709A-A624-D048-B12C-B3F8360A1543}" type="pres">
      <dgm:prSet presAssocID="{F15730CA-0B7E-4104-9CE3-FF20B51B017D}" presName="rootConnector" presStyleLbl="node1" presStyleIdx="1" presStyleCnt="2"/>
      <dgm:spPr/>
    </dgm:pt>
    <dgm:pt modelId="{A6E8093D-2AB7-8B45-8764-26BDC015C073}" type="pres">
      <dgm:prSet presAssocID="{F15730CA-0B7E-4104-9CE3-FF20B51B017D}" presName="childShape" presStyleCnt="0"/>
      <dgm:spPr/>
    </dgm:pt>
    <dgm:pt modelId="{BFAA7661-613F-9C4C-8F0D-0F25850925C0}" type="pres">
      <dgm:prSet presAssocID="{FEDC5362-67BE-4602-80A9-3DB3AFC36E3E}" presName="Name13" presStyleLbl="parChTrans1D2" presStyleIdx="1" presStyleCnt="2"/>
      <dgm:spPr/>
    </dgm:pt>
    <dgm:pt modelId="{377ED1AA-6751-264B-95A8-2D3A4397E075}" type="pres">
      <dgm:prSet presAssocID="{CBB4C8A0-0D5B-4116-B787-B9EF3EBF0320}" presName="childText" presStyleLbl="bgAcc1" presStyleIdx="1" presStyleCnt="2">
        <dgm:presLayoutVars>
          <dgm:bulletEnabled val="1"/>
        </dgm:presLayoutVars>
      </dgm:prSet>
      <dgm:spPr/>
    </dgm:pt>
  </dgm:ptLst>
  <dgm:cxnLst>
    <dgm:cxn modelId="{4B069119-5696-BC45-B129-42FA9558F1A7}" type="presOf" srcId="{F15730CA-0B7E-4104-9CE3-FF20B51B017D}" destId="{4448B8C0-36F3-D247-B185-40ACDBC248AD}" srcOrd="0" destOrd="0" presId="urn:microsoft.com/office/officeart/2005/8/layout/hierarchy3"/>
    <dgm:cxn modelId="{115EFE2C-8F12-AF42-A3A0-1BDBF3AF77B3}" type="presOf" srcId="{78C5EAE0-5034-4F73-93A2-F325F6BDAEB0}" destId="{B6E41552-DC51-284F-B30F-7B0AE0AA5325}" srcOrd="0" destOrd="0" presId="urn:microsoft.com/office/officeart/2005/8/layout/hierarchy3"/>
    <dgm:cxn modelId="{12A9135A-F984-F449-88C3-8D1DB1BC022E}" type="presOf" srcId="{FEDC5362-67BE-4602-80A9-3DB3AFC36E3E}" destId="{BFAA7661-613F-9C4C-8F0D-0F25850925C0}" srcOrd="0" destOrd="0" presId="urn:microsoft.com/office/officeart/2005/8/layout/hierarchy3"/>
    <dgm:cxn modelId="{1C277A64-B9C6-4F4F-AEC8-0070930189C5}" srcId="{F0C01B81-8DAF-432E-B1FE-1CE156F54EF7}" destId="{4ACDAFBB-E26C-4B2B-8FBE-3DD9A98BD8B5}" srcOrd="0" destOrd="0" parTransId="{78C5EAE0-5034-4F73-93A2-F325F6BDAEB0}" sibTransId="{DB03B225-AF72-4434-9442-64D4E7D34A1D}"/>
    <dgm:cxn modelId="{89420468-E82B-E249-8FEE-C2A882026A7B}" type="presOf" srcId="{F15730CA-0B7E-4104-9CE3-FF20B51B017D}" destId="{78DB709A-A624-D048-B12C-B3F8360A1543}" srcOrd="1" destOrd="0" presId="urn:microsoft.com/office/officeart/2005/8/layout/hierarchy3"/>
    <dgm:cxn modelId="{374E8C9A-DB57-DF45-AAD2-4CB8B8080674}" type="presOf" srcId="{F0C01B81-8DAF-432E-B1FE-1CE156F54EF7}" destId="{C68CF84F-54B2-EC49-86E2-C109055317F1}" srcOrd="1" destOrd="0" presId="urn:microsoft.com/office/officeart/2005/8/layout/hierarchy3"/>
    <dgm:cxn modelId="{D13E17B0-37C7-4386-A88C-5691FB9202D7}" srcId="{5A0E621B-AC46-4E54-A926-03E708E1EF98}" destId="{F15730CA-0B7E-4104-9CE3-FF20B51B017D}" srcOrd="1" destOrd="0" parTransId="{F0D4D1A2-F7D2-4E2E-8C80-67C630F4FF77}" sibTransId="{95A16E66-40CB-49CA-A45D-41AA56EFF813}"/>
    <dgm:cxn modelId="{16E2EADA-DE1E-214A-BCD8-0FB39C62921E}" type="presOf" srcId="{4ACDAFBB-E26C-4B2B-8FBE-3DD9A98BD8B5}" destId="{AE5E4114-BAEB-BD4B-A02A-0C8ED0A09D73}" srcOrd="0" destOrd="0" presId="urn:microsoft.com/office/officeart/2005/8/layout/hierarchy3"/>
    <dgm:cxn modelId="{2E5B93DB-B7CB-47A2-8A45-29C90DD353BD}" srcId="{F15730CA-0B7E-4104-9CE3-FF20B51B017D}" destId="{CBB4C8A0-0D5B-4116-B787-B9EF3EBF0320}" srcOrd="0" destOrd="0" parTransId="{FEDC5362-67BE-4602-80A9-3DB3AFC36E3E}" sibTransId="{2966759D-859C-4BDA-9D2A-8E7F0C33EA58}"/>
    <dgm:cxn modelId="{D3F41CDE-9E02-1F42-8B0A-DA043ECC604F}" type="presOf" srcId="{CBB4C8A0-0D5B-4116-B787-B9EF3EBF0320}" destId="{377ED1AA-6751-264B-95A8-2D3A4397E075}" srcOrd="0" destOrd="0" presId="urn:microsoft.com/office/officeart/2005/8/layout/hierarchy3"/>
    <dgm:cxn modelId="{B36131E4-92B0-BE42-A72E-C88E063D2BCA}" type="presOf" srcId="{5A0E621B-AC46-4E54-A926-03E708E1EF98}" destId="{4D7765CF-3051-FD49-8344-3E2ED20A2746}" srcOrd="0" destOrd="0" presId="urn:microsoft.com/office/officeart/2005/8/layout/hierarchy3"/>
    <dgm:cxn modelId="{9E5FC8F5-5007-4A32-B510-23AC1033151D}" srcId="{5A0E621B-AC46-4E54-A926-03E708E1EF98}" destId="{F0C01B81-8DAF-432E-B1FE-1CE156F54EF7}" srcOrd="0" destOrd="0" parTransId="{1AF508F1-DBC2-4E6A-90B6-E54A116159B8}" sibTransId="{CBB8732D-8744-4ADC-867E-786F57F6F03E}"/>
    <dgm:cxn modelId="{DDAEF0FA-7899-D740-9306-7EB2F20ACDC4}" type="presOf" srcId="{F0C01B81-8DAF-432E-B1FE-1CE156F54EF7}" destId="{A49C7E3C-55A4-AC42-BC40-F4B66067512F}" srcOrd="0" destOrd="0" presId="urn:microsoft.com/office/officeart/2005/8/layout/hierarchy3"/>
    <dgm:cxn modelId="{0500E9D5-53C7-534C-B04C-7F930CD9FAA8}" type="presParOf" srcId="{4D7765CF-3051-FD49-8344-3E2ED20A2746}" destId="{7D6EA5A1-C242-974E-B5D9-8EFD1871695E}" srcOrd="0" destOrd="0" presId="urn:microsoft.com/office/officeart/2005/8/layout/hierarchy3"/>
    <dgm:cxn modelId="{AF13EAD4-B116-E24C-8121-C7772FD1C204}" type="presParOf" srcId="{7D6EA5A1-C242-974E-B5D9-8EFD1871695E}" destId="{8B84F33C-4711-7945-B8BF-588EF48F286F}" srcOrd="0" destOrd="0" presId="urn:microsoft.com/office/officeart/2005/8/layout/hierarchy3"/>
    <dgm:cxn modelId="{390C5EC1-B283-3B48-8457-023569165A87}" type="presParOf" srcId="{8B84F33C-4711-7945-B8BF-588EF48F286F}" destId="{A49C7E3C-55A4-AC42-BC40-F4B66067512F}" srcOrd="0" destOrd="0" presId="urn:microsoft.com/office/officeart/2005/8/layout/hierarchy3"/>
    <dgm:cxn modelId="{E3BA58D9-2FDD-D942-8840-4BD6B3FAD89B}" type="presParOf" srcId="{8B84F33C-4711-7945-B8BF-588EF48F286F}" destId="{C68CF84F-54B2-EC49-86E2-C109055317F1}" srcOrd="1" destOrd="0" presId="urn:microsoft.com/office/officeart/2005/8/layout/hierarchy3"/>
    <dgm:cxn modelId="{E3331836-A6AA-5C48-9D11-9B82CA856C78}" type="presParOf" srcId="{7D6EA5A1-C242-974E-B5D9-8EFD1871695E}" destId="{ED1B4E39-80CD-4B44-ACFC-1A04CA83BA64}" srcOrd="1" destOrd="0" presId="urn:microsoft.com/office/officeart/2005/8/layout/hierarchy3"/>
    <dgm:cxn modelId="{C092D77D-21C3-9947-AC28-775A04C30839}" type="presParOf" srcId="{ED1B4E39-80CD-4B44-ACFC-1A04CA83BA64}" destId="{B6E41552-DC51-284F-B30F-7B0AE0AA5325}" srcOrd="0" destOrd="0" presId="urn:microsoft.com/office/officeart/2005/8/layout/hierarchy3"/>
    <dgm:cxn modelId="{22E13184-0B70-2740-A2CC-58E9A4A64BFF}" type="presParOf" srcId="{ED1B4E39-80CD-4B44-ACFC-1A04CA83BA64}" destId="{AE5E4114-BAEB-BD4B-A02A-0C8ED0A09D73}" srcOrd="1" destOrd="0" presId="urn:microsoft.com/office/officeart/2005/8/layout/hierarchy3"/>
    <dgm:cxn modelId="{11846901-13C5-F148-81EC-EE4F35A932DC}" type="presParOf" srcId="{4D7765CF-3051-FD49-8344-3E2ED20A2746}" destId="{0A7BDFD5-3A27-A648-B476-CB9761604A60}" srcOrd="1" destOrd="0" presId="urn:microsoft.com/office/officeart/2005/8/layout/hierarchy3"/>
    <dgm:cxn modelId="{CF773B53-CF48-2047-8569-8311C9982D59}" type="presParOf" srcId="{0A7BDFD5-3A27-A648-B476-CB9761604A60}" destId="{04F73701-C9C7-7042-B8F5-592BA05BD3D5}" srcOrd="0" destOrd="0" presId="urn:microsoft.com/office/officeart/2005/8/layout/hierarchy3"/>
    <dgm:cxn modelId="{EF12D7DE-046B-3047-BE32-44F852B1AA83}" type="presParOf" srcId="{04F73701-C9C7-7042-B8F5-592BA05BD3D5}" destId="{4448B8C0-36F3-D247-B185-40ACDBC248AD}" srcOrd="0" destOrd="0" presId="urn:microsoft.com/office/officeart/2005/8/layout/hierarchy3"/>
    <dgm:cxn modelId="{BEDBA222-4D44-7843-AFAF-9A0B1DACDF9B}" type="presParOf" srcId="{04F73701-C9C7-7042-B8F5-592BA05BD3D5}" destId="{78DB709A-A624-D048-B12C-B3F8360A1543}" srcOrd="1" destOrd="0" presId="urn:microsoft.com/office/officeart/2005/8/layout/hierarchy3"/>
    <dgm:cxn modelId="{065ED682-1845-1C4E-BBEA-983FC0281A1F}" type="presParOf" srcId="{0A7BDFD5-3A27-A648-B476-CB9761604A60}" destId="{A6E8093D-2AB7-8B45-8764-26BDC015C073}" srcOrd="1" destOrd="0" presId="urn:microsoft.com/office/officeart/2005/8/layout/hierarchy3"/>
    <dgm:cxn modelId="{CF0ADA61-63ED-A948-BFB2-4362F785C4BA}" type="presParOf" srcId="{A6E8093D-2AB7-8B45-8764-26BDC015C073}" destId="{BFAA7661-613F-9C4C-8F0D-0F25850925C0}" srcOrd="0" destOrd="0" presId="urn:microsoft.com/office/officeart/2005/8/layout/hierarchy3"/>
    <dgm:cxn modelId="{FB39C784-D57A-DA42-A81B-4B963058C913}" type="presParOf" srcId="{A6E8093D-2AB7-8B45-8764-26BDC015C073}" destId="{377ED1AA-6751-264B-95A8-2D3A4397E075}" srcOrd="1" destOrd="0" presId="urn:microsoft.com/office/officeart/2005/8/layout/hierarchy3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58B13C13-CE03-4F27-8764-9CDACE7A6F3F}" type="doc">
      <dgm:prSet loTypeId="urn:microsoft.com/office/officeart/2005/8/layout/hierarchy1" loCatId="hierarchy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8EE5A69E-8AC6-4324-AAA9-39962FA9D97F}">
      <dgm:prSet/>
      <dgm:spPr/>
      <dgm:t>
        <a:bodyPr/>
        <a:lstStyle/>
        <a:p>
          <a:r>
            <a:rPr lang="en-US"/>
            <a:t>Hypothesis: Patients with TP53 mutations that have the lowest experimental function scores will show the highest Fraction Genome Altered.</a:t>
          </a:r>
        </a:p>
      </dgm:t>
    </dgm:pt>
    <dgm:pt modelId="{6F88A1DC-164C-44B1-9295-DCFE748F219E}" type="parTrans" cxnId="{94925DD0-4982-496D-9462-AEADF843B826}">
      <dgm:prSet/>
      <dgm:spPr/>
      <dgm:t>
        <a:bodyPr/>
        <a:lstStyle/>
        <a:p>
          <a:endParaRPr lang="en-US"/>
        </a:p>
      </dgm:t>
    </dgm:pt>
    <dgm:pt modelId="{13F8E075-454F-4C46-8787-D08556CB9A90}" type="sibTrans" cxnId="{94925DD0-4982-496D-9462-AEADF843B826}">
      <dgm:prSet/>
      <dgm:spPr/>
      <dgm:t>
        <a:bodyPr/>
        <a:lstStyle/>
        <a:p>
          <a:endParaRPr lang="en-US"/>
        </a:p>
      </dgm:t>
    </dgm:pt>
    <dgm:pt modelId="{1CA6A9B4-B6DA-4109-A142-643759D5B93A}">
      <dgm:prSet/>
      <dgm:spPr/>
      <dgm:t>
        <a:bodyPr/>
        <a:lstStyle/>
        <a:p>
          <a:r>
            <a:rPr lang="en-US" dirty="0"/>
            <a:t>Biological Implication: This confirms that the degree of TP53 loss directly dictates the level of genomic chaos allowed in the cell.</a:t>
          </a:r>
        </a:p>
      </dgm:t>
    </dgm:pt>
    <dgm:pt modelId="{6791BC1B-7C0D-4F9E-A290-54BBA51AB534}" type="parTrans" cxnId="{39BB9688-7235-4FF6-917F-973CCDD89654}">
      <dgm:prSet/>
      <dgm:spPr/>
      <dgm:t>
        <a:bodyPr/>
        <a:lstStyle/>
        <a:p>
          <a:endParaRPr lang="en-US"/>
        </a:p>
      </dgm:t>
    </dgm:pt>
    <dgm:pt modelId="{4A99C953-5C23-4090-B97F-6250E28FEFA9}" type="sibTrans" cxnId="{39BB9688-7235-4FF6-917F-973CCDD89654}">
      <dgm:prSet/>
      <dgm:spPr/>
      <dgm:t>
        <a:bodyPr/>
        <a:lstStyle/>
        <a:p>
          <a:endParaRPr lang="en-US"/>
        </a:p>
      </dgm:t>
    </dgm:pt>
    <dgm:pt modelId="{E20C2CA4-9221-BA46-B162-EF219DA0FAE2}" type="pres">
      <dgm:prSet presAssocID="{58B13C13-CE03-4F27-8764-9CDACE7A6F3F}" presName="hierChild1" presStyleCnt="0">
        <dgm:presLayoutVars>
          <dgm:chPref val="1"/>
          <dgm:dir/>
          <dgm:animOne val="branch"/>
          <dgm:animLvl val="lvl"/>
          <dgm:resizeHandles/>
        </dgm:presLayoutVars>
      </dgm:prSet>
      <dgm:spPr/>
    </dgm:pt>
    <dgm:pt modelId="{28553BEB-51BE-4E4B-A3DE-F4CCF697EE74}" type="pres">
      <dgm:prSet presAssocID="{8EE5A69E-8AC6-4324-AAA9-39962FA9D97F}" presName="hierRoot1" presStyleCnt="0"/>
      <dgm:spPr/>
    </dgm:pt>
    <dgm:pt modelId="{9791694F-B43B-F743-A79C-EE40627960DA}" type="pres">
      <dgm:prSet presAssocID="{8EE5A69E-8AC6-4324-AAA9-39962FA9D97F}" presName="composite" presStyleCnt="0"/>
      <dgm:spPr/>
    </dgm:pt>
    <dgm:pt modelId="{A803A55B-2C0F-8340-BC71-CF5A8E004310}" type="pres">
      <dgm:prSet presAssocID="{8EE5A69E-8AC6-4324-AAA9-39962FA9D97F}" presName="background" presStyleLbl="node0" presStyleIdx="0" presStyleCnt="2"/>
      <dgm:spPr/>
    </dgm:pt>
    <dgm:pt modelId="{87385EDF-B193-A845-836A-5D0F1B5E8C4C}" type="pres">
      <dgm:prSet presAssocID="{8EE5A69E-8AC6-4324-AAA9-39962FA9D97F}" presName="text" presStyleLbl="fgAcc0" presStyleIdx="0" presStyleCnt="2">
        <dgm:presLayoutVars>
          <dgm:chPref val="3"/>
        </dgm:presLayoutVars>
      </dgm:prSet>
      <dgm:spPr/>
    </dgm:pt>
    <dgm:pt modelId="{BBF5DFDE-5327-8748-BA45-643E2AF9006F}" type="pres">
      <dgm:prSet presAssocID="{8EE5A69E-8AC6-4324-AAA9-39962FA9D97F}" presName="hierChild2" presStyleCnt="0"/>
      <dgm:spPr/>
    </dgm:pt>
    <dgm:pt modelId="{D7EE6D69-3BD9-5245-BE1D-202E5BEC34E6}" type="pres">
      <dgm:prSet presAssocID="{1CA6A9B4-B6DA-4109-A142-643759D5B93A}" presName="hierRoot1" presStyleCnt="0"/>
      <dgm:spPr/>
    </dgm:pt>
    <dgm:pt modelId="{DFD69F36-D683-F140-A4FB-51CA303F398D}" type="pres">
      <dgm:prSet presAssocID="{1CA6A9B4-B6DA-4109-A142-643759D5B93A}" presName="composite" presStyleCnt="0"/>
      <dgm:spPr/>
    </dgm:pt>
    <dgm:pt modelId="{28800792-0ADF-F443-832A-0102E131C7B0}" type="pres">
      <dgm:prSet presAssocID="{1CA6A9B4-B6DA-4109-A142-643759D5B93A}" presName="background" presStyleLbl="node0" presStyleIdx="1" presStyleCnt="2"/>
      <dgm:spPr/>
    </dgm:pt>
    <dgm:pt modelId="{3570CAA9-A1CA-114F-8DC0-CBCE4CD38073}" type="pres">
      <dgm:prSet presAssocID="{1CA6A9B4-B6DA-4109-A142-643759D5B93A}" presName="text" presStyleLbl="fgAcc0" presStyleIdx="1" presStyleCnt="2">
        <dgm:presLayoutVars>
          <dgm:chPref val="3"/>
        </dgm:presLayoutVars>
      </dgm:prSet>
      <dgm:spPr/>
    </dgm:pt>
    <dgm:pt modelId="{DC5A353A-F70F-B040-AA0D-D4B1350747AC}" type="pres">
      <dgm:prSet presAssocID="{1CA6A9B4-B6DA-4109-A142-643759D5B93A}" presName="hierChild2" presStyleCnt="0"/>
      <dgm:spPr/>
    </dgm:pt>
  </dgm:ptLst>
  <dgm:cxnLst>
    <dgm:cxn modelId="{37D1F003-BBFF-1B4B-8B2A-F5B383ACB74C}" type="presOf" srcId="{8EE5A69E-8AC6-4324-AAA9-39962FA9D97F}" destId="{87385EDF-B193-A845-836A-5D0F1B5E8C4C}" srcOrd="0" destOrd="0" presId="urn:microsoft.com/office/officeart/2005/8/layout/hierarchy1"/>
    <dgm:cxn modelId="{F513F223-CF2C-FD42-B166-D26EC4A3C71C}" type="presOf" srcId="{1CA6A9B4-B6DA-4109-A142-643759D5B93A}" destId="{3570CAA9-A1CA-114F-8DC0-CBCE4CD38073}" srcOrd="0" destOrd="0" presId="urn:microsoft.com/office/officeart/2005/8/layout/hierarchy1"/>
    <dgm:cxn modelId="{39BB9688-7235-4FF6-917F-973CCDD89654}" srcId="{58B13C13-CE03-4F27-8764-9CDACE7A6F3F}" destId="{1CA6A9B4-B6DA-4109-A142-643759D5B93A}" srcOrd="1" destOrd="0" parTransId="{6791BC1B-7C0D-4F9E-A290-54BBA51AB534}" sibTransId="{4A99C953-5C23-4090-B97F-6250E28FEFA9}"/>
    <dgm:cxn modelId="{1C9B1E9B-2C82-914B-86E6-63A47AD1289E}" type="presOf" srcId="{58B13C13-CE03-4F27-8764-9CDACE7A6F3F}" destId="{E20C2CA4-9221-BA46-B162-EF219DA0FAE2}" srcOrd="0" destOrd="0" presId="urn:microsoft.com/office/officeart/2005/8/layout/hierarchy1"/>
    <dgm:cxn modelId="{94925DD0-4982-496D-9462-AEADF843B826}" srcId="{58B13C13-CE03-4F27-8764-9CDACE7A6F3F}" destId="{8EE5A69E-8AC6-4324-AAA9-39962FA9D97F}" srcOrd="0" destOrd="0" parTransId="{6F88A1DC-164C-44B1-9295-DCFE748F219E}" sibTransId="{13F8E075-454F-4C46-8787-D08556CB9A90}"/>
    <dgm:cxn modelId="{48C1682D-9FC3-794C-A179-AA7484463AD4}" type="presParOf" srcId="{E20C2CA4-9221-BA46-B162-EF219DA0FAE2}" destId="{28553BEB-51BE-4E4B-A3DE-F4CCF697EE74}" srcOrd="0" destOrd="0" presId="urn:microsoft.com/office/officeart/2005/8/layout/hierarchy1"/>
    <dgm:cxn modelId="{CF6F5523-7437-6448-858D-0693BB93C43F}" type="presParOf" srcId="{28553BEB-51BE-4E4B-A3DE-F4CCF697EE74}" destId="{9791694F-B43B-F743-A79C-EE40627960DA}" srcOrd="0" destOrd="0" presId="urn:microsoft.com/office/officeart/2005/8/layout/hierarchy1"/>
    <dgm:cxn modelId="{5C4FF735-414F-5748-ABEF-D97715BC7D40}" type="presParOf" srcId="{9791694F-B43B-F743-A79C-EE40627960DA}" destId="{A803A55B-2C0F-8340-BC71-CF5A8E004310}" srcOrd="0" destOrd="0" presId="urn:microsoft.com/office/officeart/2005/8/layout/hierarchy1"/>
    <dgm:cxn modelId="{00F870B0-F102-A546-9CE2-D85F27D5915E}" type="presParOf" srcId="{9791694F-B43B-F743-A79C-EE40627960DA}" destId="{87385EDF-B193-A845-836A-5D0F1B5E8C4C}" srcOrd="1" destOrd="0" presId="urn:microsoft.com/office/officeart/2005/8/layout/hierarchy1"/>
    <dgm:cxn modelId="{A4A5633F-2D7E-5341-919A-D50007805E86}" type="presParOf" srcId="{28553BEB-51BE-4E4B-A3DE-F4CCF697EE74}" destId="{BBF5DFDE-5327-8748-BA45-643E2AF9006F}" srcOrd="1" destOrd="0" presId="urn:microsoft.com/office/officeart/2005/8/layout/hierarchy1"/>
    <dgm:cxn modelId="{B7C6539F-DD76-2145-9D96-8295B9CB15C6}" type="presParOf" srcId="{E20C2CA4-9221-BA46-B162-EF219DA0FAE2}" destId="{D7EE6D69-3BD9-5245-BE1D-202E5BEC34E6}" srcOrd="1" destOrd="0" presId="urn:microsoft.com/office/officeart/2005/8/layout/hierarchy1"/>
    <dgm:cxn modelId="{E44422A6-9660-864B-ACDB-FA6E4F1991AF}" type="presParOf" srcId="{D7EE6D69-3BD9-5245-BE1D-202E5BEC34E6}" destId="{DFD69F36-D683-F140-A4FB-51CA303F398D}" srcOrd="0" destOrd="0" presId="urn:microsoft.com/office/officeart/2005/8/layout/hierarchy1"/>
    <dgm:cxn modelId="{BFF44879-950F-144F-8AA8-2EE0C595992E}" type="presParOf" srcId="{DFD69F36-D683-F140-A4FB-51CA303F398D}" destId="{28800792-0ADF-F443-832A-0102E131C7B0}" srcOrd="0" destOrd="0" presId="urn:microsoft.com/office/officeart/2005/8/layout/hierarchy1"/>
    <dgm:cxn modelId="{D29A0A89-9D56-8A48-8BA0-DCDC926C88A7}" type="presParOf" srcId="{DFD69F36-D683-F140-A4FB-51CA303F398D}" destId="{3570CAA9-A1CA-114F-8DC0-CBCE4CD38073}" srcOrd="1" destOrd="0" presId="urn:microsoft.com/office/officeart/2005/8/layout/hierarchy1"/>
    <dgm:cxn modelId="{C6CD6EB2-B0E4-D047-9E7D-F4A38C92AB02}" type="presParOf" srcId="{D7EE6D69-3BD9-5245-BE1D-202E5BEC34E6}" destId="{DC5A353A-F70F-B040-AA0D-D4B1350747AC}" srcOrd="1" destOrd="0" presId="urn:microsoft.com/office/officeart/2005/8/layout/hierarchy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CB2B71C-9545-43F4-8376-864E42A022A4}">
      <dsp:nvSpPr>
        <dsp:cNvPr id="0" name=""/>
        <dsp:cNvSpPr/>
      </dsp:nvSpPr>
      <dsp:spPr>
        <a:xfrm>
          <a:off x="0" y="499"/>
          <a:ext cx="9618133" cy="11692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8DC14EC-2901-496F-8FEF-55A978EC6F84}">
      <dsp:nvSpPr>
        <dsp:cNvPr id="0" name=""/>
        <dsp:cNvSpPr/>
      </dsp:nvSpPr>
      <dsp:spPr>
        <a:xfrm>
          <a:off x="353707" y="263587"/>
          <a:ext cx="643104" cy="64310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C3BC3749-F12B-44EA-AEDB-69785241ABF0}">
      <dsp:nvSpPr>
        <dsp:cNvPr id="0" name=""/>
        <dsp:cNvSpPr/>
      </dsp:nvSpPr>
      <dsp:spPr>
        <a:xfrm>
          <a:off x="1350519" y="499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Is there a correlation between the experimental TP53 EFS(Giacomelli et al.) and patient FGA (GENIE)?</a:t>
          </a:r>
        </a:p>
      </dsp:txBody>
      <dsp:txXfrm>
        <a:off x="1350519" y="499"/>
        <a:ext cx="8267613" cy="1169280"/>
      </dsp:txXfrm>
    </dsp:sp>
    <dsp:sp modelId="{38BBD7EB-99E3-4E91-A381-FFD8E899A99E}">
      <dsp:nvSpPr>
        <dsp:cNvPr id="0" name=""/>
        <dsp:cNvSpPr/>
      </dsp:nvSpPr>
      <dsp:spPr>
        <a:xfrm>
          <a:off x="0" y="1462100"/>
          <a:ext cx="9618133" cy="11692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A21B101-9457-4CF6-BE8A-092C8EDB98A3}">
      <dsp:nvSpPr>
        <dsp:cNvPr id="0" name=""/>
        <dsp:cNvSpPr/>
      </dsp:nvSpPr>
      <dsp:spPr>
        <a:xfrm>
          <a:off x="353707" y="1725188"/>
          <a:ext cx="643104" cy="64310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D8B549A-F582-407A-8FBE-1DEC81D362E6}">
      <dsp:nvSpPr>
        <dsp:cNvPr id="0" name=""/>
        <dsp:cNvSpPr/>
      </dsp:nvSpPr>
      <dsp:spPr>
        <a:xfrm>
          <a:off x="1350519" y="1462100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Do "Hotspot" mutations drive higher genomic instability than rare mutations?</a:t>
          </a:r>
        </a:p>
      </dsp:txBody>
      <dsp:txXfrm>
        <a:off x="1350519" y="1462100"/>
        <a:ext cx="8267613" cy="1169280"/>
      </dsp:txXfrm>
    </dsp:sp>
    <dsp:sp modelId="{4D29B9D9-CAA4-4473-AC64-F3635AD81E37}">
      <dsp:nvSpPr>
        <dsp:cNvPr id="0" name=""/>
        <dsp:cNvSpPr/>
      </dsp:nvSpPr>
      <dsp:spPr>
        <a:xfrm>
          <a:off x="0" y="2923701"/>
          <a:ext cx="9618133" cy="1169280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08FA23B-86AA-437F-8BC3-11F23665006F}">
      <dsp:nvSpPr>
        <dsp:cNvPr id="0" name=""/>
        <dsp:cNvSpPr/>
      </dsp:nvSpPr>
      <dsp:spPr>
        <a:xfrm>
          <a:off x="353707" y="3186789"/>
          <a:ext cx="643104" cy="64310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19050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AB5C3A8-791F-442C-A264-0491E2C1EBEF}">
      <dsp:nvSpPr>
        <dsp:cNvPr id="0" name=""/>
        <dsp:cNvSpPr/>
      </dsp:nvSpPr>
      <dsp:spPr>
        <a:xfrm>
          <a:off x="1350519" y="2923701"/>
          <a:ext cx="8267613" cy="1169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23749" tIns="123749" rIns="123749" bIns="123749" numCol="1" spcCol="1270" anchor="ctr" anchorCtr="0">
          <a:noAutofit/>
        </a:bodyPr>
        <a:lstStyle/>
        <a:p>
          <a:pPr marL="0" lvl="0" indent="0" algn="l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Does this correlation hold true across all cancer types or is it specific to certain tissues?</a:t>
          </a:r>
        </a:p>
      </dsp:txBody>
      <dsp:txXfrm>
        <a:off x="1350519" y="2923701"/>
        <a:ext cx="8267613" cy="116928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49C7E3C-55A4-AC42-BC40-F4B66067512F}">
      <dsp:nvSpPr>
        <dsp:cNvPr id="0" name=""/>
        <dsp:cNvSpPr/>
      </dsp:nvSpPr>
      <dsp:spPr>
        <a:xfrm>
          <a:off x="719716" y="2065"/>
          <a:ext cx="3634977" cy="181748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Primary Analysis (DNA/GENIE): Statistical Power. With ~200,000 samples, I plan to establish that TP53 mutations result in Genomic Instability. </a:t>
          </a:r>
        </a:p>
      </dsp:txBody>
      <dsp:txXfrm>
        <a:off x="772948" y="55297"/>
        <a:ext cx="3528513" cy="1711024"/>
      </dsp:txXfrm>
    </dsp:sp>
    <dsp:sp modelId="{B6E41552-DC51-284F-B30F-7B0AE0AA5325}">
      <dsp:nvSpPr>
        <dsp:cNvPr id="0" name=""/>
        <dsp:cNvSpPr/>
      </dsp:nvSpPr>
      <dsp:spPr>
        <a:xfrm>
          <a:off x="1083214" y="1819554"/>
          <a:ext cx="363497" cy="1363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3116"/>
              </a:lnTo>
              <a:lnTo>
                <a:pt x="363497" y="1363116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AE5E4114-BAEB-BD4B-A02A-0C8ED0A09D73}">
      <dsp:nvSpPr>
        <dsp:cNvPr id="0" name=""/>
        <dsp:cNvSpPr/>
      </dsp:nvSpPr>
      <dsp:spPr>
        <a:xfrm>
          <a:off x="1446711" y="2273927"/>
          <a:ext cx="2907982" cy="18174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Show that the physical structure of the genome is breaking down</a:t>
          </a:r>
        </a:p>
      </dsp:txBody>
      <dsp:txXfrm>
        <a:off x="1499943" y="2327159"/>
        <a:ext cx="2801518" cy="1711024"/>
      </dsp:txXfrm>
    </dsp:sp>
    <dsp:sp modelId="{4448B8C0-36F3-D247-B185-40ACDBC248AD}">
      <dsp:nvSpPr>
        <dsp:cNvPr id="0" name=""/>
        <dsp:cNvSpPr/>
      </dsp:nvSpPr>
      <dsp:spPr>
        <a:xfrm>
          <a:off x="5263438" y="2065"/>
          <a:ext cx="3634977" cy="1817488"/>
        </a:xfrm>
        <a:prstGeom prst="roundRect">
          <a:avLst>
            <a:gd name="adj" fmla="val 10000"/>
          </a:avLst>
        </a:prstGeom>
        <a:solidFill>
          <a:schemeClr val="accent2">
            <a:hueOff val="-1446200"/>
            <a:satOff val="-9924"/>
            <a:lumOff val="5098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Secondary Analysis</a:t>
          </a:r>
          <a:r>
            <a:rPr lang="he-IL" sz="2000" kern="1200" dirty="0"/>
            <a:t>: </a:t>
          </a:r>
          <a:r>
            <a:rPr lang="en-US" sz="2000" kern="1200" dirty="0"/>
            <a:t>Biological Insight. Will tell us which pathways are driving the cancer's aggression.</a:t>
          </a:r>
        </a:p>
      </dsp:txBody>
      <dsp:txXfrm>
        <a:off x="5316670" y="55297"/>
        <a:ext cx="3528513" cy="1711024"/>
      </dsp:txXfrm>
    </dsp:sp>
    <dsp:sp modelId="{BFAA7661-613F-9C4C-8F0D-0F25850925C0}">
      <dsp:nvSpPr>
        <dsp:cNvPr id="0" name=""/>
        <dsp:cNvSpPr/>
      </dsp:nvSpPr>
      <dsp:spPr>
        <a:xfrm>
          <a:off x="5626936" y="1819554"/>
          <a:ext cx="363497" cy="1363116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3116"/>
              </a:lnTo>
              <a:lnTo>
                <a:pt x="363497" y="1363116"/>
              </a:lnTo>
            </a:path>
          </a:pathLst>
        </a:custGeom>
        <a:noFill/>
        <a:ln w="19050" cap="rnd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77ED1AA-6751-264B-95A8-2D3A4397E075}">
      <dsp:nvSpPr>
        <dsp:cNvPr id="0" name=""/>
        <dsp:cNvSpPr/>
      </dsp:nvSpPr>
      <dsp:spPr>
        <a:xfrm>
          <a:off x="5990434" y="2273927"/>
          <a:ext cx="2907982" cy="1817488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2">
              <a:hueOff val="-1446200"/>
              <a:satOff val="-9924"/>
              <a:lumOff val="5098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38100" tIns="25400" rIns="38100" bIns="25400" numCol="1" spcCol="1270" anchor="ctr" anchorCtr="0">
          <a:noAutofit/>
        </a:bodyPr>
        <a:lstStyle/>
        <a:p>
          <a:pPr marL="0" lvl="0" indent="0" algn="ctr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000" kern="1200" dirty="0"/>
            <a:t>Conclude what are the major pathways are triggered</a:t>
          </a:r>
        </a:p>
      </dsp:txBody>
      <dsp:txXfrm>
        <a:off x="6043666" y="2327159"/>
        <a:ext cx="2801518" cy="1711024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A803A55B-2C0F-8340-BC71-CF5A8E004310}">
      <dsp:nvSpPr>
        <dsp:cNvPr id="0" name=""/>
        <dsp:cNvSpPr/>
      </dsp:nvSpPr>
      <dsp:spPr>
        <a:xfrm>
          <a:off x="1174" y="520807"/>
          <a:ext cx="4121050" cy="26168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7385EDF-B193-A845-836A-5D0F1B5E8C4C}">
      <dsp:nvSpPr>
        <dsp:cNvPr id="0" name=""/>
        <dsp:cNvSpPr/>
      </dsp:nvSpPr>
      <dsp:spPr>
        <a:xfrm>
          <a:off x="459068" y="955807"/>
          <a:ext cx="4121050" cy="26168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/>
            <a:t>Hypothesis: Patients with TP53 mutations that have the lowest experimental function scores will show the highest Fraction Genome Altered.</a:t>
          </a:r>
        </a:p>
      </dsp:txBody>
      <dsp:txXfrm>
        <a:off x="535713" y="1032452"/>
        <a:ext cx="3967760" cy="2463577"/>
      </dsp:txXfrm>
    </dsp:sp>
    <dsp:sp modelId="{28800792-0ADF-F443-832A-0102E131C7B0}">
      <dsp:nvSpPr>
        <dsp:cNvPr id="0" name=""/>
        <dsp:cNvSpPr/>
      </dsp:nvSpPr>
      <dsp:spPr>
        <a:xfrm>
          <a:off x="5038013" y="520807"/>
          <a:ext cx="4121050" cy="2616867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570CAA9-A1CA-114F-8DC0-CBCE4CD38073}">
      <dsp:nvSpPr>
        <dsp:cNvPr id="0" name=""/>
        <dsp:cNvSpPr/>
      </dsp:nvSpPr>
      <dsp:spPr>
        <a:xfrm>
          <a:off x="5495908" y="955807"/>
          <a:ext cx="4121050" cy="2616867"/>
        </a:xfrm>
        <a:prstGeom prst="roundRect">
          <a:avLst>
            <a:gd name="adj" fmla="val 10000"/>
          </a:avLst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19050" cap="rnd" cmpd="sng" algn="ctr">
          <a:solidFill>
            <a:schemeClr val="accen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95250" tIns="95250" rIns="95250" bIns="95250" numCol="1" spcCol="1270" anchor="ctr" anchorCtr="0">
          <a:noAutofit/>
        </a:bodyPr>
        <a:lstStyle/>
        <a:p>
          <a:pPr marL="0" lvl="0" indent="0" algn="ctr" defTabSz="11112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500" kern="1200" dirty="0"/>
            <a:t>Biological Implication: This confirms that the degree of TP53 loss directly dictates the level of genomic chaos allowed in the cell.</a:t>
          </a:r>
        </a:p>
      </dsp:txBody>
      <dsp:txXfrm>
        <a:off x="5572553" y="1032452"/>
        <a:ext cx="3967760" cy="2463577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3">
  <dgm:title val=""/>
  <dgm:desc val=""/>
  <dgm:catLst>
    <dgm:cat type="hierarchy" pri="7000"/>
    <dgm:cat type="list" pri="23000"/>
    <dgm:cat type="relationship" pri="15000"/>
    <dgm:cat type="convert" pri="7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12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</dgm:ptLst>
      <dgm:cxnLst>
        <dgm:cxn modelId="4" srcId="0" destId="1" srcOrd="0" destOrd="0"/>
        <dgm:cxn modelId="5" srcId="1" destId="11" srcOrd="0" destOrd="0"/>
        <dgm:cxn modelId="6" srcId="1" destId="12" srcOrd="1" destOrd="0"/>
        <dgm:cxn modelId="7" srcId="0" destId="2" srcOrd="1" destOrd="0"/>
        <dgm:cxn modelId="8" srcId="2" destId="21" srcOrd="0" destOrd="0"/>
        <dgm:cxn modelId="9" srcId="2" destId="22" srcOrd="1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</dgm:ptLst>
      <dgm:cxnLst>
        <dgm:cxn modelId="4" srcId="0" destId="1" srcOrd="0" destOrd="0"/>
        <dgm:cxn modelId="5" srcId="0" destId="2" srcOrd="1" destOrd="0"/>
        <dgm:cxn modelId="13" srcId="1" destId="11" srcOrd="0" destOrd="0"/>
        <dgm:cxn modelId="23" srcId="2" destId="2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forName="rootText" op="equ" val="65"/>
      <dgm:constr type="primFontSz" for="des" forName="childText" op="equ" val="65"/>
      <dgm:constr type="w" for="des" forName="rootComposite" refType="w"/>
      <dgm:constr type="h" for="des" forName="rootComposite" refType="w" fact="0.5"/>
      <dgm:constr type="w" for="des" forName="childText" refType="w" refFor="des" refForName="rootComposite" fact="0.8"/>
      <dgm:constr type="h" for="des" forName="childText" refType="h" refFor="des" refForName="rootComposite"/>
      <dgm:constr type="sibSp" refType="w" refFor="des" refForName="rootComposite" fact="0.25"/>
      <dgm:constr type="sibSp" for="des" forName="childShape" refType="h" refFor="des" refForName="childText" fact="0.25"/>
      <dgm:constr type="sp" for="des" forName="root" refType="h" refFor="des" refForName="childText" fact="0.25"/>
    </dgm:constrLst>
    <dgm:ruleLst/>
    <dgm:forEach name="Name3" axis="ch">
      <dgm:forEach name="Name4" axis="self" ptType="node" cnt="1">
        <dgm:layoutNode name="root">
          <dgm:choose name="Name5">
            <dgm:if name="Name6" func="var" arg="dir" op="equ" val="norm">
              <dgm:alg type="hierRoot">
                <dgm:param type="hierAlign" val="tL"/>
              </dgm:alg>
            </dgm:if>
            <dgm:else name="Name7">
              <dgm:alg type="hierRoot">
                <dgm:param type="hierAlign" val="tR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>
            <dgm:constr type="alignOff" val="0.2"/>
          </dgm:constrLst>
          <dgm:ruleLst/>
          <dgm:layoutNode name="rootComposite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8">
              <dgm:if name="Name9" func="var" arg="dir" op="equ" val="norm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l" for="ch" forName="rootConnector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if>
              <dgm:else name="Name10">
                <dgm:constrLst>
                  <dgm:constr type="l" for="ch" forName="rootText"/>
                  <dgm:constr type="t" for="ch" forName="rootText"/>
                  <dgm:constr type="w" for="ch" forName="rootText" refType="w"/>
                  <dgm:constr type="h" for="ch" forName="rootText" refType="h"/>
                  <dgm:constr type="r" for="ch" forName="rootConnector" refType="w"/>
                  <dgm:constr type="t" for="ch" forName="rootConnector"/>
                  <dgm:constr type="w" for="ch" forName="rootConnector" refType="w" refFor="ch" refForName="rootText" fact="0.2"/>
                  <dgm:constr type="h" for="ch" forName="rootConnector" refType="h" refFor="ch" refForName="rootText"/>
                </dgm:constrLst>
              </dgm:else>
            </dgm:choose>
            <dgm:ruleLst/>
            <dgm:layoutNode name="rootText" styleLbl="node1"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 ptType="node" cnt="1"/>
              <dgm:constrLst>
                <dgm:constr type="tMarg" refType="primFontSz" fact="0.1"/>
                <dgm:constr type="bMarg" refType="primFontSz" fact="0.1"/>
                <dgm:constr type="lMarg" refType="primFontSz" fact="0.15"/>
                <dgm:constr type="rMarg" refType="primFontSz" fact="0.15"/>
              </dgm:constrLst>
              <dgm:ruleLst>
                <dgm:rule type="primFontSz" val="5" fact="NaN" max="NaN"/>
              </dgm:ruleLst>
            </dgm:layoutNode>
            <dgm:layoutNode name="rootConnector" moveWith="rootText">
              <dgm:alg type="sp"/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self" ptType="node" cnt="1"/>
              <dgm:constrLst/>
              <dgm:ruleLst/>
            </dgm:layoutNode>
          </dgm:layoutNode>
          <dgm:layoutNode name="childShape">
            <dgm:alg type="hierChild">
              <dgm:param type="chAlign" val="l"/>
              <dgm:param type="linDir" val="fromT"/>
            </dgm:alg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11" axis="ch">
              <dgm:forEach name="Name12" axis="self" ptType="parTrans" cnt="1">
                <dgm:layoutNode name="Name13">
                  <dgm:choose name="Name14">
                    <dgm:if name="Name15" func="var" arg="dir" op="equ" val="norm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L"/>
                      </dgm:alg>
                    </dgm:if>
                    <dgm:else name="Name16">
                      <dgm:alg type="conn">
                        <dgm:param type="dim" val="1D"/>
                        <dgm:param type="endSty" val="noArr"/>
                        <dgm:param type="connRout" val="bend"/>
                        <dgm:param type="srcNode" val="rootConnector"/>
                        <dgm:param type="begPts" val="bCtr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7" axis="self" ptType="node">
                <dgm:layoutNode name="childText" styleLbl="bgAcc1">
                  <dgm:varLst>
                    <dgm:bulletEnabled val="1"/>
                  </dgm:varLst>
                  <dgm:alg type="tx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self desOrSelf" ptType="node node" st="1 1" cnt="1 0"/>
                  <dgm:constrLst>
                    <dgm:constr type="tMarg" refType="primFontSz" fact="0.1"/>
                    <dgm:constr type="bMarg" refType="primFontSz" fact="0.1"/>
                    <dgm:constr type="lMarg" refType="primFontSz" fact="0.15"/>
                    <dgm:constr type="rMarg" refType="primFontSz" fact="0.15"/>
                  </dgm:constrLst>
                  <dgm:ruleLst>
                    <dgm:rule type="primFontSz" val="5" fact="NaN" max="NaN"/>
                  </dgm:ruleLst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1">
  <dgm:title val=""/>
  <dgm:desc val=""/>
  <dgm:catLst>
    <dgm:cat type="hierarchy" pri="2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hierChild1">
    <dgm:varLst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primFontSz" for="des" ptType="node" op="equ" val="65"/>
      <dgm:constr type="w" for="des" forName="composite" refType="w"/>
      <dgm:constr type="h" for="des" forName="composite" refType="w" refFor="des" refForName="composite" fact="0.667"/>
      <dgm:constr type="w" for="des" forName="composite2" refType="w" refFor="des" refForName="composite"/>
      <dgm:constr type="h" for="des" forName="composite2" refType="h" refFor="des" refForName="composite"/>
      <dgm:constr type="w" for="des" forName="composite3" refType="w" refFor="des" refForName="composite"/>
      <dgm:constr type="h" for="des" forName="composite3" refType="h" refFor="des" refForName="composite"/>
      <dgm:constr type="w" for="des" forName="composite4" refType="w" refFor="des" refForName="composite"/>
      <dgm:constr type="h" for="des" forName="composite4" refType="h" refFor="des" refForName="composite"/>
      <dgm:constr type="w" for="des" forName="composite5" refType="w" refFor="des" refForName="composite"/>
      <dgm:constr type="h" for="des" forName="composite5" refType="h" refFor="des" refForName="composite"/>
      <dgm:constr type="sibSp" refType="w" refFor="des" refForName="composite" fact="0.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p" for="des" forName="hierRoot1" refType="h" refFor="des" refForName="composite" fact="0.25"/>
      <dgm:constr type="sp" for="des" forName="hierRoot2" refType="sp" refFor="des" refForName="hierRoot1"/>
      <dgm:constr type="sp" for="des" forName="hierRoot3" refType="sp" refFor="des" refForName="hierRoot1"/>
      <dgm:constr type="sp" for="des" forName="hierRoot4" refType="sp" refFor="des" refForName="hierRoot1"/>
      <dgm:constr type="sp" for="des" forName="hierRoot5" refType="sp" refFor="des" refForName="hierRoot1"/>
    </dgm:constrLst>
    <dgm:ruleLst/>
    <dgm:forEach name="Name3" axis="ch">
      <dgm:forEach name="Name4" axis="self" ptType="node">
        <dgm:layoutNode name="hierRoot1">
          <dgm:alg type="hierRoot"/>
          <dgm:shape xmlns:r="http://schemas.openxmlformats.org/officeDocument/2006/relationships" r:blip="">
            <dgm:adjLst/>
          </dgm:shape>
          <dgm:presOf/>
          <dgm:constrLst>
            <dgm:constr type="bendDist" for="des" ptType="parTrans" refType="sp" fact="0.5"/>
          </dgm:constrLst>
          <dgm:ruleLst/>
          <dgm:layoutNode name="composite">
            <dgm:alg type="composite"/>
            <dgm:shape xmlns:r="http://schemas.openxmlformats.org/officeDocument/2006/relationships" r:blip="">
              <dgm:adjLst/>
            </dgm:shape>
            <dgm:presOf/>
            <dgm:constrLst>
              <dgm:constr type="w" for="ch" forName="background" refType="w" fact="0.9"/>
              <dgm:constr type="h" for="ch" forName="background" refType="w" refFor="ch" refForName="background" fact="0.635"/>
              <dgm:constr type="t" for="ch" forName="background"/>
              <dgm:constr type="l" for="ch" forName="background"/>
              <dgm:constr type="w" for="ch" forName="text" refType="w" fact="0.9"/>
              <dgm:constr type="h" for="ch" forName="text" refType="w" refFor="ch" refForName="text" fact="0.635"/>
              <dgm:constr type="t" for="ch" forName="text" refType="w" fact="0.095"/>
              <dgm:constr type="l" for="ch" forName="text" refType="w" fact="0.1"/>
            </dgm:constrLst>
            <dgm:ruleLst/>
            <dgm:layoutNode name="background" styleLbl="node0" moveWith="text"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/>
              <dgm:constrLst/>
              <dgm:ruleLst/>
            </dgm:layoutNode>
            <dgm:layoutNode name="text" styleLbl="fgAcc0">
              <dgm:varLst>
                <dgm:chPref val="3"/>
              </dgm:varLst>
              <dgm:alg type="tx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self"/>
              <dgm:constrLst>
                <dgm:constr type="tMarg" refType="primFontSz" fact="0.3"/>
                <dgm:constr type="bMarg" refType="primFontSz" fact="0.3"/>
                <dgm:constr type="lMarg" refType="primFontSz" fact="0.3"/>
                <dgm:constr type="rMarg" refType="primFontSz" fact="0.3"/>
              </dgm:constrLst>
              <dgm:ruleLst>
                <dgm:rule type="primFontSz" val="5" fact="NaN" max="NaN"/>
              </dgm:ruleLst>
            </dgm:layoutNode>
          </dgm:layoutNode>
          <dgm:layoutNode name="hierChild2">
            <dgm:choose name="Name5">
              <dgm:if name="Name6" func="var" arg="dir" op="equ" val="norm">
                <dgm:alg type="hierChild">
                  <dgm:param type="linDir" val="fromL"/>
                </dgm:alg>
              </dgm:if>
              <dgm:else name="Name7">
                <dgm:alg type="hierChild">
                  <dgm:param type="linDir" val="from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Name8" axis="ch">
              <dgm:forEach name="Name9" axis="self" ptType="parTrans" cnt="1">
                <dgm:layoutNode name="Name10">
                  <dgm:alg type="conn">
                    <dgm:param type="dim" val="1D"/>
                    <dgm:param type="endSty" val="noArr"/>
                    <dgm:param type="connRout" val="bend"/>
                    <dgm:param type="bendPt" val="end"/>
                    <dgm:param type="begPts" val="bCtr"/>
                    <dgm:param type="endPts" val="tCtr"/>
                    <dgm:param type="srcNode" val="background"/>
                    <dgm:param type="dstNode" val="background2"/>
                  </dgm:alg>
                  <dgm:shape xmlns:r="http://schemas.openxmlformats.org/officeDocument/2006/relationships" type="conn" r:blip="" zOrderOff="-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forEach name="Name11" axis="self" ptType="node">
                <dgm:layoutNode name="hierRoot2">
                  <dgm:alg type="hierRoot"/>
                  <dgm:shape xmlns:r="http://schemas.openxmlformats.org/officeDocument/2006/relationships" r:blip="">
                    <dgm:adjLst/>
                  </dgm:shape>
                  <dgm:presOf/>
                  <dgm:constrLst>
                    <dgm:constr type="bendDist" for="des" ptType="parTrans" refType="sp" fact="0.5"/>
                  </dgm:constrLst>
                  <dgm:ruleLst/>
                  <dgm:layoutNode name="composite2">
                    <dgm:alg type="composite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w" for="ch" forName="background2" refType="w" fact="0.9"/>
                      <dgm:constr type="h" for="ch" forName="background2" refType="w" refFor="ch" refForName="background2" fact="0.635"/>
                      <dgm:constr type="t" for="ch" forName="background2"/>
                      <dgm:constr type="l" for="ch" forName="background2"/>
                      <dgm:constr type="w" for="ch" forName="text2" refType="w" fact="0.9"/>
                      <dgm:constr type="h" for="ch" forName="text2" refType="w" refFor="ch" refForName="text2" fact="0.635"/>
                      <dgm:constr type="t" for="ch" forName="text2" refType="w" fact="0.095"/>
                      <dgm:constr type="l" for="ch" forName="text2" refType="w" fact="0.1"/>
                    </dgm:constrLst>
                    <dgm:ruleLst/>
                    <dgm:layoutNode name="background2" moveWith="text2"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/>
                      <dgm:constrLst/>
                      <dgm:ruleLst/>
                    </dgm:layoutNode>
                    <dgm:layoutNode name="text2" styleLbl="fgAcc2">
                      <dgm:varLst>
                        <dgm:chPref val="3"/>
                      </dgm:varLst>
                      <dgm:alg type="tx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self"/>
                      <dgm:constrLst>
                        <dgm:constr type="tMarg" refType="primFontSz" fact="0.3"/>
                        <dgm:constr type="bMarg" refType="primFontSz" fact="0.3"/>
                        <dgm:constr type="lMarg" refType="primFontSz" fact="0.3"/>
                        <dgm:constr type="r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layoutNode>
                  <dgm:layoutNode name="hierChild3">
                    <dgm:choose name="Name12">
                      <dgm:if name="Name13" func="var" arg="dir" op="equ" val="norm">
                        <dgm:alg type="hierChild">
                          <dgm:param type="linDir" val="fromL"/>
                        </dgm:alg>
                      </dgm:if>
                      <dgm:else name="Name14">
                        <dgm:alg type="hierChild">
                          <dgm:param type="linDir" val="from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15" axis="ch">
                      <dgm:forEach name="Name16" axis="self" ptType="parTrans" cnt="1">
                        <dgm:layoutNode name="Name17">
                          <dgm:alg type="conn">
                            <dgm:param type="dim" val="1D"/>
                            <dgm:param type="endSty" val="noArr"/>
                            <dgm:param type="connRout" val="bend"/>
                            <dgm:param type="bendPt" val="end"/>
                            <dgm:param type="begPts" val="bCtr"/>
                            <dgm:param type="endPts" val="tCtr"/>
                            <dgm:param type="srcNode" val="background2"/>
                            <dgm:param type="dstNode" val="background3"/>
                          </dgm:alg>
                          <dgm:shape xmlns:r="http://schemas.openxmlformats.org/officeDocument/2006/relationships" type="conn" r:blip="" zOrderOff="-999">
                            <dgm:adjLst/>
                          </dgm:shape>
                          <dgm:presOf axis="self"/>
                          <dgm:constrLst>
                            <dgm:constr type="begPad"/>
                            <dgm:constr type="endPad"/>
                          </dgm:constrLst>
                          <dgm:ruleLst/>
                        </dgm:layoutNode>
                      </dgm:forEach>
                      <dgm:forEach name="Name18" axis="self" ptType="node">
                        <dgm:layoutNode name="hierRoot3">
                          <dgm:alg type="hierRoot"/>
                          <dgm:shape xmlns:r="http://schemas.openxmlformats.org/officeDocument/2006/relationships" r:blip="">
                            <dgm:adjLst/>
                          </dgm:shape>
                          <dgm:presOf/>
                          <dgm:constrLst>
                            <dgm:constr type="bendDist" for="des" ptType="parTrans" refType="sp" fact="0.5"/>
                          </dgm:constrLst>
                          <dgm:ruleLst/>
                          <dgm:layoutNode name="composite3">
                            <dgm:alg type="composite"/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w" for="ch" forName="background3" refType="w" fact="0.9"/>
                              <dgm:constr type="h" for="ch" forName="background3" refType="w" refFor="ch" refForName="background3" fact="0.635"/>
                              <dgm:constr type="t" for="ch" forName="background3"/>
                              <dgm:constr type="l" for="ch" forName="background3"/>
                              <dgm:constr type="w" for="ch" forName="text3" refType="w" fact="0.9"/>
                              <dgm:constr type="h" for="ch" forName="text3" refType="w" refFor="ch" refForName="text3" fact="0.635"/>
                              <dgm:constr type="t" for="ch" forName="text3" refType="w" fact="0.095"/>
                              <dgm:constr type="l" for="ch" forName="text3" refType="w" fact="0.1"/>
                            </dgm:constrLst>
                            <dgm:ruleLst/>
                            <dgm:layoutNode name="background3" moveWith="text3">
                              <dgm:alg type="sp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/>
                              <dgm:constrLst/>
                              <dgm:ruleLst/>
                            </dgm:layoutNode>
                            <dgm:layoutNode name="text3" styleLbl="fgAcc3">
                              <dgm:varLst>
                                <dgm:chPref val="3"/>
                              </dgm:varLst>
                              <dgm:alg type="tx"/>
                              <dgm:shape xmlns:r="http://schemas.openxmlformats.org/officeDocument/2006/relationships" type="roundRect" r:blip="">
                                <dgm:adjLst>
                                  <dgm:adj idx="1" val="0.1"/>
                                </dgm:adjLst>
                              </dgm:shape>
                              <dgm:presOf axis="self"/>
                              <dgm:constrLst>
                                <dgm:constr type="tMarg" refType="primFontSz" fact="0.3"/>
                                <dgm:constr type="bMarg" refType="primFontSz" fact="0.3"/>
                                <dgm:constr type="lMarg" refType="primFontSz" fact="0.3"/>
                                <dgm:constr type="rMarg" refType="primFontSz" fact="0.3"/>
                              </dgm:constrLst>
                              <dgm:ruleLst>
                                <dgm:rule type="primFontSz" val="5" fact="NaN" max="NaN"/>
                              </dgm:ruleLst>
                            </dgm:layoutNode>
                          </dgm:layoutNode>
                          <dgm:layoutNode name="hierChild4">
                            <dgm:choose name="Name19">
                              <dgm:if name="Name20" func="var" arg="dir" op="equ" val="norm">
                                <dgm:alg type="hierChild">
                                  <dgm:param type="linDir" val="fromL"/>
                                </dgm:alg>
                              </dgm:if>
                              <dgm:else name="Name21">
                                <dgm:alg type="hierChild">
                                  <dgm:param type="linDir" val="fromR"/>
                                </dgm:alg>
                              </dgm:else>
                            </dgm:choose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/>
                            <dgm:ruleLst/>
                            <dgm:forEach name="repeat" axis="ch">
                              <dgm:forEach name="Name22" axis="self" ptType="parTrans" cnt="1">
                                <dgm:layoutNode name="Name23">
                                  <dgm:choose name="Name24">
                                    <dgm:if name="Name25" axis="self" func="depth" op="lte" val="4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3"/>
                                        <dgm:param type="dstNode" val="background4"/>
                                      </dgm:alg>
                                    </dgm:if>
                                    <dgm:else name="Name26">
                                      <dgm:alg type="conn">
                                        <dgm:param type="dim" val="1D"/>
                                        <dgm:param type="endSty" val="noArr"/>
                                        <dgm:param type="connRout" val="bend"/>
                                        <dgm:param type="bendPt" val="end"/>
                                        <dgm:param type="begPts" val="bCtr"/>
                                        <dgm:param type="endPts" val="tCtr"/>
                                        <dgm:param type="srcNode" val="background4"/>
                                        <dgm:param type="dstNode" val="background4"/>
                                      </dgm:alg>
                                    </dgm:else>
                                  </dgm:choose>
                                  <dgm:shape xmlns:r="http://schemas.openxmlformats.org/officeDocument/2006/relationships" type="conn" r:blip="" zOrderOff="-999">
                                    <dgm:adjLst/>
                                  </dgm:shape>
                                  <dgm:presOf axis="self"/>
                                  <dgm:constrLst>
                                    <dgm:constr type="begPad"/>
                                    <dgm:constr type="endPad"/>
                                  </dgm:constrLst>
                                  <dgm:ruleLst/>
                                </dgm:layoutNode>
                              </dgm:forEach>
                              <dgm:forEach name="Name27" axis="self" ptType="node">
                                <dgm:layoutNode name="hierRoot4">
                                  <dgm:alg type="hierRoot"/>
                                  <dgm:shape xmlns:r="http://schemas.openxmlformats.org/officeDocument/2006/relationships" r:blip="">
                                    <dgm:adjLst/>
                                  </dgm:shape>
                                  <dgm:presOf/>
                                  <dgm:constrLst>
                                    <dgm:constr type="bendDist" for="des" ptType="parTrans" refType="sp" fact="0.5"/>
                                  </dgm:constrLst>
                                  <dgm:ruleLst/>
                                  <dgm:layoutNode name="composite4">
                                    <dgm:alg type="composite"/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>
                                      <dgm:constr type="w" for="ch" forName="background4" refType="w" fact="0.9"/>
                                      <dgm:constr type="h" for="ch" forName="background4" refType="w" refFor="ch" refForName="background4" fact="0.635"/>
                                      <dgm:constr type="t" for="ch" forName="background4"/>
                                      <dgm:constr type="l" for="ch" forName="background4"/>
                                      <dgm:constr type="w" for="ch" forName="text4" refType="w" fact="0.9"/>
                                      <dgm:constr type="h" for="ch" forName="text4" refType="w" refFor="ch" refForName="text4" fact="0.635"/>
                                      <dgm:constr type="t" for="ch" forName="text4" refType="w" fact="0.095"/>
                                      <dgm:constr type="l" for="ch" forName="text4" refType="w" fact="0.1"/>
                                    </dgm:constrLst>
                                    <dgm:ruleLst/>
                                    <dgm:layoutNode name="background4" moveWith="text4">
                                      <dgm:alg type="sp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/>
                                      <dgm:constrLst/>
                                      <dgm:ruleLst/>
                                    </dgm:layoutNode>
                                    <dgm:layoutNode name="text4" styleLbl="fgAcc4">
                                      <dgm:varLst>
                                        <dgm:chPref val="3"/>
                                      </dgm:varLst>
                                      <dgm:alg type="tx"/>
                                      <dgm:shape xmlns:r="http://schemas.openxmlformats.org/officeDocument/2006/relationships" type="roundRect" r:blip="">
                                        <dgm:adjLst>
                                          <dgm:adj idx="1" val="0.1"/>
                                        </dgm:adjLst>
                                      </dgm:shape>
                                      <dgm:presOf axis="self"/>
                                      <dgm:constrLst>
                                        <dgm:constr type="tMarg" refType="primFontSz" fact="0.3"/>
                                        <dgm:constr type="bMarg" refType="primFontSz" fact="0.3"/>
                                        <dgm:constr type="lMarg" refType="primFontSz" fact="0.3"/>
                                        <dgm:constr type="rMarg" refType="primFontSz" fact="0.3"/>
                                      </dgm:constrLst>
                                      <dgm:ruleLst>
                                        <dgm:rule type="primFontSz" val="5" fact="NaN" max="NaN"/>
                                      </dgm:ruleLst>
                                    </dgm:layoutNode>
                                  </dgm:layoutNode>
                                  <dgm:layoutNode name="hierChild5">
                                    <dgm:choose name="Name28">
                                      <dgm:if name="Name29" func="var" arg="dir" op="equ" val="norm">
                                        <dgm:alg type="hierChild">
                                          <dgm:param type="linDir" val="fromL"/>
                                        </dgm:alg>
                                      </dgm:if>
                                      <dgm:else name="Name30">
                                        <dgm:alg type="hierChild">
                                          <dgm:param type="linDir" val="fromR"/>
                                        </dgm:alg>
                                      </dgm:else>
                                    </dgm:choose>
                                    <dgm:shape xmlns:r="http://schemas.openxmlformats.org/officeDocument/2006/relationships" r:blip="">
                                      <dgm:adjLst/>
                                    </dgm:shape>
                                    <dgm:presOf/>
                                    <dgm:constrLst/>
                                    <dgm:ruleLst/>
                                    <dgm:forEach name="Name31" ref="repeat"/>
                                  </dgm:layoutNode>
                                </dgm:layoutNode>
                              </dgm:forEach>
                            </dgm:forEach>
                          </dgm:layoutNode>
                        </dgm:layoutNode>
                      </dgm:forEach>
                    </dgm:forEach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FCD6A08-F84D-254F-876D-619DDBFD23F2}" type="datetimeFigureOut">
              <a:rPr lang="en-IL" smtClean="0"/>
              <a:t>28/01/2026</a:t>
            </a:fld>
            <a:endParaRPr lang="en-IL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L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L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L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242DB82-1DC1-9846-88D7-11B539157949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6431756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שלום לכולם אני </a:t>
            </a:r>
            <a:r>
              <a:rPr lang="he-IL" dirty="0" err="1"/>
              <a:t>אורנית</a:t>
            </a:r>
            <a:r>
              <a:rPr lang="he-IL" dirty="0"/>
              <a:t>, ואני הולכת לדבר על הפרויקט שלי שנקרא ... </a:t>
            </a:r>
          </a:p>
          <a:p>
            <a:pPr marL="0" algn="r" defTabSz="914400" rtl="1" eaLnBrk="1" latinLnBrk="0" hangingPunct="1"/>
            <a:r>
              <a:rPr lang="he-IL" dirty="0"/>
              <a:t>כדי להבין מה הפרויקט הזה אומר, אני צריכה להסביר מה זה </a:t>
            </a:r>
            <a:r>
              <a:rPr lang="en-US" dirty="0"/>
              <a:t>TP53</a:t>
            </a:r>
            <a:r>
              <a:rPr lang="he-IL" dirty="0"/>
              <a:t> ו-</a:t>
            </a:r>
            <a:r>
              <a:rPr lang="en-US" dirty="0"/>
              <a:t>CNV</a:t>
            </a:r>
            <a:r>
              <a:rPr lang="he-IL" dirty="0"/>
              <a:t>.</a:t>
            </a:r>
          </a:p>
          <a:p>
            <a:pPr marL="0" algn="r" defTabSz="914400" rtl="1" eaLnBrk="1" latinLnBrk="0" hangingPunct="1"/>
            <a:r>
              <a:rPr lang="he-IL" dirty="0"/>
              <a:t>אלה שני נושאים שמוזכרים לפעמים יחד בהקשר לסרטן ותכף אסביר למה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88977454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C0DEBB5-93D8-A31D-E922-5403E7A964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ECAFF6E-E899-4D48-E6E1-B96E9C327221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7D83E8C-56B2-0FC7-D529-A39676AF676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en-US" dirty="0"/>
              <a:t>Copy Number Variation</a:t>
            </a:r>
            <a:r>
              <a:rPr lang="he-IL" dirty="0"/>
              <a:t> או בקצרה</a:t>
            </a:r>
            <a:r>
              <a:rPr lang="en-US" dirty="0"/>
              <a:t>CNV </a:t>
            </a:r>
            <a:r>
              <a:rPr lang="he-IL" dirty="0"/>
              <a:t>, מתייחס לשינויים במספר העותקים של אזורים בגנום, החל ממחיקות והכפלות של גנים בודדים ועד שינויים נרחבים בקטעים כרומוזומליים שלמים.</a:t>
            </a:r>
          </a:p>
          <a:p>
            <a:pPr marL="0" algn="r" defTabSz="914400" rtl="1" eaLnBrk="1" latinLnBrk="0" hangingPunct="1"/>
            <a:r>
              <a:rPr lang="he-IL" dirty="0"/>
              <a:t>שינויים כאלו משפיעים על רמות הביטוי של גנים, ולכן יכולים לשנות באופן משמעותי את התפקוד התאי.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A711448-BE12-FC1E-3DA4-7F659E285505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2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9805942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en-US" dirty="0"/>
              <a:t> TP53</a:t>
            </a:r>
            <a:r>
              <a:rPr lang="he-IL" dirty="0"/>
              <a:t>הוא </a:t>
            </a:r>
            <a:r>
              <a:rPr lang="he-IL" dirty="0" err="1"/>
              <a:t>טומר</a:t>
            </a:r>
            <a:r>
              <a:rPr lang="he-IL" dirty="0"/>
              <a:t> </a:t>
            </a:r>
            <a:r>
              <a:rPr lang="he-IL" dirty="0" err="1"/>
              <a:t>סופרסור</a:t>
            </a:r>
            <a:r>
              <a:rPr lang="he-IL" dirty="0"/>
              <a:t> מרכזי שאחראי על תגובת התא לנזקי </a:t>
            </a:r>
            <a:r>
              <a:rPr lang="en-US" dirty="0"/>
              <a:t> DNA</a:t>
            </a:r>
            <a:r>
              <a:rPr lang="he-IL" dirty="0"/>
              <a:t>ועל מניעת חלוקה של תאים פגומים.</a:t>
            </a:r>
          </a:p>
          <a:p>
            <a:pPr marL="0" algn="r" defTabSz="914400" rtl="1" eaLnBrk="1" latinLnBrk="0" hangingPunct="1"/>
            <a:r>
              <a:rPr lang="he-IL" dirty="0" err="1"/>
              <a:t>כש</a:t>
            </a:r>
            <a:r>
              <a:rPr lang="he-IL" dirty="0"/>
              <a:t>-</a:t>
            </a:r>
            <a:r>
              <a:rPr lang="en-US" dirty="0"/>
              <a:t> TP53</a:t>
            </a:r>
            <a:r>
              <a:rPr lang="he-IL" dirty="0"/>
              <a:t>עובר מוטציה, מנגנוני הבקרה האלו נפגעים, ואנחנו מקבלים אי-יציבות </a:t>
            </a:r>
            <a:r>
              <a:rPr lang="he-IL" dirty="0" err="1"/>
              <a:t>גנומית</a:t>
            </a:r>
            <a:r>
              <a:rPr lang="he-IL" dirty="0"/>
              <a:t>, כולל עלייה ב-</a:t>
            </a:r>
            <a:r>
              <a:rPr lang="en-US" dirty="0"/>
              <a:t>CNV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3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66389045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4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4847534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dirty="0"/>
              <a:t>ההיפותזה שלי מבוססת על מאמר שפורסם </a:t>
            </a:r>
            <a:r>
              <a:rPr lang="he-IL" dirty="0" err="1"/>
              <a:t>בנייצ׳ר</a:t>
            </a:r>
            <a:r>
              <a:rPr lang="he-IL" dirty="0"/>
              <a:t> לפני כמה שנים שהם עשו דבר מאוד מעניין שם, הם יצרו ספרייה ענקית שכוללת כמעט את כל המוטציות האפשריות ב-</a:t>
            </a:r>
            <a:r>
              <a:rPr lang="en-US" dirty="0"/>
              <a:t>TP53</a:t>
            </a:r>
            <a:r>
              <a:rPr lang="he-IL" dirty="0"/>
              <a:t>, בעיקר </a:t>
            </a:r>
            <a:r>
              <a:rPr lang="he-IL" dirty="0" err="1"/>
              <a:t>מיסנס</a:t>
            </a:r>
            <a:r>
              <a:rPr lang="he-IL" dirty="0"/>
              <a:t> אבל גם נונסנס. כל מוטציה הוכנסה לתאים אנושיים וסומנה בברקוד כדי לעקוב אחריה בריצוף. הם הכניסו לתאים עותק מוטנטי של </a:t>
            </a:r>
            <a:r>
              <a:rPr lang="en-US" dirty="0"/>
              <a:t>TP53</a:t>
            </a:r>
            <a:r>
              <a:rPr lang="he-IL" dirty="0"/>
              <a:t> ובדקו מה ההשפעה של זה בתא.</a:t>
            </a:r>
            <a:endParaRPr lang="he-IL" b="0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b="0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he-IL" b="0" dirty="0"/>
              <a:t>ההיפותזה שאני הולכת לעבוד איתה היא שלחולים עם מוטציות tp53 שיש להם ציון </a:t>
            </a:r>
            <a:r>
              <a:rPr lang="he-IL" b="0" dirty="0" err="1"/>
              <a:t>פיטנס</a:t>
            </a:r>
            <a:r>
              <a:rPr lang="he-IL" b="0" dirty="0"/>
              <a:t> נמוך, יהיה אחוז גבוה יותר של כאוס </a:t>
            </a:r>
            <a:r>
              <a:rPr lang="he-IL" b="0" dirty="0" err="1"/>
              <a:t>גנומי</a:t>
            </a:r>
            <a:r>
              <a:rPr lang="he-IL" b="0" dirty="0"/>
              <a:t>.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b="0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b="0" dirty="0"/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b="0" dirty="0"/>
          </a:p>
          <a:p>
            <a:pPr lvl="1"/>
            <a:r>
              <a:rPr lang="en-US" dirty="0"/>
              <a:t>~0 → WT-like</a:t>
            </a:r>
          </a:p>
          <a:p>
            <a:pPr lvl="1"/>
            <a:r>
              <a:rPr lang="he-IL" dirty="0"/>
              <a:t>גבוה → </a:t>
            </a:r>
            <a:r>
              <a:rPr lang="en-US" dirty="0"/>
              <a:t>severe / LOF / GOF</a:t>
            </a:r>
          </a:p>
          <a:p>
            <a:pPr marL="0" marR="0" lvl="0" indent="0" algn="r" defTabSz="914400" rtl="1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he-IL" b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5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06508125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6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28658893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7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36553577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algn="r" defTabSz="914400" rtl="1" eaLnBrk="1" latinLnBrk="0" hangingPunct="1"/>
            <a:r>
              <a:rPr lang="he-IL" dirty="0"/>
              <a:t>במאמר של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Giacomelli et al.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הם לקחו את 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החליפו כל חומצה אמינית אחת והחליפו באחרת, בעצם יצרו מפה של כל המוטציות האפשריות ב-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כדי לראות את האפקט של כל מוטציה וכמה היא משפיעה על התפקוד של התא מבחינת קצב הגידול של התאים הסרטניים. אז אני רוצה להסתכל האם יש מוטציות מסוימות שגורמות ל-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copy number variation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לעלות? האם יש אזורים ספציפיים ב-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שכשיש שם מוטציה ה-</a:t>
            </a:r>
            <a:r>
              <a:rPr lang="en-US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cnv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עולה ובאילו סרטנים המוטציות ההרסניות ביותר פעילות?</a:t>
            </a:r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algn="r" defTabSz="914400" rtl="1" eaLnBrk="1" latinLnBrk="0" hangingPunct="1"/>
            <a:endParaRPr lang="en-US" sz="1200" b="0" i="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marL="0" algn="r" defTabSz="914400" rtl="1" eaLnBrk="1" latinLnBrk="0" hangingPunct="1"/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אני רוצה לבדוק 3 דברים:</a:t>
            </a:r>
          </a:p>
          <a:p>
            <a:pPr marL="228600" indent="-228600" algn="r" defTabSz="914400" rtl="1" eaLnBrk="1" latinLnBrk="0" hangingPunct="1">
              <a:buAutoNum type="arabicPeriod"/>
            </a:pP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יש קורלציה בין ה-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functional score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של מוטציה כלשהי ב-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p53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ל-</a:t>
            </a:r>
            <a:r>
              <a:rPr lang="en-US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CNV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גבוה יותר אצל החולים?</a:t>
            </a:r>
          </a:p>
          <a:p>
            <a:pPr marL="228600" indent="-228600" algn="r" defTabSz="914400" rtl="1" eaLnBrk="1" latinLnBrk="0" hangingPunct="1">
              <a:buAutoNum type="arabicPeriod"/>
            </a:pP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יש מוטציות באזורים שהם </a:t>
            </a:r>
            <a:r>
              <a:rPr lang="he-IL" sz="1200" b="0" i="0" kern="1200" dirty="0" err="1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הוטספוט</a:t>
            </a: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שגורמים ליותר חוסר יציבות?</a:t>
            </a:r>
          </a:p>
          <a:p>
            <a:pPr marL="228600" indent="-228600" algn="r" defTabSz="914400" rtl="1" eaLnBrk="1" latinLnBrk="0" hangingPunct="1">
              <a:buAutoNum type="arabicPeriod"/>
            </a:pPr>
            <a:r>
              <a:rPr lang="he-IL" sz="1200" b="0" i="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האם מדובר בכל סוגי הסרטן או שאמצע את הקורלציה רק בסוגי סרטן ספציפיים?</a:t>
            </a:r>
            <a:endParaRPr lang="he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8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195188307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my Primary Analysis, I am establishing the structural damage—proving that specific TP53 mutations lead to higher genomic instability using the massive GENIE dataset.</a:t>
            </a:r>
          </a:p>
          <a:p>
            <a:endParaRPr lang="en-US" dirty="0"/>
          </a:p>
          <a:p>
            <a:r>
              <a:rPr lang="en-US" dirty="0"/>
              <a:t>However, structural damage is only half the story. In my Secondary Analysis, I connect this to the functional consequence. I use TCGA data to ask: 'How does this genomic chaos actually change the cell's behavior?' specifically looking at gene expression in cell cycle and repair pathways.</a:t>
            </a:r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9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99256001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L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242DB82-1DC1-9846-88D7-11B539157949}" type="slidenum">
              <a:rPr lang="en-IL" smtClean="0"/>
              <a:t>11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76795201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63864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264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53192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6257976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spc="50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039752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8350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353311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6249014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022180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spc="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35501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spc="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79794715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spc="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255247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spc="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057215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spc="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spc="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989565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4962215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29179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algn="r"/>
            <a:fld id="{A37D6D71-8B28-4ED6-B932-04B197003D23}" type="datetimeFigureOut">
              <a:rPr lang="en-US" smtClean="0"/>
              <a:pPr algn="r"/>
              <a:t>1/27/26</a:t>
            </a:fld>
            <a:endParaRPr lang="en-US" spc="50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spc="50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pPr algn="l"/>
            <a:fld id="{F97E8200-1950-409B-82E7-99938E7AE355}" type="slidenum">
              <a:rPr lang="en-US" smtClean="0"/>
              <a:pPr algn="l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7644930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4013" r:id="rId1"/>
    <p:sldLayoutId id="2147484014" r:id="rId2"/>
    <p:sldLayoutId id="2147484015" r:id="rId3"/>
    <p:sldLayoutId id="2147484016" r:id="rId4"/>
    <p:sldLayoutId id="2147484017" r:id="rId5"/>
    <p:sldLayoutId id="2147484018" r:id="rId6"/>
    <p:sldLayoutId id="2147484019" r:id="rId7"/>
    <p:sldLayoutId id="2147484020" r:id="rId8"/>
    <p:sldLayoutId id="2147484021" r:id="rId9"/>
    <p:sldLayoutId id="2147484022" r:id="rId10"/>
    <p:sldLayoutId id="2147484023" r:id="rId11"/>
    <p:sldLayoutId id="2147484024" r:id="rId12"/>
    <p:sldLayoutId id="2147484025" r:id="rId13"/>
    <p:sldLayoutId id="2147484026" r:id="rId14"/>
    <p:sldLayoutId id="2147484027" r:id="rId15"/>
    <p:sldLayoutId id="2147484028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2.xml"/><Relationship Id="rId7" Type="http://schemas.microsoft.com/office/2007/relationships/diagramDrawing" Target="../diagrams/drawing2.xml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2.xml"/><Relationship Id="rId5" Type="http://schemas.openxmlformats.org/officeDocument/2006/relationships/diagramQuickStyle" Target="../diagrams/quickStyle2.xml"/><Relationship Id="rId4" Type="http://schemas.openxmlformats.org/officeDocument/2006/relationships/diagramLayout" Target="../diagrams/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2A296D-E8F9-B326-5356-2C6AA3E544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01651" y="1681845"/>
            <a:ext cx="8486046" cy="2876471"/>
          </a:xfrm>
        </p:spPr>
        <p:txBody>
          <a:bodyPr anchor="ctr">
            <a:normAutofit fontScale="90000"/>
          </a:bodyPr>
          <a:lstStyle/>
          <a:p>
            <a:pPr algn="l"/>
            <a:r>
              <a:rPr lang="en-US" dirty="0">
                <a:solidFill>
                  <a:schemeClr val="accent1">
                    <a:lumMod val="50000"/>
                  </a:schemeClr>
                </a:solidFill>
              </a:rPr>
              <a:t>TP53 mutations that are associated with an increased Copy Number Variation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F2321456-BD03-93AA-AA0C-5A387C9AA80E}"/>
              </a:ext>
            </a:extLst>
          </p:cNvPr>
          <p:cNvSpPr txBox="1"/>
          <p:nvPr/>
        </p:nvSpPr>
        <p:spPr>
          <a:xfrm>
            <a:off x="1201651" y="4852989"/>
            <a:ext cx="1949573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L" dirty="0">
                <a:solidFill>
                  <a:schemeClr val="accent1">
                    <a:lumMod val="50000"/>
                  </a:schemeClr>
                </a:solidFill>
              </a:rPr>
              <a:t>Ornit Bhonkar</a:t>
            </a:r>
          </a:p>
          <a:p>
            <a:r>
              <a:rPr lang="en-IL" dirty="0">
                <a:solidFill>
                  <a:schemeClr val="accent1">
                    <a:lumMod val="50000"/>
                  </a:schemeClr>
                </a:solidFill>
              </a:rPr>
              <a:t>January 29, 2026</a:t>
            </a:r>
          </a:p>
        </p:txBody>
      </p:sp>
    </p:spTree>
    <p:extLst>
      <p:ext uri="{BB962C8B-B14F-4D97-AF65-F5344CB8AC3E}">
        <p14:creationId xmlns:p14="http://schemas.microsoft.com/office/powerpoint/2010/main" val="17024518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360BBD0-B2B7-80AA-870F-954DD41011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CB88AF-2280-BD60-7358-831D894FAC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6746" y="609600"/>
            <a:ext cx="4933222" cy="1320800"/>
          </a:xfrm>
        </p:spPr>
        <p:txBody>
          <a:bodyPr anchor="ctr">
            <a:normAutofit/>
          </a:bodyPr>
          <a:lstStyle/>
          <a:p>
            <a:r>
              <a:rPr lang="en-US" dirty="0"/>
              <a:t>Copy Number Variation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44B630E-8C41-9938-D628-65BEB0B2A20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5167" y="2160589"/>
            <a:ext cx="4094548" cy="3560733"/>
          </a:xfrm>
        </p:spPr>
        <p:txBody>
          <a:bodyPr>
            <a:normAutofit/>
          </a:bodyPr>
          <a:lstStyle/>
          <a:p>
            <a:r>
              <a:rPr lang="en-US" dirty="0"/>
              <a:t>Copy Number Variation (CNV) means a stretch of DNA where the number of copies differs from the normal two copies.</a:t>
            </a:r>
          </a:p>
          <a:p>
            <a:pPr lvl="1"/>
            <a:r>
              <a:rPr lang="en-US" dirty="0"/>
              <a:t>More copies → more RNA → more protein</a:t>
            </a:r>
          </a:p>
          <a:p>
            <a:pPr lvl="1"/>
            <a:r>
              <a:rPr lang="en-US" dirty="0"/>
              <a:t>Fewer copies → less protein</a:t>
            </a:r>
          </a:p>
          <a:p>
            <a:pPr lvl="1"/>
            <a:r>
              <a:rPr lang="en-US" dirty="0"/>
              <a:t>Example: Oncogene amplification → uncontrolled growth</a:t>
            </a:r>
          </a:p>
        </p:txBody>
      </p:sp>
      <p:pic>
        <p:nvPicPr>
          <p:cNvPr id="7170" name="Picture 2">
            <a:extLst>
              <a:ext uri="{FF2B5EF4-FFF2-40B4-BE49-F238E27FC236}">
                <a16:creationId xmlns:a16="http://schemas.microsoft.com/office/drawing/2014/main" id="{E4130CF6-AF74-5B95-0376-BB85A520E678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5241932" y="2029744"/>
            <a:ext cx="3873956" cy="369157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55519869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40DEE1-3022-1B41-6440-60873CEF35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l" defTabSz="457200" rtl="0" eaLnBrk="1" latinLnBrk="0" hangingPunct="1">
              <a:spcBef>
                <a:spcPct val="0"/>
              </a:spcBef>
              <a:buNone/>
            </a:pPr>
            <a:r>
              <a:rPr lang="en-US" dirty="0"/>
              <a:t>TP53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BE9FB2-3063-5974-A3B0-E1BBADD5446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77334" y="2160589"/>
            <a:ext cx="8596668" cy="4172478"/>
          </a:xfrm>
        </p:spPr>
        <p:txBody>
          <a:bodyPr>
            <a:normAutofit/>
          </a:bodyPr>
          <a:lstStyle/>
          <a:p>
            <a:r>
              <a:rPr lang="en-US" dirty="0"/>
              <a:t>TP53 acts as the cellular “superhero” responsible for maintaining genomic integrity. It functions as a stress sensor that responds to DNA damage.</a:t>
            </a:r>
          </a:p>
          <a:p>
            <a:r>
              <a:rPr lang="en-US" dirty="0"/>
              <a:t>When TP53 is functional, it induces DNA repairs or apoptosis. When broken, errors accumulate.</a:t>
            </a:r>
          </a:p>
          <a:p>
            <a:r>
              <a:rPr lang="en-US" dirty="0"/>
              <a:t>TP53 mutations are not binary, and they exist on a spectrum of phenotypic impact.</a:t>
            </a:r>
          </a:p>
        </p:txBody>
      </p:sp>
    </p:spTree>
    <p:extLst>
      <p:ext uri="{BB962C8B-B14F-4D97-AF65-F5344CB8AC3E}">
        <p14:creationId xmlns:p14="http://schemas.microsoft.com/office/powerpoint/2010/main" val="115116570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22" name="Picture 2" descr="Figure 1">
            <a:extLst>
              <a:ext uri="{FF2B5EF4-FFF2-40B4-BE49-F238E27FC236}">
                <a16:creationId xmlns:a16="http://schemas.microsoft.com/office/drawing/2014/main" id="{0775CCFE-6ABA-9C5D-4B41-36BCE2EF65E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02648" y="1066323"/>
            <a:ext cx="8325623" cy="472535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0246961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603AE127-802C-459A-A612-DB85B67F0DC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D08F8A75-3D0E-FBA7-C9A9-52E29C13E2B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950" y="1179151"/>
            <a:ext cx="3300646" cy="4463889"/>
          </a:xfrm>
        </p:spPr>
        <p:txBody>
          <a:bodyPr anchor="ctr">
            <a:normAutofit/>
          </a:bodyPr>
          <a:lstStyle/>
          <a:p>
            <a:r>
              <a:rPr lang="en-IL" dirty="0"/>
              <a:t>Hypothesis</a:t>
            </a:r>
          </a:p>
        </p:txBody>
      </p:sp>
      <p:sp>
        <p:nvSpPr>
          <p:cNvPr id="10" name="Isosceles Triangle 9">
            <a:extLst>
              <a:ext uri="{FF2B5EF4-FFF2-40B4-BE49-F238E27FC236}">
                <a16:creationId xmlns:a16="http://schemas.microsoft.com/office/drawing/2014/main" id="{9323D83D-50D6-4040-A58B-FCEA340F886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cxnSp>
        <p:nvCxnSpPr>
          <p:cNvPr id="12" name="Straight Connector 11">
            <a:extLst>
              <a:ext uri="{FF2B5EF4-FFF2-40B4-BE49-F238E27FC236}">
                <a16:creationId xmlns:a16="http://schemas.microsoft.com/office/drawing/2014/main" id="{1A1FE6BB-DFB2-4080-9B5E-076EF5DDE6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4656670" y="1442595"/>
            <a:ext cx="0" cy="393700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371DA-6225-3ED0-31FB-0CFC1E1B107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78918" y="1109145"/>
            <a:ext cx="6341016" cy="4603900"/>
          </a:xfrm>
        </p:spPr>
        <p:txBody>
          <a:bodyPr anchor="ctr">
            <a:normAutofit/>
          </a:bodyPr>
          <a:lstStyle/>
          <a:p>
            <a:pPr marL="0" indent="0">
              <a:buNone/>
            </a:pPr>
            <a:r>
              <a:rPr lang="en-US" sz="2400" dirty="0"/>
              <a:t>Patients with TP53 mutations that have the lowest experimental function scores (EFS) will show the highest Fraction Genome Altered (FGA)</a:t>
            </a:r>
            <a:endParaRPr lang="en-IL" sz="2400" dirty="0"/>
          </a:p>
        </p:txBody>
      </p:sp>
      <p:sp>
        <p:nvSpPr>
          <p:cNvPr id="14" name="Isosceles Triangle 13">
            <a:extLst>
              <a:ext uri="{FF2B5EF4-FFF2-40B4-BE49-F238E27FC236}">
                <a16:creationId xmlns:a16="http://schemas.microsoft.com/office/drawing/2014/main" id="{F10FD715-4DCE-4779-B634-EC78315EA2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64139" y="0"/>
            <a:ext cx="842596" cy="4616289"/>
          </a:xfrm>
          <a:prstGeom prst="triangle">
            <a:avLst>
              <a:gd name="adj" fmla="val 100000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0F07FBC3-2453-3653-A154-2877713DE8F1}"/>
              </a:ext>
            </a:extLst>
          </p:cNvPr>
          <p:cNvSpPr txBox="1"/>
          <p:nvPr/>
        </p:nvSpPr>
        <p:spPr>
          <a:xfrm>
            <a:off x="242084" y="6223861"/>
            <a:ext cx="11707831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600" dirty="0"/>
              <a:t>Giacomelli, A.O., Yang, X., Lintner, R.E. </a:t>
            </a:r>
            <a:r>
              <a:rPr lang="en-US" sz="1600" i="1" dirty="0"/>
              <a:t>et al.</a:t>
            </a:r>
            <a:r>
              <a:rPr lang="en-US" sz="1600" dirty="0"/>
              <a:t> Mutational processes shape the landscape of </a:t>
            </a:r>
            <a:r>
              <a:rPr lang="en-US" sz="1600" i="1" dirty="0"/>
              <a:t>TP53</a:t>
            </a:r>
            <a:r>
              <a:rPr lang="en-US" sz="1600" dirty="0"/>
              <a:t> mutations in human cancer. </a:t>
            </a:r>
            <a:r>
              <a:rPr lang="en-US" sz="1600" i="1" dirty="0"/>
              <a:t>Nat Genet</a:t>
            </a:r>
            <a:r>
              <a:rPr lang="en-US" sz="1600" dirty="0"/>
              <a:t> 50, 1381–1387 (2018).</a:t>
            </a:r>
            <a:endParaRPr lang="en-IL" sz="1600" dirty="0"/>
          </a:p>
          <a:p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2634380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F2145CF-F406-C62F-1EA2-16BBFFB3F6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77333" y="609600"/>
            <a:ext cx="10464799" cy="1320800"/>
          </a:xfrm>
        </p:spPr>
        <p:txBody>
          <a:bodyPr/>
          <a:lstStyle/>
          <a:p>
            <a:r>
              <a:rPr lang="en-US" dirty="0"/>
              <a:t>Data Sources:</a:t>
            </a:r>
            <a:br>
              <a:rPr lang="en-US" dirty="0"/>
            </a:br>
            <a:r>
              <a:rPr lang="en-US" dirty="0"/>
              <a:t>Integrating Phenotype &amp; Genotype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99F0D49-4B98-0E15-3783-39D1FC84A22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853917" y="2160587"/>
            <a:ext cx="3981164" cy="388077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Dataset: p53 Functional Scores (Giacomelli et al., Nature Genetics, 2018)</a:t>
            </a:r>
          </a:p>
          <a:p>
            <a:r>
              <a:rPr lang="en-US" dirty="0"/>
              <a:t>Role: Provide experimental "fitness" scores for every possible TP53 mutation, </a:t>
            </a:r>
            <a:r>
              <a:rPr lang="en-US" u="sng" dirty="0"/>
              <a:t>the genotype</a:t>
            </a:r>
          </a:p>
          <a:p>
            <a:r>
              <a:rPr lang="en-US" dirty="0"/>
              <a:t>Metric: Experimental Functional Score (derived from cell line fitness screens) quantifies exactly how well each specific TP53 mutant can suppress tumor growth in a controlled lab setting.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A737EA20-7598-2587-1D50-A3812D722913}"/>
              </a:ext>
            </a:extLst>
          </p:cNvPr>
          <p:cNvSpPr txBox="1">
            <a:spLocks/>
          </p:cNvSpPr>
          <p:nvPr/>
        </p:nvSpPr>
        <p:spPr>
          <a:xfrm>
            <a:off x="677333" y="2160588"/>
            <a:ext cx="382128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342900" indent="-3429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8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742950" indent="-28575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6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4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457200" rtl="0" eaLnBrk="1" latinLnBrk="0" hangingPunct="1">
              <a:spcBef>
                <a:spcPts val="1000"/>
              </a:spcBef>
              <a:spcAft>
                <a:spcPts val="0"/>
              </a:spcAft>
              <a:buClr>
                <a:schemeClr val="accent1"/>
              </a:buClr>
              <a:buSzPct val="80000"/>
              <a:buFont typeface="Wingdings 3" charset="2"/>
              <a:buChar char=""/>
              <a:defRPr sz="1200" kern="1200">
                <a:solidFill>
                  <a:schemeClr val="tx1">
                    <a:lumMod val="75000"/>
                    <a:lumOff val="25000"/>
                  </a:schemeClr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Dataset: AACR GENIE v19.0 (~200,000 samples).</a:t>
            </a:r>
          </a:p>
          <a:p>
            <a:r>
              <a:rPr lang="en-US" dirty="0"/>
              <a:t>Role: Provides the Real-world Patient Data, </a:t>
            </a:r>
            <a:r>
              <a:rPr lang="en-US" u="sng" dirty="0"/>
              <a:t>the phenotype</a:t>
            </a:r>
          </a:p>
          <a:p>
            <a:r>
              <a:rPr lang="en-US" dirty="0"/>
              <a:t>Metric: FRACTION_GENOME_ALTERED (FGA), a quantitative measure of chromosomal instability in the patient's tumor.</a:t>
            </a:r>
          </a:p>
        </p:txBody>
      </p:sp>
    </p:spTree>
    <p:extLst>
      <p:ext uri="{BB962C8B-B14F-4D97-AF65-F5344CB8AC3E}">
        <p14:creationId xmlns:p14="http://schemas.microsoft.com/office/powerpoint/2010/main" val="1798513463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E5C0EC-70F3-B456-B4F2-CBEC1247D0A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Problem &amp; The Gap</a:t>
            </a:r>
            <a:endParaRPr lang="en-IL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58906F-69D8-F455-7C7C-8E739EA2A29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We know TP53 mutations generally lead to higher CNV burden.</a:t>
            </a:r>
          </a:p>
          <a:p>
            <a:r>
              <a:rPr lang="en-US" dirty="0"/>
              <a:t>The Missing Link: Not all TP53 mutations are the same.</a:t>
            </a:r>
          </a:p>
          <a:p>
            <a:pPr lvl="1"/>
            <a:r>
              <a:rPr lang="en-US" dirty="0"/>
              <a:t>Some are null (total loss).</a:t>
            </a:r>
          </a:p>
          <a:p>
            <a:pPr lvl="1"/>
            <a:r>
              <a:rPr lang="en-US" dirty="0"/>
              <a:t>Some are hypo-morphic (partial loss).</a:t>
            </a:r>
          </a:p>
          <a:p>
            <a:pPr lvl="1"/>
            <a:r>
              <a:rPr lang="en-US" dirty="0"/>
              <a:t>Some are gain-of-function (new, negative behavior).</a:t>
            </a:r>
          </a:p>
          <a:p>
            <a:r>
              <a:rPr lang="en-US" dirty="0"/>
              <a:t>The Question: Does the specific severity of the TP53 mutation (determined experimentally) correlate with the amount of genomic instability seen in actual patients?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33561133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EE98ABE-CF8B-D69D-E84E-44B2D17D2AA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US" dirty="0"/>
              <a:t>Research Questions</a:t>
            </a:r>
            <a:endParaRPr lang="en-IL" dirty="0"/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graphicFrame>
        <p:nvGraphicFramePr>
          <p:cNvPr id="14" name="Content Placeholder 2">
            <a:extLst>
              <a:ext uri="{FF2B5EF4-FFF2-40B4-BE49-F238E27FC236}">
                <a16:creationId xmlns:a16="http://schemas.microsoft.com/office/drawing/2014/main" id="{3D6605E1-D9B9-4C0E-8948-1BDE3BBABAE1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74846308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81758891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8" name="Rectangle 17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0F62D4C-9EED-24E3-E334-138F3ADF5C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L"/>
              <a:t>Analysis Plan and Methodology</a:t>
            </a:r>
            <a:endParaRPr lang="en-IL" dirty="0"/>
          </a:p>
        </p:txBody>
      </p:sp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2" name="Isosceles Triangle 21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526B60E3-6E24-B81A-850E-0F1C7AB6A57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23480329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21306807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5B71F80-1F92-4074-84D9-16A062B215B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E766A38-9537-573E-74A5-563F0127BC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86933" y="609600"/>
            <a:ext cx="10197494" cy="1099457"/>
          </a:xfrm>
        </p:spPr>
        <p:txBody>
          <a:bodyPr>
            <a:normAutofit/>
          </a:bodyPr>
          <a:lstStyle/>
          <a:p>
            <a:r>
              <a:rPr lang="en-IL" dirty="0"/>
              <a:t>Expected Results</a:t>
            </a:r>
          </a:p>
        </p:txBody>
      </p:sp>
      <p:sp>
        <p:nvSpPr>
          <p:cNvPr id="11" name="Isosceles Triangle 10">
            <a:extLst>
              <a:ext uri="{FF2B5EF4-FFF2-40B4-BE49-F238E27FC236}">
                <a16:creationId xmlns:a16="http://schemas.microsoft.com/office/drawing/2014/main" id="{7209C9DA-6E0D-46D9-8275-C52222D8CC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>
            <a:off x="0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3EB57A4D-E0D0-46DA-B339-F24CA46FA70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11743267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87694082-09B8-4C11-8ECB-872C6A169AD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8182357"/>
              </p:ext>
            </p:extLst>
          </p:nvPr>
        </p:nvGraphicFramePr>
        <p:xfrm>
          <a:off x="1286933" y="1948543"/>
          <a:ext cx="9618133" cy="4093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3203610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2" name="Group 31">
            <a:extLst>
              <a:ext uri="{FF2B5EF4-FFF2-40B4-BE49-F238E27FC236}">
                <a16:creationId xmlns:a16="http://schemas.microsoft.com/office/drawing/2014/main" id="{76582886-877C-4AEC-A77F-8055EB9A0CF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33" name="Freeform 14">
              <a:extLst>
                <a:ext uri="{FF2B5EF4-FFF2-40B4-BE49-F238E27FC236}">
                  <a16:creationId xmlns:a16="http://schemas.microsoft.com/office/drawing/2014/main" id="{171A838D-27EA-485C-9A80-DCE624AB30B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cxnSp>
          <p:nvCxnSpPr>
            <p:cNvPr id="9" name="Straight Connector 8">
              <a:extLst>
                <a:ext uri="{FF2B5EF4-FFF2-40B4-BE49-F238E27FC236}">
                  <a16:creationId xmlns:a16="http://schemas.microsoft.com/office/drawing/2014/main" id="{9059F313-A1BB-425E-9626-2BD43CAC648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>
              <a:extLst>
                <a:ext uri="{FF2B5EF4-FFF2-40B4-BE49-F238E27FC236}">
                  <a16:creationId xmlns:a16="http://schemas.microsoft.com/office/drawing/2014/main" id="{19ABF76A-A1AE-44BB-9ECB-D55D2FE29BF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Cxn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4" name="Rectangle 23">
              <a:extLst>
                <a:ext uri="{FF2B5EF4-FFF2-40B4-BE49-F238E27FC236}">
                  <a16:creationId xmlns:a16="http://schemas.microsoft.com/office/drawing/2014/main" id="{5B6D2EC4-82D3-43B8-82D6-028CB4345618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35" name="Rectangle 25">
              <a:extLst>
                <a:ext uri="{FF2B5EF4-FFF2-40B4-BE49-F238E27FC236}">
                  <a16:creationId xmlns:a16="http://schemas.microsoft.com/office/drawing/2014/main" id="{520034CE-71F9-4E0F-94D8-99335CB8526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36" name="Isosceles Triangle 12">
              <a:extLst>
                <a:ext uri="{FF2B5EF4-FFF2-40B4-BE49-F238E27FC236}">
                  <a16:creationId xmlns:a16="http://schemas.microsoft.com/office/drawing/2014/main" id="{1926C6C0-16F7-4CDC-B481-2D19B2F3BF0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37" name="Rectangle 27">
              <a:extLst>
                <a:ext uri="{FF2B5EF4-FFF2-40B4-BE49-F238E27FC236}">
                  <a16:creationId xmlns:a16="http://schemas.microsoft.com/office/drawing/2014/main" id="{042CE423-CE6E-4EE9-91F2-3E40EFB40A35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38" name="Rectangle 28">
              <a:extLst>
                <a:ext uri="{FF2B5EF4-FFF2-40B4-BE49-F238E27FC236}">
                  <a16:creationId xmlns:a16="http://schemas.microsoft.com/office/drawing/2014/main" id="{699BB4BD-31D7-434C-A6DB-E2CF3ACF605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39" name="Rectangle 29">
              <a:extLst>
                <a:ext uri="{FF2B5EF4-FFF2-40B4-BE49-F238E27FC236}">
                  <a16:creationId xmlns:a16="http://schemas.microsoft.com/office/drawing/2014/main" id="{23D406B8-656A-4D8B-91D0-BF4202C86F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  <p:sp>
          <p:nvSpPr>
            <p:cNvPr id="40" name="Isosceles Triangle 16">
              <a:extLst>
                <a:ext uri="{FF2B5EF4-FFF2-40B4-BE49-F238E27FC236}">
                  <a16:creationId xmlns:a16="http://schemas.microsoft.com/office/drawing/2014/main" id="{83F4BFB6-D6B8-446C-8E17-3D54DCA9FF2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L"/>
            </a:p>
          </p:txBody>
        </p:sp>
      </p:grp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4F57DB1C-6494-4CC4-A5E8-93195756537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2" name="Isosceles Triangle 20">
            <a:extLst>
              <a:ext uri="{FF2B5EF4-FFF2-40B4-BE49-F238E27FC236}">
                <a16:creationId xmlns:a16="http://schemas.microsoft.com/office/drawing/2014/main" id="{FFFB778B-5206-4BB0-A468-327E7136765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4013200"/>
            <a:ext cx="448733" cy="2844800"/>
          </a:xfrm>
          <a:prstGeom prst="triangle">
            <a:avLst>
              <a:gd name="adj" fmla="val 0"/>
            </a:avLst>
          </a:prstGeom>
          <a:solidFill>
            <a:schemeClr val="accent1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E6C0471D-BE03-4D81-BDB5-D510BC0D8A7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753379" y="0"/>
            <a:ext cx="5438621" cy="6857999"/>
          </a:xfrm>
          <a:custGeom>
            <a:avLst/>
            <a:gdLst>
              <a:gd name="connsiteX0" fmla="*/ 0 w 5438621"/>
              <a:gd name="connsiteY0" fmla="*/ 0 h 6857999"/>
              <a:gd name="connsiteX1" fmla="*/ 573774 w 5438621"/>
              <a:gd name="connsiteY1" fmla="*/ 0 h 6857999"/>
              <a:gd name="connsiteX2" fmla="*/ 1182808 w 5438621"/>
              <a:gd name="connsiteY2" fmla="*/ 0 h 6857999"/>
              <a:gd name="connsiteX3" fmla="*/ 4537195 w 5438621"/>
              <a:gd name="connsiteY3" fmla="*/ 0 h 6857999"/>
              <a:gd name="connsiteX4" fmla="*/ 5187609 w 5438621"/>
              <a:gd name="connsiteY4" fmla="*/ 0 h 6857999"/>
              <a:gd name="connsiteX5" fmla="*/ 5438621 w 5438621"/>
              <a:gd name="connsiteY5" fmla="*/ 0 h 6857999"/>
              <a:gd name="connsiteX6" fmla="*/ 5438621 w 5438621"/>
              <a:gd name="connsiteY6" fmla="*/ 6857999 h 6857999"/>
              <a:gd name="connsiteX7" fmla="*/ 4802807 w 5438621"/>
              <a:gd name="connsiteY7" fmla="*/ 6857999 h 6857999"/>
              <a:gd name="connsiteX8" fmla="*/ 4537195 w 5438621"/>
              <a:gd name="connsiteY8" fmla="*/ 6857999 h 6857999"/>
              <a:gd name="connsiteX9" fmla="*/ 1182808 w 5438621"/>
              <a:gd name="connsiteY9" fmla="*/ 6857999 h 6857999"/>
              <a:gd name="connsiteX10" fmla="*/ 1049897 w 5438621"/>
              <a:gd name="connsiteY10" fmla="*/ 6857999 h 685799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5438621" h="6857999">
                <a:moveTo>
                  <a:pt x="0" y="0"/>
                </a:moveTo>
                <a:lnTo>
                  <a:pt x="573774" y="0"/>
                </a:lnTo>
                <a:lnTo>
                  <a:pt x="1182808" y="0"/>
                </a:lnTo>
                <a:lnTo>
                  <a:pt x="4537195" y="0"/>
                </a:lnTo>
                <a:lnTo>
                  <a:pt x="5187609" y="0"/>
                </a:lnTo>
                <a:lnTo>
                  <a:pt x="5438621" y="0"/>
                </a:lnTo>
                <a:lnTo>
                  <a:pt x="5438621" y="6857999"/>
                </a:lnTo>
                <a:lnTo>
                  <a:pt x="4802807" y="6857999"/>
                </a:lnTo>
                <a:lnTo>
                  <a:pt x="4537195" y="6857999"/>
                </a:lnTo>
                <a:lnTo>
                  <a:pt x="1182808" y="6857999"/>
                </a:lnTo>
                <a:lnTo>
                  <a:pt x="1049897" y="6857999"/>
                </a:lnTo>
                <a:close/>
              </a:path>
            </a:pathLst>
          </a:custGeom>
          <a:solidFill>
            <a:schemeClr val="accent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43" name="Straight Connector 42">
            <a:extLst>
              <a:ext uri="{FF2B5EF4-FFF2-40B4-BE49-F238E27FC236}">
                <a16:creationId xmlns:a16="http://schemas.microsoft.com/office/drawing/2014/main" id="{22721A85-1EA4-4D87-97AB-0BB4AB78F92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6678143" y="0"/>
            <a:ext cx="860630" cy="6857999"/>
          </a:xfrm>
          <a:prstGeom prst="line">
            <a:avLst/>
          </a:prstGeom>
          <a:ln w="15875" cap="sq">
            <a:solidFill>
              <a:schemeClr val="accent1"/>
            </a:solidFill>
            <a:bevel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>
            <a:extLst>
              <a:ext uri="{FF2B5EF4-FFF2-40B4-BE49-F238E27FC236}">
                <a16:creationId xmlns:a16="http://schemas.microsoft.com/office/drawing/2014/main" id="{E5E836EB-03CD-4BA5-A751-21D2ACC283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453743" y="3483429"/>
            <a:ext cx="6738258" cy="3374570"/>
          </a:xfrm>
          <a:prstGeom prst="line">
            <a:avLst/>
          </a:prstGeom>
          <a:ln w="9525">
            <a:solidFill>
              <a:schemeClr val="accent1">
                <a:lumMod val="60000"/>
                <a:lumOff val="40000"/>
                <a:alpha val="8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Isosceles Triangle 28">
            <a:extLst>
              <a:ext uri="{FF2B5EF4-FFF2-40B4-BE49-F238E27FC236}">
                <a16:creationId xmlns:a16="http://schemas.microsoft.com/office/drawing/2014/main" id="{A27691EB-14CF-4237-B5EB-C94B92677A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11349404" y="0"/>
            <a:ext cx="842596" cy="5666154"/>
          </a:xfrm>
          <a:prstGeom prst="triangle">
            <a:avLst>
              <a:gd name="adj" fmla="val 100000"/>
            </a:avLst>
          </a:prstGeom>
          <a:solidFill>
            <a:schemeClr val="accent2">
              <a:alpha val="85000"/>
            </a:scheme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L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DA04F75-1A81-46B1-1A3C-E7A3D4FB7E4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73133" y="1466092"/>
            <a:ext cx="4372239" cy="3925815"/>
          </a:xfrm>
        </p:spPr>
        <p:txBody>
          <a:bodyPr vert="horz" lIns="91440" tIns="45720" rIns="91440" bIns="45720" rtlCol="0" anchor="ctr">
            <a:normAutofit/>
          </a:bodyPr>
          <a:lstStyle/>
          <a:p>
            <a:pPr algn="r"/>
            <a:r>
              <a:rPr lang="en-US" sz="6000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2411909257"/>
      </p:ext>
    </p:extLst>
  </p:cSld>
  <p:clrMapOvr>
    <a:masterClrMapping/>
  </p:clrMapOvr>
</p:sld>
</file>

<file path=ppt/theme/theme1.xml><?xml version="1.0" encoding="utf-8"?>
<a:theme xmlns:a="http://schemas.openxmlformats.org/drawingml/2006/main" name="Facet">
  <a:themeElements>
    <a:clrScheme name="Blue Green">
      <a:dk1>
        <a:sysClr val="windowText" lastClr="000000"/>
      </a:dk1>
      <a:lt1>
        <a:sysClr val="window" lastClr="FFFFFF"/>
      </a:lt1>
      <a:dk2>
        <a:srgbClr val="373545"/>
      </a:dk2>
      <a:lt2>
        <a:srgbClr val="CEDBE6"/>
      </a:lt2>
      <a:accent1>
        <a:srgbClr val="3494BA"/>
      </a:accent1>
      <a:accent2>
        <a:srgbClr val="58B6C0"/>
      </a:accent2>
      <a:accent3>
        <a:srgbClr val="75BDA7"/>
      </a:accent3>
      <a:accent4>
        <a:srgbClr val="7A8C8E"/>
      </a:accent4>
      <a:accent5>
        <a:srgbClr val="84ACB6"/>
      </a:accent5>
      <a:accent6>
        <a:srgbClr val="2683C6"/>
      </a:accent6>
      <a:hlink>
        <a:srgbClr val="6B9F25"/>
      </a:hlink>
      <a:folHlink>
        <a:srgbClr val="9F6715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2222</TotalTime>
  <Words>993</Words>
  <Application>Microsoft Macintosh PowerPoint</Application>
  <PresentationFormat>Widescreen</PresentationFormat>
  <Paragraphs>76</Paragraphs>
  <Slides>11</Slides>
  <Notes>10</Notes>
  <HiddenSlides>1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6" baseType="lpstr">
      <vt:lpstr>Aptos</vt:lpstr>
      <vt:lpstr>Arial</vt:lpstr>
      <vt:lpstr>Trebuchet MS</vt:lpstr>
      <vt:lpstr>Wingdings 3</vt:lpstr>
      <vt:lpstr>Facet</vt:lpstr>
      <vt:lpstr>TP53 mutations that are associated with an increased Copy Number Variation</vt:lpstr>
      <vt:lpstr>Copy Number Variation</vt:lpstr>
      <vt:lpstr>TP53</vt:lpstr>
      <vt:lpstr>PowerPoint Presentation</vt:lpstr>
      <vt:lpstr>Hypothesis</vt:lpstr>
      <vt:lpstr>Data Sources: Integrating Phenotype &amp; Genotype</vt:lpstr>
      <vt:lpstr>The Problem &amp; The Gap</vt:lpstr>
      <vt:lpstr>Research Questions</vt:lpstr>
      <vt:lpstr>Analysis Plan and Methodology</vt:lpstr>
      <vt:lpstr>Expected Results</vt:lpstr>
      <vt:lpstr>Thank You!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Ornit Bhonkar</dc:creator>
  <cp:lastModifiedBy>Ornit Bhonkar</cp:lastModifiedBy>
  <cp:revision>144</cp:revision>
  <dcterms:created xsi:type="dcterms:W3CDTF">2026-01-27T21:31:11Z</dcterms:created>
  <dcterms:modified xsi:type="dcterms:W3CDTF">2026-01-29T10:33:29Z</dcterms:modified>
</cp:coreProperties>
</file>