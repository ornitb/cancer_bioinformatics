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4"/>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75" r:id="rId15"/>
    <p:sldId id="368" r:id="rId16"/>
    <p:sldId id="374" r:id="rId17"/>
    <p:sldId id="369" r:id="rId18"/>
    <p:sldId id="365" r:id="rId19"/>
    <p:sldId id="370" r:id="rId20"/>
    <p:sldId id="371" r:id="rId21"/>
    <p:sldId id="372" r:id="rId22"/>
    <p:sldId id="3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3063"/>
    <a:srgbClr val="96A0A7"/>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87906"/>
  </p:normalViewPr>
  <p:slideViewPr>
    <p:cSldViewPr snapToGrid="0">
      <p:cViewPr varScale="1">
        <p:scale>
          <a:sx n="120" d="100"/>
          <a:sy n="120" d="100"/>
        </p:scale>
        <p:origin x="208" y="2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18/03/2026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קצר: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או מבקר את התהליכים האלו. מוטציות ב-</a:t>
            </a:r>
            <a:r>
              <a:rPr lang="en-US" dirty="0"/>
              <a:t>TP53</a:t>
            </a:r>
            <a:r>
              <a:rPr lang="he-IL" dirty="0"/>
              <a:t> יכולות להשפיע על המסלולים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אחת ההשערות שלי היא ש-</a:t>
            </a:r>
            <a:r>
              <a:rPr lang="en-US" dirty="0"/>
              <a:t>TP53</a:t>
            </a:r>
            <a:r>
              <a:rPr lang="he-IL" dirty="0"/>
              <a:t> פגום יכול להוביל ל-</a:t>
            </a:r>
            <a:r>
              <a:rPr lang="en-US" dirty="0"/>
              <a:t>Copy number variation</a:t>
            </a:r>
            <a:r>
              <a:rPr lang="he-IL" dirty="0"/>
              <a:t> וכתוצאה מכך לכאוס </a:t>
            </a:r>
            <a:r>
              <a:rPr lang="he-IL" dirty="0" err="1"/>
              <a:t>גנומי</a:t>
            </a:r>
            <a:r>
              <a:rPr lang="he-IL" dirty="0"/>
              <a:t>.</a:t>
            </a: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a:t>
            </a:r>
            <a:endParaRPr lang="en-US" dirty="0"/>
          </a:p>
          <a:p>
            <a:pPr marL="0" marR="0" lvl="0" indent="0" algn="r" defTabSz="914400" rtl="1"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FGA = (number of base pairs with copy number gain or loss) / (total base pairs profiled)</a:t>
            </a:r>
          </a:p>
          <a:p>
            <a:pPr algn="r" rtl="1"/>
            <a:r>
              <a:rPr lang="en-US" dirty="0"/>
              <a:t>FGA</a:t>
            </a:r>
            <a:r>
              <a:rPr lang="he-IL" dirty="0"/>
              <a:t> בודק מה הגודל של ה-</a:t>
            </a:r>
            <a:r>
              <a:rPr lang="en-US" dirty="0"/>
              <a:t>fraction</a:t>
            </a:r>
            <a:r>
              <a:rPr lang="he-IL" dirty="0"/>
              <a:t> מהגנום שיש לו </a:t>
            </a:r>
            <a:r>
              <a:rPr lang="en-US" dirty="0"/>
              <a:t>CNV</a:t>
            </a:r>
            <a:r>
              <a:rPr lang="he-IL" dirty="0"/>
              <a:t>.</a:t>
            </a:r>
          </a:p>
          <a:p>
            <a:pPr algn="r" rtl="1"/>
            <a:r>
              <a:rPr lang="en-US" dirty="0"/>
              <a:t>CNV</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a:p>
            <a:pPr marL="0" marR="0" lvl="0" indent="0" algn="r" defTabSz="914400" rtl="1"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dirty="0"/>
              <a:t>כדי למדוד כמה כל מוטציה ב-</a:t>
            </a:r>
            <a:r>
              <a:rPr lang="en-US" dirty="0"/>
              <a:t>TP53 </a:t>
            </a:r>
            <a:r>
              <a:rPr lang="he-IL" dirty="0"/>
              <a:t>באמת פוגעת בתפקוד החלבון, השתמשתי בנתונים שלהם מניסוי </a:t>
            </a:r>
            <a:r>
              <a:rPr lang="he-IL" dirty="0" err="1"/>
              <a:t>קריספר</a:t>
            </a:r>
            <a:r>
              <a:rPr lang="he-IL" dirty="0"/>
              <a:t> שהם עשו, שבדק ניסויית למעלה מ-8,000 וריאנטים שונים של </a:t>
            </a:r>
            <a:r>
              <a:rPr lang="en-US" dirty="0"/>
              <a:t>TP53.</a:t>
            </a:r>
            <a:br>
              <a:rPr lang="en-US" dirty="0"/>
            </a:br>
            <a:r>
              <a:rPr lang="he-IL" dirty="0"/>
              <a:t>הרעיון פשוט: הכניסו כל וריאנט לתאי סרטן ריאה, חלק עם </a:t>
            </a:r>
            <a:r>
              <a:rPr lang="en-US" dirty="0"/>
              <a:t>p53 </a:t>
            </a:r>
            <a:r>
              <a:rPr lang="he-IL" dirty="0"/>
              <a:t> תקין, וחלק ללא</a:t>
            </a:r>
            <a:r>
              <a:rPr lang="en-US" dirty="0"/>
              <a:t> p53 </a:t>
            </a:r>
            <a:r>
              <a:rPr lang="he-IL" dirty="0"/>
              <a:t>בכלל, ואז חשפו אותם לתרופות שמפעילות את הביטוי של </a:t>
            </a:r>
            <a:r>
              <a:rPr lang="he-IL" dirty="0" err="1"/>
              <a:t>p</a:t>
            </a:r>
            <a:r>
              <a:rPr lang="en-US" dirty="0"/>
              <a:t>53</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וריאנטים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נתנו ציון לכל אחד </a:t>
            </a:r>
            <a:r>
              <a:rPr lang="he-IL" dirty="0" err="1"/>
              <a:t>מהוריאנטים</a:t>
            </a:r>
            <a:r>
              <a:rPr lang="he-IL" dirty="0"/>
              <a:t>, אם וריאנט מתנהג כמו </a:t>
            </a:r>
            <a:r>
              <a:rPr lang="en-US" dirty="0"/>
              <a:t>p53</a:t>
            </a:r>
            <a:r>
              <a:rPr lang="he-IL" dirty="0"/>
              <a:t>, או כאילו הוא לא נמצא, או משהו באמצע. מהשילוב של שלושת המדידות האלה קיבלנו מספר יחיד, שזה ה-</a:t>
            </a:r>
            <a:r>
              <a:rPr lang="en-US" dirty="0"/>
              <a:t>Experimental Functional Score</a:t>
            </a:r>
            <a:r>
              <a:rPr lang="he-IL" dirty="0"/>
              <a:t> שהשתמשתי בו, שאומר לנו כמה וריאנט של </a:t>
            </a:r>
            <a:r>
              <a:rPr lang="en-US" dirty="0"/>
              <a:t>p53</a:t>
            </a:r>
            <a:r>
              <a:rPr lang="he-IL" dirty="0"/>
              <a:t> הוא פעיל. ציון נמוך משמע אובדן תפקוד, ציון גבוה = התנהגות דומה ל-</a:t>
            </a:r>
            <a:r>
              <a:rPr lang="en-US" dirty="0"/>
              <a:t>p53</a:t>
            </a:r>
            <a:r>
              <a:rPr lang="he-IL" dirty="0"/>
              <a:t> תקין. הערכים הם </a:t>
            </a:r>
            <a:r>
              <a:rPr lang="en-US" dirty="0"/>
              <a:t>z-score</a:t>
            </a:r>
            <a:r>
              <a:rPr lang="he-IL" dirty="0"/>
              <a:t>, אז הם יכולים להיות שליליים או חיוביים. אם הערך שלילי מאוד, המוטציה שוברת את </a:t>
            </a:r>
            <a:r>
              <a:rPr lang="en-US" dirty="0"/>
              <a:t>p53</a:t>
            </a:r>
            <a:r>
              <a:rPr lang="he-IL" dirty="0"/>
              <a:t>, אם הוא קרוב ל-0, המוטציה משפיעה הרבה ואם הציון הוא חיובי, הוא דומה ל-</a:t>
            </a:r>
            <a:r>
              <a:rPr lang="en-US" dirty="0"/>
              <a:t>WT</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a:t>
            </a:r>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כאוס </a:t>
            </a:r>
            <a:r>
              <a:rPr lang="he-IL" sz="1200" b="0" i="0" kern="1200" dirty="0" err="1">
                <a:solidFill>
                  <a:schemeClr val="tx1"/>
                </a:solidFill>
                <a:effectLst/>
                <a:latin typeface="+mn-lt"/>
                <a:ea typeface="+mn-ea"/>
                <a:cs typeface="+mn-cs"/>
              </a:rPr>
              <a:t>גנומי</a:t>
            </a:r>
            <a:r>
              <a:rPr lang="he-IL" sz="1200" b="0" i="0" kern="1200" dirty="0">
                <a:solidFill>
                  <a:schemeClr val="tx1"/>
                </a:solidFill>
                <a:effectLst/>
                <a:latin typeface="+mn-lt"/>
                <a:ea typeface="+mn-ea"/>
                <a:cs typeface="+mn-cs"/>
              </a:rPr>
              <a:t>?</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יש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endParaRPr lang="en-US" dirty="0"/>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ששם הם מציינים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a:t>
            </a:r>
            <a:r>
              <a:rPr lang="he-IL" dirty="0" err="1"/>
              <a:t>מהה</a:t>
            </a:r>
            <a:r>
              <a:rPr lang="he-IL" dirty="0"/>
              <a:t>-</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pPr marL="0" algn="r" defTabSz="914400" rtl="1" eaLnBrk="1" latinLnBrk="0" hangingPunct="1"/>
            <a:r>
              <a:rPr lang="he-IL" dirty="0"/>
              <a:t>פה עברנו כבר לאנליזה המשנית, רציתי לבדוק באופן ספציפי אילו גנים נמחקים הכי הרבה ואילו גנים מוגברים הכי הרבה.</a:t>
            </a:r>
            <a:endParaRPr lang="en-US" dirty="0"/>
          </a:p>
          <a:p>
            <a:pPr marL="0" algn="r" defTabSz="914400" rtl="1" eaLnBrk="1" latinLnBrk="0" hangingPunct="1"/>
            <a:r>
              <a:rPr lang="he-IL" dirty="0"/>
              <a:t>לקחתי את </a:t>
            </a:r>
            <a:r>
              <a:rPr lang="he-IL" dirty="0" err="1"/>
              <a:t>הסאמפלים</a:t>
            </a:r>
            <a:r>
              <a:rPr lang="he-IL" dirty="0"/>
              <a:t> המוטנטים עם ה-</a:t>
            </a:r>
            <a:r>
              <a:rPr lang="en-US" dirty="0"/>
              <a:t>FGA</a:t>
            </a:r>
            <a:r>
              <a:rPr lang="he-IL" dirty="0"/>
              <a:t> הכי גבוה </a:t>
            </a:r>
            <a:r>
              <a:rPr lang="he-IL" dirty="0" err="1"/>
              <a:t>וסאמפלים</a:t>
            </a:r>
            <a:r>
              <a:rPr lang="he-IL" dirty="0"/>
              <a:t> </a:t>
            </a:r>
            <a:r>
              <a:rPr lang="en-US" dirty="0"/>
              <a:t>WT</a:t>
            </a:r>
            <a:r>
              <a:rPr lang="he-IL" dirty="0"/>
              <a:t> עם </a:t>
            </a:r>
            <a:r>
              <a:rPr lang="en-US" dirty="0"/>
              <a:t>FGA</a:t>
            </a:r>
            <a:r>
              <a:rPr lang="he-IL" dirty="0"/>
              <a:t> נמוך, ובדקתי מה האחוז של </a:t>
            </a:r>
            <a:r>
              <a:rPr lang="he-IL" dirty="0" err="1"/>
              <a:t>הסאמפלים</a:t>
            </a:r>
            <a:r>
              <a:rPr lang="he-IL" dirty="0"/>
              <a:t> עם המוטציות ב-</a:t>
            </a:r>
            <a:r>
              <a:rPr lang="en-US" dirty="0"/>
              <a:t>TP53</a:t>
            </a:r>
            <a:r>
              <a:rPr lang="he-IL" dirty="0"/>
              <a:t> עם </a:t>
            </a:r>
            <a:r>
              <a:rPr lang="en-US" dirty="0"/>
              <a:t>FGA</a:t>
            </a:r>
            <a:r>
              <a:rPr lang="he-IL" dirty="0"/>
              <a:t> גבוה יש להם גן מסוים שהוא מוגבר או נמחק, פחות האחוז של הגידולים עם </a:t>
            </a:r>
            <a:r>
              <a:rPr lang="en-US" dirty="0"/>
              <a:t>TP53</a:t>
            </a:r>
            <a:r>
              <a:rPr lang="he-IL" dirty="0"/>
              <a:t> שהוא </a:t>
            </a:r>
            <a:r>
              <a:rPr lang="en-US" dirty="0"/>
              <a:t>WT</a:t>
            </a:r>
            <a:r>
              <a:rPr lang="he-IL" dirty="0"/>
              <a:t> עם </a:t>
            </a:r>
            <a:r>
              <a:rPr lang="en-US" dirty="0"/>
              <a:t>FGA</a:t>
            </a:r>
            <a:r>
              <a:rPr lang="he-IL" dirty="0"/>
              <a:t> נמוך (</a:t>
            </a:r>
            <a:r>
              <a:rPr lang="en-US" sz="1200" b="0" i="0" kern="1200" dirty="0" err="1">
                <a:solidFill>
                  <a:schemeClr val="tx1"/>
                </a:solidFill>
                <a:effectLst/>
                <a:latin typeface="+mn-lt"/>
                <a:ea typeface="+mn-ea"/>
                <a:cs typeface="+mn-cs"/>
              </a:rPr>
              <a:t>fisher_exact</a:t>
            </a:r>
            <a:r>
              <a:rPr lang="en-US" sz="1200" b="0" i="0" kern="1200" dirty="0">
                <a:solidFill>
                  <a:schemeClr val="tx1"/>
                </a:solidFill>
                <a:effectLst/>
                <a:latin typeface="+mn-lt"/>
                <a:ea typeface="+mn-ea"/>
                <a:cs typeface="+mn-cs"/>
              </a:rPr>
              <a:t> method</a:t>
            </a:r>
            <a:r>
              <a:rPr lang="he-IL" sz="1200" b="0" i="0" kern="1200" dirty="0">
                <a:solidFill>
                  <a:schemeClr val="tx1"/>
                </a:solidFill>
                <a:effectLst/>
                <a:latin typeface="+mn-lt"/>
                <a:ea typeface="+mn-ea"/>
                <a:cs typeface="+mn-cs"/>
              </a:rPr>
              <a:t>)</a:t>
            </a:r>
            <a:endParaRPr lang="en-US" dirty="0"/>
          </a:p>
          <a:p>
            <a:pPr marL="0" algn="r" defTabSz="914400" rtl="1" eaLnBrk="1" latinLnBrk="0" hangingPunct="1"/>
            <a:r>
              <a:rPr lang="he-IL" dirty="0"/>
              <a:t>רואים פה בבירור שיש כאן </a:t>
            </a:r>
            <a:r>
              <a:rPr lang="he-IL" dirty="0" err="1"/>
              <a:t>אונקוגנים</a:t>
            </a:r>
            <a:r>
              <a:rPr lang="he-IL" dirty="0"/>
              <a:t> קלאסיים כמו </a:t>
            </a:r>
            <a:r>
              <a:rPr lang="en-US" dirty="0"/>
              <a:t>MYC</a:t>
            </a:r>
            <a:r>
              <a:rPr lang="he-IL" dirty="0"/>
              <a:t> לצד </a:t>
            </a:r>
            <a:r>
              <a:rPr lang="he-IL" dirty="0" err="1"/>
              <a:t>טומר</a:t>
            </a:r>
            <a:r>
              <a:rPr lang="he-IL" dirty="0"/>
              <a:t> </a:t>
            </a:r>
            <a:r>
              <a:rPr lang="he-IL" dirty="0" err="1"/>
              <a:t>סופרסורים</a:t>
            </a:r>
            <a:r>
              <a:rPr lang="he-IL" dirty="0"/>
              <a:t> שנמחקים כמו </a:t>
            </a:r>
            <a:r>
              <a:rPr lang="en-US" dirty="0"/>
              <a:t>CDKN2A</a:t>
            </a:r>
            <a:r>
              <a:rPr lang="he-IL" dirty="0"/>
              <a:t> ו-</a:t>
            </a:r>
            <a:r>
              <a:rPr lang="en-US" dirty="0"/>
              <a:t>PTEN</a:t>
            </a:r>
            <a:r>
              <a:rPr lang="he-IL" dirty="0"/>
              <a:t> או גנים שמבקרים </a:t>
            </a:r>
            <a:r>
              <a:rPr lang="en-US" dirty="0"/>
              <a:t>cell cycle</a:t>
            </a:r>
            <a:r>
              <a:rPr lang="he-IL" dirty="0"/>
              <a:t> כמו </a:t>
            </a:r>
            <a:r>
              <a:rPr lang="en-US" dirty="0"/>
              <a:t>RB1</a:t>
            </a:r>
            <a:r>
              <a:rPr lang="he-IL" dirty="0"/>
              <a:t> ו-</a:t>
            </a:r>
            <a:r>
              <a:rPr lang="en-US" dirty="0"/>
              <a:t>CDKN2B</a:t>
            </a:r>
            <a:r>
              <a:rPr lang="he-IL" dirty="0"/>
              <a:t>.</a:t>
            </a:r>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pPr marL="0" algn="r" defTabSz="914400" rtl="1" eaLnBrk="1" latinLnBrk="0" hangingPunct="1"/>
            <a:r>
              <a:rPr lang="he-IL" dirty="0"/>
              <a:t>כאן בעזרת </a:t>
            </a:r>
            <a:r>
              <a:rPr lang="en-US" dirty="0" err="1"/>
              <a:t>gseapy</a:t>
            </a:r>
            <a:r>
              <a:rPr lang="he-IL" dirty="0"/>
              <a:t> בדקתי אילו מסלולים מוגברים כתוצאה מכאוס </a:t>
            </a:r>
            <a:r>
              <a:rPr lang="he-IL" dirty="0" err="1"/>
              <a:t>גנומי</a:t>
            </a:r>
            <a:r>
              <a:rPr lang="he-IL" dirty="0"/>
              <a:t>. ובהתאמה למה שראינו בשקופית הקודמת, אנחנו רואים </a:t>
            </a:r>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pPr marL="0" algn="r" defTabSz="914400" rtl="1" eaLnBrk="1" latinLnBrk="0" hangingPunct="1"/>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22</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3/18/26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3/18/26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3/18/26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3321651" y="4002227"/>
            <a:ext cx="5548698" cy="1384995"/>
          </a:xfrm>
          <a:prstGeom prst="rect">
            <a:avLst/>
          </a:prstGeom>
          <a:noFill/>
        </p:spPr>
        <p:txBody>
          <a:bodyPr wrap="none" rtlCol="0">
            <a:spAutoFit/>
          </a:bodyPr>
          <a:lstStyle/>
          <a:p>
            <a:pPr algn="ctr"/>
            <a:r>
              <a:rPr lang="en-IL" sz="2800" dirty="0">
                <a:solidFill>
                  <a:schemeClr val="bg1"/>
                </a:solidFill>
              </a:rPr>
              <a:t>Cancer Bioinformatics - Final Project</a:t>
            </a:r>
          </a:p>
          <a:p>
            <a:pPr algn="ctr"/>
            <a:r>
              <a:rPr lang="en-IL" sz="2800" dirty="0">
                <a:solidFill>
                  <a:schemeClr val="bg1"/>
                </a:solidFill>
              </a:rPr>
              <a:t>Ornit Bhonkar</a:t>
            </a:r>
          </a:p>
          <a:p>
            <a:pPr algn="ctr"/>
            <a:r>
              <a:rPr lang="en-IL" sz="28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69" y="2054792"/>
            <a:ext cx="5706109" cy="3560733"/>
          </a:xfrm>
        </p:spPr>
        <p:txBody>
          <a:bodyPr>
            <a:normAutofit/>
          </a:bodyPr>
          <a:lstStyle/>
          <a:p>
            <a:r>
              <a:rPr lang="en-US" sz="2400" dirty="0"/>
              <a:t>A stretch of DNA where the number of copies differs from the normal two copies.</a:t>
            </a:r>
          </a:p>
          <a:p>
            <a:pPr lvl="1"/>
            <a:r>
              <a:rPr lang="he-IL" sz="2000" dirty="0"/>
              <a:t>   </a:t>
            </a:r>
            <a:r>
              <a:rPr lang="en-US" sz="2000" dirty="0"/>
              <a:t>copies → </a:t>
            </a:r>
            <a:r>
              <a:rPr lang="he-IL" sz="2000" dirty="0"/>
              <a:t>   </a:t>
            </a:r>
            <a:r>
              <a:rPr lang="en-US" sz="2000" dirty="0"/>
              <a:t>RNA → </a:t>
            </a:r>
            <a:r>
              <a:rPr lang="he-IL" sz="2000" dirty="0"/>
              <a:t>   </a:t>
            </a:r>
            <a:r>
              <a:rPr lang="en-US" sz="2000" dirty="0"/>
              <a:t>protein</a:t>
            </a:r>
          </a:p>
          <a:p>
            <a:pPr lvl="1"/>
            <a:r>
              <a:rPr lang="he-IL" sz="2000" dirty="0"/>
              <a:t>   </a:t>
            </a:r>
            <a:r>
              <a:rPr lang="en-US" sz="2000" dirty="0"/>
              <a:t>copies → </a:t>
            </a:r>
            <a:r>
              <a:rPr lang="he-IL" sz="2000" dirty="0"/>
              <a:t> </a:t>
            </a:r>
            <a:r>
              <a:rPr lang="en-US" sz="2000" dirty="0"/>
              <a:t> </a:t>
            </a:r>
            <a:r>
              <a:rPr lang="he-IL" sz="2000" dirty="0"/>
              <a:t> </a:t>
            </a:r>
            <a:r>
              <a:rPr lang="en-US" sz="2000" dirty="0"/>
              <a:t>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0" name="TextBox 9">
            <a:extLst>
              <a:ext uri="{FF2B5EF4-FFF2-40B4-BE49-F238E27FC236}">
                <a16:creationId xmlns:a16="http://schemas.microsoft.com/office/drawing/2014/main" id="{3951447A-2D47-8269-33CF-EF6CBA2182A3}"/>
              </a:ext>
            </a:extLst>
          </p:cNvPr>
          <p:cNvSpPr txBox="1"/>
          <p:nvPr/>
        </p:nvSpPr>
        <p:spPr>
          <a:xfrm>
            <a:off x="1982916" y="5446207"/>
            <a:ext cx="4537570" cy="861774"/>
          </a:xfrm>
          <a:prstGeom prst="rect">
            <a:avLst/>
          </a:prstGeom>
          <a:noFill/>
        </p:spPr>
        <p:txBody>
          <a:bodyPr wrap="square" rtlCol="0">
            <a:spAutoFit/>
          </a:bodyPr>
          <a:lstStyle/>
          <a:p>
            <a:pPr algn="ctr"/>
            <a:r>
              <a:rPr lang="en-US" b="1" dirty="0"/>
              <a:t>(number of base pairs with</a:t>
            </a:r>
            <a:endParaRPr lang="he-IL" b="1" dirty="0"/>
          </a:p>
          <a:p>
            <a:pPr algn="ctr"/>
            <a:r>
              <a:rPr lang="en-US" b="1" dirty="0"/>
              <a:t>copy number gain or loss)</a:t>
            </a:r>
            <a:endParaRPr lang="en-US" dirty="0"/>
          </a:p>
          <a:p>
            <a:pPr algn="ctr"/>
            <a:r>
              <a:rPr lang="he-IL" sz="1200" dirty="0"/>
              <a:t>__________________________________________</a:t>
            </a:r>
            <a:endParaRPr lang="en-IL" sz="1200" dirty="0"/>
          </a:p>
        </p:txBody>
      </p:sp>
      <p:sp>
        <p:nvSpPr>
          <p:cNvPr id="15" name="TextBox 14">
            <a:extLst>
              <a:ext uri="{FF2B5EF4-FFF2-40B4-BE49-F238E27FC236}">
                <a16:creationId xmlns:a16="http://schemas.microsoft.com/office/drawing/2014/main" id="{A02A50E2-0749-D037-202D-B1C97392B1B0}"/>
              </a:ext>
            </a:extLst>
          </p:cNvPr>
          <p:cNvSpPr txBox="1"/>
          <p:nvPr/>
        </p:nvSpPr>
        <p:spPr>
          <a:xfrm>
            <a:off x="538717" y="5479150"/>
            <a:ext cx="1280293" cy="1200329"/>
          </a:xfrm>
          <a:prstGeom prst="rect">
            <a:avLst/>
          </a:prstGeom>
          <a:noFill/>
        </p:spPr>
        <p:txBody>
          <a:bodyPr wrap="square" rtlCol="0">
            <a:spAutoFit/>
          </a:bodyPr>
          <a:lstStyle/>
          <a:p>
            <a:pPr rtl="1"/>
            <a:r>
              <a:rPr lang="en-US" b="1" dirty="0">
                <a:solidFill>
                  <a:srgbClr val="FF0000"/>
                </a:solidFill>
              </a:rPr>
              <a:t>Fraction Genome Altered (FGA)</a:t>
            </a:r>
            <a:endParaRPr lang="en-IL" dirty="0"/>
          </a:p>
        </p:txBody>
      </p:sp>
      <p:sp>
        <p:nvSpPr>
          <p:cNvPr id="16" name="TextBox 15">
            <a:extLst>
              <a:ext uri="{FF2B5EF4-FFF2-40B4-BE49-F238E27FC236}">
                <a16:creationId xmlns:a16="http://schemas.microsoft.com/office/drawing/2014/main" id="{E9E03FD2-8AFA-095B-15B1-E939AF3DF244}"/>
              </a:ext>
            </a:extLst>
          </p:cNvPr>
          <p:cNvSpPr txBox="1"/>
          <p:nvPr/>
        </p:nvSpPr>
        <p:spPr>
          <a:xfrm>
            <a:off x="1816180" y="5894648"/>
            <a:ext cx="364202" cy="461665"/>
          </a:xfrm>
          <a:prstGeom prst="rect">
            <a:avLst/>
          </a:prstGeom>
          <a:noFill/>
        </p:spPr>
        <p:txBody>
          <a:bodyPr wrap="none" rtlCol="0">
            <a:spAutoFit/>
          </a:bodyPr>
          <a:lstStyle/>
          <a:p>
            <a:pPr marL="0" algn="r" defTabSz="457200" rtl="1" eaLnBrk="1" latinLnBrk="0" hangingPunct="1"/>
            <a:r>
              <a:rPr lang="he-IL" sz="2400" dirty="0"/>
              <a:t>=</a:t>
            </a:r>
            <a:endParaRPr lang="en-IL" sz="2400" dirty="0"/>
          </a:p>
        </p:txBody>
      </p:sp>
      <p:sp>
        <p:nvSpPr>
          <p:cNvPr id="17" name="TextBox 16">
            <a:extLst>
              <a:ext uri="{FF2B5EF4-FFF2-40B4-BE49-F238E27FC236}">
                <a16:creationId xmlns:a16="http://schemas.microsoft.com/office/drawing/2014/main" id="{7664A01E-F97B-1E8C-7323-7A19C70DF8C7}"/>
              </a:ext>
            </a:extLst>
          </p:cNvPr>
          <p:cNvSpPr txBox="1"/>
          <p:nvPr/>
        </p:nvSpPr>
        <p:spPr>
          <a:xfrm>
            <a:off x="2806914" y="6312380"/>
            <a:ext cx="2889574" cy="369332"/>
          </a:xfrm>
          <a:prstGeom prst="rect">
            <a:avLst/>
          </a:prstGeom>
          <a:noFill/>
        </p:spPr>
        <p:txBody>
          <a:bodyPr wrap="none" rtlCol="0">
            <a:spAutoFit/>
          </a:bodyPr>
          <a:lstStyle/>
          <a:p>
            <a:pPr algn="r" rtl="1"/>
            <a:r>
              <a:rPr lang="en-US" b="1" dirty="0"/>
              <a:t>(total base pairs profiled)</a:t>
            </a:r>
            <a:endParaRPr lang="en-IL" dirty="0"/>
          </a:p>
        </p:txBody>
      </p:sp>
      <p:sp>
        <p:nvSpPr>
          <p:cNvPr id="19" name="Down Arrow 18">
            <a:extLst>
              <a:ext uri="{FF2B5EF4-FFF2-40B4-BE49-F238E27FC236}">
                <a16:creationId xmlns:a16="http://schemas.microsoft.com/office/drawing/2014/main" id="{1615CDF4-29E7-1281-FF3C-8851781293A4}"/>
              </a:ext>
            </a:extLst>
          </p:cNvPr>
          <p:cNvSpPr/>
          <p:nvPr/>
        </p:nvSpPr>
        <p:spPr>
          <a:xfrm>
            <a:off x="1346792" y="4165688"/>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0" name="Down Arrow 19">
            <a:extLst>
              <a:ext uri="{FF2B5EF4-FFF2-40B4-BE49-F238E27FC236}">
                <a16:creationId xmlns:a16="http://schemas.microsoft.com/office/drawing/2014/main" id="{B652A589-60E1-219C-4767-B1457DE37F46}"/>
              </a:ext>
            </a:extLst>
          </p:cNvPr>
          <p:cNvSpPr/>
          <p:nvPr/>
        </p:nvSpPr>
        <p:spPr>
          <a:xfrm>
            <a:off x="2601353" y="4177036"/>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1" name="Down Arrow 20">
            <a:extLst>
              <a:ext uri="{FF2B5EF4-FFF2-40B4-BE49-F238E27FC236}">
                <a16:creationId xmlns:a16="http://schemas.microsoft.com/office/drawing/2014/main" id="{B837372D-F0E1-DD72-35FE-69007F005E83}"/>
              </a:ext>
            </a:extLst>
          </p:cNvPr>
          <p:cNvSpPr/>
          <p:nvPr/>
        </p:nvSpPr>
        <p:spPr>
          <a:xfrm rot="10800000">
            <a:off x="1346791"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2" name="Down Arrow 21">
            <a:extLst>
              <a:ext uri="{FF2B5EF4-FFF2-40B4-BE49-F238E27FC236}">
                <a16:creationId xmlns:a16="http://schemas.microsoft.com/office/drawing/2014/main" id="{EBBC11A4-FD48-A96F-CA7C-93D4B47CF5A8}"/>
              </a:ext>
            </a:extLst>
          </p:cNvPr>
          <p:cNvSpPr/>
          <p:nvPr/>
        </p:nvSpPr>
        <p:spPr>
          <a:xfrm rot="10800000">
            <a:off x="2601353" y="369424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3" name="Down Arrow 22">
            <a:extLst>
              <a:ext uri="{FF2B5EF4-FFF2-40B4-BE49-F238E27FC236}">
                <a16:creationId xmlns:a16="http://schemas.microsoft.com/office/drawing/2014/main" id="{0A19F019-0476-9785-84CC-F0FF1420E352}"/>
              </a:ext>
            </a:extLst>
          </p:cNvPr>
          <p:cNvSpPr/>
          <p:nvPr/>
        </p:nvSpPr>
        <p:spPr>
          <a:xfrm rot="10800000">
            <a:off x="3753133"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Tree>
    <p:extLst>
      <p:ext uri="{BB962C8B-B14F-4D97-AF65-F5344CB8AC3E}">
        <p14:creationId xmlns:p14="http://schemas.microsoft.com/office/powerpoint/2010/main" val="1299099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sp>
        <p:nvSpPr>
          <p:cNvPr id="25" name="TextBox 24">
            <a:extLst>
              <a:ext uri="{FF2B5EF4-FFF2-40B4-BE49-F238E27FC236}">
                <a16:creationId xmlns:a16="http://schemas.microsoft.com/office/drawing/2014/main" id="{DCC035F0-2526-D268-0E3B-75AB79A12D8E}"/>
              </a:ext>
            </a:extLst>
          </p:cNvPr>
          <p:cNvSpPr txBox="1"/>
          <p:nvPr/>
        </p:nvSpPr>
        <p:spPr>
          <a:xfrm>
            <a:off x="8712017" y="5472237"/>
            <a:ext cx="3276783" cy="400110"/>
          </a:xfrm>
          <a:prstGeom prst="rect">
            <a:avLst/>
          </a:prstGeom>
          <a:noFill/>
        </p:spPr>
        <p:txBody>
          <a:bodyPr wrap="square" lIns="0" rIns="0" rtlCol="0" anchor="b">
            <a:spAutoFit/>
          </a:bodyPr>
          <a:lstStyle/>
          <a:p>
            <a:r>
              <a:rPr lang="en-US" sz="2000" b="1" noProof="1"/>
              <a:t>Calculate Functional Score</a:t>
            </a:r>
          </a:p>
        </p:txBody>
      </p:sp>
      <p:sp>
        <p:nvSpPr>
          <p:cNvPr id="28" name="TextBox 27">
            <a:extLst>
              <a:ext uri="{FF2B5EF4-FFF2-40B4-BE49-F238E27FC236}">
                <a16:creationId xmlns:a16="http://schemas.microsoft.com/office/drawing/2014/main" id="{71428924-C3F8-AD23-A029-7B41748237E3}"/>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7FB8F06D-FC26-5F60-BF33-6284F4203DE4}"/>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9121803" y="4301847"/>
            <a:ext cx="3092506" cy="1123384"/>
          </a:xfrm>
          <a:prstGeom prst="rect">
            <a:avLst/>
          </a:prstGeom>
          <a:noFill/>
        </p:spPr>
        <p:txBody>
          <a:bodyPr wrap="square" rtlCol="0">
            <a:spAutoFit/>
          </a:bodyPr>
          <a:lstStyle/>
          <a:p>
            <a:pPr algn="ctr"/>
            <a:r>
              <a:rPr lang="en-US" sz="1400" dirty="0"/>
              <a:t>[Z(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a:t>
            </a:r>
          </a:p>
          <a:p>
            <a:pPr algn="ctr"/>
            <a:r>
              <a:rPr lang="en-US" sz="1400" dirty="0"/>
              <a:t>____________________________</a:t>
            </a:r>
          </a:p>
          <a:p>
            <a:pPr algn="ctr"/>
            <a:endParaRPr lang="en-US" sz="1100" dirty="0"/>
          </a:p>
          <a:p>
            <a:pPr algn="ctr"/>
            <a:r>
              <a:rPr lang="en-US" sz="1400" dirty="0"/>
              <a:t>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1028" name="Picture 4" descr="Fig. 2: Comprehensive mutational scanning of TP53.">
            <a:extLst>
              <a:ext uri="{FF2B5EF4-FFF2-40B4-BE49-F238E27FC236}">
                <a16:creationId xmlns:a16="http://schemas.microsoft.com/office/drawing/2014/main" id="{B34741D3-1514-3CD8-E18E-B25A3C46E46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784" t="3317" r="71211" b="77069"/>
          <a:stretch>
            <a:fillRect/>
          </a:stretch>
        </p:blipFill>
        <p:spPr bwMode="auto">
          <a:xfrm>
            <a:off x="8619550" y="2030181"/>
            <a:ext cx="3112039" cy="1814294"/>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CDA35C3-4077-C672-BA3D-0AA38FDDB1B7}"/>
              </a:ext>
            </a:extLst>
          </p:cNvPr>
          <p:cNvSpPr txBox="1"/>
          <p:nvPr/>
        </p:nvSpPr>
        <p:spPr>
          <a:xfrm>
            <a:off x="8454706" y="4795246"/>
            <a:ext cx="514885" cy="369332"/>
          </a:xfrm>
          <a:prstGeom prst="rect">
            <a:avLst/>
          </a:prstGeom>
          <a:noFill/>
        </p:spPr>
        <p:txBody>
          <a:bodyPr wrap="none" rtlCol="0">
            <a:spAutoFit/>
          </a:bodyPr>
          <a:lstStyle/>
          <a:p>
            <a:r>
              <a:rPr lang="en-IL" dirty="0"/>
              <a:t>EFS</a:t>
            </a:r>
          </a:p>
        </p:txBody>
      </p:sp>
      <p:sp>
        <p:nvSpPr>
          <p:cNvPr id="4" name="TextBox 3">
            <a:extLst>
              <a:ext uri="{FF2B5EF4-FFF2-40B4-BE49-F238E27FC236}">
                <a16:creationId xmlns:a16="http://schemas.microsoft.com/office/drawing/2014/main" id="{59C311CA-F832-98C7-E784-880E33075162}"/>
              </a:ext>
            </a:extLst>
          </p:cNvPr>
          <p:cNvSpPr txBox="1"/>
          <p:nvPr/>
        </p:nvSpPr>
        <p:spPr>
          <a:xfrm>
            <a:off x="8962144" y="4795246"/>
            <a:ext cx="319318" cy="369332"/>
          </a:xfrm>
          <a:prstGeom prst="rect">
            <a:avLst/>
          </a:prstGeom>
          <a:noFill/>
        </p:spPr>
        <p:txBody>
          <a:bodyPr wrap="none" rtlCol="0">
            <a:spAutoFit/>
          </a:bodyPr>
          <a:lstStyle/>
          <a:p>
            <a:r>
              <a:rPr lang="en-IL" dirty="0"/>
              <a:t>=</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8942A983-A5F6-ABFD-0224-23DB26EE91EE}"/>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31" name="TextBox 30">
            <a:extLst>
              <a:ext uri="{FF2B5EF4-FFF2-40B4-BE49-F238E27FC236}">
                <a16:creationId xmlns:a16="http://schemas.microsoft.com/office/drawing/2014/main" id="{3D260321-9767-EB34-9D32-B3E6B7A5E920}"/>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2050" name="Picture 2" descr="Fig. 2: Comprehensive mutational scanning of TP53.">
            <a:extLst>
              <a:ext uri="{FF2B5EF4-FFF2-40B4-BE49-F238E27FC236}">
                <a16:creationId xmlns:a16="http://schemas.microsoft.com/office/drawing/2014/main" id="{CF0DE577-6944-CDF6-5AC2-08D75F2FD64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77" t="28507" r="68816" b="51724"/>
          <a:stretch>
            <a:fillRect/>
          </a:stretch>
        </p:blipFill>
        <p:spPr bwMode="auto">
          <a:xfrm>
            <a:off x="7990286" y="1978178"/>
            <a:ext cx="3771741" cy="1826083"/>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0A5BB6FA-4B71-EADA-848F-85CE375EC46F}"/>
              </a:ext>
            </a:extLst>
          </p:cNvPr>
          <p:cNvSpPr txBox="1"/>
          <p:nvPr/>
        </p:nvSpPr>
        <p:spPr>
          <a:xfrm>
            <a:off x="8712017" y="5472237"/>
            <a:ext cx="3276783" cy="400110"/>
          </a:xfrm>
          <a:prstGeom prst="rect">
            <a:avLst/>
          </a:prstGeom>
          <a:noFill/>
        </p:spPr>
        <p:txBody>
          <a:bodyPr wrap="square" lIns="0" rIns="0" rtlCol="0" anchor="b">
            <a:spAutoFit/>
          </a:bodyPr>
          <a:lstStyle/>
          <a:p>
            <a:r>
              <a:rPr lang="en-US" sz="2000" b="1" noProof="1"/>
              <a:t>Calculate Functional Score</a:t>
            </a:r>
          </a:p>
        </p:txBody>
      </p:sp>
      <p:sp>
        <p:nvSpPr>
          <p:cNvPr id="12" name="TextBox 11">
            <a:extLst>
              <a:ext uri="{FF2B5EF4-FFF2-40B4-BE49-F238E27FC236}">
                <a16:creationId xmlns:a16="http://schemas.microsoft.com/office/drawing/2014/main" id="{B495DDAB-13AE-21BC-8873-636E480C1934}"/>
              </a:ext>
            </a:extLst>
          </p:cNvPr>
          <p:cNvSpPr txBox="1"/>
          <p:nvPr/>
        </p:nvSpPr>
        <p:spPr>
          <a:xfrm>
            <a:off x="9121803" y="4301847"/>
            <a:ext cx="3092506" cy="1123384"/>
          </a:xfrm>
          <a:prstGeom prst="rect">
            <a:avLst/>
          </a:prstGeom>
          <a:noFill/>
        </p:spPr>
        <p:txBody>
          <a:bodyPr wrap="square" rtlCol="0">
            <a:spAutoFit/>
          </a:bodyPr>
          <a:lstStyle/>
          <a:p>
            <a:pPr algn="ctr"/>
            <a:r>
              <a:rPr lang="en-US" sz="1400" dirty="0"/>
              <a:t>[Z(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a:t>
            </a:r>
          </a:p>
          <a:p>
            <a:pPr algn="ctr"/>
            <a:r>
              <a:rPr lang="en-US" sz="1400" dirty="0"/>
              <a:t>____________________________</a:t>
            </a:r>
          </a:p>
          <a:p>
            <a:pPr algn="ctr"/>
            <a:endParaRPr lang="en-US" sz="1100" dirty="0"/>
          </a:p>
          <a:p>
            <a:pPr algn="ctr"/>
            <a:r>
              <a:rPr lang="en-US" sz="1400" dirty="0"/>
              <a:t>3</a:t>
            </a:r>
          </a:p>
        </p:txBody>
      </p:sp>
      <p:sp>
        <p:nvSpPr>
          <p:cNvPr id="13" name="TextBox 12">
            <a:extLst>
              <a:ext uri="{FF2B5EF4-FFF2-40B4-BE49-F238E27FC236}">
                <a16:creationId xmlns:a16="http://schemas.microsoft.com/office/drawing/2014/main" id="{C3C2DBD0-19DA-6708-B5EE-2462DB06F568}"/>
              </a:ext>
            </a:extLst>
          </p:cNvPr>
          <p:cNvSpPr txBox="1"/>
          <p:nvPr/>
        </p:nvSpPr>
        <p:spPr>
          <a:xfrm>
            <a:off x="8454706" y="4795246"/>
            <a:ext cx="514885" cy="369332"/>
          </a:xfrm>
          <a:prstGeom prst="rect">
            <a:avLst/>
          </a:prstGeom>
          <a:noFill/>
        </p:spPr>
        <p:txBody>
          <a:bodyPr wrap="none" rtlCol="0">
            <a:spAutoFit/>
          </a:bodyPr>
          <a:lstStyle/>
          <a:p>
            <a:r>
              <a:rPr lang="en-IL" dirty="0"/>
              <a:t>EFS</a:t>
            </a:r>
          </a:p>
        </p:txBody>
      </p:sp>
      <p:sp>
        <p:nvSpPr>
          <p:cNvPr id="21" name="TextBox 20">
            <a:extLst>
              <a:ext uri="{FF2B5EF4-FFF2-40B4-BE49-F238E27FC236}">
                <a16:creationId xmlns:a16="http://schemas.microsoft.com/office/drawing/2014/main" id="{9A1E7E06-600D-22AB-A470-C6EF9A97C940}"/>
              </a:ext>
            </a:extLst>
          </p:cNvPr>
          <p:cNvSpPr txBox="1"/>
          <p:nvPr/>
        </p:nvSpPr>
        <p:spPr>
          <a:xfrm>
            <a:off x="8962144" y="4795246"/>
            <a:ext cx="319318" cy="369332"/>
          </a:xfrm>
          <a:prstGeom prst="rect">
            <a:avLst/>
          </a:prstGeom>
          <a:noFill/>
        </p:spPr>
        <p:txBody>
          <a:bodyPr wrap="none" rtlCol="0">
            <a:spAutoFit/>
          </a:bodyPr>
          <a:lstStyle/>
          <a:p>
            <a:r>
              <a:rPr lang="en-IL" dirty="0"/>
              <a:t>=</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C068C0E7-73EB-621D-7356-C23796AAF798}"/>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C179F1FA-36D8-4879-074A-1A5D6C93F38A}"/>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3074" name="Picture 2" descr="Fig. 2: Comprehensive mutational scanning of TP53.">
            <a:extLst>
              <a:ext uri="{FF2B5EF4-FFF2-40B4-BE49-F238E27FC236}">
                <a16:creationId xmlns:a16="http://schemas.microsoft.com/office/drawing/2014/main" id="{4A796C30-8577-A525-450C-DAEC0E23AD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1186" t="83484" r="-628" b="-1789"/>
          <a:stretch>
            <a:fillRect/>
          </a:stretch>
        </p:blipFill>
        <p:spPr bwMode="auto">
          <a:xfrm>
            <a:off x="7532593" y="2169116"/>
            <a:ext cx="4229434" cy="861774"/>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52F7814D-2864-116E-71FD-D49FD17CE8AB}"/>
              </a:ext>
            </a:extLst>
          </p:cNvPr>
          <p:cNvSpPr txBox="1"/>
          <p:nvPr/>
        </p:nvSpPr>
        <p:spPr>
          <a:xfrm>
            <a:off x="8712017" y="5472237"/>
            <a:ext cx="3276783" cy="400110"/>
          </a:xfrm>
          <a:prstGeom prst="rect">
            <a:avLst/>
          </a:prstGeom>
          <a:noFill/>
        </p:spPr>
        <p:txBody>
          <a:bodyPr wrap="square" lIns="0" rIns="0" rtlCol="0" anchor="b">
            <a:spAutoFit/>
          </a:bodyPr>
          <a:lstStyle/>
          <a:p>
            <a:r>
              <a:rPr lang="en-US" sz="2000" b="1" noProof="1">
                <a:solidFill>
                  <a:srgbClr val="903063"/>
                </a:solidFill>
              </a:rPr>
              <a:t>Calculate Functional Score</a:t>
            </a:r>
          </a:p>
        </p:txBody>
      </p:sp>
      <p:sp>
        <p:nvSpPr>
          <p:cNvPr id="12" name="TextBox 11">
            <a:extLst>
              <a:ext uri="{FF2B5EF4-FFF2-40B4-BE49-F238E27FC236}">
                <a16:creationId xmlns:a16="http://schemas.microsoft.com/office/drawing/2014/main" id="{C3937F33-FAFC-5F41-1DB1-44F6F9FB5B3D}"/>
              </a:ext>
            </a:extLst>
          </p:cNvPr>
          <p:cNvSpPr txBox="1"/>
          <p:nvPr/>
        </p:nvSpPr>
        <p:spPr>
          <a:xfrm>
            <a:off x="9121803" y="4301847"/>
            <a:ext cx="3092506" cy="1123384"/>
          </a:xfrm>
          <a:prstGeom prst="rect">
            <a:avLst/>
          </a:prstGeom>
          <a:noFill/>
        </p:spPr>
        <p:txBody>
          <a:bodyPr wrap="square" rtlCol="0">
            <a:spAutoFit/>
          </a:bodyPr>
          <a:lstStyle/>
          <a:p>
            <a:pPr algn="ctr"/>
            <a:r>
              <a:rPr lang="en-US" sz="1400" dirty="0"/>
              <a:t>[Z(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a:t>
            </a:r>
          </a:p>
          <a:p>
            <a:pPr algn="ctr"/>
            <a:r>
              <a:rPr lang="en-US" sz="1400" dirty="0"/>
              <a:t>____________________________</a:t>
            </a:r>
          </a:p>
          <a:p>
            <a:pPr algn="ctr"/>
            <a:endParaRPr lang="en-US" sz="1100" dirty="0"/>
          </a:p>
          <a:p>
            <a:pPr algn="ctr"/>
            <a:r>
              <a:rPr lang="en-US" sz="1400" dirty="0"/>
              <a:t>3</a:t>
            </a:r>
          </a:p>
        </p:txBody>
      </p:sp>
      <p:sp>
        <p:nvSpPr>
          <p:cNvPr id="13" name="TextBox 12">
            <a:extLst>
              <a:ext uri="{FF2B5EF4-FFF2-40B4-BE49-F238E27FC236}">
                <a16:creationId xmlns:a16="http://schemas.microsoft.com/office/drawing/2014/main" id="{75673C05-49DD-3F2C-6DF9-6F2930A59569}"/>
              </a:ext>
            </a:extLst>
          </p:cNvPr>
          <p:cNvSpPr txBox="1"/>
          <p:nvPr/>
        </p:nvSpPr>
        <p:spPr>
          <a:xfrm>
            <a:off x="8454706" y="4795246"/>
            <a:ext cx="514885" cy="369332"/>
          </a:xfrm>
          <a:prstGeom prst="rect">
            <a:avLst/>
          </a:prstGeom>
          <a:noFill/>
        </p:spPr>
        <p:txBody>
          <a:bodyPr wrap="none" rtlCol="0">
            <a:spAutoFit/>
          </a:bodyPr>
          <a:lstStyle/>
          <a:p>
            <a:r>
              <a:rPr lang="en-IL" dirty="0"/>
              <a:t>EFS</a:t>
            </a:r>
          </a:p>
        </p:txBody>
      </p:sp>
      <p:sp>
        <p:nvSpPr>
          <p:cNvPr id="21" name="TextBox 20">
            <a:extLst>
              <a:ext uri="{FF2B5EF4-FFF2-40B4-BE49-F238E27FC236}">
                <a16:creationId xmlns:a16="http://schemas.microsoft.com/office/drawing/2014/main" id="{B80031CB-6D8D-D75F-F5C7-B4AB49F1FB13}"/>
              </a:ext>
            </a:extLst>
          </p:cNvPr>
          <p:cNvSpPr txBox="1"/>
          <p:nvPr/>
        </p:nvSpPr>
        <p:spPr>
          <a:xfrm>
            <a:off x="8962144" y="4795246"/>
            <a:ext cx="319318" cy="369332"/>
          </a:xfrm>
          <a:prstGeom prst="rect">
            <a:avLst/>
          </a:prstGeom>
          <a:noFill/>
        </p:spPr>
        <p:txBody>
          <a:bodyPr wrap="none" rtlCol="0">
            <a:spAutoFit/>
          </a:bodyPr>
          <a:lstStyle/>
          <a:p>
            <a:r>
              <a:rPr lang="en-IL" dirty="0"/>
              <a:t>=</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616688" y="2475595"/>
            <a:ext cx="10958623" cy="3572037"/>
          </a:xfrm>
        </p:spPr>
        <p:txBody>
          <a:bodyPr anchor="ctr">
            <a:normAutofit/>
          </a:bodyPr>
          <a:lstStyle/>
          <a:p>
            <a:pPr marL="0" indent="0" algn="ctr">
              <a:buNone/>
            </a:pPr>
            <a:r>
              <a:rPr lang="en-US" sz="4000" dirty="0"/>
              <a:t>Patients with TP53 mutations that have</a:t>
            </a:r>
            <a:r>
              <a:rPr lang="he-IL" sz="4000" dirty="0"/>
              <a:t> </a:t>
            </a:r>
            <a:r>
              <a:rPr lang="en-US" sz="4000" dirty="0"/>
              <a:t>the lowest </a:t>
            </a:r>
            <a:r>
              <a:rPr lang="en-US" sz="4000" dirty="0">
                <a:solidFill>
                  <a:srgbClr val="00B050"/>
                </a:solidFill>
              </a:rPr>
              <a:t>experimental function scores (EFS) </a:t>
            </a:r>
            <a:r>
              <a:rPr lang="en-US" sz="4000" dirty="0"/>
              <a:t>will show the highest </a:t>
            </a:r>
            <a:r>
              <a:rPr lang="en-US" sz="4000" dirty="0">
                <a:solidFill>
                  <a:srgbClr val="FF0000"/>
                </a:solidFill>
              </a:rPr>
              <a:t>Fraction Genome Altered (FGA)</a:t>
            </a:r>
            <a:endParaRPr lang="en-IL" sz="4000" dirty="0">
              <a:solidFill>
                <a:srgbClr val="FF0000"/>
              </a:solidFill>
            </a:endParaRPr>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iNITIAL</a:t>
            </a:r>
            <a:r>
              <a:rPr lang="en-US" dirty="0"/>
              <a:t> 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303060" y="2491881"/>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896807" y="6074821"/>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known cancer genes co-occur with TP53 loss and high FGA?</a:t>
            </a:r>
          </a:p>
        </p:txBody>
      </p:sp>
      <p:sp>
        <p:nvSpPr>
          <p:cNvPr id="13" name="TextBox 12">
            <a:extLst>
              <a:ext uri="{FF2B5EF4-FFF2-40B4-BE49-F238E27FC236}">
                <a16:creationId xmlns:a16="http://schemas.microsoft.com/office/drawing/2014/main" id="{85491A5D-BF4D-4D90-0CCC-5AF81947488E}"/>
              </a:ext>
            </a:extLst>
          </p:cNvPr>
          <p:cNvSpPr txBox="1"/>
          <p:nvPr/>
        </p:nvSpPr>
        <p:spPr>
          <a:xfrm>
            <a:off x="3082043" y="6035200"/>
            <a:ext cx="6273064" cy="646331"/>
          </a:xfrm>
          <a:prstGeom prst="rect">
            <a:avLst/>
          </a:prstGeom>
          <a:noFill/>
        </p:spPr>
        <p:txBody>
          <a:bodyPr wrap="none" rtlCol="0">
            <a:spAutoFit/>
          </a:bodyPr>
          <a:lstStyle/>
          <a:p>
            <a:pPr algn="ctr"/>
            <a:r>
              <a:rPr lang="en-US" dirty="0"/>
              <a:t>Amplified genes (left panel): oncogenes being turned ON</a:t>
            </a:r>
          </a:p>
          <a:p>
            <a:pPr algn="ctr"/>
            <a:r>
              <a:rPr lang="en-US" dirty="0"/>
              <a:t>Deleted genes (right panel):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6035200"/>
            <a:ext cx="9079595" cy="646331"/>
          </a:xfrm>
          <a:prstGeom prst="rect">
            <a:avLst/>
          </a:prstGeom>
          <a:noFill/>
        </p:spPr>
        <p:txBody>
          <a:bodyPr wrap="square" rtlCol="0">
            <a:spAutoFit/>
          </a:bodyPr>
          <a:lstStyle/>
          <a:p>
            <a:pPr algn="ctr"/>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130236" y="2929190"/>
            <a:ext cx="9931527" cy="1384995"/>
          </a:xfrm>
          <a:prstGeom prst="rect">
            <a:avLst/>
          </a:prstGeom>
          <a:noFill/>
        </p:spPr>
        <p:txBody>
          <a:bodyPr wrap="square" rtlCol="0">
            <a:spAutoFit/>
          </a:bodyPr>
          <a:lstStyle/>
          <a:p>
            <a:pPr algn="ctr"/>
            <a:r>
              <a:rPr lang="en-US" sz="2800" dirty="0"/>
              <a:t>TP53 loss drives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11237</TotalTime>
  <Words>2668</Words>
  <Application>Microsoft Macintosh PowerPoint</Application>
  <PresentationFormat>Widescreen</PresentationFormat>
  <Paragraphs>231</Paragraphs>
  <Slides>22</Slides>
  <Notes>22</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Abadi MT Condensed Light</vt:lpstr>
      <vt:lpstr>Aptos</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520</cp:revision>
  <dcterms:created xsi:type="dcterms:W3CDTF">2026-01-27T21:31:11Z</dcterms:created>
  <dcterms:modified xsi:type="dcterms:W3CDTF">2026-03-18T20:38:58Z</dcterms:modified>
</cp:coreProperties>
</file>