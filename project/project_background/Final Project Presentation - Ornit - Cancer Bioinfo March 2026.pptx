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0"/>
  </p:notesMasterIdLst>
  <p:sldIdLst>
    <p:sldId id="256" r:id="rId2"/>
    <p:sldId id="359" r:id="rId3"/>
    <p:sldId id="358" r:id="rId4"/>
    <p:sldId id="360" r:id="rId5"/>
    <p:sldId id="363" r:id="rId6"/>
    <p:sldId id="364" r:id="rId7"/>
    <p:sldId id="265" r:id="rId8"/>
    <p:sldId id="259" r:id="rId9"/>
    <p:sldId id="272" r:id="rId10"/>
    <p:sldId id="271" r:id="rId11"/>
    <p:sldId id="366" r:id="rId12"/>
    <p:sldId id="367" r:id="rId13"/>
    <p:sldId id="375" r:id="rId14"/>
    <p:sldId id="368" r:id="rId15"/>
    <p:sldId id="365" r:id="rId16"/>
    <p:sldId id="370" r:id="rId17"/>
    <p:sldId id="371" r:id="rId18"/>
    <p:sldId id="3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3063"/>
    <a:srgbClr val="96A0A7"/>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028"/>
    <p:restoredTop sz="83548"/>
  </p:normalViewPr>
  <p:slideViewPr>
    <p:cSldViewPr snapToGrid="0">
      <p:cViewPr varScale="1">
        <p:scale>
          <a:sx n="77" d="100"/>
          <a:sy n="77" d="100"/>
        </p:scale>
        <p:origin x="224" y="24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19/03/2026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קצר: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או מבקר את התהליכים האלו. מוטציות ב-</a:t>
            </a:r>
            <a:r>
              <a:rPr lang="en-US" dirty="0"/>
              <a:t>TP53</a:t>
            </a:r>
            <a:r>
              <a:rPr lang="he-IL" dirty="0"/>
              <a:t> יכולות להשפיע על המסלולים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a:t>
            </a:r>
            <a:endParaRPr lang="en-US" dirty="0"/>
          </a:p>
          <a:p>
            <a:pPr marL="0" marR="0" lvl="0" indent="0" algn="r" defTabSz="914400" rtl="1"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FGA = (number of base pairs with copy number gain or loss) / (total base pairs profiled)</a:t>
            </a:r>
          </a:p>
          <a:p>
            <a:pPr algn="r" rtl="1"/>
            <a:r>
              <a:rPr lang="en-US" dirty="0"/>
              <a:t>FGA</a:t>
            </a:r>
            <a:r>
              <a:rPr lang="he-IL" dirty="0"/>
              <a:t> בודק מה הגודל של ה-</a:t>
            </a:r>
            <a:r>
              <a:rPr lang="en-US" dirty="0"/>
              <a:t>fraction</a:t>
            </a:r>
            <a:r>
              <a:rPr lang="he-IL" dirty="0"/>
              <a:t> מהגנום שיש לו </a:t>
            </a:r>
            <a:r>
              <a:rPr lang="en-US" dirty="0"/>
              <a:t>CNV</a:t>
            </a:r>
            <a:r>
              <a:rPr lang="he-IL" dirty="0"/>
              <a:t>.</a:t>
            </a:r>
          </a:p>
          <a:p>
            <a:pPr algn="r" rtl="1"/>
            <a:r>
              <a:rPr lang="en-US" dirty="0"/>
              <a:t>CNV</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a:p>
            <a:pPr marL="0" marR="0" lvl="0" indent="0" algn="r" defTabSz="914400" rtl="1"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ביחס למוטציות </a:t>
            </a:r>
            <a:r>
              <a:rPr lang="en-US" dirty="0"/>
              <a:t>TP53</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 סרטן ריאה אנושיים וסומנה בברקוד כדי לעקוב אחרי בריצוף ובדקו מה ההשפעה על התא מבחינת קצב הגידול של תאים סרטניים.</a:t>
            </a:r>
            <a:endParaRPr lang="en-US" dirty="0"/>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וריאנטים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נתנו ציון לכל אחד </a:t>
            </a:r>
            <a:r>
              <a:rPr lang="he-IL" dirty="0" err="1"/>
              <a:t>מהוריאנטים</a:t>
            </a:r>
            <a:r>
              <a:rPr lang="he-IL" dirty="0"/>
              <a:t>: 1) אם וריאנט מתנהג כמו </a:t>
            </a:r>
            <a:r>
              <a:rPr lang="en-US" dirty="0"/>
              <a:t>p53</a:t>
            </a:r>
            <a:r>
              <a:rPr lang="he-IL" dirty="0"/>
              <a:t>, 2) כאילו הוא לא נמצא, 3) או משהו באמצע. מהשילוב של שלוש המדידות האלה קיבלנו מספר יחיד, שזה ה-</a:t>
            </a:r>
            <a:r>
              <a:rPr lang="en-US" dirty="0"/>
              <a:t>Experimental Functional Score</a:t>
            </a:r>
            <a:r>
              <a:rPr lang="he-IL" dirty="0"/>
              <a:t> שהשתמשתי בו, שאומר לנו כמה וריאנט של </a:t>
            </a:r>
            <a:r>
              <a:rPr lang="en-US" dirty="0"/>
              <a:t>p53</a:t>
            </a:r>
            <a:r>
              <a:rPr lang="he-IL" dirty="0"/>
              <a:t> הוא פעיל. ציון נמוך משמע אובדן תפקוד, ציון גבוה = התנהגות דומה ל-</a:t>
            </a:r>
            <a:r>
              <a:rPr lang="en-US" dirty="0"/>
              <a:t>p53</a:t>
            </a:r>
            <a:r>
              <a:rPr lang="he-IL" dirty="0"/>
              <a:t> תקין.</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הערכים הם </a:t>
            </a:r>
            <a:r>
              <a:rPr lang="en-US" dirty="0"/>
              <a:t>z-score</a:t>
            </a:r>
            <a:r>
              <a:rPr lang="he-IL" dirty="0"/>
              <a:t>, אז הם יכולים להיות שליליים או חיוביים. אם הערך שלילי מאוד, המוטציה שוברת את </a:t>
            </a:r>
            <a:r>
              <a:rPr lang="en-US" dirty="0"/>
              <a:t>p53</a:t>
            </a:r>
            <a:r>
              <a:rPr lang="he-IL" dirty="0"/>
              <a:t>, אם הוא קרוב ל-0, המוטציה משפיעה הרבה ואם הציון הוא חיובי, הוא דומה ל-</a:t>
            </a:r>
            <a:r>
              <a:rPr lang="en-US" dirty="0"/>
              <a:t>WT</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a:t>
            </a:r>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קודם כל לבדוק את ההיפותזה שלי: 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אחרי זה להרחיב את האנליזה עוד קצת: 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כאוס </a:t>
            </a:r>
            <a:r>
              <a:rPr lang="he-IL" sz="1200" b="0" i="0" kern="1200" dirty="0" err="1">
                <a:solidFill>
                  <a:schemeClr val="tx1"/>
                </a:solidFill>
                <a:effectLst/>
                <a:latin typeface="+mn-lt"/>
                <a:ea typeface="+mn-ea"/>
                <a:cs typeface="+mn-cs"/>
              </a:rPr>
              <a:t>גנומי</a:t>
            </a:r>
            <a:r>
              <a:rPr lang="he-IL" sz="1200" b="0" i="0" kern="1200" dirty="0">
                <a:solidFill>
                  <a:schemeClr val="tx1"/>
                </a:solidFill>
                <a:effectLst/>
                <a:latin typeface="+mn-lt"/>
                <a:ea typeface="+mn-ea"/>
                <a:cs typeface="+mn-cs"/>
              </a:rPr>
              <a:t>?</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יש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ונעבור לתוצאות:</a:t>
            </a:r>
          </a:p>
          <a:p>
            <a:pPr marL="0" algn="r" defTabSz="914400" rtl="1" eaLnBrk="1" latinLnBrk="0" hangingPunct="1"/>
            <a:endParaRPr lang="he-IL" dirty="0"/>
          </a:p>
          <a:p>
            <a:pPr marL="0" algn="r" defTabSz="914400" rtl="1" eaLnBrk="1" latinLnBrk="0" hangingPunct="1"/>
            <a:r>
              <a:rPr lang="he-IL" dirty="0"/>
              <a:t>אז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והפכתי אותם לבינאריים (מוטנט או לא) כדי לענות על השאלה הראשונה שלי.</a:t>
            </a:r>
          </a:p>
          <a:p>
            <a:pPr marL="0" algn="r" defTabSz="914400" rtl="1" eaLnBrk="1" latinLnBrk="0" hangingPunct="1"/>
            <a:endParaRPr lang="he-IL" dirty="0"/>
          </a:p>
          <a:p>
            <a:pPr marL="0" algn="r" defTabSz="914400" rtl="1" eaLnBrk="1" latinLnBrk="0" hangingPunct="1"/>
            <a:r>
              <a:rPr lang="he-IL" dirty="0" err="1"/>
              <a:t>בדטא</a:t>
            </a:r>
            <a:r>
              <a:rPr lang="he-IL" dirty="0"/>
              <a:t> של </a:t>
            </a:r>
            <a:r>
              <a:rPr lang="he-IL" dirty="0" err="1"/>
              <a:t>ג׳יני</a:t>
            </a:r>
            <a:r>
              <a:rPr lang="he-IL" dirty="0"/>
              <a:t> (</a:t>
            </a:r>
            <a:r>
              <a:rPr lang="en-US" dirty="0" err="1"/>
              <a:t>cna.txt</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ששם הם מציינים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endParaRPr lang="en-US" dirty="0"/>
          </a:p>
          <a:p>
            <a:pPr marL="0" algn="r" defTabSz="914400" rtl="1" eaLnBrk="1" latinLnBrk="0" hangingPunct="1"/>
            <a:endParaRPr lang="en-US" dirty="0"/>
          </a:p>
          <a:p>
            <a:pPr marL="0" algn="r" defTabSz="914400" rtl="1" eaLnBrk="1" latinLnBrk="0" hangingPunct="1"/>
            <a:r>
              <a:rPr lang="he-IL" dirty="0"/>
              <a:t>את זה השוויתי לפרמטר </a:t>
            </a:r>
            <a:r>
              <a:rPr lang="en-US" dirty="0"/>
              <a:t>Fraction Genome Altered</a:t>
            </a:r>
            <a:r>
              <a:rPr lang="he-IL" dirty="0"/>
              <a:t>. התוצאות מראות בבירור שיש יותר כאוס </a:t>
            </a:r>
            <a:r>
              <a:rPr lang="he-IL" dirty="0" err="1"/>
              <a:t>גנומי</a:t>
            </a:r>
            <a:r>
              <a:rPr lang="he-IL" dirty="0"/>
              <a:t> במוטציות לעומת </a:t>
            </a:r>
            <a:r>
              <a:rPr lang="en-US" dirty="0"/>
              <a:t>WT</a:t>
            </a:r>
            <a:r>
              <a:rPr lang="he-IL" dirty="0"/>
              <a:t>, אבל זה מראה לנו את זה באופן מאוד שטחי וכאמור בינארי, אז רציתי להכניס לכאן עוד פרמטר, את </a:t>
            </a:r>
            <a:r>
              <a:rPr lang="en-US" dirty="0"/>
              <a:t>EFS</a:t>
            </a:r>
            <a:r>
              <a:rPr lang="he-IL" dirty="0"/>
              <a:t> </a:t>
            </a:r>
            <a:r>
              <a:rPr lang="he-IL" dirty="0" err="1"/>
              <a:t>מהדטא</a:t>
            </a:r>
            <a:r>
              <a:rPr lang="he-IL" dirty="0"/>
              <a:t> של </a:t>
            </a:r>
            <a:r>
              <a:rPr lang="he-IL" dirty="0" err="1"/>
              <a:t>ג׳יאנקומלי</a:t>
            </a:r>
            <a:r>
              <a:rPr lang="he-IL" dirty="0"/>
              <a:t> ולבדוק האם יש קשר בין הפרמטר שבדקתי כאן, לבין </a:t>
            </a:r>
            <a:r>
              <a:rPr lang="en-US" dirty="0"/>
              <a:t>FGA</a:t>
            </a:r>
            <a:r>
              <a:rPr lang="he-IL" dirty="0"/>
              <a:t>.</a:t>
            </a:r>
          </a:p>
        </p:txBody>
      </p:sp>
      <p:sp>
        <p:nvSpPr>
          <p:cNvPr id="4" name="Slide Number Placeholder 3"/>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endParaRPr lang="he-IL" dirty="0"/>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לענות על השאלה השנייה, ולעשות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מה ה-</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pPr marL="0" algn="r" defTabSz="914400" rtl="1" eaLnBrk="1" latinLnBrk="0" hangingPunct="1"/>
            <a:r>
              <a:rPr lang="he-IL" dirty="0"/>
              <a:t>מהאנליזה שעשיתי אפשר להסיק מספר דברים:</a:t>
            </a:r>
          </a:p>
          <a:p>
            <a:pPr marL="0" algn="r" defTabSz="914400" rtl="1" eaLnBrk="1" latinLnBrk="0" hangingPunct="1"/>
            <a:r>
              <a:rPr lang="he-IL" dirty="0"/>
              <a:t>דבר ראשון זה שהאפקט הבינארי, מוטנט מול </a:t>
            </a:r>
            <a:r>
              <a:rPr lang="en-US" dirty="0"/>
              <a:t>WT</a:t>
            </a:r>
            <a:r>
              <a:rPr lang="he-IL" dirty="0"/>
              <a:t> הוא חזק הרבה יותר מהאפקט </a:t>
            </a:r>
            <a:r>
              <a:rPr lang="he-IL" dirty="0" err="1"/>
              <a:t>הסקאלרי</a:t>
            </a:r>
            <a:r>
              <a:rPr lang="he-IL" dirty="0"/>
              <a:t> של </a:t>
            </a:r>
            <a:r>
              <a:rPr lang="en-US" dirty="0"/>
              <a:t>EFS vs FGA</a:t>
            </a:r>
            <a:r>
              <a:rPr lang="he-IL" dirty="0"/>
              <a:t>.</a:t>
            </a:r>
          </a:p>
          <a:p>
            <a:pPr marL="0" algn="r" defTabSz="914400" rtl="1" eaLnBrk="1" latinLnBrk="0" hangingPunct="1"/>
            <a:endParaRPr lang="he-IL" dirty="0"/>
          </a:p>
          <a:p>
            <a:pPr marL="0" algn="r" defTabSz="914400" rtl="1" eaLnBrk="1" latinLnBrk="0" hangingPunct="1"/>
            <a:r>
              <a:rPr lang="he-IL" dirty="0"/>
              <a:t>אפשר להגיד שיש לנו כאן איזשהו מודל של </a:t>
            </a:r>
            <a:r>
              <a:rPr lang="en-US" dirty="0"/>
              <a:t>Threshold</a:t>
            </a:r>
            <a:r>
              <a:rPr lang="he-IL" dirty="0"/>
              <a:t>, ברגע ש-</a:t>
            </a:r>
            <a:r>
              <a:rPr lang="en-US" dirty="0"/>
              <a:t>TP53</a:t>
            </a:r>
            <a:r>
              <a:rPr lang="he-IL" dirty="0"/>
              <a:t> משתנה איכשהו, מגיע הכאוס. ההשערה שלי היא שכשיש </a:t>
            </a:r>
            <a:r>
              <a:rPr lang="en-US" dirty="0"/>
              <a:t>GOF</a:t>
            </a:r>
            <a:r>
              <a:rPr lang="he-IL" dirty="0"/>
              <a:t> הוא כנראה מעודד חלוקה תאית ופרוליפרציה וכשיש </a:t>
            </a:r>
            <a:r>
              <a:rPr lang="en-US" dirty="0"/>
              <a:t>LOF</a:t>
            </a:r>
            <a:r>
              <a:rPr lang="he-IL" dirty="0"/>
              <a:t> אין בקרה תקינה על </a:t>
            </a:r>
            <a:r>
              <a:rPr lang="he-IL" dirty="0" err="1"/>
              <a:t>אפופטוזיס</a:t>
            </a:r>
            <a:r>
              <a:rPr lang="he-IL" dirty="0"/>
              <a:t>.</a:t>
            </a:r>
          </a:p>
          <a:p>
            <a:pPr marL="0" algn="r" defTabSz="914400" rtl="1" eaLnBrk="1" latinLnBrk="0" hangingPunct="1"/>
            <a:endParaRPr lang="he-IL" dirty="0"/>
          </a:p>
          <a:p>
            <a:pPr marL="0" algn="r" defTabSz="914400" rtl="1" eaLnBrk="1" latinLnBrk="0" hangingPunct="1"/>
            <a:r>
              <a:rPr lang="he-IL" dirty="0"/>
              <a:t>חוץ מזה, נראה שמדובר בהבדלים בין </a:t>
            </a:r>
            <a:r>
              <a:rPr lang="he-IL" dirty="0" err="1"/>
              <a:t>סוליד</a:t>
            </a:r>
            <a:r>
              <a:rPr lang="he-IL" dirty="0"/>
              <a:t> </a:t>
            </a:r>
            <a:r>
              <a:rPr lang="he-IL" dirty="0" err="1"/>
              <a:t>טומר</a:t>
            </a:r>
            <a:r>
              <a:rPr lang="he-IL" dirty="0"/>
              <a:t> </a:t>
            </a:r>
            <a:r>
              <a:rPr lang="he-IL" dirty="0" err="1"/>
              <a:t>לליקוויד</a:t>
            </a:r>
            <a:r>
              <a:rPr lang="he-IL" dirty="0"/>
              <a:t> </a:t>
            </a:r>
            <a:r>
              <a:rPr lang="he-IL" dirty="0" err="1"/>
              <a:t>טומורס</a:t>
            </a:r>
            <a:r>
              <a:rPr lang="he-IL" dirty="0"/>
              <a:t>. ראינו שהאפקט הכי חזק נראה </a:t>
            </a:r>
            <a:r>
              <a:rPr lang="he-IL" dirty="0" err="1"/>
              <a:t>בסוליד</a:t>
            </a:r>
            <a:r>
              <a:rPr lang="he-IL" dirty="0"/>
              <a:t> </a:t>
            </a:r>
            <a:r>
              <a:rPr lang="he-IL" dirty="0" err="1"/>
              <a:t>טומורס</a:t>
            </a:r>
            <a:r>
              <a:rPr lang="he-IL" dirty="0"/>
              <a:t>, ייתכן בגלל </a:t>
            </a:r>
            <a:r>
              <a:rPr lang="he-IL" dirty="0" err="1"/>
              <a:t>היפוקסיה</a:t>
            </a:r>
            <a:r>
              <a:rPr lang="he-IL" dirty="0"/>
              <a:t> מאחר </a:t>
            </a:r>
            <a:r>
              <a:rPr lang="he-IL" dirty="0" err="1"/>
              <a:t>וסוליד</a:t>
            </a:r>
            <a:r>
              <a:rPr lang="he-IL" dirty="0"/>
              <a:t> </a:t>
            </a:r>
            <a:r>
              <a:rPr lang="he-IL" dirty="0" err="1"/>
              <a:t>טומורס</a:t>
            </a:r>
            <a:r>
              <a:rPr lang="he-IL" dirty="0"/>
              <a:t> מוגבלים מבחינת מקום והתאים מתחלקים ביותר סטרס, משמע יותר טעויות חלוקה וכתוצאה מכך כאוס </a:t>
            </a:r>
            <a:r>
              <a:rPr lang="he-IL" dirty="0" err="1"/>
              <a:t>גנומי</a:t>
            </a:r>
            <a:r>
              <a:rPr lang="he-IL" dirty="0"/>
              <a:t>. חוץ מזה הסטרס </a:t>
            </a:r>
            <a:r>
              <a:rPr lang="he-IL" dirty="0" err="1"/>
              <a:t>בסוליד</a:t>
            </a:r>
            <a:r>
              <a:rPr lang="he-IL" dirty="0"/>
              <a:t> </a:t>
            </a:r>
            <a:r>
              <a:rPr lang="he-IL" dirty="0" err="1"/>
              <a:t>טומורס</a:t>
            </a:r>
            <a:r>
              <a:rPr lang="he-IL" dirty="0"/>
              <a:t> אולי גורם </a:t>
            </a:r>
            <a:r>
              <a:rPr lang="he-IL" dirty="0" err="1"/>
              <a:t>לסלקשן</a:t>
            </a:r>
            <a:r>
              <a:rPr lang="he-IL" dirty="0"/>
              <a:t> </a:t>
            </a:r>
            <a:r>
              <a:rPr lang="he-IL" dirty="0" err="1"/>
              <a:t>פרשר</a:t>
            </a:r>
            <a:r>
              <a:rPr lang="he-IL" dirty="0"/>
              <a:t> יותר חזק למוטציות הרסניות שמצליחות לשרוד טוב יותר ולהתרבות.</a:t>
            </a:r>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pPr marL="0" algn="r" defTabSz="914400" rtl="1" eaLnBrk="1" latinLnBrk="0" hangingPunct="1"/>
            <a:r>
              <a:rPr lang="he-IL" dirty="0"/>
              <a:t>חוץ מזה ראינו </a:t>
            </a:r>
            <a:r>
              <a:rPr lang="he-IL" dirty="0" err="1"/>
              <a:t>שהוטספוטס</a:t>
            </a:r>
            <a:r>
              <a:rPr lang="he-IL" dirty="0"/>
              <a:t> לא בהכרח יותר הרסניות, אלא האזור שלהן בגנום הוא יותר </a:t>
            </a:r>
            <a:r>
              <a:rPr lang="he-IL" dirty="0" err="1"/>
              <a:t>מוטבילי</a:t>
            </a:r>
            <a:r>
              <a:rPr lang="he-IL" dirty="0"/>
              <a:t>. </a:t>
            </a:r>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pPr marL="0" algn="r" defTabSz="914400" rtl="1" eaLnBrk="1" latinLnBrk="0" hangingPunct="1"/>
            <a:r>
              <a:rPr lang="he-IL" dirty="0"/>
              <a:t>אז בסה״כ הצלחתי לענות על שלוש השאלות, אבל הייתי שמחה לראות את סוגי המוטציות במספרים דומים תחת ניסוי אחד, או לבדוק את ה-</a:t>
            </a:r>
            <a:r>
              <a:rPr lang="en-US" dirty="0"/>
              <a:t>EFS</a:t>
            </a:r>
            <a:r>
              <a:rPr lang="he-IL" dirty="0"/>
              <a:t> לא רק בסוג סרטן אחד (סרטן ריאה) כמו </a:t>
            </a:r>
            <a:r>
              <a:rPr lang="he-IL" dirty="0" err="1"/>
              <a:t>שג׳יאנקומלי</a:t>
            </a:r>
            <a:r>
              <a:rPr lang="he-IL" dirty="0"/>
              <a:t> עשו, אלא בעוד סרטנים ולכל סרטן לבצע את האנליזה שלו, מאחר ו-</a:t>
            </a:r>
            <a:r>
              <a:rPr lang="en-US" dirty="0"/>
              <a:t>p53</a:t>
            </a:r>
            <a:r>
              <a:rPr lang="he-IL" dirty="0"/>
              <a:t> יכול לקבל </a:t>
            </a:r>
            <a:r>
              <a:rPr lang="en-US" dirty="0"/>
              <a:t>EFS</a:t>
            </a:r>
            <a:r>
              <a:rPr lang="he-IL" dirty="0"/>
              <a:t> שונים ככל הנראה בין סוגי סרטן, כמו שראינו את ההבדלים בין </a:t>
            </a:r>
            <a:r>
              <a:rPr lang="en-US" dirty="0"/>
              <a:t>Solid</a:t>
            </a:r>
            <a:r>
              <a:rPr lang="he-IL" dirty="0"/>
              <a:t> ל-</a:t>
            </a:r>
            <a:r>
              <a:rPr lang="en-US" dirty="0"/>
              <a:t>Liquid</a:t>
            </a:r>
            <a:r>
              <a:rPr lang="he-IL" dirty="0"/>
              <a:t> </a:t>
            </a:r>
            <a:r>
              <a:rPr lang="he-IL" dirty="0" err="1"/>
              <a:t>טומורס</a:t>
            </a:r>
            <a:r>
              <a:rPr lang="he-IL" dirty="0"/>
              <a:t>.</a:t>
            </a:r>
          </a:p>
          <a:p>
            <a:pPr marL="0" algn="r" defTabSz="914400" rtl="1" eaLnBrk="1" latinLnBrk="0" hangingPunct="1"/>
            <a:endParaRPr lang="he-IL" dirty="0"/>
          </a:p>
          <a:p>
            <a:pPr marL="0" algn="r" defTabSz="914400" rtl="1" eaLnBrk="1" latinLnBrk="0" hangingPunct="1"/>
            <a:r>
              <a:rPr lang="he-IL" dirty="0"/>
              <a:t>עוד דבר שהיה נחמד לעשות, זה לבדוק </a:t>
            </a:r>
            <a:r>
              <a:rPr lang="en-US" dirty="0"/>
              <a:t>region breaks</a:t>
            </a:r>
            <a:r>
              <a:rPr lang="he-IL" dirty="0"/>
              <a:t> ספציפיים ולהיכנס יותר לעומק שלהם מאשר להשתמש בפרמטר </a:t>
            </a:r>
            <a:r>
              <a:rPr lang="en-US" dirty="0"/>
              <a:t>bulky</a:t>
            </a:r>
            <a:r>
              <a:rPr lang="he-IL" dirty="0"/>
              <a:t> אחד (</a:t>
            </a:r>
            <a:r>
              <a:rPr lang="en-US" dirty="0"/>
              <a:t>FGA</a:t>
            </a:r>
            <a:r>
              <a:rPr lang="he-IL" dirty="0"/>
              <a:t>) כדי לבדוק טרנדים ספציפיים יותר מאשר התנהגויות גלובליות שלא רגישות לכל המקרים.</a:t>
            </a:r>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pandas, </a:t>
            </a:r>
            <a:r>
              <a:rPr lang="en-US" sz="1200" b="0" i="0" kern="1200" dirty="0" err="1">
                <a:solidFill>
                  <a:schemeClr val="tx1"/>
                </a:solidFill>
                <a:effectLst/>
                <a:latin typeface="+mn-lt"/>
                <a:ea typeface="+mn-ea"/>
                <a:cs typeface="+mn-cs"/>
              </a:rPr>
              <a:t>numpy</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data wrangling</a:t>
            </a:r>
          </a:p>
          <a:p>
            <a:r>
              <a:rPr lang="en-US" sz="1200" b="0" i="0" kern="1200" dirty="0" err="1">
                <a:solidFill>
                  <a:schemeClr val="tx1"/>
                </a:solidFill>
                <a:effectLst/>
                <a:latin typeface="+mn-lt"/>
                <a:ea typeface="+mn-ea"/>
                <a:cs typeface="+mn-cs"/>
              </a:rPr>
              <a:t>scipy.stats</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statistical tests</a:t>
            </a:r>
          </a:p>
          <a:p>
            <a:r>
              <a:rPr lang="en-US" sz="1200" b="0" i="0" kern="1200" dirty="0" err="1">
                <a:solidFill>
                  <a:schemeClr val="tx1"/>
                </a:solidFill>
                <a:effectLst/>
                <a:latin typeface="+mn-lt"/>
                <a:ea typeface="+mn-ea"/>
                <a:cs typeface="+mn-cs"/>
              </a:rPr>
              <a:t>Statsmodels</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BH FDR correction (</a:t>
            </a:r>
            <a:r>
              <a:rPr lang="en-US" sz="1200" b="0" i="0" kern="1200" dirty="0" err="1">
                <a:solidFill>
                  <a:schemeClr val="tx1"/>
                </a:solidFill>
                <a:effectLst/>
                <a:latin typeface="+mn-lt"/>
                <a:ea typeface="+mn-ea"/>
                <a:cs typeface="+mn-cs"/>
              </a:rPr>
              <a:t>multipletests</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matplotlib, seaborn</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visualization</a:t>
            </a:r>
          </a:p>
          <a:p>
            <a:br>
              <a:rPr lang="en-US" dirty="0"/>
            </a:br>
            <a:endParaRPr lang="he-IL" dirty="0"/>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3/19/26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3/19/26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3/19/26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3/19/26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3/19/26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3/19/26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3/19/26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3/19/26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3/19/26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3/19/26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3/19/26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3/19/26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3321651" y="4002227"/>
            <a:ext cx="5548698" cy="1384995"/>
          </a:xfrm>
          <a:prstGeom prst="rect">
            <a:avLst/>
          </a:prstGeom>
          <a:noFill/>
        </p:spPr>
        <p:txBody>
          <a:bodyPr wrap="none" rtlCol="0">
            <a:spAutoFit/>
          </a:bodyPr>
          <a:lstStyle/>
          <a:p>
            <a:pPr algn="ctr"/>
            <a:r>
              <a:rPr lang="en-IL" sz="2800" dirty="0">
                <a:solidFill>
                  <a:schemeClr val="bg1"/>
                </a:solidFill>
              </a:rPr>
              <a:t>Cancer Bioinformatics - Final Project</a:t>
            </a:r>
          </a:p>
          <a:p>
            <a:pPr algn="ctr"/>
            <a:r>
              <a:rPr lang="en-IL" sz="2800" dirty="0">
                <a:solidFill>
                  <a:schemeClr val="bg1"/>
                </a:solidFill>
              </a:rPr>
              <a:t>Ornit Bhonkar</a:t>
            </a:r>
          </a:p>
          <a:p>
            <a:pPr algn="ctr"/>
            <a:r>
              <a:rPr lang="en-IL" sz="28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69" y="2054792"/>
            <a:ext cx="5706109" cy="3560733"/>
          </a:xfrm>
        </p:spPr>
        <p:txBody>
          <a:bodyPr>
            <a:normAutofit/>
          </a:bodyPr>
          <a:lstStyle/>
          <a:p>
            <a:r>
              <a:rPr lang="en-US" sz="2400" dirty="0"/>
              <a:t>A stretch of DNA where the number of copies differs from the normal two copies.</a:t>
            </a:r>
          </a:p>
          <a:p>
            <a:pPr lvl="1"/>
            <a:r>
              <a:rPr lang="he-IL" sz="2000" dirty="0"/>
              <a:t>   </a:t>
            </a:r>
            <a:r>
              <a:rPr lang="en-US" sz="2000" dirty="0"/>
              <a:t>copies → </a:t>
            </a:r>
            <a:r>
              <a:rPr lang="he-IL" sz="2000" dirty="0"/>
              <a:t>   </a:t>
            </a:r>
            <a:r>
              <a:rPr lang="en-US" sz="2000" dirty="0"/>
              <a:t>RNA → </a:t>
            </a:r>
            <a:r>
              <a:rPr lang="he-IL" sz="2000" dirty="0"/>
              <a:t>   </a:t>
            </a:r>
            <a:r>
              <a:rPr lang="en-US" sz="2000" dirty="0"/>
              <a:t>protein</a:t>
            </a:r>
          </a:p>
          <a:p>
            <a:pPr lvl="1"/>
            <a:r>
              <a:rPr lang="he-IL" sz="2000" dirty="0"/>
              <a:t>   </a:t>
            </a:r>
            <a:r>
              <a:rPr lang="en-US" sz="2000" dirty="0"/>
              <a:t>copies → </a:t>
            </a:r>
            <a:r>
              <a:rPr lang="he-IL" sz="2000" dirty="0"/>
              <a:t> </a:t>
            </a:r>
            <a:r>
              <a:rPr lang="en-US" sz="2000" dirty="0"/>
              <a:t> </a:t>
            </a:r>
            <a:r>
              <a:rPr lang="he-IL" sz="2000" dirty="0"/>
              <a:t> </a:t>
            </a:r>
            <a:r>
              <a:rPr lang="en-US" sz="2000" dirty="0"/>
              <a:t>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0" name="TextBox 9">
            <a:extLst>
              <a:ext uri="{FF2B5EF4-FFF2-40B4-BE49-F238E27FC236}">
                <a16:creationId xmlns:a16="http://schemas.microsoft.com/office/drawing/2014/main" id="{3951447A-2D47-8269-33CF-EF6CBA2182A3}"/>
              </a:ext>
            </a:extLst>
          </p:cNvPr>
          <p:cNvSpPr txBox="1"/>
          <p:nvPr/>
        </p:nvSpPr>
        <p:spPr>
          <a:xfrm>
            <a:off x="1982916" y="5446207"/>
            <a:ext cx="4537570" cy="861774"/>
          </a:xfrm>
          <a:prstGeom prst="rect">
            <a:avLst/>
          </a:prstGeom>
          <a:noFill/>
        </p:spPr>
        <p:txBody>
          <a:bodyPr wrap="square" rtlCol="0">
            <a:spAutoFit/>
          </a:bodyPr>
          <a:lstStyle/>
          <a:p>
            <a:pPr algn="ctr"/>
            <a:r>
              <a:rPr lang="en-US" b="1" dirty="0"/>
              <a:t>(number of base pairs with</a:t>
            </a:r>
            <a:endParaRPr lang="he-IL" b="1" dirty="0"/>
          </a:p>
          <a:p>
            <a:pPr algn="ctr"/>
            <a:r>
              <a:rPr lang="en-US" b="1" dirty="0"/>
              <a:t>copy number gain or loss)</a:t>
            </a:r>
            <a:endParaRPr lang="en-US" dirty="0"/>
          </a:p>
          <a:p>
            <a:pPr algn="ctr"/>
            <a:r>
              <a:rPr lang="he-IL" sz="1200" dirty="0"/>
              <a:t>__________________________________________</a:t>
            </a:r>
            <a:endParaRPr lang="en-IL" sz="1200" dirty="0"/>
          </a:p>
        </p:txBody>
      </p:sp>
      <p:sp>
        <p:nvSpPr>
          <p:cNvPr id="15" name="TextBox 14">
            <a:extLst>
              <a:ext uri="{FF2B5EF4-FFF2-40B4-BE49-F238E27FC236}">
                <a16:creationId xmlns:a16="http://schemas.microsoft.com/office/drawing/2014/main" id="{A02A50E2-0749-D037-202D-B1C97392B1B0}"/>
              </a:ext>
            </a:extLst>
          </p:cNvPr>
          <p:cNvSpPr txBox="1"/>
          <p:nvPr/>
        </p:nvSpPr>
        <p:spPr>
          <a:xfrm>
            <a:off x="538717" y="5479150"/>
            <a:ext cx="1280293" cy="1200329"/>
          </a:xfrm>
          <a:prstGeom prst="rect">
            <a:avLst/>
          </a:prstGeom>
          <a:noFill/>
        </p:spPr>
        <p:txBody>
          <a:bodyPr wrap="square" rtlCol="0">
            <a:spAutoFit/>
          </a:bodyPr>
          <a:lstStyle/>
          <a:p>
            <a:pPr rtl="1"/>
            <a:r>
              <a:rPr lang="en-US" b="1" dirty="0">
                <a:solidFill>
                  <a:srgbClr val="FF0000"/>
                </a:solidFill>
              </a:rPr>
              <a:t>Fraction Genome Altered (FGA)</a:t>
            </a:r>
            <a:endParaRPr lang="en-IL" dirty="0"/>
          </a:p>
        </p:txBody>
      </p:sp>
      <p:sp>
        <p:nvSpPr>
          <p:cNvPr id="16" name="TextBox 15">
            <a:extLst>
              <a:ext uri="{FF2B5EF4-FFF2-40B4-BE49-F238E27FC236}">
                <a16:creationId xmlns:a16="http://schemas.microsoft.com/office/drawing/2014/main" id="{E9E03FD2-8AFA-095B-15B1-E939AF3DF244}"/>
              </a:ext>
            </a:extLst>
          </p:cNvPr>
          <p:cNvSpPr txBox="1"/>
          <p:nvPr/>
        </p:nvSpPr>
        <p:spPr>
          <a:xfrm>
            <a:off x="1816180" y="5894648"/>
            <a:ext cx="364202" cy="461665"/>
          </a:xfrm>
          <a:prstGeom prst="rect">
            <a:avLst/>
          </a:prstGeom>
          <a:noFill/>
        </p:spPr>
        <p:txBody>
          <a:bodyPr wrap="none" rtlCol="0">
            <a:spAutoFit/>
          </a:bodyPr>
          <a:lstStyle/>
          <a:p>
            <a:pPr marL="0" algn="r" defTabSz="457200" rtl="1" eaLnBrk="1" latinLnBrk="0" hangingPunct="1"/>
            <a:r>
              <a:rPr lang="he-IL" sz="2400" dirty="0"/>
              <a:t>=</a:t>
            </a:r>
            <a:endParaRPr lang="en-IL" sz="2400" dirty="0"/>
          </a:p>
        </p:txBody>
      </p:sp>
      <p:sp>
        <p:nvSpPr>
          <p:cNvPr id="17" name="TextBox 16">
            <a:extLst>
              <a:ext uri="{FF2B5EF4-FFF2-40B4-BE49-F238E27FC236}">
                <a16:creationId xmlns:a16="http://schemas.microsoft.com/office/drawing/2014/main" id="{7664A01E-F97B-1E8C-7323-7A19C70DF8C7}"/>
              </a:ext>
            </a:extLst>
          </p:cNvPr>
          <p:cNvSpPr txBox="1"/>
          <p:nvPr/>
        </p:nvSpPr>
        <p:spPr>
          <a:xfrm>
            <a:off x="2806914" y="6312380"/>
            <a:ext cx="2889574" cy="369332"/>
          </a:xfrm>
          <a:prstGeom prst="rect">
            <a:avLst/>
          </a:prstGeom>
          <a:noFill/>
        </p:spPr>
        <p:txBody>
          <a:bodyPr wrap="none" rtlCol="0">
            <a:spAutoFit/>
          </a:bodyPr>
          <a:lstStyle/>
          <a:p>
            <a:pPr algn="r" rtl="1"/>
            <a:r>
              <a:rPr lang="en-US" b="1" dirty="0"/>
              <a:t>(total base pairs profiled)</a:t>
            </a:r>
            <a:endParaRPr lang="en-IL" dirty="0"/>
          </a:p>
        </p:txBody>
      </p:sp>
      <p:sp>
        <p:nvSpPr>
          <p:cNvPr id="19" name="Down Arrow 18">
            <a:extLst>
              <a:ext uri="{FF2B5EF4-FFF2-40B4-BE49-F238E27FC236}">
                <a16:creationId xmlns:a16="http://schemas.microsoft.com/office/drawing/2014/main" id="{1615CDF4-29E7-1281-FF3C-8851781293A4}"/>
              </a:ext>
            </a:extLst>
          </p:cNvPr>
          <p:cNvSpPr/>
          <p:nvPr/>
        </p:nvSpPr>
        <p:spPr>
          <a:xfrm>
            <a:off x="1346792" y="4165688"/>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0" name="Down Arrow 19">
            <a:extLst>
              <a:ext uri="{FF2B5EF4-FFF2-40B4-BE49-F238E27FC236}">
                <a16:creationId xmlns:a16="http://schemas.microsoft.com/office/drawing/2014/main" id="{B652A589-60E1-219C-4767-B1457DE37F46}"/>
              </a:ext>
            </a:extLst>
          </p:cNvPr>
          <p:cNvSpPr/>
          <p:nvPr/>
        </p:nvSpPr>
        <p:spPr>
          <a:xfrm>
            <a:off x="2601353" y="4177036"/>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1" name="Down Arrow 20">
            <a:extLst>
              <a:ext uri="{FF2B5EF4-FFF2-40B4-BE49-F238E27FC236}">
                <a16:creationId xmlns:a16="http://schemas.microsoft.com/office/drawing/2014/main" id="{B837372D-F0E1-DD72-35FE-69007F005E83}"/>
              </a:ext>
            </a:extLst>
          </p:cNvPr>
          <p:cNvSpPr/>
          <p:nvPr/>
        </p:nvSpPr>
        <p:spPr>
          <a:xfrm rot="10800000">
            <a:off x="1346791"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2" name="Down Arrow 21">
            <a:extLst>
              <a:ext uri="{FF2B5EF4-FFF2-40B4-BE49-F238E27FC236}">
                <a16:creationId xmlns:a16="http://schemas.microsoft.com/office/drawing/2014/main" id="{EBBC11A4-FD48-A96F-CA7C-93D4B47CF5A8}"/>
              </a:ext>
            </a:extLst>
          </p:cNvPr>
          <p:cNvSpPr/>
          <p:nvPr/>
        </p:nvSpPr>
        <p:spPr>
          <a:xfrm rot="10800000">
            <a:off x="2601353" y="369424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3" name="Down Arrow 22">
            <a:extLst>
              <a:ext uri="{FF2B5EF4-FFF2-40B4-BE49-F238E27FC236}">
                <a16:creationId xmlns:a16="http://schemas.microsoft.com/office/drawing/2014/main" id="{0A19F019-0476-9785-84CC-F0FF1420E352}"/>
              </a:ext>
            </a:extLst>
          </p:cNvPr>
          <p:cNvSpPr/>
          <p:nvPr/>
        </p:nvSpPr>
        <p:spPr>
          <a:xfrm rot="10800000">
            <a:off x="3753133"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sp>
        <p:nvSpPr>
          <p:cNvPr id="28" name="TextBox 27">
            <a:extLst>
              <a:ext uri="{FF2B5EF4-FFF2-40B4-BE49-F238E27FC236}">
                <a16:creationId xmlns:a16="http://schemas.microsoft.com/office/drawing/2014/main" id="{71428924-C3F8-AD23-A029-7B41748237E3}"/>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7FB8F06D-FC26-5F60-BF33-6284F4203DE4}"/>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1028" name="Picture 4" descr="Fig. 2: Comprehensive mutational scanning of TP53.">
            <a:extLst>
              <a:ext uri="{FF2B5EF4-FFF2-40B4-BE49-F238E27FC236}">
                <a16:creationId xmlns:a16="http://schemas.microsoft.com/office/drawing/2014/main" id="{B34741D3-1514-3CD8-E18E-B25A3C46E46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784" t="3317" r="71211" b="77069"/>
          <a:stretch>
            <a:fillRect/>
          </a:stretch>
        </p:blipFill>
        <p:spPr bwMode="auto">
          <a:xfrm>
            <a:off x="8619550" y="2030181"/>
            <a:ext cx="3112039" cy="1814294"/>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2017DD6-D740-DA0B-9FD4-35A26585108D}"/>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t>Calculate Functional Score</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8942A983-A5F6-ABFD-0224-23DB26EE91EE}"/>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31" name="TextBox 30">
            <a:extLst>
              <a:ext uri="{FF2B5EF4-FFF2-40B4-BE49-F238E27FC236}">
                <a16:creationId xmlns:a16="http://schemas.microsoft.com/office/drawing/2014/main" id="{3D260321-9767-EB34-9D32-B3E6B7A5E920}"/>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2050" name="Picture 2" descr="Fig. 2: Comprehensive mutational scanning of TP53.">
            <a:extLst>
              <a:ext uri="{FF2B5EF4-FFF2-40B4-BE49-F238E27FC236}">
                <a16:creationId xmlns:a16="http://schemas.microsoft.com/office/drawing/2014/main" id="{CF0DE577-6944-CDF6-5AC2-08D75F2FD64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77" t="28507" r="68816" b="51724"/>
          <a:stretch>
            <a:fillRect/>
          </a:stretch>
        </p:blipFill>
        <p:spPr bwMode="auto">
          <a:xfrm>
            <a:off x="7990286" y="1978178"/>
            <a:ext cx="3771741" cy="1826083"/>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E2C4D7A4-18DC-99E0-5260-56985152EFDE}"/>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t>Calculate Functional Score</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C068C0E7-73EB-621D-7356-C23796AAF798}"/>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C179F1FA-36D8-4879-074A-1A5D6C93F38A}"/>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1" name="TextBox 10">
            <a:extLst>
              <a:ext uri="{FF2B5EF4-FFF2-40B4-BE49-F238E27FC236}">
                <a16:creationId xmlns:a16="http://schemas.microsoft.com/office/drawing/2014/main" id="{52F7814D-2864-116E-71FD-D49FD17CE8AB}"/>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solidFill>
                  <a:srgbClr val="903063"/>
                </a:solidFill>
              </a:rPr>
              <a:t>Calculate Functional Score</a:t>
            </a:r>
          </a:p>
        </p:txBody>
      </p:sp>
      <p:sp>
        <p:nvSpPr>
          <p:cNvPr id="12" name="TextBox 11">
            <a:extLst>
              <a:ext uri="{FF2B5EF4-FFF2-40B4-BE49-F238E27FC236}">
                <a16:creationId xmlns:a16="http://schemas.microsoft.com/office/drawing/2014/main" id="{C3937F33-FAFC-5F41-1DB1-44F6F9FB5B3D}"/>
              </a:ext>
            </a:extLst>
          </p:cNvPr>
          <p:cNvSpPr txBox="1"/>
          <p:nvPr/>
        </p:nvSpPr>
        <p:spPr>
          <a:xfrm>
            <a:off x="8712017" y="2377178"/>
            <a:ext cx="3092506" cy="1123384"/>
          </a:xfrm>
          <a:prstGeom prst="rect">
            <a:avLst/>
          </a:prstGeom>
          <a:noFill/>
        </p:spPr>
        <p:txBody>
          <a:bodyPr wrap="square" rtlCol="0">
            <a:spAutoFit/>
          </a:bodyPr>
          <a:lstStyle/>
          <a:p>
            <a:pPr algn="ctr"/>
            <a:r>
              <a:rPr lang="en-US" sz="1400" dirty="0"/>
              <a:t>[Z(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a:t>
            </a:r>
          </a:p>
          <a:p>
            <a:pPr algn="ctr"/>
            <a:r>
              <a:rPr lang="en-US" sz="1400" dirty="0"/>
              <a:t>____________________________</a:t>
            </a:r>
          </a:p>
          <a:p>
            <a:pPr algn="ctr"/>
            <a:endParaRPr lang="en-US" sz="1100" dirty="0"/>
          </a:p>
          <a:p>
            <a:pPr algn="ctr"/>
            <a:r>
              <a:rPr lang="en-US" sz="1400" dirty="0"/>
              <a:t>3</a:t>
            </a:r>
          </a:p>
        </p:txBody>
      </p:sp>
      <p:sp>
        <p:nvSpPr>
          <p:cNvPr id="13" name="TextBox 12">
            <a:extLst>
              <a:ext uri="{FF2B5EF4-FFF2-40B4-BE49-F238E27FC236}">
                <a16:creationId xmlns:a16="http://schemas.microsoft.com/office/drawing/2014/main" id="{75673C05-49DD-3F2C-6DF9-6F2930A59569}"/>
              </a:ext>
            </a:extLst>
          </p:cNvPr>
          <p:cNvSpPr txBox="1"/>
          <p:nvPr/>
        </p:nvSpPr>
        <p:spPr>
          <a:xfrm>
            <a:off x="8044920" y="2870577"/>
            <a:ext cx="514885" cy="369332"/>
          </a:xfrm>
          <a:prstGeom prst="rect">
            <a:avLst/>
          </a:prstGeom>
          <a:noFill/>
        </p:spPr>
        <p:txBody>
          <a:bodyPr wrap="none" rtlCol="0">
            <a:spAutoFit/>
          </a:bodyPr>
          <a:lstStyle/>
          <a:p>
            <a:r>
              <a:rPr lang="en-IL" dirty="0"/>
              <a:t>EFS</a:t>
            </a:r>
          </a:p>
        </p:txBody>
      </p:sp>
      <p:sp>
        <p:nvSpPr>
          <p:cNvPr id="21" name="TextBox 20">
            <a:extLst>
              <a:ext uri="{FF2B5EF4-FFF2-40B4-BE49-F238E27FC236}">
                <a16:creationId xmlns:a16="http://schemas.microsoft.com/office/drawing/2014/main" id="{B80031CB-6D8D-D75F-F5C7-B4AB49F1FB13}"/>
              </a:ext>
            </a:extLst>
          </p:cNvPr>
          <p:cNvSpPr txBox="1"/>
          <p:nvPr/>
        </p:nvSpPr>
        <p:spPr>
          <a:xfrm>
            <a:off x="8552358" y="2870577"/>
            <a:ext cx="319318" cy="369332"/>
          </a:xfrm>
          <a:prstGeom prst="rect">
            <a:avLst/>
          </a:prstGeom>
          <a:noFill/>
        </p:spPr>
        <p:txBody>
          <a:bodyPr wrap="none" rtlCol="0">
            <a:spAutoFit/>
          </a:bodyPr>
          <a:lstStyle/>
          <a:p>
            <a:r>
              <a:rPr lang="en-IL" dirty="0"/>
              <a:t>=</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616688" y="2475595"/>
            <a:ext cx="10958623" cy="3572037"/>
          </a:xfrm>
        </p:spPr>
        <p:txBody>
          <a:bodyPr anchor="ctr">
            <a:normAutofit/>
          </a:bodyPr>
          <a:lstStyle/>
          <a:p>
            <a:pPr marL="0" indent="0" algn="ctr">
              <a:buNone/>
            </a:pPr>
            <a:r>
              <a:rPr lang="en-US" sz="4000" dirty="0"/>
              <a:t>Patients with TP53 mutations that have</a:t>
            </a:r>
            <a:r>
              <a:rPr lang="he-IL" sz="4000" dirty="0"/>
              <a:t> </a:t>
            </a:r>
            <a:r>
              <a:rPr lang="en-US" sz="4000" dirty="0"/>
              <a:t>the</a:t>
            </a:r>
            <a:endParaRPr lang="he-IL" sz="4000" dirty="0"/>
          </a:p>
          <a:p>
            <a:pPr marL="0" indent="0" algn="ctr">
              <a:buNone/>
            </a:pPr>
            <a:r>
              <a:rPr lang="en-US" sz="4000" dirty="0"/>
              <a:t>lowest</a:t>
            </a:r>
            <a:r>
              <a:rPr lang="he-IL" sz="4000" dirty="0"/>
              <a:t> </a:t>
            </a:r>
            <a:r>
              <a:rPr lang="en-US" sz="4000" dirty="0">
                <a:solidFill>
                  <a:srgbClr val="00B050"/>
                </a:solidFill>
              </a:rPr>
              <a:t>experimental function scores (EFS) </a:t>
            </a:r>
            <a:r>
              <a:rPr lang="en-US" sz="4000" dirty="0"/>
              <a:t>will show </a:t>
            </a:r>
            <a:endParaRPr lang="he-IL" sz="4000" dirty="0"/>
          </a:p>
          <a:p>
            <a:pPr marL="0" indent="0" algn="ctr">
              <a:buNone/>
            </a:pPr>
            <a:r>
              <a:rPr lang="en-US" sz="4000" dirty="0"/>
              <a:t>the highest </a:t>
            </a:r>
            <a:r>
              <a:rPr lang="en-US" sz="4000" dirty="0">
                <a:solidFill>
                  <a:srgbClr val="FF0000"/>
                </a:solidFill>
              </a:rPr>
              <a:t>Fraction Genome Altered (FGA)</a:t>
            </a:r>
            <a:endParaRPr lang="en-IL" sz="4000" dirty="0">
              <a:solidFill>
                <a:srgbClr val="FF0000"/>
              </a:solidFill>
            </a:endParaRPr>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iNITIAL</a:t>
            </a:r>
            <a:r>
              <a:rPr lang="en-US" dirty="0"/>
              <a:t> 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784289" y="2018271"/>
            <a:ext cx="3981164" cy="3880773"/>
          </a:xfrm>
        </p:spPr>
        <p:txBody>
          <a:bodyPr>
            <a:normAutofit/>
          </a:bodyPr>
          <a:lstStyle/>
          <a:p>
            <a:pPr>
              <a:buFont typeface="Wingdings" pitchFamily="2" charset="2"/>
              <a:buChar char="Ø"/>
            </a:pPr>
            <a:r>
              <a:rPr lang="en-US" dirty="0"/>
              <a:t>Giacomelli et al., Nature Genetics, 2018 (25,217 variants, 8,274 unique)</a:t>
            </a:r>
          </a:p>
          <a:p>
            <a:pPr>
              <a:buFont typeface="Wingdings" pitchFamily="2" charset="2"/>
              <a:buChar char="Ø"/>
            </a:pPr>
            <a:r>
              <a:rPr lang="en-US" dirty="0"/>
              <a:t>Role: Experimental "fitness" scores for every possible TP53 mutation - </a:t>
            </a:r>
            <a:r>
              <a:rPr lang="en-US" u="sng" dirty="0"/>
              <a:t>the genotype</a:t>
            </a:r>
          </a:p>
          <a:p>
            <a:pPr>
              <a:buFont typeface="Wingdings" pitchFamily="2" charset="2"/>
              <a:buChar char="Ø"/>
            </a:pPr>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1426547" y="2306927"/>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itchFamily="2" charset="2"/>
              <a:buChar char="Ø"/>
            </a:pPr>
            <a:r>
              <a:rPr lang="en-US" dirty="0"/>
              <a:t>AACR GENIE v19.0 (~271,000 samples, 100,418 with FGA).</a:t>
            </a:r>
          </a:p>
          <a:p>
            <a:pPr>
              <a:buFont typeface="Wingdings" pitchFamily="2" charset="2"/>
              <a:buChar char="Ø"/>
            </a:pPr>
            <a:r>
              <a:rPr lang="en-US" dirty="0"/>
              <a:t>Role: Real-world patient data - </a:t>
            </a:r>
            <a:r>
              <a:rPr lang="en-US" u="sng" dirty="0"/>
              <a:t>the phenotype</a:t>
            </a:r>
          </a:p>
          <a:p>
            <a:pPr>
              <a:buFont typeface="Wingdings" pitchFamily="2" charset="2"/>
              <a:buChar char="Ø"/>
            </a:pPr>
            <a:r>
              <a:rPr lang="en-US" dirty="0"/>
              <a:t>Metric: FRACTION_GENOME_ALTERED (FGA), a quantitative measure of chromosomal instability</a:t>
            </a:r>
          </a:p>
          <a:p>
            <a:pPr>
              <a:buFont typeface="Wingdings" pitchFamily="2" charset="2"/>
              <a:buChar char="Ø"/>
            </a:pPr>
            <a:r>
              <a:rPr lang="en-US" dirty="0"/>
              <a:t>35,357 TP53-mutant</a:t>
            </a:r>
          </a:p>
          <a:p>
            <a:pPr>
              <a:buFont typeface="Wingdings" pitchFamily="2" charset="2"/>
              <a:buChar char="Ø"/>
            </a:pPr>
            <a:r>
              <a:rPr lang="en-US" dirty="0"/>
              <a:t>65,061 TP53-WT</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896807" y="6074821"/>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3" name="Picture 2">
            <a:extLst>
              <a:ext uri="{FF2B5EF4-FFF2-40B4-BE49-F238E27FC236}">
                <a16:creationId xmlns:a16="http://schemas.microsoft.com/office/drawing/2014/main" id="{27C1CB25-1DF6-0CAF-F6B5-069EF6524031}"/>
              </a:ext>
            </a:extLst>
          </p:cNvPr>
          <p:cNvPicPr>
            <a:picLocks noChangeAspect="1"/>
          </p:cNvPicPr>
          <p:nvPr/>
        </p:nvPicPr>
        <p:blipFill>
          <a:blip r:embed="rId3"/>
          <a:srcRect r="50000"/>
          <a:stretch>
            <a:fillRect/>
          </a:stretch>
        </p:blipFill>
        <p:spPr>
          <a:xfrm>
            <a:off x="3817096" y="2064852"/>
            <a:ext cx="4553129" cy="3948596"/>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changes its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Constrains and future directions</a:t>
            </a:r>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11391</TotalTime>
  <Words>2591</Words>
  <Application>Microsoft Macintosh PowerPoint</Application>
  <PresentationFormat>Widescreen</PresentationFormat>
  <Paragraphs>207</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Abadi MT Condensed Light</vt:lpstr>
      <vt:lpstr>Aptos</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574</cp:revision>
  <dcterms:created xsi:type="dcterms:W3CDTF">2026-01-27T21:31:11Z</dcterms:created>
  <dcterms:modified xsi:type="dcterms:W3CDTF">2026-03-18T23:14:46Z</dcterms:modified>
</cp:coreProperties>
</file>