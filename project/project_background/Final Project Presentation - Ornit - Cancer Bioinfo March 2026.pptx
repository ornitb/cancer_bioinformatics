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97" r:id="rId1"/>
  </p:sldMasterIdLst>
  <p:notesMasterIdLst>
    <p:notesMasterId r:id="rId23"/>
  </p:notesMasterIdLst>
  <p:sldIdLst>
    <p:sldId id="256" r:id="rId2"/>
    <p:sldId id="359" r:id="rId3"/>
    <p:sldId id="358" r:id="rId4"/>
    <p:sldId id="360" r:id="rId5"/>
    <p:sldId id="363" r:id="rId6"/>
    <p:sldId id="364" r:id="rId7"/>
    <p:sldId id="265" r:id="rId8"/>
    <p:sldId id="259" r:id="rId9"/>
    <p:sldId id="272" r:id="rId10"/>
    <p:sldId id="273" r:id="rId11"/>
    <p:sldId id="271" r:id="rId12"/>
    <p:sldId id="366" r:id="rId13"/>
    <p:sldId id="367" r:id="rId14"/>
    <p:sldId id="368" r:id="rId15"/>
    <p:sldId id="374" r:id="rId16"/>
    <p:sldId id="369" r:id="rId17"/>
    <p:sldId id="365" r:id="rId18"/>
    <p:sldId id="370" r:id="rId19"/>
    <p:sldId id="371" r:id="rId20"/>
    <p:sldId id="372" r:id="rId21"/>
    <p:sldId id="3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6A0A7"/>
    <a:srgbClr val="903063"/>
    <a:srgbClr val="4D14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337"/>
    <p:restoredTop sz="86943"/>
  </p:normalViewPr>
  <p:slideViewPr>
    <p:cSldViewPr snapToGrid="0">
      <p:cViewPr>
        <p:scale>
          <a:sx n="120" d="100"/>
          <a:sy n="120" d="100"/>
        </p:scale>
        <p:origin x="296" y="21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_rels/drawing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image" Target="../media/image4.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83F21B75-5146-4195-9459-51C622777FCC}"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9BBC8A45-8DB2-4A0C-82DF-AAFEED00AC93}">
      <dgm:prSet/>
      <dgm:spPr/>
      <dgm:t>
        <a:bodyPr/>
        <a:lstStyle/>
        <a:p>
          <a:r>
            <a:rPr lang="en-US" dirty="0"/>
            <a:t>Is there a correlation between the experimental TP53 EFS</a:t>
          </a:r>
          <a:r>
            <a:rPr lang="he-IL" dirty="0"/>
            <a:t> </a:t>
          </a:r>
          <a:r>
            <a:rPr lang="en-US" dirty="0"/>
            <a:t>(Giacomelli et al.) and patient FGA (GENIE)?</a:t>
          </a:r>
        </a:p>
      </dgm:t>
    </dgm:pt>
    <dgm:pt modelId="{EBB82DBD-5FA3-40DD-9047-DB7B10450E9D}" type="parTrans" cxnId="{4A8B65DD-CC61-47F9-AEED-E83FDB2C97AE}">
      <dgm:prSet/>
      <dgm:spPr/>
      <dgm:t>
        <a:bodyPr/>
        <a:lstStyle/>
        <a:p>
          <a:endParaRPr lang="en-US"/>
        </a:p>
      </dgm:t>
    </dgm:pt>
    <dgm:pt modelId="{641914C6-6F3E-4C04-B6C1-45E8B6E8A99A}" type="sibTrans" cxnId="{4A8B65DD-CC61-47F9-AEED-E83FDB2C97AE}">
      <dgm:prSet/>
      <dgm:spPr/>
      <dgm:t>
        <a:bodyPr/>
        <a:lstStyle/>
        <a:p>
          <a:endParaRPr lang="en-US"/>
        </a:p>
      </dgm:t>
    </dgm:pt>
    <dgm:pt modelId="{D509BDE4-52F2-4A30-93B1-9C4AA34B8A00}">
      <dgm:prSet/>
      <dgm:spPr/>
      <dgm:t>
        <a:bodyPr/>
        <a:lstStyle/>
        <a:p>
          <a:r>
            <a:rPr lang="en-US" dirty="0"/>
            <a:t>Do "Hotspot" mutations drive higher genomic instability than rare mutations?</a:t>
          </a:r>
        </a:p>
      </dgm:t>
    </dgm:pt>
    <dgm:pt modelId="{146E563D-AE1B-4CA0-A906-6F857769FE4C}" type="parTrans" cxnId="{83FA26EB-E73B-4F0E-A208-0D1ECAEDB441}">
      <dgm:prSet/>
      <dgm:spPr/>
      <dgm:t>
        <a:bodyPr/>
        <a:lstStyle/>
        <a:p>
          <a:endParaRPr lang="en-US"/>
        </a:p>
      </dgm:t>
    </dgm:pt>
    <dgm:pt modelId="{19ACE51A-69C9-45BA-BAF3-5F83594449F4}" type="sibTrans" cxnId="{83FA26EB-E73B-4F0E-A208-0D1ECAEDB441}">
      <dgm:prSet/>
      <dgm:spPr/>
      <dgm:t>
        <a:bodyPr/>
        <a:lstStyle/>
        <a:p>
          <a:endParaRPr lang="en-US"/>
        </a:p>
      </dgm:t>
    </dgm:pt>
    <dgm:pt modelId="{6125D1FD-2174-41C1-B9E9-8AB8CFA1E045}">
      <dgm:prSet/>
      <dgm:spPr/>
      <dgm:t>
        <a:bodyPr/>
        <a:lstStyle/>
        <a:p>
          <a:r>
            <a:rPr lang="en-US" dirty="0"/>
            <a:t>Does this correlation hold true across all cancer types or is it specific to certain tissues?</a:t>
          </a:r>
        </a:p>
      </dgm:t>
    </dgm:pt>
    <dgm:pt modelId="{550F4277-5D36-4853-8A58-BD8E286667AF}" type="parTrans" cxnId="{CE9CEED5-4342-4458-BA70-9F798966922A}">
      <dgm:prSet/>
      <dgm:spPr/>
      <dgm:t>
        <a:bodyPr/>
        <a:lstStyle/>
        <a:p>
          <a:endParaRPr lang="en-US"/>
        </a:p>
      </dgm:t>
    </dgm:pt>
    <dgm:pt modelId="{D1B9CC37-8B92-456D-B2DA-C95951955C33}" type="sibTrans" cxnId="{CE9CEED5-4342-4458-BA70-9F798966922A}">
      <dgm:prSet/>
      <dgm:spPr/>
      <dgm:t>
        <a:bodyPr/>
        <a:lstStyle/>
        <a:p>
          <a:endParaRPr lang="en-US"/>
        </a:p>
      </dgm:t>
    </dgm:pt>
    <dgm:pt modelId="{4858335A-3207-4F5D-B354-CDF132D24DF1}" type="pres">
      <dgm:prSet presAssocID="{83F21B75-5146-4195-9459-51C622777FCC}" presName="root" presStyleCnt="0">
        <dgm:presLayoutVars>
          <dgm:dir/>
          <dgm:resizeHandles val="exact"/>
        </dgm:presLayoutVars>
      </dgm:prSet>
      <dgm:spPr/>
    </dgm:pt>
    <dgm:pt modelId="{BF5EE8C4-A69D-40C5-B324-5843A2199C84}" type="pres">
      <dgm:prSet presAssocID="{9BBC8A45-8DB2-4A0C-82DF-AAFEED00AC93}" presName="compNode" presStyleCnt="0"/>
      <dgm:spPr/>
    </dgm:pt>
    <dgm:pt modelId="{BCB2B71C-9545-43F4-8376-864E42A022A4}" type="pres">
      <dgm:prSet presAssocID="{9BBC8A45-8DB2-4A0C-82DF-AAFEED00AC93}" presName="bgRect" presStyleLbl="bgShp" presStyleIdx="0" presStyleCnt="3"/>
      <dgm:spPr/>
    </dgm:pt>
    <dgm:pt modelId="{18DC14EC-2901-496F-8FEF-55A978EC6F84}" type="pres">
      <dgm:prSet presAssocID="{9BBC8A45-8DB2-4A0C-82DF-AAFEED00AC93}"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cessor"/>
        </a:ext>
      </dgm:extLst>
    </dgm:pt>
    <dgm:pt modelId="{71C848F9-D8F8-449B-A15E-C906710CAEC8}" type="pres">
      <dgm:prSet presAssocID="{9BBC8A45-8DB2-4A0C-82DF-AAFEED00AC93}" presName="spaceRect" presStyleCnt="0"/>
      <dgm:spPr/>
    </dgm:pt>
    <dgm:pt modelId="{C3BC3749-F12B-44EA-AEDB-69785241ABF0}" type="pres">
      <dgm:prSet presAssocID="{9BBC8A45-8DB2-4A0C-82DF-AAFEED00AC93}" presName="parTx" presStyleLbl="revTx" presStyleIdx="0" presStyleCnt="3">
        <dgm:presLayoutVars>
          <dgm:chMax val="0"/>
          <dgm:chPref val="0"/>
        </dgm:presLayoutVars>
      </dgm:prSet>
      <dgm:spPr/>
    </dgm:pt>
    <dgm:pt modelId="{7BA49996-218C-49BC-B8C0-1607C020769C}" type="pres">
      <dgm:prSet presAssocID="{641914C6-6F3E-4C04-B6C1-45E8B6E8A99A}" presName="sibTrans" presStyleCnt="0"/>
      <dgm:spPr/>
    </dgm:pt>
    <dgm:pt modelId="{857074C8-4BA0-4AC9-9F60-83E79CC4E54B}" type="pres">
      <dgm:prSet presAssocID="{D509BDE4-52F2-4A30-93B1-9C4AA34B8A00}" presName="compNode" presStyleCnt="0"/>
      <dgm:spPr/>
    </dgm:pt>
    <dgm:pt modelId="{38BBD7EB-99E3-4E91-A381-FFD8E899A99E}" type="pres">
      <dgm:prSet presAssocID="{D509BDE4-52F2-4A30-93B1-9C4AA34B8A00}" presName="bgRect" presStyleLbl="bgShp" presStyleIdx="1" presStyleCnt="3"/>
      <dgm:spPr/>
    </dgm:pt>
    <dgm:pt modelId="{2A21B101-9457-4CF6-BE8A-092C8EDB98A3}" type="pres">
      <dgm:prSet presAssocID="{D509BDE4-52F2-4A30-93B1-9C4AA34B8A00}" presName="iconRect" presStyleLbl="node1" presStyleIdx="1"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NA"/>
        </a:ext>
      </dgm:extLst>
    </dgm:pt>
    <dgm:pt modelId="{89489B1A-8A70-4907-957A-690FE7B6A587}" type="pres">
      <dgm:prSet presAssocID="{D509BDE4-52F2-4A30-93B1-9C4AA34B8A00}" presName="spaceRect" presStyleCnt="0"/>
      <dgm:spPr/>
    </dgm:pt>
    <dgm:pt modelId="{3D8B549A-F582-407A-8FBE-1DEC81D362E6}" type="pres">
      <dgm:prSet presAssocID="{D509BDE4-52F2-4A30-93B1-9C4AA34B8A00}" presName="parTx" presStyleLbl="revTx" presStyleIdx="1" presStyleCnt="3">
        <dgm:presLayoutVars>
          <dgm:chMax val="0"/>
          <dgm:chPref val="0"/>
        </dgm:presLayoutVars>
      </dgm:prSet>
      <dgm:spPr/>
    </dgm:pt>
    <dgm:pt modelId="{B354B10A-3B39-4AA5-AECC-94BB07B49574}" type="pres">
      <dgm:prSet presAssocID="{19ACE51A-69C9-45BA-BAF3-5F83594449F4}" presName="sibTrans" presStyleCnt="0"/>
      <dgm:spPr/>
    </dgm:pt>
    <dgm:pt modelId="{78B6154E-574F-47A1-9101-EDAE68E3F70F}" type="pres">
      <dgm:prSet presAssocID="{6125D1FD-2174-41C1-B9E9-8AB8CFA1E045}" presName="compNode" presStyleCnt="0"/>
      <dgm:spPr/>
    </dgm:pt>
    <dgm:pt modelId="{4D29B9D9-CAA4-4473-AC64-F3635AD81E37}" type="pres">
      <dgm:prSet presAssocID="{6125D1FD-2174-41C1-B9E9-8AB8CFA1E045}" presName="bgRect" presStyleLbl="bgShp" presStyleIdx="2" presStyleCnt="3"/>
      <dgm:spPr/>
    </dgm:pt>
    <dgm:pt modelId="{008FA23B-86AA-437F-8BC3-11F23665006F}" type="pres">
      <dgm:prSet presAssocID="{6125D1FD-2174-41C1-B9E9-8AB8CFA1E045}"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Kidney"/>
        </a:ext>
      </dgm:extLst>
    </dgm:pt>
    <dgm:pt modelId="{D8258EA5-3BDF-4701-8056-5F8449A081E1}" type="pres">
      <dgm:prSet presAssocID="{6125D1FD-2174-41C1-B9E9-8AB8CFA1E045}" presName="spaceRect" presStyleCnt="0"/>
      <dgm:spPr/>
    </dgm:pt>
    <dgm:pt modelId="{EAB5C3A8-791F-442C-A264-0491E2C1EBEF}" type="pres">
      <dgm:prSet presAssocID="{6125D1FD-2174-41C1-B9E9-8AB8CFA1E045}" presName="parTx" presStyleLbl="revTx" presStyleIdx="2" presStyleCnt="3">
        <dgm:presLayoutVars>
          <dgm:chMax val="0"/>
          <dgm:chPref val="0"/>
        </dgm:presLayoutVars>
      </dgm:prSet>
      <dgm:spPr/>
    </dgm:pt>
  </dgm:ptLst>
  <dgm:cxnLst>
    <dgm:cxn modelId="{506A3531-DFD8-4F62-AE1A-5F4A38ECDFC8}" type="presOf" srcId="{6125D1FD-2174-41C1-B9E9-8AB8CFA1E045}" destId="{EAB5C3A8-791F-442C-A264-0491E2C1EBEF}" srcOrd="0" destOrd="0" presId="urn:microsoft.com/office/officeart/2018/2/layout/IconVerticalSolidList"/>
    <dgm:cxn modelId="{427E1CA8-135A-4618-9B43-0DC1200E10B2}" type="presOf" srcId="{83F21B75-5146-4195-9459-51C622777FCC}" destId="{4858335A-3207-4F5D-B354-CDF132D24DF1}" srcOrd="0" destOrd="0" presId="urn:microsoft.com/office/officeart/2018/2/layout/IconVerticalSolidList"/>
    <dgm:cxn modelId="{4EA579C1-ED55-4726-9271-0AFB9BEE1F3A}" type="presOf" srcId="{9BBC8A45-8DB2-4A0C-82DF-AAFEED00AC93}" destId="{C3BC3749-F12B-44EA-AEDB-69785241ABF0}" srcOrd="0" destOrd="0" presId="urn:microsoft.com/office/officeart/2018/2/layout/IconVerticalSolidList"/>
    <dgm:cxn modelId="{CE9CEED5-4342-4458-BA70-9F798966922A}" srcId="{83F21B75-5146-4195-9459-51C622777FCC}" destId="{6125D1FD-2174-41C1-B9E9-8AB8CFA1E045}" srcOrd="2" destOrd="0" parTransId="{550F4277-5D36-4853-8A58-BD8E286667AF}" sibTransId="{D1B9CC37-8B92-456D-B2DA-C95951955C33}"/>
    <dgm:cxn modelId="{4A8B65DD-CC61-47F9-AEED-E83FDB2C97AE}" srcId="{83F21B75-5146-4195-9459-51C622777FCC}" destId="{9BBC8A45-8DB2-4A0C-82DF-AAFEED00AC93}" srcOrd="0" destOrd="0" parTransId="{EBB82DBD-5FA3-40DD-9047-DB7B10450E9D}" sibTransId="{641914C6-6F3E-4C04-B6C1-45E8B6E8A99A}"/>
    <dgm:cxn modelId="{A19F6FE4-A2C2-4350-BD61-7F906E66F3C0}" type="presOf" srcId="{D509BDE4-52F2-4A30-93B1-9C4AA34B8A00}" destId="{3D8B549A-F582-407A-8FBE-1DEC81D362E6}" srcOrd="0" destOrd="0" presId="urn:microsoft.com/office/officeart/2018/2/layout/IconVerticalSolidList"/>
    <dgm:cxn modelId="{83FA26EB-E73B-4F0E-A208-0D1ECAEDB441}" srcId="{83F21B75-5146-4195-9459-51C622777FCC}" destId="{D509BDE4-52F2-4A30-93B1-9C4AA34B8A00}" srcOrd="1" destOrd="0" parTransId="{146E563D-AE1B-4CA0-A906-6F857769FE4C}" sibTransId="{19ACE51A-69C9-45BA-BAF3-5F83594449F4}"/>
    <dgm:cxn modelId="{D6C12E9F-8FCD-4B34-9F59-034795BB93AB}" type="presParOf" srcId="{4858335A-3207-4F5D-B354-CDF132D24DF1}" destId="{BF5EE8C4-A69D-40C5-B324-5843A2199C84}" srcOrd="0" destOrd="0" presId="urn:microsoft.com/office/officeart/2018/2/layout/IconVerticalSolidList"/>
    <dgm:cxn modelId="{50B6D364-B026-49E7-8701-37489D4C61A2}" type="presParOf" srcId="{BF5EE8C4-A69D-40C5-B324-5843A2199C84}" destId="{BCB2B71C-9545-43F4-8376-864E42A022A4}" srcOrd="0" destOrd="0" presId="urn:microsoft.com/office/officeart/2018/2/layout/IconVerticalSolidList"/>
    <dgm:cxn modelId="{EC22320A-B812-4EE9-AF60-611C61958AC3}" type="presParOf" srcId="{BF5EE8C4-A69D-40C5-B324-5843A2199C84}" destId="{18DC14EC-2901-496F-8FEF-55A978EC6F84}" srcOrd="1" destOrd="0" presId="urn:microsoft.com/office/officeart/2018/2/layout/IconVerticalSolidList"/>
    <dgm:cxn modelId="{96472E57-0D73-41E6-9B15-5652F711D86B}" type="presParOf" srcId="{BF5EE8C4-A69D-40C5-B324-5843A2199C84}" destId="{71C848F9-D8F8-449B-A15E-C906710CAEC8}" srcOrd="2" destOrd="0" presId="urn:microsoft.com/office/officeart/2018/2/layout/IconVerticalSolidList"/>
    <dgm:cxn modelId="{DA917739-AF6B-46B0-9425-003400FAABCE}" type="presParOf" srcId="{BF5EE8C4-A69D-40C5-B324-5843A2199C84}" destId="{C3BC3749-F12B-44EA-AEDB-69785241ABF0}" srcOrd="3" destOrd="0" presId="urn:microsoft.com/office/officeart/2018/2/layout/IconVerticalSolidList"/>
    <dgm:cxn modelId="{C508F955-9A64-4E52-9C99-C8CCA80EF64D}" type="presParOf" srcId="{4858335A-3207-4F5D-B354-CDF132D24DF1}" destId="{7BA49996-218C-49BC-B8C0-1607C020769C}" srcOrd="1" destOrd="0" presId="urn:microsoft.com/office/officeart/2018/2/layout/IconVerticalSolidList"/>
    <dgm:cxn modelId="{89705C6C-0AE9-4113-BD8B-8481B7CE0751}" type="presParOf" srcId="{4858335A-3207-4F5D-B354-CDF132D24DF1}" destId="{857074C8-4BA0-4AC9-9F60-83E79CC4E54B}" srcOrd="2" destOrd="0" presId="urn:microsoft.com/office/officeart/2018/2/layout/IconVerticalSolidList"/>
    <dgm:cxn modelId="{C0EF9417-EFBD-4339-A411-07726A306FDE}" type="presParOf" srcId="{857074C8-4BA0-4AC9-9F60-83E79CC4E54B}" destId="{38BBD7EB-99E3-4E91-A381-FFD8E899A99E}" srcOrd="0" destOrd="0" presId="urn:microsoft.com/office/officeart/2018/2/layout/IconVerticalSolidList"/>
    <dgm:cxn modelId="{E93AA1DB-587C-4804-8801-010FB8E8A172}" type="presParOf" srcId="{857074C8-4BA0-4AC9-9F60-83E79CC4E54B}" destId="{2A21B101-9457-4CF6-BE8A-092C8EDB98A3}" srcOrd="1" destOrd="0" presId="urn:microsoft.com/office/officeart/2018/2/layout/IconVerticalSolidList"/>
    <dgm:cxn modelId="{1BEA3888-CF5E-46D0-9DC7-B99CC99C47BB}" type="presParOf" srcId="{857074C8-4BA0-4AC9-9F60-83E79CC4E54B}" destId="{89489B1A-8A70-4907-957A-690FE7B6A587}" srcOrd="2" destOrd="0" presId="urn:microsoft.com/office/officeart/2018/2/layout/IconVerticalSolidList"/>
    <dgm:cxn modelId="{80CF7DC1-3C40-4BF3-9AEC-8101FC0F8035}" type="presParOf" srcId="{857074C8-4BA0-4AC9-9F60-83E79CC4E54B}" destId="{3D8B549A-F582-407A-8FBE-1DEC81D362E6}" srcOrd="3" destOrd="0" presId="urn:microsoft.com/office/officeart/2018/2/layout/IconVerticalSolidList"/>
    <dgm:cxn modelId="{3DC40669-E113-48D3-B35C-585056D38AA5}" type="presParOf" srcId="{4858335A-3207-4F5D-B354-CDF132D24DF1}" destId="{B354B10A-3B39-4AA5-AECC-94BB07B49574}" srcOrd="3" destOrd="0" presId="urn:microsoft.com/office/officeart/2018/2/layout/IconVerticalSolidList"/>
    <dgm:cxn modelId="{A974A118-34DD-48F4-9695-3D177F25A6FE}" type="presParOf" srcId="{4858335A-3207-4F5D-B354-CDF132D24DF1}" destId="{78B6154E-574F-47A1-9101-EDAE68E3F70F}" srcOrd="4" destOrd="0" presId="urn:microsoft.com/office/officeart/2018/2/layout/IconVerticalSolidList"/>
    <dgm:cxn modelId="{8010456C-559C-4F12-A1F7-AF3BC5B557DE}" type="presParOf" srcId="{78B6154E-574F-47A1-9101-EDAE68E3F70F}" destId="{4D29B9D9-CAA4-4473-AC64-F3635AD81E37}" srcOrd="0" destOrd="0" presId="urn:microsoft.com/office/officeart/2018/2/layout/IconVerticalSolidList"/>
    <dgm:cxn modelId="{3A1063E4-E858-487C-B16F-F006C6DEF955}" type="presParOf" srcId="{78B6154E-574F-47A1-9101-EDAE68E3F70F}" destId="{008FA23B-86AA-437F-8BC3-11F23665006F}" srcOrd="1" destOrd="0" presId="urn:microsoft.com/office/officeart/2018/2/layout/IconVerticalSolidList"/>
    <dgm:cxn modelId="{0CA57DEB-FDB4-4BF8-9A00-8FEEC221F52E}" type="presParOf" srcId="{78B6154E-574F-47A1-9101-EDAE68E3F70F}" destId="{D8258EA5-3BDF-4701-8056-5F8449A081E1}" srcOrd="2" destOrd="0" presId="urn:microsoft.com/office/officeart/2018/2/layout/IconVerticalSolidList"/>
    <dgm:cxn modelId="{F209B170-6C57-4BC7-8AF7-91B4F04446A1}" type="presParOf" srcId="{78B6154E-574F-47A1-9101-EDAE68E3F70F}" destId="{EAB5C3A8-791F-442C-A264-0491E2C1EBE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CB2B71C-9545-43F4-8376-864E42A022A4}">
      <dsp:nvSpPr>
        <dsp:cNvPr id="0" name=""/>
        <dsp:cNvSpPr/>
      </dsp:nvSpPr>
      <dsp:spPr>
        <a:xfrm>
          <a:off x="0" y="499"/>
          <a:ext cx="9618133" cy="116928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8DC14EC-2901-496F-8FEF-55A978EC6F84}">
      <dsp:nvSpPr>
        <dsp:cNvPr id="0" name=""/>
        <dsp:cNvSpPr/>
      </dsp:nvSpPr>
      <dsp:spPr>
        <a:xfrm>
          <a:off x="353707" y="263587"/>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3BC3749-F12B-44EA-AEDB-69785241ABF0}">
      <dsp:nvSpPr>
        <dsp:cNvPr id="0" name=""/>
        <dsp:cNvSpPr/>
      </dsp:nvSpPr>
      <dsp:spPr>
        <a:xfrm>
          <a:off x="1350519" y="499"/>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Is there a correlation between the experimental TP53 EFS</a:t>
          </a:r>
          <a:r>
            <a:rPr lang="he-IL" sz="2500" kern="1200" dirty="0"/>
            <a:t> </a:t>
          </a:r>
          <a:r>
            <a:rPr lang="en-US" sz="2500" kern="1200" dirty="0"/>
            <a:t>(Giacomelli et al.) and patient FGA (GENIE)?</a:t>
          </a:r>
        </a:p>
      </dsp:txBody>
      <dsp:txXfrm>
        <a:off x="1350519" y="499"/>
        <a:ext cx="8267613" cy="1169280"/>
      </dsp:txXfrm>
    </dsp:sp>
    <dsp:sp modelId="{38BBD7EB-99E3-4E91-A381-FFD8E899A99E}">
      <dsp:nvSpPr>
        <dsp:cNvPr id="0" name=""/>
        <dsp:cNvSpPr/>
      </dsp:nvSpPr>
      <dsp:spPr>
        <a:xfrm>
          <a:off x="0" y="1462100"/>
          <a:ext cx="9618133" cy="116928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A21B101-9457-4CF6-BE8A-092C8EDB98A3}">
      <dsp:nvSpPr>
        <dsp:cNvPr id="0" name=""/>
        <dsp:cNvSpPr/>
      </dsp:nvSpPr>
      <dsp:spPr>
        <a:xfrm>
          <a:off x="353707" y="1725188"/>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3D8B549A-F582-407A-8FBE-1DEC81D362E6}">
      <dsp:nvSpPr>
        <dsp:cNvPr id="0" name=""/>
        <dsp:cNvSpPr/>
      </dsp:nvSpPr>
      <dsp:spPr>
        <a:xfrm>
          <a:off x="1350519" y="1462100"/>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 "Hotspot" mutations drive higher genomic instability than rare mutations?</a:t>
          </a:r>
        </a:p>
      </dsp:txBody>
      <dsp:txXfrm>
        <a:off x="1350519" y="1462100"/>
        <a:ext cx="8267613" cy="1169280"/>
      </dsp:txXfrm>
    </dsp:sp>
    <dsp:sp modelId="{4D29B9D9-CAA4-4473-AC64-F3635AD81E37}">
      <dsp:nvSpPr>
        <dsp:cNvPr id="0" name=""/>
        <dsp:cNvSpPr/>
      </dsp:nvSpPr>
      <dsp:spPr>
        <a:xfrm>
          <a:off x="0" y="2923701"/>
          <a:ext cx="9618133" cy="116928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08FA23B-86AA-437F-8BC3-11F23665006F}">
      <dsp:nvSpPr>
        <dsp:cNvPr id="0" name=""/>
        <dsp:cNvSpPr/>
      </dsp:nvSpPr>
      <dsp:spPr>
        <a:xfrm>
          <a:off x="353707" y="3186789"/>
          <a:ext cx="643104" cy="64310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AB5C3A8-791F-442C-A264-0491E2C1EBEF}">
      <dsp:nvSpPr>
        <dsp:cNvPr id="0" name=""/>
        <dsp:cNvSpPr/>
      </dsp:nvSpPr>
      <dsp:spPr>
        <a:xfrm>
          <a:off x="1350519" y="2923701"/>
          <a:ext cx="8267613" cy="11692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3749" tIns="123749" rIns="123749" bIns="123749" numCol="1" spcCol="1270" anchor="ctr" anchorCtr="0">
          <a:noAutofit/>
        </a:bodyPr>
        <a:lstStyle/>
        <a:p>
          <a:pPr marL="0" lvl="0" indent="0" algn="l" defTabSz="1111250">
            <a:lnSpc>
              <a:spcPct val="90000"/>
            </a:lnSpc>
            <a:spcBef>
              <a:spcPct val="0"/>
            </a:spcBef>
            <a:spcAft>
              <a:spcPct val="35000"/>
            </a:spcAft>
            <a:buNone/>
          </a:pPr>
          <a:r>
            <a:rPr lang="en-US" sz="2500" kern="1200" dirty="0"/>
            <a:t>Does this correlation hold true across all cancer types or is it specific to certain tissues?</a:t>
          </a:r>
        </a:p>
      </dsp:txBody>
      <dsp:txXfrm>
        <a:off x="1350519" y="2923701"/>
        <a:ext cx="8267613" cy="116928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FCD6A08-F84D-254F-876D-619DDBFD23F2}" type="datetimeFigureOut">
              <a:rPr lang="en-IL" smtClean="0"/>
              <a:t>12/03/2026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42DB82-1DC1-9846-88D7-11B539157949}" type="slidenum">
              <a:rPr lang="en-IL" smtClean="0"/>
              <a:t>‹#›</a:t>
            </a:fld>
            <a:endParaRPr lang="en-IL"/>
          </a:p>
        </p:txBody>
      </p:sp>
    </p:spTree>
    <p:extLst>
      <p:ext uri="{BB962C8B-B14F-4D97-AF65-F5344CB8AC3E}">
        <p14:creationId xmlns:p14="http://schemas.microsoft.com/office/powerpoint/2010/main" val="643175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p:cNvSpPr>
            <a:spLocks noGrp="1"/>
          </p:cNvSpPr>
          <p:nvPr>
            <p:ph type="sldNum" sz="quarter" idx="5"/>
          </p:nvPr>
        </p:nvSpPr>
        <p:spPr/>
        <p:txBody>
          <a:bodyPr/>
          <a:lstStyle/>
          <a:p>
            <a:fld id="{7242DB82-1DC1-9846-88D7-11B539157949}" type="slidenum">
              <a:rPr lang="en-IL" smtClean="0"/>
              <a:t>1</a:t>
            </a:fld>
            <a:endParaRPr lang="en-IL"/>
          </a:p>
        </p:txBody>
      </p:sp>
    </p:spTree>
    <p:extLst>
      <p:ext uri="{BB962C8B-B14F-4D97-AF65-F5344CB8AC3E}">
        <p14:creationId xmlns:p14="http://schemas.microsoft.com/office/powerpoint/2010/main" val="8897745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33720-E357-4473-84FE-312A1097C4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454E84-A083-1426-FDAA-AB88ECAF20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BF795-B903-D79B-1F1B-80C5E254F92C}"/>
              </a:ext>
            </a:extLst>
          </p:cNvPr>
          <p:cNvSpPr>
            <a:spLocks noGrp="1"/>
          </p:cNvSpPr>
          <p:nvPr>
            <p:ph type="body" idx="1"/>
          </p:nvPr>
        </p:nvSpPr>
        <p:spPr/>
        <p:txBody>
          <a:bodyPr/>
          <a:lstStyle/>
          <a:p>
            <a:pPr marL="0" algn="r" defTabSz="914400" rtl="1" eaLnBrk="1" latinLnBrk="0" hangingPunct="1"/>
            <a:r>
              <a:rPr lang="he-IL" dirty="0"/>
              <a:t>אני אעשה </a:t>
            </a:r>
            <a:r>
              <a:rPr lang="he-IL" dirty="0" err="1"/>
              <a:t>ריקאפ</a:t>
            </a:r>
            <a:r>
              <a:rPr lang="he-IL" dirty="0"/>
              <a:t> להסברים שנתתי בפעם הקודמת: </a:t>
            </a:r>
            <a:r>
              <a:rPr lang="en-US" dirty="0"/>
              <a:t>TP53</a:t>
            </a:r>
            <a:r>
              <a:rPr lang="he-IL" dirty="0"/>
              <a:t> הוא בעצם </a:t>
            </a:r>
            <a:r>
              <a:rPr lang="he-IL" dirty="0" err="1"/>
              <a:t>טומר</a:t>
            </a:r>
            <a:r>
              <a:rPr lang="he-IL" dirty="0"/>
              <a:t> </a:t>
            </a:r>
            <a:r>
              <a:rPr lang="he-IL" dirty="0" err="1"/>
              <a:t>סופרסור</a:t>
            </a:r>
            <a:r>
              <a:rPr lang="he-IL" dirty="0"/>
              <a:t> מרכזי, שמתפקד כמעין </a:t>
            </a:r>
            <a:r>
              <a:rPr lang="he-IL" dirty="0" err="1"/>
              <a:t>סופרהירו</a:t>
            </a:r>
            <a:r>
              <a:rPr lang="he-IL" dirty="0"/>
              <a:t> של התא: אם יש צורך להפעיל סטרס </a:t>
            </a:r>
            <a:r>
              <a:rPr lang="he-IL" dirty="0" err="1"/>
              <a:t>ריספונס</a:t>
            </a:r>
            <a:r>
              <a:rPr lang="he-IL" dirty="0"/>
              <a:t>, הליכי תיקון דנ״א, </a:t>
            </a:r>
            <a:r>
              <a:rPr lang="he-IL" dirty="0" err="1"/>
              <a:t>אפופטוזיס</a:t>
            </a:r>
            <a:r>
              <a:rPr lang="he-IL" dirty="0"/>
              <a:t> וכן הלאה, </a:t>
            </a:r>
            <a:r>
              <a:rPr lang="en-US" dirty="0"/>
              <a:t>TP53</a:t>
            </a:r>
            <a:r>
              <a:rPr lang="he-IL" dirty="0"/>
              <a:t> נמצא שם ומניע את התהליכים האלו. מוטציות ב-</a:t>
            </a:r>
            <a:r>
              <a:rPr lang="en-US" dirty="0"/>
              <a:t>TP53</a:t>
            </a:r>
            <a:r>
              <a:rPr lang="he-IL" dirty="0"/>
              <a:t> יכולות להשפיע על התהליכים האלו, והן יושבות על איזשהו ספקטרום מבחינת הפנוטיפ שהן גורמות לו, ז״א מוטציות שונות ב-</a:t>
            </a:r>
            <a:r>
              <a:rPr lang="en-US" dirty="0"/>
              <a:t>TP53</a:t>
            </a:r>
            <a:r>
              <a:rPr lang="he-IL" dirty="0"/>
              <a:t> יובילו לקשת של </a:t>
            </a:r>
            <a:r>
              <a:rPr lang="he-IL" dirty="0" err="1"/>
              <a:t>פנוטיפים</a:t>
            </a:r>
            <a:r>
              <a:rPr lang="he-IL" dirty="0"/>
              <a:t> ולא מדובר באחד יחיד.</a:t>
            </a:r>
          </a:p>
          <a:p>
            <a:pPr marL="0" algn="r" defTabSz="914400" rtl="1" eaLnBrk="1" latinLnBrk="0" hangingPunct="1"/>
            <a:endParaRPr lang="he-IL" dirty="0"/>
          </a:p>
          <a:p>
            <a:pPr marL="0" algn="r" defTabSz="914400" rtl="1" eaLnBrk="1" latinLnBrk="0" hangingPunct="1"/>
            <a:r>
              <a:rPr lang="he-IL" dirty="0"/>
              <a:t>אחד הדברים שאפשר להגיד ש-</a:t>
            </a:r>
            <a:r>
              <a:rPr lang="en-US" dirty="0"/>
              <a:t>TP53</a:t>
            </a:r>
            <a:r>
              <a:rPr lang="he-IL" dirty="0"/>
              <a:t> יכול להוביל אליהם כשהוא פגום זה </a:t>
            </a:r>
            <a:r>
              <a:rPr lang="en-US" dirty="0"/>
              <a:t>Copy number variation</a:t>
            </a:r>
            <a:r>
              <a:rPr lang="he-IL" dirty="0"/>
              <a:t>.</a:t>
            </a:r>
          </a:p>
        </p:txBody>
      </p:sp>
      <p:sp>
        <p:nvSpPr>
          <p:cNvPr id="4" name="Slide Number Placeholder 3">
            <a:extLst>
              <a:ext uri="{FF2B5EF4-FFF2-40B4-BE49-F238E27FC236}">
                <a16:creationId xmlns:a16="http://schemas.microsoft.com/office/drawing/2014/main" id="{5B76F355-EE9F-75DD-C84B-4B74F2DED9C7}"/>
              </a:ext>
            </a:extLst>
          </p:cNvPr>
          <p:cNvSpPr>
            <a:spLocks noGrp="1"/>
          </p:cNvSpPr>
          <p:nvPr>
            <p:ph type="sldNum" sz="quarter" idx="5"/>
          </p:nvPr>
        </p:nvSpPr>
        <p:spPr/>
        <p:txBody>
          <a:bodyPr/>
          <a:lstStyle/>
          <a:p>
            <a:fld id="{7242DB82-1DC1-9846-88D7-11B539157949}" type="slidenum">
              <a:rPr lang="en-IL" smtClean="0"/>
              <a:t>2</a:t>
            </a:fld>
            <a:endParaRPr lang="en-IL"/>
          </a:p>
        </p:txBody>
      </p:sp>
    </p:spTree>
    <p:extLst>
      <p:ext uri="{BB962C8B-B14F-4D97-AF65-F5344CB8AC3E}">
        <p14:creationId xmlns:p14="http://schemas.microsoft.com/office/powerpoint/2010/main" val="2301723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50740-E186-E036-D921-6A2E97D1BD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67774F-386B-21E1-CF58-2F4795DBCD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D3DB58-41AD-15E6-40CE-DABAB2F065AC}"/>
              </a:ext>
            </a:extLst>
          </p:cNvPr>
          <p:cNvSpPr>
            <a:spLocks noGrp="1"/>
          </p:cNvSpPr>
          <p:nvPr>
            <p:ph type="body" idx="1"/>
          </p:nvPr>
        </p:nvSpPr>
        <p:spPr/>
        <p:txBody>
          <a:bodyPr/>
          <a:lstStyle/>
          <a:p>
            <a:pPr marL="0" algn="r" defTabSz="914400" rtl="1" eaLnBrk="1" latinLnBrk="0" hangingPunct="1"/>
            <a:r>
              <a:rPr lang="he-IL" dirty="0"/>
              <a:t>מה זה </a:t>
            </a:r>
            <a:r>
              <a:rPr lang="en-US" dirty="0"/>
              <a:t>Copy number variation</a:t>
            </a:r>
            <a:r>
              <a:rPr lang="he-IL" dirty="0"/>
              <a:t>? מדובר במספר עותקים שונה מהרגיל של גן מסוים, בין אם זה מחיקה של גן או אמפליפיקציה של גן. בהתאמה, אם יש לנו הרבה עותקים מגן מסוים, יהיה לנו יותר רנ״א וסביר להניח שיהיה לנו יותר חלבון. אותו דבר אם יש לנו החסרה של עותק, ככל הנראה יהיה לנו פחות חלבון. זה בעייתי אם פתאום יש לנו החסרה של גן </a:t>
            </a:r>
            <a:r>
              <a:rPr lang="he-IL" dirty="0" err="1"/>
              <a:t>טומר</a:t>
            </a:r>
            <a:r>
              <a:rPr lang="he-IL" dirty="0"/>
              <a:t> </a:t>
            </a:r>
            <a:r>
              <a:rPr lang="he-IL" dirty="0" err="1"/>
              <a:t>סופרסור</a:t>
            </a:r>
            <a:r>
              <a:rPr lang="he-IL" dirty="0"/>
              <a:t>, שאחראי למשל על בקרת חלוקת התא. אם יש לנו החסרה של עותקים ממנו, אנחנו עלולים לקבל חלוקה בלתי נשלטת של התא.</a:t>
            </a:r>
            <a:endParaRPr lang="en-US" dirty="0"/>
          </a:p>
          <a:p>
            <a:pPr marL="0" algn="r" defTabSz="914400" rtl="1" eaLnBrk="1" latinLnBrk="0" hangingPunct="1"/>
            <a:endParaRPr lang="en-US" dirty="0"/>
          </a:p>
          <a:p>
            <a:pPr marL="0" algn="r" defTabSz="914400" rtl="1" eaLnBrk="1" latinLnBrk="0" hangingPunct="1"/>
            <a:r>
              <a:rPr lang="he-IL" dirty="0"/>
              <a:t>אני אשתמש במדד שנקרא </a:t>
            </a:r>
            <a:r>
              <a:rPr lang="en-US" dirty="0"/>
              <a:t>FGA</a:t>
            </a:r>
            <a:r>
              <a:rPr lang="he-IL" dirty="0"/>
              <a:t>, </a:t>
            </a:r>
          </a:p>
        </p:txBody>
      </p:sp>
      <p:sp>
        <p:nvSpPr>
          <p:cNvPr id="4" name="Slide Number Placeholder 3">
            <a:extLst>
              <a:ext uri="{FF2B5EF4-FFF2-40B4-BE49-F238E27FC236}">
                <a16:creationId xmlns:a16="http://schemas.microsoft.com/office/drawing/2014/main" id="{2EAAB3B9-BBFC-BA2A-C686-BE5145D6DC03}"/>
              </a:ext>
            </a:extLst>
          </p:cNvPr>
          <p:cNvSpPr>
            <a:spLocks noGrp="1"/>
          </p:cNvSpPr>
          <p:nvPr>
            <p:ph type="sldNum" sz="quarter" idx="5"/>
          </p:nvPr>
        </p:nvSpPr>
        <p:spPr/>
        <p:txBody>
          <a:bodyPr/>
          <a:lstStyle/>
          <a:p>
            <a:fld id="{7242DB82-1DC1-9846-88D7-11B539157949}" type="slidenum">
              <a:rPr lang="en-IL" smtClean="0"/>
              <a:t>3</a:t>
            </a:fld>
            <a:endParaRPr lang="en-IL"/>
          </a:p>
        </p:txBody>
      </p:sp>
    </p:spTree>
    <p:extLst>
      <p:ext uri="{BB962C8B-B14F-4D97-AF65-F5344CB8AC3E}">
        <p14:creationId xmlns:p14="http://schemas.microsoft.com/office/powerpoint/2010/main" val="7816995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61DA42-1EEB-4506-B293-FE2AAFBC14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C63708-603B-C5AD-3075-351E8BDEEA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9B3DFA-AA74-B6FE-F70D-511559573298}"/>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כדי למדוד </a:t>
            </a:r>
            <a:r>
              <a:rPr lang="en-US" dirty="0"/>
              <a:t>CNA</a:t>
            </a:r>
            <a:r>
              <a:rPr lang="he-IL" dirty="0"/>
              <a:t>, נעזרתי במאמר של </a:t>
            </a:r>
            <a:r>
              <a:rPr lang="en-US" dirty="0" err="1"/>
              <a:t>Giancomelli</a:t>
            </a:r>
            <a:r>
              <a:rPr lang="en-US" dirty="0"/>
              <a:t> et al</a:t>
            </a:r>
            <a:r>
              <a:rPr lang="he-IL" dirty="0"/>
              <a:t> שפורסם </a:t>
            </a:r>
            <a:r>
              <a:rPr lang="he-IL" dirty="0" err="1"/>
              <a:t>בנייצ׳ר</a:t>
            </a:r>
            <a:r>
              <a:rPr lang="he-IL" dirty="0"/>
              <a:t> לפני כמה שנים. הם יצרו שם ספרייה ענקית שכוללת כמעט את כל המוטציות האפשריות ב-</a:t>
            </a:r>
            <a:r>
              <a:rPr lang="en-US" dirty="0"/>
              <a:t>TP53</a:t>
            </a:r>
            <a:r>
              <a:rPr lang="he-IL" dirty="0"/>
              <a:t>, סה״כ </a:t>
            </a:r>
            <a:r>
              <a:rPr lang="en-US" dirty="0"/>
              <a:t>8,258</a:t>
            </a:r>
            <a:r>
              <a:rPr lang="he-IL" dirty="0"/>
              <a:t> וריאנטים. כל מוטציה הוכנסה לתאים אנושיים וסומנה בברקוד כדי לעקוב אחרי בריצוף ובדקו מה ההשפעה על התא מבחינת קצב הגידול של תאים סרטניים.</a:t>
            </a:r>
            <a:endParaRPr lang="en-US" dirty="0"/>
          </a:p>
          <a:p>
            <a:pPr marL="0" algn="r" defTabSz="914400" rtl="1" eaLnBrk="1" latinLnBrk="0" hangingPunct="1"/>
            <a:endParaRPr lang="he-IL" sz="1200" b="0" i="0" kern="1200" dirty="0">
              <a:solidFill>
                <a:schemeClr val="tx1"/>
              </a:solidFill>
              <a:effectLst/>
              <a:latin typeface="+mn-lt"/>
              <a:ea typeface="+mn-ea"/>
              <a:cs typeface="+mn-cs"/>
            </a:endParaRPr>
          </a:p>
          <a:p>
            <a:pPr marL="0" algn="r" defTabSz="914400" rtl="1" eaLnBrk="1" latinLnBrk="0" hangingPunct="1"/>
            <a:r>
              <a:rPr lang="he-IL" sz="1200" b="0" i="0" kern="1200" dirty="0">
                <a:solidFill>
                  <a:schemeClr val="tx1"/>
                </a:solidFill>
                <a:effectLst/>
                <a:latin typeface="+mn-lt"/>
                <a:ea typeface="+mn-ea"/>
                <a:cs typeface="+mn-cs"/>
              </a:rPr>
              <a:t>בשלב הראשון הם סרקו 8,258 וריאנטים של </a:t>
            </a:r>
            <a:r>
              <a:rPr lang="en-US" sz="1200" b="0" i="0" kern="1200" dirty="0">
                <a:solidFill>
                  <a:schemeClr val="tx1"/>
                </a:solidFill>
                <a:effectLst/>
                <a:latin typeface="+mn-lt"/>
                <a:ea typeface="+mn-ea"/>
                <a:cs typeface="+mn-cs"/>
              </a:rPr>
              <a:t>TP53</a:t>
            </a:r>
            <a:r>
              <a:rPr lang="he-IL" sz="1200" b="0" i="0" kern="1200" dirty="0">
                <a:solidFill>
                  <a:schemeClr val="tx1"/>
                </a:solidFill>
                <a:effectLst/>
                <a:latin typeface="+mn-lt"/>
                <a:ea typeface="+mn-ea"/>
                <a:cs typeface="+mn-cs"/>
              </a:rPr>
              <a:t> ע״י הכנסתם לשני קווי תאים </a:t>
            </a:r>
            <a:r>
              <a:rPr lang="he-IL" sz="1200" b="0" i="0" kern="1200" dirty="0" err="1">
                <a:solidFill>
                  <a:schemeClr val="tx1"/>
                </a:solidFill>
                <a:effectLst/>
                <a:latin typeface="+mn-lt"/>
                <a:ea typeface="+mn-ea"/>
                <a:cs typeface="+mn-cs"/>
              </a:rPr>
              <a:t>איזוגניים</a:t>
            </a:r>
            <a:r>
              <a:rPr lang="he-IL" sz="1200" b="0" i="0" kern="1200" dirty="0">
                <a:solidFill>
                  <a:schemeClr val="tx1"/>
                </a:solidFill>
                <a:effectLst/>
                <a:latin typeface="+mn-lt"/>
                <a:ea typeface="+mn-ea"/>
                <a:cs typeface="+mn-cs"/>
              </a:rPr>
              <a:t>: אחד עם </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תקין ואחד בלי</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2F97F769-C1AA-8583-0A4A-E95E0B0BB95B}"/>
              </a:ext>
            </a:extLst>
          </p:cNvPr>
          <p:cNvSpPr>
            <a:spLocks noGrp="1"/>
          </p:cNvSpPr>
          <p:nvPr>
            <p:ph type="sldNum" sz="quarter" idx="5"/>
          </p:nvPr>
        </p:nvSpPr>
        <p:spPr/>
        <p:txBody>
          <a:bodyPr/>
          <a:lstStyle/>
          <a:p>
            <a:fld id="{7242DB82-1DC1-9846-88D7-11B539157949}" type="slidenum">
              <a:rPr lang="en-IL" smtClean="0"/>
              <a:t>4</a:t>
            </a:fld>
            <a:endParaRPr lang="en-IL"/>
          </a:p>
        </p:txBody>
      </p:sp>
    </p:spTree>
    <p:extLst>
      <p:ext uri="{BB962C8B-B14F-4D97-AF65-F5344CB8AC3E}">
        <p14:creationId xmlns:p14="http://schemas.microsoft.com/office/powerpoint/2010/main" val="7921066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01B1C-55E6-A11B-E36B-3157AA225E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B2018-8DFA-B1A5-F386-B01D8AB15E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935F96B-8633-4823-4F20-5263FEC789B5}"/>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sz="1200" b="0" i="0" kern="1200" dirty="0">
                <a:solidFill>
                  <a:schemeClr val="tx1"/>
                </a:solidFill>
                <a:effectLst/>
                <a:latin typeface="+mn-lt"/>
                <a:ea typeface="+mn-ea"/>
                <a:cs typeface="+mn-cs"/>
              </a:rPr>
              <a:t>בשלב השני הם רצו למדוד את שכיחות האלל הספציפי שהם בודקים. אחרי 12 ימים הם ריצפו את התאים ששרדו כדי לראות אילו אללים נשארו בחיים. לכל אלל חישבו </a:t>
            </a:r>
            <a:r>
              <a:rPr lang="en-US" sz="1200" b="0" i="0" kern="1200" dirty="0">
                <a:solidFill>
                  <a:schemeClr val="tx1"/>
                </a:solidFill>
                <a:effectLst/>
                <a:latin typeface="+mn-lt"/>
                <a:ea typeface="+mn-ea"/>
                <a:cs typeface="+mn-cs"/>
              </a:rPr>
              <a:t>log2FoldChange</a:t>
            </a:r>
            <a:r>
              <a:rPr lang="he-IL" sz="1200" b="0" i="0" kern="1200" dirty="0">
                <a:solidFill>
                  <a:schemeClr val="tx1"/>
                </a:solidFill>
                <a:effectLst/>
                <a:latin typeface="+mn-lt"/>
                <a:ea typeface="+mn-ea"/>
                <a:cs typeface="+mn-cs"/>
              </a:rPr>
              <a:t> ביחס לנקודת הזמן הבסיסית, ז״א האם האלל התעשר או הידלל תחת הלחץ, ונרמלו ל-</a:t>
            </a:r>
            <a:r>
              <a:rPr lang="en-US" sz="1200" b="0" i="0" kern="1200" dirty="0">
                <a:solidFill>
                  <a:schemeClr val="tx1"/>
                </a:solidFill>
                <a:effectLst/>
                <a:latin typeface="+mn-lt"/>
                <a:ea typeface="+mn-ea"/>
                <a:cs typeface="+mn-cs"/>
              </a:rPr>
              <a:t>z-scores</a:t>
            </a:r>
            <a:r>
              <a:rPr lang="he-IL" sz="1200" b="0" i="0" kern="1200" dirty="0">
                <a:solidFill>
                  <a:schemeClr val="tx1"/>
                </a:solidFill>
                <a:effectLst/>
                <a:latin typeface="+mn-lt"/>
                <a:ea typeface="+mn-ea"/>
                <a:cs typeface="+mn-cs"/>
              </a:rPr>
              <a:t> כך שכל אלל קיבל ציון יחסי לכל אחד משלושת התנאים</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909B97A1-414D-6222-D42A-1B1E4498AD3E}"/>
              </a:ext>
            </a:extLst>
          </p:cNvPr>
          <p:cNvSpPr>
            <a:spLocks noGrp="1"/>
          </p:cNvSpPr>
          <p:nvPr>
            <p:ph type="sldNum" sz="quarter" idx="5"/>
          </p:nvPr>
        </p:nvSpPr>
        <p:spPr/>
        <p:txBody>
          <a:bodyPr/>
          <a:lstStyle/>
          <a:p>
            <a:fld id="{7242DB82-1DC1-9846-88D7-11B539157949}" type="slidenum">
              <a:rPr lang="en-IL" smtClean="0"/>
              <a:t>5</a:t>
            </a:fld>
            <a:endParaRPr lang="en-IL"/>
          </a:p>
        </p:txBody>
      </p:sp>
    </p:spTree>
    <p:extLst>
      <p:ext uri="{BB962C8B-B14F-4D97-AF65-F5344CB8AC3E}">
        <p14:creationId xmlns:p14="http://schemas.microsoft.com/office/powerpoint/2010/main" val="1431512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1214BB-CEE1-A2B5-D70C-B793620C47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373BF7-DC50-71DC-7C1D-7B6D98E2E8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F752FC-FD98-813F-4A81-48D876566D54}"/>
              </a:ext>
            </a:extLst>
          </p:cNvPr>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בשלב השלישי הם חיברו את כל ה-</a:t>
            </a:r>
            <a:r>
              <a:rPr lang="en-US" dirty="0"/>
              <a:t>z-scores</a:t>
            </a:r>
            <a:r>
              <a:rPr lang="he-IL" dirty="0"/>
              <a:t> כדי </a:t>
            </a:r>
            <a:r>
              <a:rPr lang="he-IL" dirty="0" err="1"/>
              <a:t>לכבר</a:t>
            </a:r>
            <a:r>
              <a:rPr lang="he-IL" dirty="0"/>
              <a:t> מספר יחיד לכל אלל, שזהו ה-</a:t>
            </a:r>
            <a:r>
              <a:rPr lang="en-US" dirty="0"/>
              <a:t>Experimental Functional Score</a:t>
            </a:r>
            <a:r>
              <a:rPr lang="he-IL" dirty="0"/>
              <a:t> שהשתמשתי בו. ציון נמוך משמע אובדן תפקוד, ציון גבוה = התנהגות דומה ל-</a:t>
            </a:r>
            <a:r>
              <a:rPr lang="en-US" dirty="0"/>
              <a:t>p53</a:t>
            </a:r>
            <a:r>
              <a:rPr lang="he-IL" dirty="0"/>
              <a:t> תקין.</a:t>
            </a:r>
            <a:endParaRPr lang="en-US" sz="1200" b="0" i="0" kern="1200" dirty="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CF5D42A6-066D-3FDD-F7D4-329AD0121613}"/>
              </a:ext>
            </a:extLst>
          </p:cNvPr>
          <p:cNvSpPr>
            <a:spLocks noGrp="1"/>
          </p:cNvSpPr>
          <p:nvPr>
            <p:ph type="sldNum" sz="quarter" idx="5"/>
          </p:nvPr>
        </p:nvSpPr>
        <p:spPr/>
        <p:txBody>
          <a:bodyPr/>
          <a:lstStyle/>
          <a:p>
            <a:fld id="{7242DB82-1DC1-9846-88D7-11B539157949}" type="slidenum">
              <a:rPr lang="en-IL" smtClean="0"/>
              <a:t>6</a:t>
            </a:fld>
            <a:endParaRPr lang="en-IL"/>
          </a:p>
        </p:txBody>
      </p:sp>
    </p:spTree>
    <p:extLst>
      <p:ext uri="{BB962C8B-B14F-4D97-AF65-F5344CB8AC3E}">
        <p14:creationId xmlns:p14="http://schemas.microsoft.com/office/powerpoint/2010/main" val="28957471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b="0" dirty="0"/>
              <a:t>ההיפותזה שאני הולכת לעבוד איתה היא שלחולים עם מוטציות tp53 שיש להם ציון </a:t>
            </a:r>
            <a:r>
              <a:rPr lang="he-IL" b="0" dirty="0" err="1"/>
              <a:t>פיטנס</a:t>
            </a:r>
            <a:r>
              <a:rPr lang="he-IL" b="0" dirty="0"/>
              <a:t> נמוך</a:t>
            </a:r>
            <a:r>
              <a:rPr lang="en-US" b="0" dirty="0"/>
              <a:t> </a:t>
            </a:r>
            <a:r>
              <a:rPr lang="he-IL" b="0" dirty="0"/>
              <a:t>(</a:t>
            </a:r>
            <a:r>
              <a:rPr lang="en-US" b="0" dirty="0"/>
              <a:t>EFS</a:t>
            </a:r>
            <a:r>
              <a:rPr lang="he-IL" b="0" dirty="0"/>
              <a:t>), יהיה אחוז גבוה יותר של כאוס </a:t>
            </a:r>
            <a:r>
              <a:rPr lang="he-IL" b="0" dirty="0" err="1"/>
              <a:t>גנומי</a:t>
            </a:r>
            <a:r>
              <a:rPr lang="he-IL" b="0" dirty="0"/>
              <a:t> (</a:t>
            </a:r>
            <a:r>
              <a:rPr lang="en-US" b="0" dirty="0"/>
              <a:t>FGA</a:t>
            </a:r>
            <a:r>
              <a:rPr lang="he-IL" b="0" dirty="0"/>
              <a:t>), שזה בעצם המדד שאני משתמשת בו כדי להעריך מה ה-</a:t>
            </a:r>
            <a:r>
              <a:rPr lang="en-US" b="0" dirty="0"/>
              <a:t>CNA</a:t>
            </a:r>
            <a:r>
              <a:rPr lang="he-IL" b="0" dirty="0"/>
              <a:t> בתא.</a:t>
            </a:r>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marL="0" marR="0" lvl="0" indent="0" algn="r" defTabSz="914400" rtl="1" eaLnBrk="1" fontAlgn="auto" latinLnBrk="0" hangingPunct="1">
              <a:lnSpc>
                <a:spcPct val="100000"/>
              </a:lnSpc>
              <a:spcBef>
                <a:spcPts val="0"/>
              </a:spcBef>
              <a:spcAft>
                <a:spcPts val="0"/>
              </a:spcAft>
              <a:buClrTx/>
              <a:buSzTx/>
              <a:buFontTx/>
              <a:buNone/>
              <a:tabLst/>
              <a:defRPr/>
            </a:pPr>
            <a:endParaRPr lang="he-IL" b="0" dirty="0"/>
          </a:p>
          <a:p>
            <a:pPr lvl="1"/>
            <a:r>
              <a:rPr lang="en-US" sz="1200" b="1" i="0" kern="1200" dirty="0">
                <a:solidFill>
                  <a:schemeClr val="tx1"/>
                </a:solidFill>
                <a:effectLst/>
                <a:latin typeface="+mn-lt"/>
                <a:ea typeface="+mn-ea"/>
                <a:cs typeface="+mn-cs"/>
              </a:rPr>
              <a:t>more negative = more LOF = hypothesis predicts more FGA</a:t>
            </a:r>
            <a:endParaRPr lang="he-IL" b="0" dirty="0"/>
          </a:p>
        </p:txBody>
      </p:sp>
      <p:sp>
        <p:nvSpPr>
          <p:cNvPr id="4" name="Slide Number Placeholder 3"/>
          <p:cNvSpPr>
            <a:spLocks noGrp="1"/>
          </p:cNvSpPr>
          <p:nvPr>
            <p:ph type="sldNum" sz="quarter" idx="5"/>
          </p:nvPr>
        </p:nvSpPr>
        <p:spPr/>
        <p:txBody>
          <a:bodyPr/>
          <a:lstStyle/>
          <a:p>
            <a:fld id="{7242DB82-1DC1-9846-88D7-11B539157949}" type="slidenum">
              <a:rPr lang="en-IL" smtClean="0"/>
              <a:t>7</a:t>
            </a:fld>
            <a:endParaRPr lang="en-IL"/>
          </a:p>
        </p:txBody>
      </p:sp>
    </p:spTree>
    <p:extLst>
      <p:ext uri="{BB962C8B-B14F-4D97-AF65-F5344CB8AC3E}">
        <p14:creationId xmlns:p14="http://schemas.microsoft.com/office/powerpoint/2010/main" val="206508125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sz="1200" b="0" i="0" kern="1200" dirty="0">
                <a:solidFill>
                  <a:schemeClr val="tx1"/>
                </a:solidFill>
                <a:effectLst/>
                <a:latin typeface="+mn-lt"/>
                <a:ea typeface="+mn-ea"/>
                <a:cs typeface="+mn-cs"/>
              </a:rPr>
              <a:t>אני רוצה לבדוק 3 דברים: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קורלציה בין ה-</a:t>
            </a:r>
            <a:r>
              <a:rPr lang="en-US" sz="1200" b="0" i="0" kern="1200" dirty="0">
                <a:solidFill>
                  <a:schemeClr val="tx1"/>
                </a:solidFill>
                <a:effectLst/>
                <a:latin typeface="+mn-lt"/>
                <a:ea typeface="+mn-ea"/>
                <a:cs typeface="+mn-cs"/>
              </a:rPr>
              <a:t>functional score</a:t>
            </a:r>
            <a:r>
              <a:rPr lang="he-IL" sz="1200" b="0" i="0" kern="1200" dirty="0">
                <a:solidFill>
                  <a:schemeClr val="tx1"/>
                </a:solidFill>
                <a:effectLst/>
                <a:latin typeface="+mn-lt"/>
                <a:ea typeface="+mn-ea"/>
                <a:cs typeface="+mn-cs"/>
              </a:rPr>
              <a:t> של מוטציה כלשהי ב-</a:t>
            </a:r>
            <a:r>
              <a:rPr lang="en-US" sz="1200" b="0" i="0" kern="1200" dirty="0">
                <a:solidFill>
                  <a:schemeClr val="tx1"/>
                </a:solidFill>
                <a:effectLst/>
                <a:latin typeface="+mn-lt"/>
                <a:ea typeface="+mn-ea"/>
                <a:cs typeface="+mn-cs"/>
              </a:rPr>
              <a:t>p53</a:t>
            </a:r>
            <a:r>
              <a:rPr lang="he-IL" sz="1200" b="0" i="0" kern="1200" dirty="0">
                <a:solidFill>
                  <a:schemeClr val="tx1"/>
                </a:solidFill>
                <a:effectLst/>
                <a:latin typeface="+mn-lt"/>
                <a:ea typeface="+mn-ea"/>
                <a:cs typeface="+mn-cs"/>
              </a:rPr>
              <a:t> ל-</a:t>
            </a:r>
            <a:r>
              <a:rPr lang="en-US" sz="1200" b="0" i="0" kern="1200" dirty="0">
                <a:solidFill>
                  <a:schemeClr val="tx1"/>
                </a:solidFill>
                <a:effectLst/>
                <a:latin typeface="+mn-lt"/>
                <a:ea typeface="+mn-ea"/>
                <a:cs typeface="+mn-cs"/>
              </a:rPr>
              <a:t>FGA</a:t>
            </a:r>
            <a:r>
              <a:rPr lang="he-IL" sz="1200" b="0" i="0" kern="1200" dirty="0">
                <a:solidFill>
                  <a:schemeClr val="tx1"/>
                </a:solidFill>
                <a:effectLst/>
                <a:latin typeface="+mn-lt"/>
                <a:ea typeface="+mn-ea"/>
                <a:cs typeface="+mn-cs"/>
              </a:rPr>
              <a:t> גבוה יותר אצל החולים?</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יש מוטציות באזורים שהם </a:t>
            </a:r>
            <a:r>
              <a:rPr lang="he-IL" sz="1200" b="0" i="0" kern="1200" dirty="0" err="1">
                <a:solidFill>
                  <a:schemeClr val="tx1"/>
                </a:solidFill>
                <a:effectLst/>
                <a:latin typeface="+mn-lt"/>
                <a:ea typeface="+mn-ea"/>
                <a:cs typeface="+mn-cs"/>
              </a:rPr>
              <a:t>הוטספוט</a:t>
            </a:r>
            <a:r>
              <a:rPr lang="he-IL" sz="1200" b="0" i="0" kern="1200" dirty="0">
                <a:solidFill>
                  <a:schemeClr val="tx1"/>
                </a:solidFill>
                <a:effectLst/>
                <a:latin typeface="+mn-lt"/>
                <a:ea typeface="+mn-ea"/>
                <a:cs typeface="+mn-cs"/>
              </a:rPr>
              <a:t> שגורמים ליותר חוסר יציבות?</a:t>
            </a:r>
          </a:p>
          <a:p>
            <a:pPr marL="228600" indent="-228600" algn="r" defTabSz="914400" rtl="1" eaLnBrk="1" latinLnBrk="0" hangingPunct="1">
              <a:buAutoNum type="arabicPeriod"/>
            </a:pPr>
            <a:r>
              <a:rPr lang="he-IL" sz="1200" b="0" i="0" kern="1200" dirty="0">
                <a:solidFill>
                  <a:schemeClr val="tx1"/>
                </a:solidFill>
                <a:effectLst/>
                <a:latin typeface="+mn-lt"/>
                <a:ea typeface="+mn-ea"/>
                <a:cs typeface="+mn-cs"/>
              </a:rPr>
              <a:t>האם מדובר בכל סוגי הסרטן או שאמצא את הקורלציה רק בסוגי סרטן ספציפיים?</a:t>
            </a:r>
            <a:endParaRPr lang="he-IL" dirty="0"/>
          </a:p>
          <a:p>
            <a:pPr marL="0" algn="r" defTabSz="914400" rtl="1" eaLnBrk="1" latinLnBrk="0" hangingPunct="1"/>
            <a:endParaRPr lang="he-IL" dirty="0"/>
          </a:p>
        </p:txBody>
      </p:sp>
      <p:sp>
        <p:nvSpPr>
          <p:cNvPr id="4" name="Slide Number Placeholder 3"/>
          <p:cNvSpPr>
            <a:spLocks noGrp="1"/>
          </p:cNvSpPr>
          <p:nvPr>
            <p:ph type="sldNum" sz="quarter" idx="5"/>
          </p:nvPr>
        </p:nvSpPr>
        <p:spPr/>
        <p:txBody>
          <a:bodyPr/>
          <a:lstStyle/>
          <a:p>
            <a:fld id="{7242DB82-1DC1-9846-88D7-11B539157949}" type="slidenum">
              <a:rPr lang="en-IL" smtClean="0"/>
              <a:t>8</a:t>
            </a:fld>
            <a:endParaRPr lang="en-IL"/>
          </a:p>
        </p:txBody>
      </p:sp>
    </p:spTree>
    <p:extLst>
      <p:ext uri="{BB962C8B-B14F-4D97-AF65-F5344CB8AC3E}">
        <p14:creationId xmlns:p14="http://schemas.microsoft.com/office/powerpoint/2010/main" val="2195188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FD762-9745-8AB7-5946-5E3E3A7EF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A760D4-4D2F-D147-3570-C8A78EFED5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2B9091D-4536-722D-9602-CC5976BEC451}"/>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מתוך 271 אלף </a:t>
            </a:r>
            <a:r>
              <a:rPr lang="he-IL" dirty="0" err="1"/>
              <a:t>סאמפלים</a:t>
            </a:r>
            <a:r>
              <a:rPr lang="he-IL" dirty="0"/>
              <a:t>, בערך 100 אלף עם פרמטר בשם </a:t>
            </a:r>
            <a:r>
              <a:rPr lang="en-US" dirty="0"/>
              <a:t>Fraction Genome Altered</a:t>
            </a:r>
            <a:r>
              <a:rPr lang="he-IL" dirty="0"/>
              <a:t>, שהוא בעצם פרמטר שמתאר את כל ה-</a:t>
            </a:r>
            <a:r>
              <a:rPr lang="en-US" dirty="0"/>
              <a:t>CNA</a:t>
            </a:r>
            <a:r>
              <a:rPr lang="he-IL" dirty="0"/>
              <a:t> רק לכל הגנום.</a:t>
            </a:r>
          </a:p>
          <a:p>
            <a:pPr algn="r"/>
            <a:r>
              <a:rPr lang="en-US" sz="1200" b="1" i="0" kern="1200" dirty="0">
                <a:solidFill>
                  <a:schemeClr val="tx1"/>
                </a:solidFill>
                <a:effectLst/>
                <a:latin typeface="+mn-lt"/>
                <a:ea typeface="+mn-ea"/>
                <a:cs typeface="+mn-cs"/>
              </a:rPr>
              <a:t>FGA = (number of base pairs with copy number gain or loss) / (total base pairs profiled)</a:t>
            </a:r>
            <a:endParaRPr lang="en-US" sz="1200" b="0" i="0" kern="1200" dirty="0">
              <a:solidFill>
                <a:schemeClr val="tx1"/>
              </a:solidFill>
              <a:effectLst/>
              <a:latin typeface="+mn-lt"/>
              <a:ea typeface="+mn-ea"/>
              <a:cs typeface="+mn-cs"/>
            </a:endParaRPr>
          </a:p>
          <a:p>
            <a:pPr algn="r" rtl="1"/>
            <a:r>
              <a:rPr lang="he-IL" dirty="0"/>
              <a:t>אז </a:t>
            </a:r>
            <a:r>
              <a:rPr lang="en-US" dirty="0"/>
              <a:t>FGA</a:t>
            </a:r>
            <a:r>
              <a:rPr lang="he-IL" dirty="0"/>
              <a:t> בודק בכמה מהגנום יש לנו </a:t>
            </a:r>
            <a:r>
              <a:rPr lang="en-US" dirty="0"/>
              <a:t>CNA</a:t>
            </a:r>
            <a:r>
              <a:rPr lang="he-IL" dirty="0"/>
              <a:t>.</a:t>
            </a:r>
          </a:p>
          <a:p>
            <a:pPr algn="r" rtl="1"/>
            <a:r>
              <a:rPr lang="en-US" dirty="0"/>
              <a:t>CNA</a:t>
            </a:r>
            <a:r>
              <a:rPr lang="he-IL" dirty="0"/>
              <a:t> מתייחס למקרה ספציפי, </a:t>
            </a:r>
            <a:r>
              <a:rPr lang="en-US" dirty="0"/>
              <a:t>FGA</a:t>
            </a:r>
            <a:r>
              <a:rPr lang="he-IL" dirty="0"/>
              <a:t> הוא </a:t>
            </a:r>
            <a:r>
              <a:rPr lang="he-IL" dirty="0" err="1"/>
              <a:t>סקאלר</a:t>
            </a:r>
            <a:r>
              <a:rPr lang="he-IL" dirty="0"/>
              <a:t> אחד שמתאר את ה-</a:t>
            </a:r>
            <a:r>
              <a:rPr lang="en-US" dirty="0"/>
              <a:t>burden</a:t>
            </a:r>
            <a:r>
              <a:rPr lang="he-IL" dirty="0"/>
              <a:t> של כל האירועים האלו.</a:t>
            </a:r>
          </a:p>
          <a:p>
            <a:pPr algn="r"/>
            <a:endParaRPr lang="he-IL" dirty="0"/>
          </a:p>
        </p:txBody>
      </p:sp>
      <p:sp>
        <p:nvSpPr>
          <p:cNvPr id="4" name="Slide Number Placeholder 3">
            <a:extLst>
              <a:ext uri="{FF2B5EF4-FFF2-40B4-BE49-F238E27FC236}">
                <a16:creationId xmlns:a16="http://schemas.microsoft.com/office/drawing/2014/main" id="{48DFD91B-081F-8A88-ECB1-6277A658140C}"/>
              </a:ext>
            </a:extLst>
          </p:cNvPr>
          <p:cNvSpPr>
            <a:spLocks noGrp="1"/>
          </p:cNvSpPr>
          <p:nvPr>
            <p:ph type="sldNum" sz="quarter" idx="5"/>
          </p:nvPr>
        </p:nvSpPr>
        <p:spPr/>
        <p:txBody>
          <a:bodyPr/>
          <a:lstStyle/>
          <a:p>
            <a:fld id="{7242DB82-1DC1-9846-88D7-11B539157949}" type="slidenum">
              <a:rPr lang="en-IL" smtClean="0"/>
              <a:t>9</a:t>
            </a:fld>
            <a:endParaRPr lang="en-IL"/>
          </a:p>
        </p:txBody>
      </p:sp>
    </p:spTree>
    <p:extLst>
      <p:ext uri="{BB962C8B-B14F-4D97-AF65-F5344CB8AC3E}">
        <p14:creationId xmlns:p14="http://schemas.microsoft.com/office/powerpoint/2010/main" val="403799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812DA0-78C3-E2BC-A5F2-ABF8DD1F18C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B9D7FC3-56A0-EBA3-9609-B9DDF94363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D3940C-BA75-367B-2854-DC459C6E4FC8}"/>
              </a:ext>
            </a:extLst>
          </p:cNvPr>
          <p:cNvSpPr>
            <a:spLocks noGrp="1"/>
          </p:cNvSpPr>
          <p:nvPr>
            <p:ph type="body" idx="1"/>
          </p:nvPr>
        </p:nvSpPr>
        <p:spPr/>
        <p:txBody>
          <a:bodyPr/>
          <a:lstStyle/>
          <a:p>
            <a:pPr marL="0" algn="r" defTabSz="914400" rtl="1" eaLnBrk="1" latinLnBrk="0" hangingPunct="1"/>
            <a:r>
              <a:rPr lang="he-IL" dirty="0"/>
              <a:t>ל-</a:t>
            </a:r>
            <a:r>
              <a:rPr lang="en-US" dirty="0"/>
              <a:t>GENIE</a:t>
            </a:r>
            <a:r>
              <a:rPr lang="he-IL" dirty="0"/>
              <a:t> היה רק </a:t>
            </a:r>
            <a:r>
              <a:rPr lang="en-US" dirty="0"/>
              <a:t>TP53-specific CNA</a:t>
            </a:r>
            <a:r>
              <a:rPr lang="he-IL" dirty="0"/>
              <a:t> ורציתי לראות את ההשפעה על הגנום, </a:t>
            </a:r>
            <a:r>
              <a:rPr lang="en-US" dirty="0"/>
              <a:t> </a:t>
            </a:r>
            <a:r>
              <a:rPr lang="he-IL" dirty="0"/>
              <a:t>ובאופן ספציפי, גנים של סרטן, אילו גנים מוגברים, אילו גנים מושתקים או נמחקים בכל הגנום, לא רק </a:t>
            </a:r>
            <a:r>
              <a:rPr lang="en-US" dirty="0"/>
              <a:t>TP53</a:t>
            </a:r>
            <a:r>
              <a:rPr lang="he-IL" dirty="0"/>
              <a:t>.</a:t>
            </a:r>
          </a:p>
          <a:p>
            <a:pPr marL="0" algn="r" defTabSz="914400" rtl="1" eaLnBrk="1" latinLnBrk="0" hangingPunct="1"/>
            <a:r>
              <a:rPr lang="he-IL" dirty="0"/>
              <a:t>בגדול </a:t>
            </a:r>
            <a:r>
              <a:rPr lang="en-US" dirty="0"/>
              <a:t>GENIE</a:t>
            </a:r>
            <a:r>
              <a:rPr lang="he-IL" dirty="0"/>
              <a:t> אמר לי הגנום נשבר, </a:t>
            </a:r>
            <a:r>
              <a:rPr lang="en-US" dirty="0"/>
              <a:t>MSK-IMPACT</a:t>
            </a:r>
            <a:r>
              <a:rPr lang="he-IL" dirty="0"/>
              <a:t> אמר לי מה נשבר.</a:t>
            </a:r>
          </a:p>
        </p:txBody>
      </p:sp>
      <p:sp>
        <p:nvSpPr>
          <p:cNvPr id="4" name="Slide Number Placeholder 3">
            <a:extLst>
              <a:ext uri="{FF2B5EF4-FFF2-40B4-BE49-F238E27FC236}">
                <a16:creationId xmlns:a16="http://schemas.microsoft.com/office/drawing/2014/main" id="{B5DDC7C4-DD9D-503D-7A0E-8FF1827D9E7A}"/>
              </a:ext>
            </a:extLst>
          </p:cNvPr>
          <p:cNvSpPr>
            <a:spLocks noGrp="1"/>
          </p:cNvSpPr>
          <p:nvPr>
            <p:ph type="sldNum" sz="quarter" idx="5"/>
          </p:nvPr>
        </p:nvSpPr>
        <p:spPr/>
        <p:txBody>
          <a:bodyPr/>
          <a:lstStyle/>
          <a:p>
            <a:fld id="{7242DB82-1DC1-9846-88D7-11B539157949}" type="slidenum">
              <a:rPr lang="en-IL" smtClean="0"/>
              <a:t>10</a:t>
            </a:fld>
            <a:endParaRPr lang="en-IL"/>
          </a:p>
        </p:txBody>
      </p:sp>
    </p:spTree>
    <p:extLst>
      <p:ext uri="{BB962C8B-B14F-4D97-AF65-F5344CB8AC3E}">
        <p14:creationId xmlns:p14="http://schemas.microsoft.com/office/powerpoint/2010/main" val="1914368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endParaRPr lang="en-IL" dirty="0"/>
          </a:p>
        </p:txBody>
      </p:sp>
      <p:sp>
        <p:nvSpPr>
          <p:cNvPr id="4" name="Slide Number Placeholder 3"/>
          <p:cNvSpPr>
            <a:spLocks noGrp="1"/>
          </p:cNvSpPr>
          <p:nvPr>
            <p:ph type="sldNum" sz="quarter" idx="5"/>
          </p:nvPr>
        </p:nvSpPr>
        <p:spPr/>
        <p:txBody>
          <a:bodyPr/>
          <a:lstStyle/>
          <a:p>
            <a:fld id="{7242DB82-1DC1-9846-88D7-11B539157949}" type="slidenum">
              <a:rPr lang="en-IL" smtClean="0"/>
              <a:t>11</a:t>
            </a:fld>
            <a:endParaRPr lang="en-IL"/>
          </a:p>
        </p:txBody>
      </p:sp>
    </p:spTree>
    <p:extLst>
      <p:ext uri="{BB962C8B-B14F-4D97-AF65-F5344CB8AC3E}">
        <p14:creationId xmlns:p14="http://schemas.microsoft.com/office/powerpoint/2010/main" val="17679520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5BDBF2-8F57-269F-5EBC-724AA9A903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8F9C7A-1769-DF3F-3541-0BFB5B17C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607F63-426D-49ED-465A-ABEEE8D0AF80}"/>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E6915596-885C-C11B-E033-821B51297EC2}"/>
              </a:ext>
            </a:extLst>
          </p:cNvPr>
          <p:cNvSpPr>
            <a:spLocks noGrp="1"/>
          </p:cNvSpPr>
          <p:nvPr>
            <p:ph type="sldNum" sz="quarter" idx="5"/>
          </p:nvPr>
        </p:nvSpPr>
        <p:spPr/>
        <p:txBody>
          <a:bodyPr/>
          <a:lstStyle/>
          <a:p>
            <a:fld id="{7242DB82-1DC1-9846-88D7-11B539157949}" type="slidenum">
              <a:rPr lang="en-IL" smtClean="0"/>
              <a:t>12</a:t>
            </a:fld>
            <a:endParaRPr lang="en-IL"/>
          </a:p>
        </p:txBody>
      </p:sp>
    </p:spTree>
    <p:extLst>
      <p:ext uri="{BB962C8B-B14F-4D97-AF65-F5344CB8AC3E}">
        <p14:creationId xmlns:p14="http://schemas.microsoft.com/office/powerpoint/2010/main" val="26118536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56F6A6-2150-3230-F9F5-A060C433C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906AC-3C16-C612-E51E-0F9524687F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C6821A-D7E3-FD3E-A216-3CED12244A7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B9F11EC6-092A-A52B-CC72-F949F7CD1765}"/>
              </a:ext>
            </a:extLst>
          </p:cNvPr>
          <p:cNvSpPr>
            <a:spLocks noGrp="1"/>
          </p:cNvSpPr>
          <p:nvPr>
            <p:ph type="sldNum" sz="quarter" idx="5"/>
          </p:nvPr>
        </p:nvSpPr>
        <p:spPr/>
        <p:txBody>
          <a:bodyPr/>
          <a:lstStyle/>
          <a:p>
            <a:fld id="{7242DB82-1DC1-9846-88D7-11B539157949}" type="slidenum">
              <a:rPr lang="en-IL" smtClean="0"/>
              <a:t>13</a:t>
            </a:fld>
            <a:endParaRPr lang="en-IL"/>
          </a:p>
        </p:txBody>
      </p:sp>
    </p:spTree>
    <p:extLst>
      <p:ext uri="{BB962C8B-B14F-4D97-AF65-F5344CB8AC3E}">
        <p14:creationId xmlns:p14="http://schemas.microsoft.com/office/powerpoint/2010/main" val="25145765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500F2-5FDA-D4B4-B1B6-07AFA765CA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F09464-29B0-BC85-B3CE-034CFCF78A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940D699-52D9-94E6-08E9-73CCB90009B3}"/>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360718F-D2BA-49E1-D9E2-F43FC321E02D}"/>
              </a:ext>
            </a:extLst>
          </p:cNvPr>
          <p:cNvSpPr>
            <a:spLocks noGrp="1"/>
          </p:cNvSpPr>
          <p:nvPr>
            <p:ph type="sldNum" sz="quarter" idx="5"/>
          </p:nvPr>
        </p:nvSpPr>
        <p:spPr/>
        <p:txBody>
          <a:bodyPr/>
          <a:lstStyle/>
          <a:p>
            <a:fld id="{7242DB82-1DC1-9846-88D7-11B539157949}" type="slidenum">
              <a:rPr lang="en-IL" smtClean="0"/>
              <a:t>14</a:t>
            </a:fld>
            <a:endParaRPr lang="en-IL"/>
          </a:p>
        </p:txBody>
      </p:sp>
    </p:spTree>
    <p:extLst>
      <p:ext uri="{BB962C8B-B14F-4D97-AF65-F5344CB8AC3E}">
        <p14:creationId xmlns:p14="http://schemas.microsoft.com/office/powerpoint/2010/main" val="40180341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CF7D1-D124-53BB-A836-93876410A1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76F4C45-FA5A-F555-1F40-14DD12967C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89B0D2-2A59-6DB8-1B64-11E5BF2C8194}"/>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96C1921B-77A7-152E-B244-6B2E6BCB634E}"/>
              </a:ext>
            </a:extLst>
          </p:cNvPr>
          <p:cNvSpPr>
            <a:spLocks noGrp="1"/>
          </p:cNvSpPr>
          <p:nvPr>
            <p:ph type="sldNum" sz="quarter" idx="5"/>
          </p:nvPr>
        </p:nvSpPr>
        <p:spPr/>
        <p:txBody>
          <a:bodyPr/>
          <a:lstStyle/>
          <a:p>
            <a:fld id="{7242DB82-1DC1-9846-88D7-11B539157949}" type="slidenum">
              <a:rPr lang="en-IL" smtClean="0"/>
              <a:t>15</a:t>
            </a:fld>
            <a:endParaRPr lang="en-IL"/>
          </a:p>
        </p:txBody>
      </p:sp>
    </p:spTree>
    <p:extLst>
      <p:ext uri="{BB962C8B-B14F-4D97-AF65-F5344CB8AC3E}">
        <p14:creationId xmlns:p14="http://schemas.microsoft.com/office/powerpoint/2010/main" val="15914631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0C2FE-6C67-3C13-FFE5-BC922B1F33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7F933F-C19D-FEBC-DFA0-E37AAAABB25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0E0DF6-259D-DB4A-26CD-16F98DD8D4F9}"/>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D8C7538C-0906-F16E-839B-1E04AAEC9990}"/>
              </a:ext>
            </a:extLst>
          </p:cNvPr>
          <p:cNvSpPr>
            <a:spLocks noGrp="1"/>
          </p:cNvSpPr>
          <p:nvPr>
            <p:ph type="sldNum" sz="quarter" idx="5"/>
          </p:nvPr>
        </p:nvSpPr>
        <p:spPr/>
        <p:txBody>
          <a:bodyPr/>
          <a:lstStyle/>
          <a:p>
            <a:fld id="{7242DB82-1DC1-9846-88D7-11B539157949}" type="slidenum">
              <a:rPr lang="en-IL" smtClean="0"/>
              <a:t>16</a:t>
            </a:fld>
            <a:endParaRPr lang="en-IL"/>
          </a:p>
        </p:txBody>
      </p:sp>
    </p:spTree>
    <p:extLst>
      <p:ext uri="{BB962C8B-B14F-4D97-AF65-F5344CB8AC3E}">
        <p14:creationId xmlns:p14="http://schemas.microsoft.com/office/powerpoint/2010/main" val="24569069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3DF4B-6968-547D-6BE3-D4A5D57FAF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65A4DE-1ADA-D3C4-09B9-B1FC3244E7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F8F276-6B19-0712-1368-97B5A1E0BEF2}"/>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F44C1A0E-FDC0-BC84-9CF9-2237A80D1984}"/>
              </a:ext>
            </a:extLst>
          </p:cNvPr>
          <p:cNvSpPr>
            <a:spLocks noGrp="1"/>
          </p:cNvSpPr>
          <p:nvPr>
            <p:ph type="sldNum" sz="quarter" idx="5"/>
          </p:nvPr>
        </p:nvSpPr>
        <p:spPr/>
        <p:txBody>
          <a:bodyPr/>
          <a:lstStyle/>
          <a:p>
            <a:fld id="{7242DB82-1DC1-9846-88D7-11B539157949}" type="slidenum">
              <a:rPr lang="en-IL" smtClean="0"/>
              <a:t>17</a:t>
            </a:fld>
            <a:endParaRPr lang="en-IL"/>
          </a:p>
        </p:txBody>
      </p:sp>
    </p:spTree>
    <p:extLst>
      <p:ext uri="{BB962C8B-B14F-4D97-AF65-F5344CB8AC3E}">
        <p14:creationId xmlns:p14="http://schemas.microsoft.com/office/powerpoint/2010/main" val="273433283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60FEB-3EAA-8A17-381F-3641FB7CF4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F63B79-9EB2-B28B-C950-0F63B20F5B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0BDA6B-38D1-673C-04A3-BDA28F353377}"/>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17B6989F-53F0-9712-820E-9D4683B1860E}"/>
              </a:ext>
            </a:extLst>
          </p:cNvPr>
          <p:cNvSpPr>
            <a:spLocks noGrp="1"/>
          </p:cNvSpPr>
          <p:nvPr>
            <p:ph type="sldNum" sz="quarter" idx="5"/>
          </p:nvPr>
        </p:nvSpPr>
        <p:spPr/>
        <p:txBody>
          <a:bodyPr/>
          <a:lstStyle/>
          <a:p>
            <a:fld id="{7242DB82-1DC1-9846-88D7-11B539157949}" type="slidenum">
              <a:rPr lang="en-IL" smtClean="0"/>
              <a:t>18</a:t>
            </a:fld>
            <a:endParaRPr lang="en-IL"/>
          </a:p>
        </p:txBody>
      </p:sp>
    </p:spTree>
    <p:extLst>
      <p:ext uri="{BB962C8B-B14F-4D97-AF65-F5344CB8AC3E}">
        <p14:creationId xmlns:p14="http://schemas.microsoft.com/office/powerpoint/2010/main" val="17758136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6BD74F-AEBA-8953-5957-21DA5B5E5A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81FBE0-C4F8-56CC-49FE-4D80F75B16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1C479-4B61-32ED-2058-C6E2381053B8}"/>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C540340E-3F34-C6D4-E1EC-5C655231E989}"/>
              </a:ext>
            </a:extLst>
          </p:cNvPr>
          <p:cNvSpPr>
            <a:spLocks noGrp="1"/>
          </p:cNvSpPr>
          <p:nvPr>
            <p:ph type="sldNum" sz="quarter" idx="5"/>
          </p:nvPr>
        </p:nvSpPr>
        <p:spPr/>
        <p:txBody>
          <a:bodyPr/>
          <a:lstStyle/>
          <a:p>
            <a:fld id="{7242DB82-1DC1-9846-88D7-11B539157949}" type="slidenum">
              <a:rPr lang="en-IL" smtClean="0"/>
              <a:t>19</a:t>
            </a:fld>
            <a:endParaRPr lang="en-IL"/>
          </a:p>
        </p:txBody>
      </p:sp>
    </p:spTree>
    <p:extLst>
      <p:ext uri="{BB962C8B-B14F-4D97-AF65-F5344CB8AC3E}">
        <p14:creationId xmlns:p14="http://schemas.microsoft.com/office/powerpoint/2010/main" val="5538188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3C9C7-0A84-19E0-282D-872CF81B60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07D94A-7328-5289-D8F9-F0AD4D9AD1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E45201-1E61-EE11-C528-A54632CD2F0B}"/>
              </a:ext>
            </a:extLst>
          </p:cNvPr>
          <p:cNvSpPr>
            <a:spLocks noGrp="1"/>
          </p:cNvSpPr>
          <p:nvPr>
            <p:ph type="body" idx="1"/>
          </p:nvPr>
        </p:nvSpPr>
        <p:spPr/>
        <p:txBody>
          <a:bodyPr/>
          <a:lstStyle/>
          <a:p>
            <a:endParaRPr lang="en-IL" dirty="0"/>
          </a:p>
        </p:txBody>
      </p:sp>
      <p:sp>
        <p:nvSpPr>
          <p:cNvPr id="4" name="Slide Number Placeholder 3">
            <a:extLst>
              <a:ext uri="{FF2B5EF4-FFF2-40B4-BE49-F238E27FC236}">
                <a16:creationId xmlns:a16="http://schemas.microsoft.com/office/drawing/2014/main" id="{2EB256CB-51C4-A26F-AE16-ABE7BD5E5E3B}"/>
              </a:ext>
            </a:extLst>
          </p:cNvPr>
          <p:cNvSpPr>
            <a:spLocks noGrp="1"/>
          </p:cNvSpPr>
          <p:nvPr>
            <p:ph type="sldNum" sz="quarter" idx="5"/>
          </p:nvPr>
        </p:nvSpPr>
        <p:spPr/>
        <p:txBody>
          <a:bodyPr/>
          <a:lstStyle/>
          <a:p>
            <a:fld id="{7242DB82-1DC1-9846-88D7-11B539157949}" type="slidenum">
              <a:rPr lang="en-IL" smtClean="0"/>
              <a:t>20</a:t>
            </a:fld>
            <a:endParaRPr lang="en-IL"/>
          </a:p>
        </p:txBody>
      </p:sp>
    </p:spTree>
    <p:extLst>
      <p:ext uri="{BB962C8B-B14F-4D97-AF65-F5344CB8AC3E}">
        <p14:creationId xmlns:p14="http://schemas.microsoft.com/office/powerpoint/2010/main" val="9417943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CCE8D-9330-B3DB-5B69-D303099550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3B9118-304F-2BE6-8422-0DD687862C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97C7D5-11A5-3A69-7067-279DCBDAB834}"/>
              </a:ext>
            </a:extLst>
          </p:cNvPr>
          <p:cNvSpPr>
            <a:spLocks noGrp="1"/>
          </p:cNvSpPr>
          <p:nvPr>
            <p:ph type="body" idx="1"/>
          </p:nvPr>
        </p:nvSpPr>
        <p:spPr/>
        <p:txBody>
          <a:bodyPr/>
          <a:lstStyle/>
          <a:p>
            <a:pPr marL="0" algn="r" defTabSz="914400" rtl="1" eaLnBrk="1" latinLnBrk="0" hangingPunct="1"/>
            <a:r>
              <a:rPr lang="he-IL" dirty="0"/>
              <a:t>שלום לכולם אני </a:t>
            </a:r>
            <a:r>
              <a:rPr lang="he-IL" dirty="0" err="1"/>
              <a:t>אורנית</a:t>
            </a:r>
            <a:r>
              <a:rPr lang="he-IL" dirty="0"/>
              <a:t>, ואני הולכת לדבר על הפרויקט שלי שנקרא ... </a:t>
            </a:r>
          </a:p>
          <a:p>
            <a:pPr marL="0" algn="r" defTabSz="914400" rtl="1" eaLnBrk="1" latinLnBrk="0" hangingPunct="1"/>
            <a:r>
              <a:rPr lang="he-IL" dirty="0"/>
              <a:t>כדי להבין מה הפרויקט הזה אומר, אני צריכה להסביר מה זה </a:t>
            </a:r>
            <a:r>
              <a:rPr lang="en-US" dirty="0"/>
              <a:t>TP53</a:t>
            </a:r>
            <a:r>
              <a:rPr lang="he-IL" dirty="0"/>
              <a:t> ו-</a:t>
            </a:r>
            <a:r>
              <a:rPr lang="en-US" dirty="0"/>
              <a:t>CNV</a:t>
            </a:r>
            <a:r>
              <a:rPr lang="he-IL" dirty="0"/>
              <a:t>.</a:t>
            </a:r>
          </a:p>
          <a:p>
            <a:pPr marL="0" algn="r" defTabSz="914400" rtl="1" eaLnBrk="1" latinLnBrk="0" hangingPunct="1"/>
            <a:r>
              <a:rPr lang="he-IL" dirty="0"/>
              <a:t>אלה שני נושאים שמוזכרים לפעמים יחד בהקשר לסרטן ותכף אסביר למה</a:t>
            </a:r>
          </a:p>
        </p:txBody>
      </p:sp>
      <p:sp>
        <p:nvSpPr>
          <p:cNvPr id="4" name="Slide Number Placeholder 3">
            <a:extLst>
              <a:ext uri="{FF2B5EF4-FFF2-40B4-BE49-F238E27FC236}">
                <a16:creationId xmlns:a16="http://schemas.microsoft.com/office/drawing/2014/main" id="{D056188F-620B-449A-B931-04C627F70D9A}"/>
              </a:ext>
            </a:extLst>
          </p:cNvPr>
          <p:cNvSpPr>
            <a:spLocks noGrp="1"/>
          </p:cNvSpPr>
          <p:nvPr>
            <p:ph type="sldNum" sz="quarter" idx="5"/>
          </p:nvPr>
        </p:nvSpPr>
        <p:spPr/>
        <p:txBody>
          <a:bodyPr/>
          <a:lstStyle/>
          <a:p>
            <a:fld id="{7242DB82-1DC1-9846-88D7-11B539157949}" type="slidenum">
              <a:rPr lang="en-IL" smtClean="0"/>
              <a:t>21</a:t>
            </a:fld>
            <a:endParaRPr lang="en-IL"/>
          </a:p>
        </p:txBody>
      </p:sp>
    </p:spTree>
    <p:extLst>
      <p:ext uri="{BB962C8B-B14F-4D97-AF65-F5344CB8AC3E}">
        <p14:creationId xmlns:p14="http://schemas.microsoft.com/office/powerpoint/2010/main" val="11892198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ctrTitle"/>
          </p:nvPr>
        </p:nvSpPr>
        <p:spPr>
          <a:xfrm>
            <a:off x="581191" y="1020431"/>
            <a:ext cx="10993549" cy="1475013"/>
          </a:xfrm>
          <a:effectLst/>
        </p:spPr>
        <p:txBody>
          <a:bodyPr anchor="b">
            <a:normAutofit/>
          </a:bodyPr>
          <a:lstStyle>
            <a:lvl1pPr>
              <a:defRPr sz="36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581194" y="2495445"/>
            <a:ext cx="10993546" cy="590321"/>
          </a:xfrm>
        </p:spPr>
        <p:txBody>
          <a:bodyPr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a:xfrm>
            <a:off x="7605951" y="5956137"/>
            <a:ext cx="2844800"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581192" y="5951811"/>
            <a:ext cx="6917210" cy="365125"/>
          </a:xfrm>
        </p:spPr>
        <p:txBody>
          <a:bodyPr/>
          <a:lstStyle>
            <a:lvl1pPr>
              <a:defRPr>
                <a:solidFill>
                  <a:schemeClr val="accent1">
                    <a:lumMod val="75000"/>
                    <a:lumOff val="25000"/>
                  </a:schemeClr>
                </a:solidFill>
              </a:defRPr>
            </a:lvl1pPr>
          </a:lstStyle>
          <a:p>
            <a:endParaRPr lang="en-US" dirty="0">
              <a:solidFill>
                <a:schemeClr val="bg1"/>
              </a:solidFill>
            </a:endParaRPr>
          </a:p>
        </p:txBody>
      </p:sp>
      <p:sp>
        <p:nvSpPr>
          <p:cNvPr id="6" name="Slide Number Placeholder 5"/>
          <p:cNvSpPr>
            <a:spLocks noGrp="1"/>
          </p:cNvSpPr>
          <p:nvPr>
            <p:ph type="sldNum" sz="quarter" idx="12"/>
          </p:nvPr>
        </p:nvSpPr>
        <p:spPr>
          <a:xfrm>
            <a:off x="10558300" y="5956137"/>
            <a:ext cx="1016440"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00404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2"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Content Placeholder 2"/>
          <p:cNvSpPr>
            <a:spLocks noGrp="1"/>
          </p:cNvSpPr>
          <p:nvPr>
            <p:ph idx="1"/>
          </p:nvPr>
        </p:nvSpPr>
        <p:spPr>
          <a:xfrm>
            <a:off x="581192" y="2180496"/>
            <a:ext cx="11029615" cy="36783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3/15/26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558300" y="5956137"/>
            <a:ext cx="1052508" cy="365125"/>
          </a:xfrm>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9706807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3043910"/>
            <a:ext cx="11029615" cy="1497507"/>
          </a:xfrm>
        </p:spPr>
        <p:txBody>
          <a:bodyPr anchor="b">
            <a:normAutofit/>
          </a:bodyPr>
          <a:lstStyle>
            <a:lvl1pPr algn="l">
              <a:defRPr sz="3600" b="0" cap="all">
                <a:solidFill>
                  <a:schemeClr val="accent1"/>
                </a:solidFill>
              </a:defRPr>
            </a:lvl1pPr>
          </a:lstStyle>
          <a:p>
            <a:r>
              <a:rPr lang="en-US"/>
              <a:t>Click to edit Master title style</a:t>
            </a:r>
            <a:endParaRPr lang="en-US" dirty="0"/>
          </a:p>
        </p:txBody>
      </p:sp>
      <p:sp>
        <p:nvSpPr>
          <p:cNvPr id="3" name="Text Placeholder 2"/>
          <p:cNvSpPr>
            <a:spLocks noGrp="1"/>
          </p:cNvSpPr>
          <p:nvPr>
            <p:ph type="body" idx="1"/>
          </p:nvPr>
        </p:nvSpPr>
        <p:spPr>
          <a:xfrm>
            <a:off x="581192" y="4541417"/>
            <a:ext cx="11029615" cy="600556"/>
          </a:xfrm>
        </p:spPr>
        <p:txBody>
          <a:bodyPr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12883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Content Placeholder 2"/>
          <p:cNvSpPr>
            <a:spLocks noGrp="1"/>
          </p:cNvSpPr>
          <p:nvPr>
            <p:ph sz="half" idx="1"/>
          </p:nvPr>
        </p:nvSpPr>
        <p:spPr>
          <a:xfrm>
            <a:off x="581193" y="2228003"/>
            <a:ext cx="5422390"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88417" y="2228003"/>
            <a:ext cx="5422392" cy="363304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776367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2" name="Title 1"/>
          <p:cNvSpPr>
            <a:spLocks noGrp="1"/>
          </p:cNvSpPr>
          <p:nvPr>
            <p:ph type="title"/>
          </p:nvPr>
        </p:nvSpPr>
        <p:spPr>
          <a:xfrm>
            <a:off x="581193" y="729658"/>
            <a:ext cx="11029616" cy="98833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87219" y="2250892"/>
            <a:ext cx="5087075" cy="536005"/>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581194"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3735" y="2250892"/>
            <a:ext cx="5087073" cy="553373"/>
          </a:xfrm>
        </p:spPr>
        <p:txBody>
          <a:bodyPr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709" y="2926052"/>
            <a:ext cx="5393100" cy="293499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8" name="Footer Placeholder 7"/>
          <p:cNvSpPr>
            <a:spLocks noGrp="1"/>
          </p:cNvSpPr>
          <p:nvPr>
            <p:ph type="ftr" sz="quarter" idx="11"/>
          </p:nvPr>
        </p:nvSpPr>
        <p:spPr/>
        <p:txBody>
          <a:bodyPr/>
          <a:lstStyle/>
          <a:p>
            <a:endParaRPr lang="en-US" spc="50" dirty="0"/>
          </a:p>
        </p:txBody>
      </p:sp>
      <p:sp>
        <p:nvSpPr>
          <p:cNvPr id="9" name="Slide Number Placeholder 8"/>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9842507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8" name="Title 1"/>
          <p:cNvSpPr>
            <a:spLocks noGrp="1"/>
          </p:cNvSpPr>
          <p:nvPr>
            <p:ph type="title"/>
          </p:nvPr>
        </p:nvSpPr>
        <p:spPr>
          <a:xfrm>
            <a:off x="575894" y="729658"/>
            <a:ext cx="11029616" cy="988332"/>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4" name="Footer Placeholder 3"/>
          <p:cNvSpPr>
            <a:spLocks noGrp="1"/>
          </p:cNvSpPr>
          <p:nvPr>
            <p:ph type="ftr" sz="quarter" idx="11"/>
          </p:nvPr>
        </p:nvSpPr>
        <p:spPr/>
        <p:txBody>
          <a:bodyPr/>
          <a:lstStyle/>
          <a:p>
            <a:endParaRPr lang="en-US" dirty="0">
              <a:solidFill>
                <a:schemeClr val="tx1"/>
              </a:solidFill>
            </a:endParaRPr>
          </a:p>
        </p:txBody>
      </p:sp>
      <p:sp>
        <p:nvSpPr>
          <p:cNvPr id="5" name="Slide Number Placeholder 4"/>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9300684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3" name="Footer Placeholder 2"/>
          <p:cNvSpPr>
            <a:spLocks noGrp="1"/>
          </p:cNvSpPr>
          <p:nvPr>
            <p:ph type="ftr" sz="quarter" idx="11"/>
          </p:nvPr>
        </p:nvSpPr>
        <p:spPr/>
        <p:txBody>
          <a:bodyPr/>
          <a:lstStyle/>
          <a:p>
            <a:endParaRPr lang="en-US" dirty="0">
              <a:solidFill>
                <a:schemeClr val="tx1"/>
              </a:solidFill>
            </a:endParaRPr>
          </a:p>
        </p:txBody>
      </p:sp>
      <p:sp>
        <p:nvSpPr>
          <p:cNvPr id="4" name="Slide Number Placeholder 3"/>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086625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81192" y="5262296"/>
            <a:ext cx="4909445" cy="689514"/>
          </a:xfrm>
        </p:spPr>
        <p:txBody>
          <a:bodyPr anchor="ctr"/>
          <a:lstStyle>
            <a:lvl1pPr algn="l">
              <a:defRPr sz="2000" b="0">
                <a:solidFill>
                  <a:schemeClr val="accent1">
                    <a:lumMod val="75000"/>
                    <a:lumOff val="25000"/>
                  </a:schemeClr>
                </a:solidFill>
              </a:defRPr>
            </a:lvl1pPr>
          </a:lstStyle>
          <a:p>
            <a:r>
              <a:rPr lang="en-US"/>
              <a:t>Click to edit Master title style</a:t>
            </a:r>
            <a:endParaRPr lang="en-US" dirty="0"/>
          </a:p>
        </p:txBody>
      </p:sp>
      <p:sp>
        <p:nvSpPr>
          <p:cNvPr id="3" name="Content Placeholder 2"/>
          <p:cNvSpPr>
            <a:spLocks noGrp="1"/>
          </p:cNvSpPr>
          <p:nvPr>
            <p:ph idx="1"/>
          </p:nvPr>
        </p:nvSpPr>
        <p:spPr>
          <a:xfrm>
            <a:off x="447816" y="601200"/>
            <a:ext cx="11292840" cy="4204800"/>
          </a:xfrm>
        </p:spPr>
        <p:txBody>
          <a:bodyPr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740823" y="5262296"/>
            <a:ext cx="5869987" cy="689515"/>
          </a:xfrm>
        </p:spPr>
        <p:txBody>
          <a:bodyPr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6" name="Footer Placeholder 5"/>
          <p:cNvSpPr>
            <a:spLocks noGrp="1"/>
          </p:cNvSpPr>
          <p:nvPr>
            <p:ph type="ftr" sz="quarter" idx="11"/>
          </p:nvPr>
        </p:nvSpPr>
        <p:spPr/>
        <p:txBody>
          <a:bodyPr/>
          <a:lstStyle>
            <a:lvl1pPr>
              <a:defRPr>
                <a:solidFill>
                  <a:schemeClr val="accent1">
                    <a:lumMod val="75000"/>
                    <a:lumOff val="25000"/>
                  </a:schemeClr>
                </a:solidFill>
              </a:defRPr>
            </a:lvl1pPr>
          </a:lstStyle>
          <a:p>
            <a:endParaRPr lang="en-US" dirty="0">
              <a:solidFill>
                <a:schemeClr val="tx1"/>
              </a:solidFill>
            </a:endParaRPr>
          </a:p>
        </p:txBody>
      </p:sp>
      <p:sp>
        <p:nvSpPr>
          <p:cNvPr id="7" name="Slide Number Placeholder 6"/>
          <p:cNvSpPr>
            <a:spLocks noGrp="1"/>
          </p:cNvSpPr>
          <p:nvPr>
            <p:ph type="sldNum" sz="quarter" idx="12"/>
          </p:nvPr>
        </p:nvSpPr>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22509304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81193" y="4693389"/>
            <a:ext cx="11029616" cy="566738"/>
          </a:xfrm>
        </p:spPr>
        <p:txBody>
          <a:bodyPr anchor="b">
            <a:normAutofit/>
          </a:bodyPr>
          <a:lstStyle>
            <a:lvl1pPr algn="l">
              <a:defRPr sz="2400" b="0">
                <a:solidFill>
                  <a:schemeClr val="accent1"/>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447817" y="599725"/>
            <a:ext cx="11290859" cy="3557252"/>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581192" y="5260127"/>
            <a:ext cx="11029617" cy="598671"/>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lgn="r"/>
            <a:fld id="{A37D6D71-8B28-4ED6-B932-04B197003D23}" type="datetimeFigureOut">
              <a:rPr lang="en-US" smtClean="0"/>
              <a:pPr algn="r"/>
              <a:t>3/12/26</a:t>
            </a:fld>
            <a:endParaRPr lang="en-US" spc="50" dirty="0"/>
          </a:p>
        </p:txBody>
      </p:sp>
      <p:sp>
        <p:nvSpPr>
          <p:cNvPr id="6" name="Footer Placeholder 5"/>
          <p:cNvSpPr>
            <a:spLocks noGrp="1"/>
          </p:cNvSpPr>
          <p:nvPr>
            <p:ph type="ftr" sz="quarter" idx="11"/>
          </p:nvPr>
        </p:nvSpPr>
        <p:spPr/>
        <p:txBody>
          <a:bodyPr/>
          <a:lstStyle/>
          <a:p>
            <a:endParaRPr lang="en-US" spc="50" dirty="0"/>
          </a:p>
        </p:txBody>
      </p:sp>
      <p:sp>
        <p:nvSpPr>
          <p:cNvPr id="7" name="Slide Number Placeholder 6"/>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19016625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9" name="Title 1"/>
          <p:cNvSpPr>
            <a:spLocks noGrp="1"/>
          </p:cNvSpPr>
          <p:nvPr>
            <p:ph type="title"/>
          </p:nvPr>
        </p:nvSpPr>
        <p:spPr>
          <a:xfrm>
            <a:off x="581192" y="702156"/>
            <a:ext cx="11029616" cy="101380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p:txBody>
          <a:bodyPr/>
          <a:lstStyle/>
          <a:p>
            <a:endParaRPr lang="en-US" dirty="0">
              <a:solidFill>
                <a:schemeClr val="tx1"/>
              </a:solidFill>
            </a:endParaRPr>
          </a:p>
        </p:txBody>
      </p:sp>
      <p:sp>
        <p:nvSpPr>
          <p:cNvPr id="6" name="Slide Number Placeholder 5"/>
          <p:cNvSpPr>
            <a:spLocks noGrp="1"/>
          </p:cNvSpPr>
          <p:nvPr>
            <p:ph type="sldNum" sz="quarter" idx="12"/>
          </p:nvPr>
        </p:nvSpPr>
        <p:spPr/>
        <p:txBody>
          <a:body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3787376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8839201" y="675726"/>
            <a:ext cx="2004164" cy="5183073"/>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774923" y="675726"/>
            <a:ext cx="7896279" cy="5183073"/>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8993673" y="5956137"/>
            <a:ext cx="1328141" cy="365125"/>
          </a:xfrm>
        </p:spPr>
        <p:txBody>
          <a:bodyPr/>
          <a:lstStyle>
            <a:lvl1pPr>
              <a:defRPr>
                <a:solidFill>
                  <a:schemeClr val="accent1">
                    <a:lumMod val="75000"/>
                    <a:lumOff val="25000"/>
                  </a:schemeClr>
                </a:solidFill>
              </a:defRPr>
            </a:lvl1pPr>
          </a:lstStyle>
          <a:p>
            <a:pPr algn="r"/>
            <a:fld id="{A37D6D71-8B28-4ED6-B932-04B197003D23}" type="datetimeFigureOut">
              <a:rPr lang="en-US" smtClean="0"/>
              <a:pPr algn="r"/>
              <a:t>3/12/26</a:t>
            </a:fld>
            <a:endParaRPr lang="en-US" dirty="0"/>
          </a:p>
        </p:txBody>
      </p:sp>
      <p:sp>
        <p:nvSpPr>
          <p:cNvPr id="5" name="Footer Placeholder 4"/>
          <p:cNvSpPr>
            <a:spLocks noGrp="1"/>
          </p:cNvSpPr>
          <p:nvPr>
            <p:ph type="ftr" sz="quarter" idx="11"/>
          </p:nvPr>
        </p:nvSpPr>
        <p:spPr>
          <a:xfrm>
            <a:off x="774923" y="5951811"/>
            <a:ext cx="7896279" cy="365125"/>
          </a:xfrm>
        </p:spPr>
        <p:txBody>
          <a:bodyPr/>
          <a:lstStyle/>
          <a:p>
            <a:endParaRPr lang="en-US" dirty="0">
              <a:solidFill>
                <a:schemeClr val="tx1"/>
              </a:solidFill>
            </a:endParaRPr>
          </a:p>
        </p:txBody>
      </p:sp>
      <p:sp>
        <p:nvSpPr>
          <p:cNvPr id="6" name="Slide Number Placeholder 5"/>
          <p:cNvSpPr>
            <a:spLocks noGrp="1"/>
          </p:cNvSpPr>
          <p:nvPr>
            <p:ph type="sldNum" sz="quarter" idx="12"/>
          </p:nvPr>
        </p:nvSpPr>
        <p:spPr>
          <a:xfrm>
            <a:off x="10446615" y="5956137"/>
            <a:ext cx="1164195" cy="365125"/>
          </a:xfrm>
        </p:spPr>
        <p:txBody>
          <a:bodyPr/>
          <a:lstStyle>
            <a:lvl1pPr>
              <a:defRPr>
                <a:solidFill>
                  <a:schemeClr val="accent1">
                    <a:lumMod val="75000"/>
                    <a:lumOff val="25000"/>
                  </a:schemeClr>
                </a:solidFill>
              </a:defRPr>
            </a:lvl1pPr>
          </a:lstStyle>
          <a:p>
            <a:pPr algn="l"/>
            <a:fld id="{F97E8200-1950-409B-82E7-99938E7AE355}" type="slidenum">
              <a:rPr lang="en-US" smtClean="0"/>
              <a:pPr algn="l"/>
              <a:t>‹#›</a:t>
            </a:fld>
            <a:endParaRPr lang="en-US" dirty="0"/>
          </a:p>
        </p:txBody>
      </p:sp>
    </p:spTree>
    <p:extLst>
      <p:ext uri="{BB962C8B-B14F-4D97-AF65-F5344CB8AC3E}">
        <p14:creationId xmlns:p14="http://schemas.microsoft.com/office/powerpoint/2010/main" val="40464386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algn="r"/>
            <a:fld id="{A37D6D71-8B28-4ED6-B932-04B197003D23}" type="datetimeFigureOut">
              <a:rPr lang="en-US" smtClean="0"/>
              <a:pPr algn="r"/>
              <a:t>3/12/26</a:t>
            </a:fld>
            <a:endParaRPr lang="en-US" spc="50" dirty="0"/>
          </a:p>
        </p:txBody>
      </p:sp>
      <p:sp>
        <p:nvSpPr>
          <p:cNvPr id="5" name="Footer Placeholder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endParaRPr lang="en-US" spc="50" dirty="0"/>
          </a:p>
        </p:txBody>
      </p:sp>
      <p:sp>
        <p:nvSpPr>
          <p:cNvPr id="6" name="Slide Number Placeholder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algn="l"/>
            <a:fld id="{F97E8200-1950-409B-82E7-99938E7AE355}" type="slidenum">
              <a:rPr lang="en-US" smtClean="0"/>
              <a:pPr algn="l"/>
              <a:t>‹#›</a:t>
            </a:fld>
            <a:endParaRPr lang="en-US" dirty="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L"/>
          </a:p>
        </p:txBody>
      </p:sp>
    </p:spTree>
    <p:extLst>
      <p:ext uri="{BB962C8B-B14F-4D97-AF65-F5344CB8AC3E}">
        <p14:creationId xmlns:p14="http://schemas.microsoft.com/office/powerpoint/2010/main" val="3489716901"/>
      </p:ext>
    </p:extLst>
  </p:cSld>
  <p:clrMap bg1="lt1" tx1="dk1" bg2="lt2" tx2="dk2" accent1="accent1" accent2="accent2" accent3="accent3" accent4="accent4" accent5="accent5" accent6="accent6" hlink="hlink" folHlink="folHlink"/>
  <p:sldLayoutIdLst>
    <p:sldLayoutId id="2147484298" r:id="rId1"/>
    <p:sldLayoutId id="2147484299" r:id="rId2"/>
    <p:sldLayoutId id="2147484300" r:id="rId3"/>
    <p:sldLayoutId id="2147484301" r:id="rId4"/>
    <p:sldLayoutId id="2147484302" r:id="rId5"/>
    <p:sldLayoutId id="2147484303" r:id="rId6"/>
    <p:sldLayoutId id="2147484304" r:id="rId7"/>
    <p:sldLayoutId id="2147484305" r:id="rId8"/>
    <p:sldLayoutId id="2147484306" r:id="rId9"/>
    <p:sldLayoutId id="2147484307" r:id="rId10"/>
    <p:sldLayoutId id="2147484308" r:id="rId11"/>
  </p:sldLayoutIdLst>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2A296D-E8F9-B326-5356-2C6AA3E5449E}"/>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TP53 mutations that are associated with an increased Copy Number Variation</a:t>
            </a:r>
          </a:p>
        </p:txBody>
      </p:sp>
      <p:sp>
        <p:nvSpPr>
          <p:cNvPr id="28" name="TextBox 27">
            <a:extLst>
              <a:ext uri="{FF2B5EF4-FFF2-40B4-BE49-F238E27FC236}">
                <a16:creationId xmlns:a16="http://schemas.microsoft.com/office/drawing/2014/main" id="{F2321456-BD03-93AA-AA0C-5A387C9AA80E}"/>
              </a:ext>
            </a:extLst>
          </p:cNvPr>
          <p:cNvSpPr txBox="1"/>
          <p:nvPr/>
        </p:nvSpPr>
        <p:spPr>
          <a:xfrm>
            <a:off x="5051483" y="4034124"/>
            <a:ext cx="2089033" cy="830997"/>
          </a:xfrm>
          <a:prstGeom prst="rect">
            <a:avLst/>
          </a:prstGeom>
          <a:noFill/>
        </p:spPr>
        <p:txBody>
          <a:bodyPr wrap="none" rtlCol="0">
            <a:spAutoFit/>
          </a:bodyPr>
          <a:lstStyle/>
          <a:p>
            <a:r>
              <a:rPr lang="en-IL" sz="2400" dirty="0">
                <a:solidFill>
                  <a:schemeClr val="bg1"/>
                </a:solidFill>
              </a:rPr>
              <a:t>Ornit Bhonkar</a:t>
            </a:r>
          </a:p>
          <a:p>
            <a:r>
              <a:rPr lang="en-IL" sz="2400" dirty="0">
                <a:solidFill>
                  <a:schemeClr val="bg1"/>
                </a:solidFill>
              </a:rPr>
              <a:t>March 19, 2026</a:t>
            </a:r>
          </a:p>
        </p:txBody>
      </p:sp>
    </p:spTree>
    <p:extLst>
      <p:ext uri="{BB962C8B-B14F-4D97-AF65-F5344CB8AC3E}">
        <p14:creationId xmlns:p14="http://schemas.microsoft.com/office/powerpoint/2010/main" val="1702451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9BEC890-C6AC-F7F4-5276-8742D7AA6E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7D1D69-5D86-686E-31C4-698DA1D1860B}"/>
              </a:ext>
            </a:extLst>
          </p:cNvPr>
          <p:cNvSpPr>
            <a:spLocks noGrp="1"/>
          </p:cNvSpPr>
          <p:nvPr>
            <p:ph type="title"/>
          </p:nvPr>
        </p:nvSpPr>
        <p:spPr>
          <a:xfrm>
            <a:off x="1205046" y="798394"/>
            <a:ext cx="1340261" cy="678651"/>
          </a:xfrm>
        </p:spPr>
        <p:txBody>
          <a:bodyPr>
            <a:normAutofit/>
          </a:bodyPr>
          <a:lstStyle/>
          <a:p>
            <a:r>
              <a:rPr lang="en-US" dirty="0"/>
              <a:t>TP53</a:t>
            </a:r>
            <a:endParaRPr lang="en-IL" dirty="0"/>
          </a:p>
        </p:txBody>
      </p:sp>
      <p:sp>
        <p:nvSpPr>
          <p:cNvPr id="3" name="Content Placeholder 2">
            <a:extLst>
              <a:ext uri="{FF2B5EF4-FFF2-40B4-BE49-F238E27FC236}">
                <a16:creationId xmlns:a16="http://schemas.microsoft.com/office/drawing/2014/main" id="{785414FA-DE03-E189-4DCE-E04D097B7CA7}"/>
              </a:ext>
            </a:extLst>
          </p:cNvPr>
          <p:cNvSpPr txBox="1">
            <a:spLocks/>
          </p:cNvSpPr>
          <p:nvPr/>
        </p:nvSpPr>
        <p:spPr>
          <a:xfrm>
            <a:off x="359208" y="4801891"/>
            <a:ext cx="11473581" cy="1758483"/>
          </a:xfrm>
          <a:prstGeom prst="rect">
            <a:avLst/>
          </a:prstGeom>
        </p:spPr>
        <p:txBody>
          <a:bodyPr vert="horz" lIns="91440" tIns="45720" rIns="91440" bIns="45720" rtlCol="0">
            <a:no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sz="2000" dirty="0"/>
              <a:t>TP53 acts as the cellular “superhero” responsible for maintaining genomic integrity. It functions as a stress sensor that responds to DNA damage.</a:t>
            </a:r>
          </a:p>
          <a:p>
            <a:r>
              <a:rPr lang="en-US" sz="2000" dirty="0"/>
              <a:t>When TP53 is functional, it induces DNA repairs or apoptosis. When broken, errors accumulate.</a:t>
            </a:r>
          </a:p>
          <a:p>
            <a:r>
              <a:rPr lang="en-US" sz="2000" dirty="0"/>
              <a:t>TP53 mutations are not binary, and they exist on a spectrum of phenotypic impact.</a:t>
            </a:r>
          </a:p>
        </p:txBody>
      </p:sp>
      <p:pic>
        <p:nvPicPr>
          <p:cNvPr id="8" name="Picture 2" descr="Figure 1">
            <a:extLst>
              <a:ext uri="{FF2B5EF4-FFF2-40B4-BE49-F238E27FC236}">
                <a16:creationId xmlns:a16="http://schemas.microsoft.com/office/drawing/2014/main" id="{9BC91899-43E3-CEDD-FE5D-05DC59AA582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31667"/>
          <a:stretch>
            <a:fillRect/>
          </a:stretch>
        </p:blipFill>
        <p:spPr bwMode="auto">
          <a:xfrm>
            <a:off x="2734115" y="1948624"/>
            <a:ext cx="6723769" cy="260773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203DC6B-71C6-BA4C-58BA-63AD22A0BAF3}"/>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527856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5F7B51-0CB9-849F-CB7E-C7A9B50FC57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6F7E30-26B1-B557-6AD3-D1C25884083D}"/>
              </a:ext>
            </a:extLst>
          </p:cNvPr>
          <p:cNvSpPr>
            <a:spLocks noGrp="1"/>
          </p:cNvSpPr>
          <p:nvPr>
            <p:ph type="title"/>
          </p:nvPr>
        </p:nvSpPr>
        <p:spPr>
          <a:xfrm>
            <a:off x="1175457" y="900752"/>
            <a:ext cx="4714335" cy="576293"/>
          </a:xfrm>
        </p:spPr>
        <p:txBody>
          <a:bodyPr>
            <a:normAutofit/>
          </a:bodyPr>
          <a:lstStyle/>
          <a:p>
            <a:r>
              <a:rPr lang="en-US" dirty="0"/>
              <a:t>Copy Number Variation</a:t>
            </a:r>
            <a:endParaRPr lang="en-IL" dirty="0"/>
          </a:p>
        </p:txBody>
      </p:sp>
      <p:sp>
        <p:nvSpPr>
          <p:cNvPr id="5" name="Content Placeholder 2">
            <a:extLst>
              <a:ext uri="{FF2B5EF4-FFF2-40B4-BE49-F238E27FC236}">
                <a16:creationId xmlns:a16="http://schemas.microsoft.com/office/drawing/2014/main" id="{9D517E4E-D17F-EBB7-61A7-E50879226793}"/>
              </a:ext>
            </a:extLst>
          </p:cNvPr>
          <p:cNvSpPr>
            <a:spLocks noGrp="1"/>
          </p:cNvSpPr>
          <p:nvPr>
            <p:ph idx="1"/>
          </p:nvPr>
        </p:nvSpPr>
        <p:spPr>
          <a:xfrm>
            <a:off x="679571" y="2232833"/>
            <a:ext cx="5706109" cy="3560733"/>
          </a:xfrm>
        </p:spPr>
        <p:txBody>
          <a:bodyPr>
            <a:normAutofit/>
          </a:bodyPr>
          <a:lstStyle/>
          <a:p>
            <a:r>
              <a:rPr lang="en-US" sz="2400" dirty="0"/>
              <a:t>A stretch of DNA where the number of copies differs from the normal two copies.</a:t>
            </a:r>
          </a:p>
          <a:p>
            <a:pPr lvl="1"/>
            <a:r>
              <a:rPr lang="en-US" sz="2000" dirty="0"/>
              <a:t>More copies → more RNA → more protein</a:t>
            </a:r>
          </a:p>
          <a:p>
            <a:pPr lvl="1"/>
            <a:r>
              <a:rPr lang="en-US" sz="2000" dirty="0"/>
              <a:t>Fewer copies → less protein</a:t>
            </a:r>
          </a:p>
          <a:p>
            <a:pPr lvl="1"/>
            <a:r>
              <a:rPr lang="en-US" sz="2000" dirty="0"/>
              <a:t>Example: Oncogene amplification → uncontrolled growth</a:t>
            </a:r>
          </a:p>
        </p:txBody>
      </p:sp>
      <p:pic>
        <p:nvPicPr>
          <p:cNvPr id="6" name="Picture 2">
            <a:extLst>
              <a:ext uri="{FF2B5EF4-FFF2-40B4-BE49-F238E27FC236}">
                <a16:creationId xmlns:a16="http://schemas.microsoft.com/office/drawing/2014/main" id="{CC5A2D30-1AD0-064B-BE91-9654F83A8EB7}"/>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4699" y="1878725"/>
            <a:ext cx="5097438" cy="4857461"/>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0804325B-1D0E-C332-B0BD-75656AD7E274}"/>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299099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D78DBB-44CA-8953-BAA3-D911E61766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BE1891-06CD-1C02-0414-011F0217D8C4}"/>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3C919F62-B5BF-D929-2843-8ABB25266375}"/>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05B62530-1BD2-AD91-8DDB-A19CAC48CF63}"/>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E23DAB0-7AD3-659B-646F-007313A4B0C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1607EF1A-442A-0953-02FA-06BBFF268FC4}"/>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0A15A1CB-8B3F-B5D0-F494-B87727E4C264}"/>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33C8F5EC-EC64-A858-CEB0-2B6F1D0E5C0F}"/>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DDD2CA11-ADD6-0E64-CDF8-A58319B47FA5}"/>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2A32926C-890B-9A62-C0EE-F11AE4713D84}"/>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41A222E0-99DB-AE50-9B6E-33151204F8E6}"/>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8007DE2-5BD9-5C67-0B28-F7352639D91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8081AE7B-E1AE-6078-E090-43B40CDF16D5}"/>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sp>
        <p:nvSpPr>
          <p:cNvPr id="21" name="Circle">
            <a:extLst>
              <a:ext uri="{FF2B5EF4-FFF2-40B4-BE49-F238E27FC236}">
                <a16:creationId xmlns:a16="http://schemas.microsoft.com/office/drawing/2014/main" id="{42C4BCEC-E259-3077-6BF6-6557CA49DA74}"/>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400" dirty="0">
              <a:solidFill>
                <a:srgbClr val="FFFFFF"/>
              </a:solidFill>
            </a:endParaRPr>
          </a:p>
        </p:txBody>
      </p:sp>
      <p:sp>
        <p:nvSpPr>
          <p:cNvPr id="22" name="Circle">
            <a:extLst>
              <a:ext uri="{FF2B5EF4-FFF2-40B4-BE49-F238E27FC236}">
                <a16:creationId xmlns:a16="http://schemas.microsoft.com/office/drawing/2014/main" id="{0942E217-7310-96A2-2DDA-C439DD189675}"/>
              </a:ext>
            </a:extLst>
          </p:cNvPr>
          <p:cNvSpPr>
            <a:spLocks/>
          </p:cNvSpPr>
          <p:nvPr/>
        </p:nvSpPr>
        <p:spPr>
          <a:xfrm>
            <a:off x="5321662" y="2017775"/>
            <a:ext cx="1548672" cy="1548671"/>
          </a:xfrm>
          <a:prstGeom prst="ellipse">
            <a:avLst/>
          </a:pr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sz="2400" b="1" dirty="0"/>
          </a:p>
        </p:txBody>
      </p:sp>
      <p:sp>
        <p:nvSpPr>
          <p:cNvPr id="23" name="Circle">
            <a:extLst>
              <a:ext uri="{FF2B5EF4-FFF2-40B4-BE49-F238E27FC236}">
                <a16:creationId xmlns:a16="http://schemas.microsoft.com/office/drawing/2014/main" id="{FC8BE534-91CD-8C49-5200-A26DC21D28C6}"/>
              </a:ext>
            </a:extLst>
          </p:cNvPr>
          <p:cNvSpPr>
            <a:spLocks/>
          </p:cNvSpPr>
          <p:nvPr/>
        </p:nvSpPr>
        <p:spPr>
          <a:xfrm>
            <a:off x="5321662" y="1997303"/>
            <a:ext cx="1548672" cy="1548671"/>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1</a:t>
            </a:r>
            <a:endParaRPr sz="2400" b="1" dirty="0">
              <a:solidFill>
                <a:schemeClr val="bg1"/>
              </a:solidFill>
            </a:endParaRPr>
          </a:p>
        </p:txBody>
      </p:sp>
      <p:grpSp>
        <p:nvGrpSpPr>
          <p:cNvPr id="24" name="Group 23">
            <a:extLst>
              <a:ext uri="{FF2B5EF4-FFF2-40B4-BE49-F238E27FC236}">
                <a16:creationId xmlns:a16="http://schemas.microsoft.com/office/drawing/2014/main" id="{B29E89F7-7DB0-B237-9C99-9CC61285E8E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DCC035F0-2526-D268-0E3B-75AB79A12D8E}"/>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668FC290-2159-6BA0-2442-116AB524B9D3}"/>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DB6880FB-82C4-842A-3DAF-F2B7882B9BF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71428924-C3F8-AD23-A029-7B41748237E3}"/>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3A0310DC-5DC9-5D1F-1D32-AD439F276849}"/>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1202CC10-FB01-DB77-E5DD-9C862A01D79D}"/>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7FB8F06D-FC26-5F60-BF33-6284F4203DE4}"/>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solidFill>
                    <a:schemeClr val="accent3">
                      <a:lumMod val="75000"/>
                    </a:schemeClr>
                  </a:solidFill>
                </a:rPr>
                <a:t>Screen 8,258 TP53 Variants</a:t>
              </a:r>
            </a:p>
          </p:txBody>
        </p:sp>
        <p:sp>
          <p:nvSpPr>
            <p:cNvPr id="32" name="TextBox 31">
              <a:extLst>
                <a:ext uri="{FF2B5EF4-FFF2-40B4-BE49-F238E27FC236}">
                  <a16:creationId xmlns:a16="http://schemas.microsoft.com/office/drawing/2014/main" id="{D76451E6-7528-1075-F5FA-4FF144465383}"/>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61CAC2AA-7851-7415-B7BC-8419E257DE5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AA5A31B5-9DA9-E651-98CD-877FEF8DF613}"/>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49" name="TextBox 48">
            <a:extLst>
              <a:ext uri="{FF2B5EF4-FFF2-40B4-BE49-F238E27FC236}">
                <a16:creationId xmlns:a16="http://schemas.microsoft.com/office/drawing/2014/main" id="{A3346886-1E0C-9717-3143-983684FF5096}"/>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1829126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58EF4-9571-AEBD-4097-BF887B2D8E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FA5036D-21E5-E69F-DDAC-19BC4CE5421A}"/>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7D33C76D-1C6F-D0DA-AF94-08480681CA89}"/>
              </a:ext>
            </a:extLst>
          </p:cNvPr>
          <p:cNvGrpSpPr/>
          <p:nvPr/>
        </p:nvGrpSpPr>
        <p:grpSpPr>
          <a:xfrm>
            <a:off x="3867222" y="4593166"/>
            <a:ext cx="1459397" cy="1460406"/>
            <a:chOff x="9094660" y="1419321"/>
            <a:chExt cx="1663059" cy="1664208"/>
          </a:xfrm>
        </p:grpSpPr>
        <p:sp>
          <p:nvSpPr>
            <p:cNvPr id="8" name="Oval 7">
              <a:extLst>
                <a:ext uri="{FF2B5EF4-FFF2-40B4-BE49-F238E27FC236}">
                  <a16:creationId xmlns:a16="http://schemas.microsoft.com/office/drawing/2014/main" id="{B6BA6F8D-8F8A-615B-497B-CA8F99663F16}"/>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D4B4A215-6A52-F48A-BD20-135BC4819CF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4DA9C1E7-A4C4-0312-AAF4-06E37D9CD97E}"/>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A56F910-0894-8726-4028-7414D9CD49BA}"/>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02BAB27C-C5C4-8191-296B-C6FBE632FC48}"/>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C1D02CDC-EE64-9209-BC87-E09AB5DBA907}"/>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1050582-7E10-9FC7-E18B-115D39EA3FF7}"/>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D02D98C3-CFC8-6615-DD45-5C2195189EE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CA71D7CB-D14E-3ED9-2156-6654656FF545}"/>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4ED36199-B78B-78A1-9B40-1B1AB69AFB2B}"/>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E29CBCBB-4C1B-2DF0-8EC2-F57BECA89F29}"/>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7C206EAE-24D6-0255-9D94-60DBD39D897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t>Calculate Functional Score</a:t>
              </a:r>
            </a:p>
          </p:txBody>
        </p:sp>
        <p:sp>
          <p:nvSpPr>
            <p:cNvPr id="26" name="TextBox 25">
              <a:extLst>
                <a:ext uri="{FF2B5EF4-FFF2-40B4-BE49-F238E27FC236}">
                  <a16:creationId xmlns:a16="http://schemas.microsoft.com/office/drawing/2014/main" id="{029CD787-36A6-E36D-D38D-0ADF0E036377}"/>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21A58634-09AD-7191-8CB1-415349F3F72D}"/>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8942A983-A5F6-ABFD-0224-23DB26EE91EE}"/>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solidFill>
                    <a:schemeClr val="accent3">
                      <a:lumMod val="75000"/>
                    </a:schemeClr>
                  </a:solidFill>
                </a:rPr>
                <a:t>Quantify Allele Enrichment</a:t>
              </a:r>
              <a:endParaRPr lang="en-US" sz="2000" b="1" noProof="1">
                <a:solidFill>
                  <a:schemeClr val="accent3">
                    <a:lumMod val="75000"/>
                  </a:schemeClr>
                </a:solidFill>
              </a:endParaRPr>
            </a:p>
          </p:txBody>
        </p:sp>
        <p:sp>
          <p:nvSpPr>
            <p:cNvPr id="29" name="TextBox 28">
              <a:extLst>
                <a:ext uri="{FF2B5EF4-FFF2-40B4-BE49-F238E27FC236}">
                  <a16:creationId xmlns:a16="http://schemas.microsoft.com/office/drawing/2014/main" id="{8EDD7600-FAC4-457E-B601-644F9AEB4047}"/>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E171EA8F-DD72-BF8C-191B-170C89212965}"/>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3D260321-9767-EB34-9D32-B3E6B7A5E920}"/>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98BB05E3-9081-458B-E9A2-F494333320AC}"/>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AA877511-70EC-877E-C1A7-DBA3712DD495}"/>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338E2388-7BE2-2CA4-E9D7-BA57778CFDE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26DC282D-94D0-79C8-AA07-DEF57C74BA94}"/>
              </a:ext>
            </a:extLst>
          </p:cNvPr>
          <p:cNvSpPr>
            <a:spLocks/>
          </p:cNvSpPr>
          <p:nvPr/>
        </p:nvSpPr>
        <p:spPr>
          <a:xfrm>
            <a:off x="3862264" y="4591900"/>
            <a:ext cx="1459398" cy="1501932"/>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2</a:t>
            </a:r>
            <a:endParaRPr sz="2400" b="1" dirty="0">
              <a:solidFill>
                <a:schemeClr val="bg1"/>
              </a:solidFill>
            </a:endParaRPr>
          </a:p>
        </p:txBody>
      </p:sp>
      <p:grpSp>
        <p:nvGrpSpPr>
          <p:cNvPr id="4" name="Group 3">
            <a:extLst>
              <a:ext uri="{FF2B5EF4-FFF2-40B4-BE49-F238E27FC236}">
                <a16:creationId xmlns:a16="http://schemas.microsoft.com/office/drawing/2014/main" id="{9922419D-E055-2B2E-CA04-4BE3C8EDA600}"/>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352BCFB2-22BE-ACE8-C6D5-F4ABD74175E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E2C32C73-C5AB-A460-1964-50E655172D4D}"/>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5D6697AC-B138-08EF-B17D-EE1452D055FB}"/>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134659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443DF-98F7-95DF-F695-5A8181BCFE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E1DF23-4A25-1848-D659-2C79EA9810D2}"/>
              </a:ext>
            </a:extLst>
          </p:cNvPr>
          <p:cNvSpPr>
            <a:spLocks noGrp="1"/>
          </p:cNvSpPr>
          <p:nvPr>
            <p:ph type="title"/>
          </p:nvPr>
        </p:nvSpPr>
        <p:spPr>
          <a:xfrm>
            <a:off x="1170052" y="774559"/>
            <a:ext cx="6750756" cy="688622"/>
          </a:xfrm>
        </p:spPr>
        <p:txBody>
          <a:bodyPr>
            <a:normAutofit/>
          </a:bodyPr>
          <a:lstStyle/>
          <a:p>
            <a:r>
              <a:rPr lang="en-US" dirty="0"/>
              <a:t>Experimental Functional Score</a:t>
            </a:r>
            <a:endParaRPr lang="en-IL" dirty="0"/>
          </a:p>
        </p:txBody>
      </p:sp>
      <p:grpSp>
        <p:nvGrpSpPr>
          <p:cNvPr id="7" name="Group 6">
            <a:extLst>
              <a:ext uri="{FF2B5EF4-FFF2-40B4-BE49-F238E27FC236}">
                <a16:creationId xmlns:a16="http://schemas.microsoft.com/office/drawing/2014/main" id="{B6512411-125B-95BE-6A95-D424A9A86BCD}"/>
              </a:ext>
            </a:extLst>
          </p:cNvPr>
          <p:cNvGrpSpPr/>
          <p:nvPr/>
        </p:nvGrpSpPr>
        <p:grpSpPr>
          <a:xfrm>
            <a:off x="3860398" y="4606814"/>
            <a:ext cx="1459397" cy="1460406"/>
            <a:chOff x="9094660" y="1419321"/>
            <a:chExt cx="1663059" cy="1664208"/>
          </a:xfrm>
        </p:grpSpPr>
        <p:sp>
          <p:nvSpPr>
            <p:cNvPr id="8" name="Oval 7">
              <a:extLst>
                <a:ext uri="{FF2B5EF4-FFF2-40B4-BE49-F238E27FC236}">
                  <a16:creationId xmlns:a16="http://schemas.microsoft.com/office/drawing/2014/main" id="{CEDCFE01-3B2A-E5B1-D7BA-438FE7EF142D}"/>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9" name="Oval 8">
              <a:extLst>
                <a:ext uri="{FF2B5EF4-FFF2-40B4-BE49-F238E27FC236}">
                  <a16:creationId xmlns:a16="http://schemas.microsoft.com/office/drawing/2014/main" id="{98E92F83-D3C9-B664-B770-59FEC9C31F69}"/>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2</a:t>
              </a:r>
            </a:p>
          </p:txBody>
        </p:sp>
      </p:grpSp>
      <p:grpSp>
        <p:nvGrpSpPr>
          <p:cNvPr id="10" name="Group 9">
            <a:extLst>
              <a:ext uri="{FF2B5EF4-FFF2-40B4-BE49-F238E27FC236}">
                <a16:creationId xmlns:a16="http://schemas.microsoft.com/office/drawing/2014/main" id="{B5B92404-62F1-2A5C-3C5E-B017E10579D1}"/>
              </a:ext>
            </a:extLst>
          </p:cNvPr>
          <p:cNvGrpSpPr/>
          <p:nvPr/>
        </p:nvGrpSpPr>
        <p:grpSpPr>
          <a:xfrm>
            <a:off x="6865383" y="4593166"/>
            <a:ext cx="1459397" cy="1460406"/>
            <a:chOff x="9094660" y="1419321"/>
            <a:chExt cx="1663059" cy="1664208"/>
          </a:xfrm>
        </p:grpSpPr>
        <p:sp>
          <p:nvSpPr>
            <p:cNvPr id="14" name="Oval 13">
              <a:extLst>
                <a:ext uri="{FF2B5EF4-FFF2-40B4-BE49-F238E27FC236}">
                  <a16:creationId xmlns:a16="http://schemas.microsoft.com/office/drawing/2014/main" id="{53F41867-AF60-B5F3-04BE-9F48A1BB09B0}"/>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15" name="Oval 14">
              <a:extLst>
                <a:ext uri="{FF2B5EF4-FFF2-40B4-BE49-F238E27FC236}">
                  <a16:creationId xmlns:a16="http://schemas.microsoft.com/office/drawing/2014/main" id="{271F0C38-0FE4-362E-3F57-FC310EF4C202}"/>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3</a:t>
              </a:r>
            </a:p>
          </p:txBody>
        </p:sp>
      </p:grpSp>
      <p:grpSp>
        <p:nvGrpSpPr>
          <p:cNvPr id="16" name="Group 15">
            <a:extLst>
              <a:ext uri="{FF2B5EF4-FFF2-40B4-BE49-F238E27FC236}">
                <a16:creationId xmlns:a16="http://schemas.microsoft.com/office/drawing/2014/main" id="{2E3B01F4-EF93-339F-B824-3A33423F0BA2}"/>
              </a:ext>
            </a:extLst>
          </p:cNvPr>
          <p:cNvGrpSpPr/>
          <p:nvPr/>
        </p:nvGrpSpPr>
        <p:grpSpPr>
          <a:xfrm>
            <a:off x="4545430" y="3178295"/>
            <a:ext cx="3112039" cy="2812279"/>
            <a:chOff x="8212798" y="998309"/>
            <a:chExt cx="3546329" cy="3204737"/>
          </a:xfrm>
        </p:grpSpPr>
        <p:sp>
          <p:nvSpPr>
            <p:cNvPr id="17" name="Shape">
              <a:extLst>
                <a:ext uri="{FF2B5EF4-FFF2-40B4-BE49-F238E27FC236}">
                  <a16:creationId xmlns:a16="http://schemas.microsoft.com/office/drawing/2014/main" id="{3995BD10-0928-A499-1331-CCDD83904A5C}"/>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a:solidFill>
                  <a:srgbClr val="FFFFFF"/>
                </a:solidFill>
              </a:endParaRPr>
            </a:p>
          </p:txBody>
        </p:sp>
        <p:sp>
          <p:nvSpPr>
            <p:cNvPr id="18" name="Shape">
              <a:extLst>
                <a:ext uri="{FF2B5EF4-FFF2-40B4-BE49-F238E27FC236}">
                  <a16:creationId xmlns:a16="http://schemas.microsoft.com/office/drawing/2014/main" id="{A5C2C977-C5E9-1B8F-530A-8BDBD770B5EE}"/>
                </a:ext>
              </a:extLst>
            </p:cNvPr>
            <p:cNvSpPr/>
            <p:nvPr/>
          </p:nvSpPr>
          <p:spPr>
            <a:xfrm>
              <a:off x="8212798" y="998309"/>
              <a:ext cx="3546329" cy="3204737"/>
            </a:xfrm>
            <a:custGeom>
              <a:avLst/>
              <a:gdLst/>
              <a:ahLst/>
              <a:cxnLst>
                <a:cxn ang="0">
                  <a:pos x="wd2" y="hd2"/>
                </a:cxn>
                <a:cxn ang="5400000">
                  <a:pos x="wd2" y="hd2"/>
                </a:cxn>
                <a:cxn ang="10800000">
                  <a:pos x="wd2" y="hd2"/>
                </a:cxn>
                <a:cxn ang="16200000">
                  <a:pos x="wd2" y="hd2"/>
                </a:cxn>
              </a:cxnLst>
              <a:rect l="0" t="0" r="r" b="b"/>
              <a:pathLst>
                <a:path w="21600" h="21600" extrusionOk="0">
                  <a:moveTo>
                    <a:pt x="13725" y="15733"/>
                  </a:moveTo>
                  <a:cubicBezTo>
                    <a:pt x="13725" y="11853"/>
                    <a:pt x="16569" y="8707"/>
                    <a:pt x="20074" y="8707"/>
                  </a:cubicBezTo>
                  <a:cubicBezTo>
                    <a:pt x="20598" y="8707"/>
                    <a:pt x="21108" y="8777"/>
                    <a:pt x="21600" y="8909"/>
                  </a:cubicBezTo>
                  <a:cubicBezTo>
                    <a:pt x="21405" y="5260"/>
                    <a:pt x="19734" y="2051"/>
                    <a:pt x="17231" y="0"/>
                  </a:cubicBezTo>
                  <a:cubicBezTo>
                    <a:pt x="16348" y="3000"/>
                    <a:pt x="13801" y="5170"/>
                    <a:pt x="10800" y="5170"/>
                  </a:cubicBezTo>
                  <a:cubicBezTo>
                    <a:pt x="7793" y="5170"/>
                    <a:pt x="5246" y="3000"/>
                    <a:pt x="4369" y="0"/>
                  </a:cubicBezTo>
                  <a:cubicBezTo>
                    <a:pt x="1873" y="2044"/>
                    <a:pt x="202" y="5247"/>
                    <a:pt x="0" y="8888"/>
                  </a:cubicBezTo>
                  <a:cubicBezTo>
                    <a:pt x="467" y="8763"/>
                    <a:pt x="958" y="8700"/>
                    <a:pt x="1463" y="8700"/>
                  </a:cubicBezTo>
                  <a:cubicBezTo>
                    <a:pt x="4968" y="8700"/>
                    <a:pt x="7812" y="11847"/>
                    <a:pt x="7812" y="15726"/>
                  </a:cubicBezTo>
                  <a:cubicBezTo>
                    <a:pt x="7812" y="17547"/>
                    <a:pt x="7187" y="19200"/>
                    <a:pt x="6166" y="20449"/>
                  </a:cubicBezTo>
                  <a:cubicBezTo>
                    <a:pt x="7572" y="21188"/>
                    <a:pt x="9148" y="21600"/>
                    <a:pt x="10806" y="21600"/>
                  </a:cubicBezTo>
                  <a:cubicBezTo>
                    <a:pt x="12452" y="21600"/>
                    <a:pt x="14009" y="21195"/>
                    <a:pt x="15402" y="20470"/>
                  </a:cubicBezTo>
                  <a:cubicBezTo>
                    <a:pt x="14356" y="19228"/>
                    <a:pt x="13725" y="17560"/>
                    <a:pt x="13725" y="15733"/>
                  </a:cubicBezTo>
                  <a:close/>
                </a:path>
              </a:pathLst>
            </a:custGeom>
            <a:solidFill>
              <a:schemeClr val="bg1">
                <a:lumMod val="95000"/>
              </a:schemeClr>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sz="2250" dirty="0">
                <a:solidFill>
                  <a:srgbClr val="FFFFFF"/>
                </a:solidFill>
              </a:endParaRPr>
            </a:p>
          </p:txBody>
        </p:sp>
      </p:grpSp>
      <p:pic>
        <p:nvPicPr>
          <p:cNvPr id="19" name="Graphic 31" descr="Lights On">
            <a:extLst>
              <a:ext uri="{FF2B5EF4-FFF2-40B4-BE49-F238E27FC236}">
                <a16:creationId xmlns:a16="http://schemas.microsoft.com/office/drawing/2014/main" id="{1CA274DC-454A-6E5E-6D25-51991BFEC0ED}"/>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5713853" y="4424362"/>
            <a:ext cx="764292" cy="764292"/>
          </a:xfrm>
          <a:prstGeom prst="rect">
            <a:avLst/>
          </a:prstGeom>
        </p:spPr>
      </p:pic>
      <p:sp>
        <p:nvSpPr>
          <p:cNvPr id="20" name="TextBox 13">
            <a:extLst>
              <a:ext uri="{FF2B5EF4-FFF2-40B4-BE49-F238E27FC236}">
                <a16:creationId xmlns:a16="http://schemas.microsoft.com/office/drawing/2014/main" id="{E2975257-5C90-B058-DBB8-F814A8F17989}"/>
              </a:ext>
            </a:extLst>
          </p:cNvPr>
          <p:cNvSpPr txBox="1"/>
          <p:nvPr/>
        </p:nvSpPr>
        <p:spPr>
          <a:xfrm>
            <a:off x="5219477" y="3971152"/>
            <a:ext cx="1743042" cy="415498"/>
          </a:xfrm>
          <a:prstGeom prst="rect">
            <a:avLst/>
          </a:prstGeom>
          <a:noFill/>
        </p:spPr>
        <p:txBody>
          <a:bodyPr wrap="square" lIns="0" rIns="0" rtlCol="0" anchor="ctr">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700" b="1" noProof="1"/>
              <a:t>Combined Phenotype Score (EFS)</a:t>
            </a:r>
          </a:p>
          <a:p>
            <a:pPr algn="ctr"/>
            <a:r>
              <a:rPr lang="en-US" sz="700" b="1" noProof="1"/>
              <a:t>Low = Loss of Function</a:t>
            </a:r>
          </a:p>
          <a:p>
            <a:pPr algn="ctr"/>
            <a:r>
              <a:rPr lang="en-US" sz="700" b="1" noProof="1"/>
              <a:t>High = WT-like Activity</a:t>
            </a:r>
          </a:p>
        </p:txBody>
      </p:sp>
      <p:grpSp>
        <p:nvGrpSpPr>
          <p:cNvPr id="24" name="Group 23">
            <a:extLst>
              <a:ext uri="{FF2B5EF4-FFF2-40B4-BE49-F238E27FC236}">
                <a16:creationId xmlns:a16="http://schemas.microsoft.com/office/drawing/2014/main" id="{1365890A-AFD2-8795-7757-690D2F59FB90}"/>
              </a:ext>
            </a:extLst>
          </p:cNvPr>
          <p:cNvGrpSpPr/>
          <p:nvPr/>
        </p:nvGrpSpPr>
        <p:grpSpPr>
          <a:xfrm>
            <a:off x="8712017" y="4732140"/>
            <a:ext cx="3276783" cy="1106115"/>
            <a:chOff x="8921977" y="4001571"/>
            <a:chExt cx="2926080" cy="1474819"/>
          </a:xfrm>
        </p:grpSpPr>
        <p:sp>
          <p:nvSpPr>
            <p:cNvPr id="25" name="TextBox 24">
              <a:extLst>
                <a:ext uri="{FF2B5EF4-FFF2-40B4-BE49-F238E27FC236}">
                  <a16:creationId xmlns:a16="http://schemas.microsoft.com/office/drawing/2014/main" id="{3EC68F3A-B7C4-4F8F-BD77-324C6DCFED45}"/>
                </a:ext>
              </a:extLst>
            </p:cNvPr>
            <p:cNvSpPr txBox="1"/>
            <p:nvPr/>
          </p:nvSpPr>
          <p:spPr>
            <a:xfrm>
              <a:off x="8921977" y="4001571"/>
              <a:ext cx="2926080" cy="533480"/>
            </a:xfrm>
            <a:prstGeom prst="rect">
              <a:avLst/>
            </a:prstGeom>
            <a:noFill/>
          </p:spPr>
          <p:txBody>
            <a:bodyPr wrap="square" lIns="0" rIns="0" rtlCol="0" anchor="b">
              <a:spAutoFit/>
            </a:bodyPr>
            <a:lstStyle/>
            <a:p>
              <a:r>
                <a:rPr lang="en-US" sz="2000" b="1" noProof="1">
                  <a:solidFill>
                    <a:schemeClr val="accent3">
                      <a:lumMod val="75000"/>
                    </a:schemeClr>
                  </a:solidFill>
                </a:rPr>
                <a:t>Calculate Functional Score</a:t>
              </a:r>
            </a:p>
          </p:txBody>
        </p:sp>
        <p:sp>
          <p:nvSpPr>
            <p:cNvPr id="26" name="TextBox 25">
              <a:extLst>
                <a:ext uri="{FF2B5EF4-FFF2-40B4-BE49-F238E27FC236}">
                  <a16:creationId xmlns:a16="http://schemas.microsoft.com/office/drawing/2014/main" id="{DF53E615-9CE2-D1A4-465B-3280FD9BE951}"/>
                </a:ext>
              </a:extLst>
            </p:cNvPr>
            <p:cNvSpPr txBox="1"/>
            <p:nvPr/>
          </p:nvSpPr>
          <p:spPr>
            <a:xfrm>
              <a:off x="8921977" y="4532543"/>
              <a:ext cx="2926080" cy="943847"/>
            </a:xfrm>
            <a:prstGeom prst="rect">
              <a:avLst/>
            </a:prstGeom>
            <a:noFill/>
          </p:spPr>
          <p:txBody>
            <a:bodyPr wrap="square" lIns="0" rIns="0" rtlCol="0" anchor="t">
              <a:spAutoFit/>
            </a:bodyPr>
            <a:lstStyle/>
            <a:p>
              <a:r>
                <a:rPr lang="en-US" sz="1000" noProof="1">
                  <a:solidFill>
                    <a:schemeClr val="tx1">
                      <a:lumMod val="65000"/>
                      <a:lumOff val="35000"/>
                    </a:schemeClr>
                  </a:solidFill>
                </a:rPr>
                <a:t>Integrate the three Z-scores using the Combined Phenotype Score formula. This single value per allele - the EFS - reflects the degree to which each TP53 variant retains or loses normal p53 function.</a:t>
              </a:r>
            </a:p>
          </p:txBody>
        </p:sp>
      </p:grpSp>
      <p:grpSp>
        <p:nvGrpSpPr>
          <p:cNvPr id="27" name="Group 26">
            <a:extLst>
              <a:ext uri="{FF2B5EF4-FFF2-40B4-BE49-F238E27FC236}">
                <a16:creationId xmlns:a16="http://schemas.microsoft.com/office/drawing/2014/main" id="{7652938D-04DB-9D68-9651-31AFDB763A1A}"/>
              </a:ext>
            </a:extLst>
          </p:cNvPr>
          <p:cNvGrpSpPr/>
          <p:nvPr/>
        </p:nvGrpSpPr>
        <p:grpSpPr>
          <a:xfrm>
            <a:off x="267478" y="4631438"/>
            <a:ext cx="3331985" cy="921449"/>
            <a:chOff x="332936" y="4621561"/>
            <a:chExt cx="2926080" cy="1228599"/>
          </a:xfrm>
        </p:grpSpPr>
        <p:sp>
          <p:nvSpPr>
            <p:cNvPr id="28" name="TextBox 27">
              <a:extLst>
                <a:ext uri="{FF2B5EF4-FFF2-40B4-BE49-F238E27FC236}">
                  <a16:creationId xmlns:a16="http://schemas.microsoft.com/office/drawing/2014/main" id="{C068C0E7-73EB-621D-7356-C23796AAF798}"/>
                </a:ext>
              </a:extLst>
            </p:cNvPr>
            <p:cNvSpPr txBox="1"/>
            <p:nvPr/>
          </p:nvSpPr>
          <p:spPr>
            <a:xfrm>
              <a:off x="332936" y="4621561"/>
              <a:ext cx="2926080" cy="492442"/>
            </a:xfrm>
            <a:prstGeom prst="rect">
              <a:avLst/>
            </a:prstGeom>
            <a:noFill/>
          </p:spPr>
          <p:txBody>
            <a:bodyPr wrap="square" lIns="0" rIns="0" rtlCol="0" anchor="b">
              <a:spAutoFit/>
            </a:bodyPr>
            <a:lstStyle/>
            <a:p>
              <a:pPr algn="r"/>
              <a:r>
                <a:rPr lang="en-US" b="1" dirty="0"/>
                <a:t>Quantify Allele Enrichment</a:t>
              </a:r>
              <a:endParaRPr lang="en-US" sz="2000" b="1" noProof="1"/>
            </a:p>
          </p:txBody>
        </p:sp>
        <p:sp>
          <p:nvSpPr>
            <p:cNvPr id="29" name="TextBox 28">
              <a:extLst>
                <a:ext uri="{FF2B5EF4-FFF2-40B4-BE49-F238E27FC236}">
                  <a16:creationId xmlns:a16="http://schemas.microsoft.com/office/drawing/2014/main" id="{149841CA-ED50-F40B-3A01-C40EF7A27B1D}"/>
                </a:ext>
              </a:extLst>
            </p:cNvPr>
            <p:cNvSpPr txBox="1"/>
            <p:nvPr/>
          </p:nvSpPr>
          <p:spPr>
            <a:xfrm>
              <a:off x="332936" y="5111496"/>
              <a:ext cx="2926080" cy="738664"/>
            </a:xfrm>
            <a:prstGeom prst="rect">
              <a:avLst/>
            </a:prstGeom>
            <a:noFill/>
          </p:spPr>
          <p:txBody>
            <a:bodyPr wrap="square" lIns="0" rIns="0" rtlCol="0" anchor="t">
              <a:spAutoFit/>
            </a:bodyPr>
            <a:lstStyle/>
            <a:p>
              <a:pPr algn="r"/>
              <a:r>
                <a:rPr lang="en-US" sz="1000" noProof="1">
                  <a:solidFill>
                    <a:schemeClr val="tx1">
                      <a:lumMod val="65000"/>
                      <a:lumOff val="35000"/>
                    </a:schemeClr>
                  </a:solidFill>
                </a:rPr>
                <a:t>Compute log₂ fold-change for each allele relative to the early timepoint. Standardize across alleles to produce a Z-score for each of the three conditions.</a:t>
              </a:r>
            </a:p>
          </p:txBody>
        </p:sp>
      </p:grpSp>
      <p:grpSp>
        <p:nvGrpSpPr>
          <p:cNvPr id="30" name="Group 29">
            <a:extLst>
              <a:ext uri="{FF2B5EF4-FFF2-40B4-BE49-F238E27FC236}">
                <a16:creationId xmlns:a16="http://schemas.microsoft.com/office/drawing/2014/main" id="{61E9F560-73EE-83EC-6317-B793527177EE}"/>
              </a:ext>
            </a:extLst>
          </p:cNvPr>
          <p:cNvGrpSpPr/>
          <p:nvPr/>
        </p:nvGrpSpPr>
        <p:grpSpPr>
          <a:xfrm>
            <a:off x="1286933" y="2249613"/>
            <a:ext cx="3854634" cy="967371"/>
            <a:chOff x="8921977" y="984542"/>
            <a:chExt cx="2926080" cy="2202911"/>
          </a:xfrm>
        </p:grpSpPr>
        <p:sp>
          <p:nvSpPr>
            <p:cNvPr id="31" name="TextBox 30">
              <a:extLst>
                <a:ext uri="{FF2B5EF4-FFF2-40B4-BE49-F238E27FC236}">
                  <a16:creationId xmlns:a16="http://schemas.microsoft.com/office/drawing/2014/main" id="{C179F1FA-36D8-4879-074A-1A5D6C93F38A}"/>
                </a:ext>
              </a:extLst>
            </p:cNvPr>
            <p:cNvSpPr txBox="1"/>
            <p:nvPr/>
          </p:nvSpPr>
          <p:spPr>
            <a:xfrm>
              <a:off x="8921977" y="984542"/>
              <a:ext cx="2743944" cy="943848"/>
            </a:xfrm>
            <a:prstGeom prst="rect">
              <a:avLst/>
            </a:prstGeom>
            <a:noFill/>
          </p:spPr>
          <p:txBody>
            <a:bodyPr wrap="square" lIns="0" rIns="0" rtlCol="0" anchor="b">
              <a:spAutoFit/>
            </a:bodyPr>
            <a:lstStyle/>
            <a:p>
              <a:r>
                <a:rPr lang="en-US" sz="2000" b="1" noProof="1"/>
                <a:t>Screen 8,258 TP53 Variants</a:t>
              </a:r>
            </a:p>
          </p:txBody>
        </p:sp>
        <p:sp>
          <p:nvSpPr>
            <p:cNvPr id="32" name="TextBox 31">
              <a:extLst>
                <a:ext uri="{FF2B5EF4-FFF2-40B4-BE49-F238E27FC236}">
                  <a16:creationId xmlns:a16="http://schemas.microsoft.com/office/drawing/2014/main" id="{75A1239B-ECEC-42AF-0483-364AF93282AD}"/>
                </a:ext>
              </a:extLst>
            </p:cNvPr>
            <p:cNvSpPr txBox="1"/>
            <p:nvPr/>
          </p:nvSpPr>
          <p:spPr>
            <a:xfrm>
              <a:off x="8921977" y="1925881"/>
              <a:ext cx="2926080" cy="1261572"/>
            </a:xfrm>
            <a:prstGeom prst="rect">
              <a:avLst/>
            </a:prstGeom>
            <a:noFill/>
          </p:spPr>
          <p:txBody>
            <a:bodyPr wrap="square" lIns="0" rIns="0" rtlCol="0" anchor="t">
              <a:spAutoFit/>
            </a:bodyPr>
            <a:lstStyle/>
            <a:p>
              <a:r>
                <a:rPr lang="en-US" sz="1000" noProof="1">
                  <a:solidFill>
                    <a:schemeClr val="tx1">
                      <a:lumMod val="65000"/>
                      <a:lumOff val="35000"/>
                    </a:schemeClr>
                  </a:solidFill>
                </a:rPr>
                <a:t>Run 3 competitive growth screens in isogenic p53WT and p53NULL cells treated with nutlin-3 or etoposide. Collect read counts to quantify allele representation.</a:t>
              </a:r>
            </a:p>
          </p:txBody>
        </p:sp>
      </p:grpSp>
      <p:sp>
        <p:nvSpPr>
          <p:cNvPr id="36" name="TextBox 35">
            <a:extLst>
              <a:ext uri="{FF2B5EF4-FFF2-40B4-BE49-F238E27FC236}">
                <a16:creationId xmlns:a16="http://schemas.microsoft.com/office/drawing/2014/main" id="{95D58AF2-E905-8DD8-F9E7-C14EF010632A}"/>
              </a:ext>
            </a:extLst>
          </p:cNvPr>
          <p:cNvSpPr txBox="1"/>
          <p:nvPr/>
        </p:nvSpPr>
        <p:spPr>
          <a:xfrm>
            <a:off x="440870" y="6258822"/>
            <a:ext cx="11321157" cy="861774"/>
          </a:xfrm>
          <a:prstGeom prst="rect">
            <a:avLst/>
          </a:prstGeom>
          <a:noFill/>
        </p:spPr>
        <p:txBody>
          <a:bodyPr wrap="square" rtlCol="0">
            <a:spAutoFit/>
          </a:bodyPr>
          <a:lstStyle/>
          <a:p>
            <a:pPr algn="ctr"/>
            <a:r>
              <a:rPr lang="en-US" sz="1600" dirty="0"/>
              <a:t>Giacomelli, A.O., Yang, X., Lintner, R.E. </a:t>
            </a:r>
            <a:r>
              <a:rPr lang="en-US" sz="1600" i="1" dirty="0"/>
              <a:t>et al.</a:t>
            </a:r>
            <a:r>
              <a:rPr lang="en-US" sz="1600" dirty="0"/>
              <a:t> Mutational processes shape the landscape of </a:t>
            </a:r>
            <a:r>
              <a:rPr lang="en-US" sz="1600" i="1" dirty="0"/>
              <a:t>TP53</a:t>
            </a:r>
            <a:r>
              <a:rPr lang="en-US" sz="1600" dirty="0"/>
              <a:t> mutations in human cancer. </a:t>
            </a:r>
            <a:r>
              <a:rPr lang="en-US" sz="1600" i="1" dirty="0"/>
              <a:t>Nat Genet</a:t>
            </a:r>
            <a:r>
              <a:rPr lang="en-US" sz="1600" dirty="0"/>
              <a:t> 50, 1381–1387 (2018).</a:t>
            </a:r>
            <a:endParaRPr lang="en-IL" sz="1600" dirty="0"/>
          </a:p>
          <a:p>
            <a:endParaRPr lang="en-IL" dirty="0"/>
          </a:p>
        </p:txBody>
      </p:sp>
      <p:sp>
        <p:nvSpPr>
          <p:cNvPr id="43" name="TextBox 42">
            <a:extLst>
              <a:ext uri="{FF2B5EF4-FFF2-40B4-BE49-F238E27FC236}">
                <a16:creationId xmlns:a16="http://schemas.microsoft.com/office/drawing/2014/main" id="{C6BC8DFC-F7CE-F022-5C20-BE6977408000}"/>
              </a:ext>
            </a:extLst>
          </p:cNvPr>
          <p:cNvSpPr txBox="1"/>
          <p:nvPr/>
        </p:nvSpPr>
        <p:spPr>
          <a:xfrm>
            <a:off x="8712017" y="4224828"/>
            <a:ext cx="3092506" cy="523220"/>
          </a:xfrm>
          <a:prstGeom prst="rect">
            <a:avLst/>
          </a:prstGeom>
          <a:noFill/>
        </p:spPr>
        <p:txBody>
          <a:bodyPr wrap="square" rtlCol="0">
            <a:spAutoFit/>
          </a:bodyPr>
          <a:lstStyle/>
          <a:p>
            <a:pPr algn="ctr"/>
            <a:r>
              <a:rPr lang="en-US" sz="1400" dirty="0"/>
              <a:t>EFS = [Z(</a:t>
            </a:r>
            <a:r>
              <a:rPr lang="en-US" sz="1400" dirty="0" err="1"/>
              <a:t>WT+nutlin</a:t>
            </a:r>
            <a:r>
              <a:rPr lang="en-US" sz="1400" dirty="0"/>
              <a:t>) + Z(</a:t>
            </a:r>
            <a:r>
              <a:rPr lang="en-US" sz="1400" dirty="0" err="1"/>
              <a:t>NULL+nutlin</a:t>
            </a:r>
            <a:r>
              <a:rPr lang="en-US" sz="1400" dirty="0"/>
              <a:t>) − Z(</a:t>
            </a:r>
            <a:r>
              <a:rPr lang="en-US" sz="1400" dirty="0" err="1"/>
              <a:t>NULL+etop</a:t>
            </a:r>
            <a:r>
              <a:rPr lang="en-US" sz="1400" dirty="0"/>
              <a:t>)] / 3</a:t>
            </a:r>
          </a:p>
        </p:txBody>
      </p:sp>
      <p:sp>
        <p:nvSpPr>
          <p:cNvPr id="3" name="Circle">
            <a:extLst>
              <a:ext uri="{FF2B5EF4-FFF2-40B4-BE49-F238E27FC236}">
                <a16:creationId xmlns:a16="http://schemas.microsoft.com/office/drawing/2014/main" id="{6BF07ACD-7958-F801-5A96-DFBCF58B89B6}"/>
              </a:ext>
            </a:extLst>
          </p:cNvPr>
          <p:cNvSpPr>
            <a:spLocks/>
          </p:cNvSpPr>
          <p:nvPr/>
        </p:nvSpPr>
        <p:spPr>
          <a:xfrm>
            <a:off x="6865379" y="4595756"/>
            <a:ext cx="1459397" cy="1460406"/>
          </a:xfrm>
          <a:prstGeom prst="ellipse">
            <a:avLst/>
          </a:prstGeom>
          <a:gradFill>
            <a:gsLst>
              <a:gs pos="50000">
                <a:schemeClr val="accent3"/>
              </a:gs>
              <a:gs pos="85000">
                <a:schemeClr val="accent3">
                  <a:lumMod val="40000"/>
                  <a:lumOff val="60000"/>
                </a:schemeClr>
              </a:gs>
            </a:gsLst>
            <a:lin ang="2700000" scaled="0"/>
          </a:gradFill>
          <a:ln>
            <a:noFill/>
          </a:ln>
          <a:effectLst>
            <a:innerShdw blurRad="152400" dist="101600" dir="13500000">
              <a:schemeClr val="accent3">
                <a:lumMod val="50000"/>
                <a:alpha val="40000"/>
              </a:scheme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2400" b="1" dirty="0">
                <a:solidFill>
                  <a:schemeClr val="bg1"/>
                </a:solidFill>
              </a:rPr>
              <a:t>3</a:t>
            </a:r>
            <a:endParaRPr sz="2400" b="1" dirty="0">
              <a:solidFill>
                <a:schemeClr val="bg1"/>
              </a:solidFill>
            </a:endParaRPr>
          </a:p>
        </p:txBody>
      </p:sp>
      <p:grpSp>
        <p:nvGrpSpPr>
          <p:cNvPr id="4" name="Group 3">
            <a:extLst>
              <a:ext uri="{FF2B5EF4-FFF2-40B4-BE49-F238E27FC236}">
                <a16:creationId xmlns:a16="http://schemas.microsoft.com/office/drawing/2014/main" id="{2FAD9B7E-139E-9756-E43F-B22E28E10D2B}"/>
              </a:ext>
            </a:extLst>
          </p:cNvPr>
          <p:cNvGrpSpPr/>
          <p:nvPr/>
        </p:nvGrpSpPr>
        <p:grpSpPr>
          <a:xfrm>
            <a:off x="5371749" y="2023470"/>
            <a:ext cx="1459397" cy="1460406"/>
            <a:chOff x="9094660" y="1419321"/>
            <a:chExt cx="1663059" cy="1664208"/>
          </a:xfrm>
        </p:grpSpPr>
        <p:sp>
          <p:nvSpPr>
            <p:cNvPr id="5" name="Oval 4">
              <a:extLst>
                <a:ext uri="{FF2B5EF4-FFF2-40B4-BE49-F238E27FC236}">
                  <a16:creationId xmlns:a16="http://schemas.microsoft.com/office/drawing/2014/main" id="{84364443-2463-4F2E-736F-D6F14070BC18}"/>
                </a:ext>
              </a:extLst>
            </p:cNvPr>
            <p:cNvSpPr/>
            <p:nvPr/>
          </p:nvSpPr>
          <p:spPr>
            <a:xfrm>
              <a:off x="9094660" y="1419321"/>
              <a:ext cx="1663059" cy="1664208"/>
            </a:xfrm>
            <a:prstGeom prst="ellipse">
              <a:avLst/>
            </a:prstGeom>
            <a:solidFill>
              <a:schemeClr val="bg1">
                <a:lumMod val="95000"/>
              </a:schemeClr>
            </a:solidFill>
            <a:ln w="12700">
              <a:miter lim="400000"/>
            </a:ln>
            <a:effectLst>
              <a:outerShdw blurRad="254000" dist="190500" dir="13500000" algn="tl" rotWithShape="0">
                <a:schemeClr val="bg1"/>
              </a:outerShdw>
            </a:effectLst>
          </p:spPr>
          <p:txBody>
            <a:bodyPr lIns="28575" tIns="28575" rIns="28575" bIns="28575" anchor="ctr"/>
            <a:lstStyle/>
            <a:p>
              <a:endParaRPr lang="en-US" sz="2400">
                <a:solidFill>
                  <a:srgbClr val="FFFFFF"/>
                </a:solidFill>
              </a:endParaRPr>
            </a:p>
          </p:txBody>
        </p:sp>
        <p:sp>
          <p:nvSpPr>
            <p:cNvPr id="6" name="Oval 5">
              <a:extLst>
                <a:ext uri="{FF2B5EF4-FFF2-40B4-BE49-F238E27FC236}">
                  <a16:creationId xmlns:a16="http://schemas.microsoft.com/office/drawing/2014/main" id="{38C97F78-302D-4513-0AEA-0F96BA8FE337}"/>
                </a:ext>
              </a:extLst>
            </p:cNvPr>
            <p:cNvSpPr/>
            <p:nvPr/>
          </p:nvSpPr>
          <p:spPr>
            <a:xfrm>
              <a:off x="9094660" y="1419321"/>
              <a:ext cx="1663059" cy="1664208"/>
            </a:xfrm>
            <a:prstGeom prst="ellipse">
              <a:avLst/>
            </a:prstGeom>
            <a:solidFill>
              <a:srgbClr val="F1EFF0"/>
            </a:solidFill>
            <a:ln w="12700">
              <a:miter lim="400000"/>
            </a:ln>
            <a:effectLst>
              <a:outerShdw blurRad="254000" dist="190500" dir="2700000" algn="tl" rotWithShape="0">
                <a:schemeClr val="bg1">
                  <a:lumMod val="75000"/>
                  <a:alpha val="40000"/>
                </a:schemeClr>
              </a:outerShdw>
            </a:effectLst>
          </p:spPr>
          <p:txBody>
            <a:bodyPr lIns="28575" tIns="28575" rIns="28575" bIns="28575" anchor="ctr"/>
            <a:lstStyle/>
            <a:p>
              <a:pPr algn="ctr"/>
              <a:r>
                <a:rPr lang="en-US" sz="2400" b="1" dirty="0"/>
                <a:t>1</a:t>
              </a:r>
            </a:p>
          </p:txBody>
        </p:sp>
      </p:grpSp>
      <p:sp>
        <p:nvSpPr>
          <p:cNvPr id="33" name="TextBox 32">
            <a:extLst>
              <a:ext uri="{FF2B5EF4-FFF2-40B4-BE49-F238E27FC236}">
                <a16:creationId xmlns:a16="http://schemas.microsoft.com/office/drawing/2014/main" id="{011AC7CC-5E93-8896-B9C3-F186819264CE}"/>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2559149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F8A75-3D0E-FBA7-C9A9-52E29C13E2B4}"/>
              </a:ext>
            </a:extLst>
          </p:cNvPr>
          <p:cNvSpPr>
            <a:spLocks noGrp="1"/>
          </p:cNvSpPr>
          <p:nvPr>
            <p:ph type="title"/>
          </p:nvPr>
        </p:nvSpPr>
        <p:spPr>
          <a:xfrm>
            <a:off x="1043950" y="1179151"/>
            <a:ext cx="3300646" cy="4463889"/>
          </a:xfrm>
        </p:spPr>
        <p:txBody>
          <a:bodyPr anchor="ctr">
            <a:normAutofit/>
          </a:bodyPr>
          <a:lstStyle/>
          <a:p>
            <a:r>
              <a:rPr lang="en-IL" dirty="0"/>
              <a:t>Hypothesis</a:t>
            </a:r>
          </a:p>
        </p:txBody>
      </p:sp>
      <p:sp>
        <p:nvSpPr>
          <p:cNvPr id="3" name="Content Placeholder 2">
            <a:extLst>
              <a:ext uri="{FF2B5EF4-FFF2-40B4-BE49-F238E27FC236}">
                <a16:creationId xmlns:a16="http://schemas.microsoft.com/office/drawing/2014/main" id="{450371DA-6225-3ED0-31FB-0CFC1E1B1070}"/>
              </a:ext>
            </a:extLst>
          </p:cNvPr>
          <p:cNvSpPr>
            <a:spLocks noGrp="1"/>
          </p:cNvSpPr>
          <p:nvPr>
            <p:ph idx="1"/>
          </p:nvPr>
        </p:nvSpPr>
        <p:spPr>
          <a:xfrm>
            <a:off x="1333373" y="2396326"/>
            <a:ext cx="9525253" cy="3572037"/>
          </a:xfrm>
        </p:spPr>
        <p:txBody>
          <a:bodyPr anchor="ctr">
            <a:normAutofit/>
          </a:bodyPr>
          <a:lstStyle/>
          <a:p>
            <a:pPr marL="0" indent="0" algn="ctr">
              <a:buNone/>
            </a:pPr>
            <a:r>
              <a:rPr lang="en-US" sz="2400" dirty="0"/>
              <a:t>Patients with TP53 mutations that have the lowest experimental function scores (EFS) will show the highest Fraction Genome Altered (FGA)</a:t>
            </a:r>
            <a:endParaRPr lang="en-IL" sz="2400" dirty="0"/>
          </a:p>
        </p:txBody>
      </p:sp>
      <p:sp>
        <p:nvSpPr>
          <p:cNvPr id="5" name="Title 1">
            <a:extLst>
              <a:ext uri="{FF2B5EF4-FFF2-40B4-BE49-F238E27FC236}">
                <a16:creationId xmlns:a16="http://schemas.microsoft.com/office/drawing/2014/main" id="{BC41C240-75A6-F0C4-6E17-4569BB826D9A}"/>
              </a:ext>
            </a:extLst>
          </p:cNvPr>
          <p:cNvSpPr txBox="1">
            <a:spLocks/>
          </p:cNvSpPr>
          <p:nvPr/>
        </p:nvSpPr>
        <p:spPr>
          <a:xfrm>
            <a:off x="1170052" y="774559"/>
            <a:ext cx="6750756" cy="688622"/>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Hypothesis</a:t>
            </a:r>
            <a:endParaRPr lang="en-IL" dirty="0"/>
          </a:p>
        </p:txBody>
      </p:sp>
      <p:sp>
        <p:nvSpPr>
          <p:cNvPr id="13" name="TextBox 12">
            <a:extLst>
              <a:ext uri="{FF2B5EF4-FFF2-40B4-BE49-F238E27FC236}">
                <a16:creationId xmlns:a16="http://schemas.microsoft.com/office/drawing/2014/main" id="{55CA4A04-F3CC-E50D-A930-C2617987304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26343805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E98ABE-CF8B-D69D-E84E-44B2D17D2AA8}"/>
              </a:ext>
            </a:extLst>
          </p:cNvPr>
          <p:cNvSpPr>
            <a:spLocks noGrp="1"/>
          </p:cNvSpPr>
          <p:nvPr>
            <p:ph type="title"/>
          </p:nvPr>
        </p:nvSpPr>
        <p:spPr>
          <a:xfrm>
            <a:off x="1170927" y="815975"/>
            <a:ext cx="4090285" cy="624060"/>
          </a:xfrm>
        </p:spPr>
        <p:txBody>
          <a:bodyPr>
            <a:normAutofit/>
          </a:bodyPr>
          <a:lstStyle/>
          <a:p>
            <a:r>
              <a:rPr lang="en-US" dirty="0"/>
              <a:t>Research Questions</a:t>
            </a:r>
            <a:endParaRPr lang="en-IL" dirty="0"/>
          </a:p>
        </p:txBody>
      </p:sp>
      <p:graphicFrame>
        <p:nvGraphicFramePr>
          <p:cNvPr id="14" name="Content Placeholder 2">
            <a:extLst>
              <a:ext uri="{FF2B5EF4-FFF2-40B4-BE49-F238E27FC236}">
                <a16:creationId xmlns:a16="http://schemas.microsoft.com/office/drawing/2014/main" id="{3D6605E1-D9B9-4C0E-8948-1BDE3BBABAE1}"/>
              </a:ext>
            </a:extLst>
          </p:cNvPr>
          <p:cNvGraphicFramePr>
            <a:graphicFrameLocks noGrp="1"/>
          </p:cNvGraphicFramePr>
          <p:nvPr>
            <p:ph idx="1"/>
            <p:extLst>
              <p:ext uri="{D42A27DB-BD31-4B8C-83A1-F6EECF244321}">
                <p14:modId xmlns:p14="http://schemas.microsoft.com/office/powerpoint/2010/main" val="1234365697"/>
              </p:ext>
            </p:extLst>
          </p:nvPr>
        </p:nvGraphicFramePr>
        <p:xfrm>
          <a:off x="1286933" y="2180555"/>
          <a:ext cx="9618133"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a:extLst>
              <a:ext uri="{FF2B5EF4-FFF2-40B4-BE49-F238E27FC236}">
                <a16:creationId xmlns:a16="http://schemas.microsoft.com/office/drawing/2014/main" id="{47A52DF3-CC9E-2060-FEF8-AF5B00368D9C}"/>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81758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123E3D-3081-6279-96AE-306C13DFF5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0EDB3BD-D1C6-E2CF-8283-E2C584FD5742}"/>
              </a:ext>
            </a:extLst>
          </p:cNvPr>
          <p:cNvSpPr>
            <a:spLocks noGrp="1"/>
          </p:cNvSpPr>
          <p:nvPr>
            <p:ph type="title"/>
          </p:nvPr>
        </p:nvSpPr>
        <p:spPr>
          <a:xfrm>
            <a:off x="1075907" y="348735"/>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3" name="Content Placeholder 2">
            <a:extLst>
              <a:ext uri="{FF2B5EF4-FFF2-40B4-BE49-F238E27FC236}">
                <a16:creationId xmlns:a16="http://schemas.microsoft.com/office/drawing/2014/main" id="{01AA0A3D-8BE3-0B9A-CB05-49515B9F5340}"/>
              </a:ext>
            </a:extLst>
          </p:cNvPr>
          <p:cNvSpPr>
            <a:spLocks noGrp="1"/>
          </p:cNvSpPr>
          <p:nvPr>
            <p:ph idx="1"/>
          </p:nvPr>
        </p:nvSpPr>
        <p:spPr>
          <a:xfrm>
            <a:off x="6096000" y="2125487"/>
            <a:ext cx="3981164" cy="3880773"/>
          </a:xfrm>
        </p:spPr>
        <p:txBody>
          <a:bodyPr>
            <a:normAutofit/>
          </a:bodyPr>
          <a:lstStyle/>
          <a:p>
            <a:r>
              <a:rPr lang="en-US" dirty="0"/>
              <a:t>Giacomelli et al., Nature Genetics, 2018 (25,217 variants, 8,274 unique)</a:t>
            </a:r>
          </a:p>
          <a:p>
            <a:r>
              <a:rPr lang="en-US" dirty="0"/>
              <a:t>Role: Experimental "fitness" scores for every possible TP53 mutation - </a:t>
            </a:r>
            <a:r>
              <a:rPr lang="en-US" u="sng" dirty="0"/>
              <a:t>the genotype</a:t>
            </a:r>
          </a:p>
          <a:p>
            <a:r>
              <a:rPr lang="en-US" dirty="0"/>
              <a:t>Metric: Experimental Functional Score (derived from cell line fitness screens) quantifies exactly how well each specific TP53 mutant can suppress tumor growth in a controlled lab setting</a:t>
            </a:r>
          </a:p>
        </p:txBody>
      </p:sp>
      <p:sp>
        <p:nvSpPr>
          <p:cNvPr id="4" name="Content Placeholder 2">
            <a:extLst>
              <a:ext uri="{FF2B5EF4-FFF2-40B4-BE49-F238E27FC236}">
                <a16:creationId xmlns:a16="http://schemas.microsoft.com/office/drawing/2014/main" id="{E9705883-5B8C-C2EF-4572-7F0261B08839}"/>
              </a:ext>
            </a:extLst>
          </p:cNvPr>
          <p:cNvSpPr txBox="1">
            <a:spLocks/>
          </p:cNvSpPr>
          <p:nvPr/>
        </p:nvSpPr>
        <p:spPr>
          <a:xfrm>
            <a:off x="2141709" y="2676259"/>
            <a:ext cx="3821288" cy="3880773"/>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AACR GENIE v19.0 (~271,000 samples, 100,418 with FGA).</a:t>
            </a:r>
          </a:p>
          <a:p>
            <a:r>
              <a:rPr lang="en-US" dirty="0"/>
              <a:t>Role: Real-world patient data - </a:t>
            </a:r>
            <a:r>
              <a:rPr lang="en-US" u="sng" dirty="0"/>
              <a:t>the phenotype</a:t>
            </a:r>
          </a:p>
          <a:p>
            <a:r>
              <a:rPr lang="en-US" dirty="0"/>
              <a:t>Metric: FRACTION_GENOME_ALTERED (FGA), a quantitative measure of chromosomal instability</a:t>
            </a:r>
          </a:p>
          <a:p>
            <a:r>
              <a:rPr lang="en-US" dirty="0"/>
              <a:t>35,357 TP53-mutant</a:t>
            </a:r>
          </a:p>
          <a:p>
            <a:r>
              <a:rPr lang="en-US" dirty="0"/>
              <a:t>65,061 TP53-WT</a:t>
            </a:r>
          </a:p>
        </p:txBody>
      </p:sp>
      <p:sp>
        <p:nvSpPr>
          <p:cNvPr id="5" name="TextBox 4">
            <a:extLst>
              <a:ext uri="{FF2B5EF4-FFF2-40B4-BE49-F238E27FC236}">
                <a16:creationId xmlns:a16="http://schemas.microsoft.com/office/drawing/2014/main" id="{D6DF2B16-6F47-3D24-4C4D-F99346EBABA1}"/>
              </a:ext>
            </a:extLst>
          </p:cNvPr>
          <p:cNvSpPr txBox="1"/>
          <p:nvPr/>
        </p:nvSpPr>
        <p:spPr>
          <a:xfrm>
            <a:off x="2141709" y="2125487"/>
            <a:ext cx="1954446" cy="369332"/>
          </a:xfrm>
          <a:prstGeom prst="rect">
            <a:avLst/>
          </a:prstGeom>
          <a:noFill/>
        </p:spPr>
        <p:txBody>
          <a:bodyPr wrap="none" rtlCol="0">
            <a:spAutoFit/>
          </a:bodyPr>
          <a:lstStyle/>
          <a:p>
            <a:r>
              <a:rPr lang="en-IL" b="1" dirty="0"/>
              <a:t>Primary Analysis</a:t>
            </a:r>
          </a:p>
        </p:txBody>
      </p:sp>
      <p:sp>
        <p:nvSpPr>
          <p:cNvPr id="6" name="TextBox 5">
            <a:extLst>
              <a:ext uri="{FF2B5EF4-FFF2-40B4-BE49-F238E27FC236}">
                <a16:creationId xmlns:a16="http://schemas.microsoft.com/office/drawing/2014/main" id="{3DC19C54-F4B6-77C2-43EE-6855AEF25ABD}"/>
              </a:ext>
            </a:extLst>
          </p:cNvPr>
          <p:cNvSpPr txBox="1"/>
          <p:nvPr/>
        </p:nvSpPr>
        <p:spPr>
          <a:xfrm>
            <a:off x="2104783" y="6187700"/>
            <a:ext cx="7945508" cy="369332"/>
          </a:xfrm>
          <a:prstGeom prst="rect">
            <a:avLst/>
          </a:prstGeom>
          <a:noFill/>
        </p:spPr>
        <p:txBody>
          <a:bodyPr wrap="none" rtlCol="0">
            <a:spAutoFit/>
          </a:bodyPr>
          <a:lstStyle/>
          <a:p>
            <a:pPr lvl="0"/>
            <a:r>
              <a:rPr lang="en-US" b="1" dirty="0">
                <a:solidFill>
                  <a:srgbClr val="C00000"/>
                </a:solidFill>
              </a:rPr>
              <a:t>Goal: to show that the physical structure of the genome is breaking down</a:t>
            </a:r>
          </a:p>
        </p:txBody>
      </p:sp>
      <p:sp>
        <p:nvSpPr>
          <p:cNvPr id="10" name="TextBox 9">
            <a:extLst>
              <a:ext uri="{FF2B5EF4-FFF2-40B4-BE49-F238E27FC236}">
                <a16:creationId xmlns:a16="http://schemas.microsoft.com/office/drawing/2014/main" id="{F180386E-378B-FAFF-E227-36C13857EF32}"/>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30826711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F058A4-57BA-A749-DF2C-A825D38E44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5DE122-7CBA-DB38-60AE-8DC39D99F120}"/>
              </a:ext>
            </a:extLst>
          </p:cNvPr>
          <p:cNvSpPr>
            <a:spLocks noGrp="1"/>
          </p:cNvSpPr>
          <p:nvPr>
            <p:ph type="title"/>
          </p:nvPr>
        </p:nvSpPr>
        <p:spPr>
          <a:xfrm>
            <a:off x="1079942" y="350293"/>
            <a:ext cx="10464799" cy="1320800"/>
          </a:xfrm>
        </p:spPr>
        <p:txBody>
          <a:bodyPr>
            <a:normAutofit/>
          </a:bodyPr>
          <a:lstStyle/>
          <a:p>
            <a:r>
              <a:rPr lang="en-US" dirty="0"/>
              <a:t>Data Sources:</a:t>
            </a:r>
            <a:br>
              <a:rPr lang="en-US" dirty="0"/>
            </a:br>
            <a:r>
              <a:rPr lang="en-US" dirty="0"/>
              <a:t>Integrating Phenotype &amp; Genotype</a:t>
            </a:r>
            <a:endParaRPr lang="en-IL" dirty="0"/>
          </a:p>
        </p:txBody>
      </p:sp>
      <p:sp>
        <p:nvSpPr>
          <p:cNvPr id="4" name="Content Placeholder 2">
            <a:extLst>
              <a:ext uri="{FF2B5EF4-FFF2-40B4-BE49-F238E27FC236}">
                <a16:creationId xmlns:a16="http://schemas.microsoft.com/office/drawing/2014/main" id="{9C276440-F483-71DF-A071-F88FD52C4130}"/>
              </a:ext>
            </a:extLst>
          </p:cNvPr>
          <p:cNvSpPr txBox="1">
            <a:spLocks/>
          </p:cNvSpPr>
          <p:nvPr/>
        </p:nvSpPr>
        <p:spPr>
          <a:xfrm>
            <a:off x="2294591" y="2689908"/>
            <a:ext cx="8583045" cy="2025766"/>
          </a:xfrm>
          <a:prstGeom prst="rect">
            <a:avLst/>
          </a:prstGeom>
        </p:spPr>
        <p:txBody>
          <a:bodyPr vert="horz" lIns="91440" tIns="45720" rIns="91440" bIns="45720" rtlCol="0">
            <a:normAutofit/>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MSK-IMPACT 50K (53,292 samples, 505 cancer genes).</a:t>
            </a:r>
          </a:p>
          <a:p>
            <a:r>
              <a:rPr lang="en-US" dirty="0"/>
              <a:t>Role: Genome-wide CNA data to identify which pathways are altered when TP53 breaks</a:t>
            </a:r>
          </a:p>
          <a:p>
            <a:r>
              <a:rPr lang="en-US" dirty="0"/>
              <a:t>Compared 800 high-FGA TP53-mutant vs 800 low-FGA TP53-WT</a:t>
            </a:r>
          </a:p>
        </p:txBody>
      </p:sp>
      <p:sp>
        <p:nvSpPr>
          <p:cNvPr id="5" name="TextBox 4">
            <a:extLst>
              <a:ext uri="{FF2B5EF4-FFF2-40B4-BE49-F238E27FC236}">
                <a16:creationId xmlns:a16="http://schemas.microsoft.com/office/drawing/2014/main" id="{78444B93-A15C-1CB2-2E6C-9C3050449F23}"/>
              </a:ext>
            </a:extLst>
          </p:cNvPr>
          <p:cNvSpPr txBox="1"/>
          <p:nvPr/>
        </p:nvSpPr>
        <p:spPr>
          <a:xfrm>
            <a:off x="2294592" y="2139135"/>
            <a:ext cx="2222147" cy="369332"/>
          </a:xfrm>
          <a:prstGeom prst="rect">
            <a:avLst/>
          </a:prstGeom>
          <a:noFill/>
        </p:spPr>
        <p:txBody>
          <a:bodyPr wrap="none" rtlCol="0">
            <a:spAutoFit/>
          </a:bodyPr>
          <a:lstStyle/>
          <a:p>
            <a:r>
              <a:rPr lang="en-IL" b="1" dirty="0"/>
              <a:t>Secondary Analysis</a:t>
            </a:r>
          </a:p>
        </p:txBody>
      </p:sp>
      <p:sp>
        <p:nvSpPr>
          <p:cNvPr id="3" name="TextBox 2">
            <a:extLst>
              <a:ext uri="{FF2B5EF4-FFF2-40B4-BE49-F238E27FC236}">
                <a16:creationId xmlns:a16="http://schemas.microsoft.com/office/drawing/2014/main" id="{D3A7E258-78D3-3BAE-3E76-B1374DE35592}"/>
              </a:ext>
            </a:extLst>
          </p:cNvPr>
          <p:cNvSpPr txBox="1"/>
          <p:nvPr/>
        </p:nvSpPr>
        <p:spPr>
          <a:xfrm>
            <a:off x="2692664" y="6216715"/>
            <a:ext cx="6806672" cy="369332"/>
          </a:xfrm>
          <a:prstGeom prst="rect">
            <a:avLst/>
          </a:prstGeom>
          <a:noFill/>
        </p:spPr>
        <p:txBody>
          <a:bodyPr wrap="none" rtlCol="0">
            <a:spAutoFit/>
          </a:bodyPr>
          <a:lstStyle/>
          <a:p>
            <a:r>
              <a:rPr lang="en-US" b="1" dirty="0">
                <a:solidFill>
                  <a:srgbClr val="C00000"/>
                </a:solidFill>
              </a:rPr>
              <a:t>Goal: to conclude what are the major pathways are triggered</a:t>
            </a:r>
          </a:p>
        </p:txBody>
      </p:sp>
      <p:sp>
        <p:nvSpPr>
          <p:cNvPr id="9" name="TextBox 8">
            <a:extLst>
              <a:ext uri="{FF2B5EF4-FFF2-40B4-BE49-F238E27FC236}">
                <a16:creationId xmlns:a16="http://schemas.microsoft.com/office/drawing/2014/main" id="{81385257-0E5C-B594-BC2A-4AAAC6E6631F}"/>
              </a:ext>
            </a:extLst>
          </p:cNvPr>
          <p:cNvSpPr txBox="1"/>
          <p:nvPr/>
        </p:nvSpPr>
        <p:spPr>
          <a:xfrm>
            <a:off x="446568" y="-1"/>
            <a:ext cx="3712984" cy="468000"/>
          </a:xfrm>
          <a:prstGeom prst="rect">
            <a:avLst/>
          </a:prstGeom>
          <a:solidFill>
            <a:srgbClr val="4D1434"/>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Background</a:t>
            </a:r>
          </a:p>
        </p:txBody>
      </p:sp>
    </p:spTree>
    <p:extLst>
      <p:ext uri="{BB962C8B-B14F-4D97-AF65-F5344CB8AC3E}">
        <p14:creationId xmlns:p14="http://schemas.microsoft.com/office/powerpoint/2010/main" val="7389079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4D48C21-D9D6-2A8D-E5A9-03D57CD6983B}"/>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50D5BB2-B032-C09A-7B4B-4C9C1F6F2A6D}"/>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TP53 mutations correlate with higher genomic instability (FGA)?</a:t>
            </a:r>
            <a:endParaRPr lang="en-IL" dirty="0"/>
          </a:p>
        </p:txBody>
      </p:sp>
      <p:pic>
        <p:nvPicPr>
          <p:cNvPr id="12" name="Picture 11">
            <a:extLst>
              <a:ext uri="{FF2B5EF4-FFF2-40B4-BE49-F238E27FC236}">
                <a16:creationId xmlns:a16="http://schemas.microsoft.com/office/drawing/2014/main" id="{A2838C1F-E20B-84B8-C130-2CB38576B4F1}"/>
              </a:ext>
            </a:extLst>
          </p:cNvPr>
          <p:cNvPicPr>
            <a:picLocks noChangeAspect="1"/>
          </p:cNvPicPr>
          <p:nvPr/>
        </p:nvPicPr>
        <p:blipFill>
          <a:blip r:embed="rId3"/>
          <a:stretch>
            <a:fillRect/>
          </a:stretch>
        </p:blipFill>
        <p:spPr>
          <a:xfrm>
            <a:off x="1026011" y="2431007"/>
            <a:ext cx="10139977" cy="3280581"/>
          </a:xfrm>
          <a:prstGeom prst="rect">
            <a:avLst/>
          </a:prstGeom>
        </p:spPr>
      </p:pic>
      <p:sp>
        <p:nvSpPr>
          <p:cNvPr id="13" name="TextBox 12">
            <a:extLst>
              <a:ext uri="{FF2B5EF4-FFF2-40B4-BE49-F238E27FC236}">
                <a16:creationId xmlns:a16="http://schemas.microsoft.com/office/drawing/2014/main" id="{C7149966-4352-0034-EA18-0391EB8BAE2C}"/>
              </a:ext>
            </a:extLst>
          </p:cNvPr>
          <p:cNvSpPr txBox="1"/>
          <p:nvPr/>
        </p:nvSpPr>
        <p:spPr>
          <a:xfrm>
            <a:off x="1537775" y="6076144"/>
            <a:ext cx="9361602" cy="369332"/>
          </a:xfrm>
          <a:prstGeom prst="rect">
            <a:avLst/>
          </a:prstGeom>
          <a:noFill/>
        </p:spPr>
        <p:txBody>
          <a:bodyPr wrap="none" rtlCol="0">
            <a:spAutoFit/>
          </a:bodyPr>
          <a:lstStyle/>
          <a:p>
            <a:r>
              <a:rPr lang="en-US" dirty="0"/>
              <a:t>TP53 mutant tumors have significantly higher FGA than WT (median 0.182 vs 0.037, p &lt; 1×10⁻</a:t>
            </a:r>
            <a:r>
              <a:rPr lang="en-US" baseline="30000" dirty="0"/>
              <a:t>300</a:t>
            </a:r>
            <a:r>
              <a:rPr lang="en-US" dirty="0"/>
              <a:t>)</a:t>
            </a:r>
          </a:p>
        </p:txBody>
      </p:sp>
    </p:spTree>
    <p:extLst>
      <p:ext uri="{BB962C8B-B14F-4D97-AF65-F5344CB8AC3E}">
        <p14:creationId xmlns:p14="http://schemas.microsoft.com/office/powerpoint/2010/main" val="2411909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2F011-000C-1AE0-7D31-CBAC7023690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70276BC-0AC6-A717-FA6A-AE32621A2EB8}"/>
              </a:ext>
            </a:extLst>
          </p:cNvPr>
          <p:cNvSpPr txBox="1"/>
          <p:nvPr/>
        </p:nvSpPr>
        <p:spPr>
          <a:xfrm>
            <a:off x="4244454" y="6210"/>
            <a:ext cx="3698414" cy="504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2036B11B-88A0-682B-9FD9-78FF979F19E7}"/>
              </a:ext>
            </a:extLst>
          </p:cNvPr>
          <p:cNvSpPr txBox="1">
            <a:spLocks/>
          </p:cNvSpPr>
          <p:nvPr/>
        </p:nvSpPr>
        <p:spPr>
          <a:xfrm>
            <a:off x="1020801" y="815976"/>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 Is there a correlation between EFS and FGA?</a:t>
            </a:r>
          </a:p>
        </p:txBody>
      </p:sp>
      <p:sp>
        <p:nvSpPr>
          <p:cNvPr id="13" name="TextBox 12">
            <a:extLst>
              <a:ext uri="{FF2B5EF4-FFF2-40B4-BE49-F238E27FC236}">
                <a16:creationId xmlns:a16="http://schemas.microsoft.com/office/drawing/2014/main" id="{D9DAE156-E127-133B-B04F-6C8288694112}"/>
              </a:ext>
            </a:extLst>
          </p:cNvPr>
          <p:cNvSpPr txBox="1"/>
          <p:nvPr/>
        </p:nvSpPr>
        <p:spPr>
          <a:xfrm>
            <a:off x="1905183" y="6076144"/>
            <a:ext cx="8393708" cy="369332"/>
          </a:xfrm>
          <a:prstGeom prst="rect">
            <a:avLst/>
          </a:prstGeom>
          <a:noFill/>
        </p:spPr>
        <p:txBody>
          <a:bodyPr wrap="none" rtlCol="0">
            <a:spAutoFit/>
          </a:bodyPr>
          <a:lstStyle/>
          <a:p>
            <a:r>
              <a:rPr lang="en-US" dirty="0"/>
              <a:t>Weak correlation. The hypothesis partially holds but EFS alone doesn't predict FGA well</a:t>
            </a:r>
          </a:p>
        </p:txBody>
      </p:sp>
      <p:pic>
        <p:nvPicPr>
          <p:cNvPr id="2" name="Picture 1">
            <a:extLst>
              <a:ext uri="{FF2B5EF4-FFF2-40B4-BE49-F238E27FC236}">
                <a16:creationId xmlns:a16="http://schemas.microsoft.com/office/drawing/2014/main" id="{ADBE5B33-E5F3-6AD4-8C1B-5F54D4152DFB}"/>
              </a:ext>
            </a:extLst>
          </p:cNvPr>
          <p:cNvPicPr>
            <a:picLocks noChangeAspect="1"/>
          </p:cNvPicPr>
          <p:nvPr/>
        </p:nvPicPr>
        <p:blipFill>
          <a:blip r:embed="rId3"/>
          <a:stretch>
            <a:fillRect/>
          </a:stretch>
        </p:blipFill>
        <p:spPr>
          <a:xfrm>
            <a:off x="2207461" y="2344398"/>
            <a:ext cx="7772400" cy="3288323"/>
          </a:xfrm>
          <a:prstGeom prst="rect">
            <a:avLst/>
          </a:prstGeom>
        </p:spPr>
      </p:pic>
    </p:spTree>
    <p:extLst>
      <p:ext uri="{BB962C8B-B14F-4D97-AF65-F5344CB8AC3E}">
        <p14:creationId xmlns:p14="http://schemas.microsoft.com/office/powerpoint/2010/main" val="3553031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2E269-B919-A0CE-D943-1E6DFA1B89E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2485392-FF72-2B72-BD76-DE0A2F158F18}"/>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82547B83-2C72-0FFA-8ED4-EA2AF20BE789}"/>
              </a:ext>
            </a:extLst>
          </p:cNvPr>
          <p:cNvSpPr txBox="1">
            <a:spLocks/>
          </p:cNvSpPr>
          <p:nvPr/>
        </p:nvSpPr>
        <p:spPr>
          <a:xfrm>
            <a:off x="1020801" y="781856"/>
            <a:ext cx="10395551" cy="624060"/>
          </a:xfrm>
          <a:prstGeom prst="rect">
            <a:avLst/>
          </a:prstGeom>
        </p:spPr>
        <p:txBody>
          <a:bodyPr vert="horz" lIns="91440" tIns="45720" rIns="91440" bIns="45720" rtlCol="0" anchor="b">
            <a:normAutofit fontScale="77500" lnSpcReduction="20000"/>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Do hotspot mutations drive more instability than rare mutations?</a:t>
            </a:r>
          </a:p>
        </p:txBody>
      </p:sp>
      <p:sp>
        <p:nvSpPr>
          <p:cNvPr id="13" name="TextBox 12">
            <a:extLst>
              <a:ext uri="{FF2B5EF4-FFF2-40B4-BE49-F238E27FC236}">
                <a16:creationId xmlns:a16="http://schemas.microsoft.com/office/drawing/2014/main" id="{7E0EF9D9-E489-49CE-71A9-5D56630B5D83}"/>
              </a:ext>
            </a:extLst>
          </p:cNvPr>
          <p:cNvSpPr txBox="1"/>
          <p:nvPr/>
        </p:nvSpPr>
        <p:spPr>
          <a:xfrm>
            <a:off x="2585456" y="6174992"/>
            <a:ext cx="7016408" cy="369332"/>
          </a:xfrm>
          <a:prstGeom prst="rect">
            <a:avLst/>
          </a:prstGeom>
          <a:noFill/>
        </p:spPr>
        <p:txBody>
          <a:bodyPr wrap="none" rtlCol="0">
            <a:spAutoFit/>
          </a:bodyPr>
          <a:lstStyle/>
          <a:p>
            <a:r>
              <a:rPr lang="en-US" dirty="0"/>
              <a:t>Hotspot mutations show variable FGA. Not all hotspots behave the same</a:t>
            </a:r>
          </a:p>
        </p:txBody>
      </p:sp>
      <p:pic>
        <p:nvPicPr>
          <p:cNvPr id="5" name="Picture 4">
            <a:extLst>
              <a:ext uri="{FF2B5EF4-FFF2-40B4-BE49-F238E27FC236}">
                <a16:creationId xmlns:a16="http://schemas.microsoft.com/office/drawing/2014/main" id="{6DF59E9A-8E0A-3F22-A3B9-753309CA8C57}"/>
              </a:ext>
            </a:extLst>
          </p:cNvPr>
          <p:cNvPicPr>
            <a:picLocks noChangeAspect="1"/>
          </p:cNvPicPr>
          <p:nvPr/>
        </p:nvPicPr>
        <p:blipFill>
          <a:blip r:embed="rId3"/>
          <a:stretch>
            <a:fillRect/>
          </a:stretch>
        </p:blipFill>
        <p:spPr>
          <a:xfrm>
            <a:off x="1815753" y="2526850"/>
            <a:ext cx="8560493" cy="3215895"/>
          </a:xfrm>
          <a:prstGeom prst="rect">
            <a:avLst/>
          </a:prstGeom>
        </p:spPr>
      </p:pic>
    </p:spTree>
    <p:extLst>
      <p:ext uri="{BB962C8B-B14F-4D97-AF65-F5344CB8AC3E}">
        <p14:creationId xmlns:p14="http://schemas.microsoft.com/office/powerpoint/2010/main" val="2765281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4F387-8656-ECB8-2928-1EB11651CD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AFA7E82-AC1C-DDBE-C702-5EFE13545870}"/>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62970265-613D-7411-DDFD-4EF5DD9D036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Is this cancer-type specific?</a:t>
            </a:r>
          </a:p>
        </p:txBody>
      </p:sp>
      <p:sp>
        <p:nvSpPr>
          <p:cNvPr id="13" name="TextBox 12">
            <a:extLst>
              <a:ext uri="{FF2B5EF4-FFF2-40B4-BE49-F238E27FC236}">
                <a16:creationId xmlns:a16="http://schemas.microsoft.com/office/drawing/2014/main" id="{BC06C175-0B76-F25D-CD66-7276044E17BB}"/>
              </a:ext>
            </a:extLst>
          </p:cNvPr>
          <p:cNvSpPr txBox="1"/>
          <p:nvPr/>
        </p:nvSpPr>
        <p:spPr>
          <a:xfrm>
            <a:off x="958770" y="6250055"/>
            <a:ext cx="10519611" cy="369332"/>
          </a:xfrm>
          <a:prstGeom prst="rect">
            <a:avLst/>
          </a:prstGeom>
          <a:noFill/>
        </p:spPr>
        <p:txBody>
          <a:bodyPr wrap="none" rtlCol="0">
            <a:spAutoFit/>
          </a:bodyPr>
          <a:lstStyle/>
          <a:p>
            <a:r>
              <a:rPr lang="en-US" dirty="0"/>
              <a:t>EFS-FGA correlation varies substantially by cancer type. Some cancers show strong correlation, others none</a:t>
            </a:r>
          </a:p>
        </p:txBody>
      </p:sp>
      <p:pic>
        <p:nvPicPr>
          <p:cNvPr id="6" name="Picture 5">
            <a:extLst>
              <a:ext uri="{FF2B5EF4-FFF2-40B4-BE49-F238E27FC236}">
                <a16:creationId xmlns:a16="http://schemas.microsoft.com/office/drawing/2014/main" id="{405032C8-B68F-E5B1-5A9F-C9DCAD7677EA}"/>
              </a:ext>
            </a:extLst>
          </p:cNvPr>
          <p:cNvPicPr>
            <a:picLocks noChangeAspect="1"/>
          </p:cNvPicPr>
          <p:nvPr/>
        </p:nvPicPr>
        <p:blipFill>
          <a:blip r:embed="rId3"/>
          <a:stretch>
            <a:fillRect/>
          </a:stretch>
        </p:blipFill>
        <p:spPr>
          <a:xfrm>
            <a:off x="1672354" y="2137559"/>
            <a:ext cx="8842611" cy="3860973"/>
          </a:xfrm>
          <a:prstGeom prst="rect">
            <a:avLst/>
          </a:prstGeom>
        </p:spPr>
      </p:pic>
    </p:spTree>
    <p:extLst>
      <p:ext uri="{BB962C8B-B14F-4D97-AF65-F5344CB8AC3E}">
        <p14:creationId xmlns:p14="http://schemas.microsoft.com/office/powerpoint/2010/main" val="10180632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F9D83-37A7-8B2B-13EA-9778AA5CEE8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B4E23B-D913-7F67-0C59-89B31B5CA576}"/>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A044A0AF-B79F-783D-A827-DC56678B4433}"/>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specific </a:t>
            </a:r>
            <a:r>
              <a:rPr lang="en-US" dirty="0" err="1"/>
              <a:t>cnaS</a:t>
            </a:r>
            <a:r>
              <a:rPr lang="en-US" dirty="0"/>
              <a:t> OCCUR WHEN tp53 is mutated?</a:t>
            </a:r>
          </a:p>
        </p:txBody>
      </p:sp>
      <p:sp>
        <p:nvSpPr>
          <p:cNvPr id="13" name="TextBox 12">
            <a:extLst>
              <a:ext uri="{FF2B5EF4-FFF2-40B4-BE49-F238E27FC236}">
                <a16:creationId xmlns:a16="http://schemas.microsoft.com/office/drawing/2014/main" id="{85491A5D-BF4D-4D90-0CCC-5AF81947488E}"/>
              </a:ext>
            </a:extLst>
          </p:cNvPr>
          <p:cNvSpPr txBox="1"/>
          <p:nvPr/>
        </p:nvSpPr>
        <p:spPr>
          <a:xfrm>
            <a:off x="2908919" y="6035200"/>
            <a:ext cx="6619313" cy="646331"/>
          </a:xfrm>
          <a:prstGeom prst="rect">
            <a:avLst/>
          </a:prstGeom>
          <a:noFill/>
        </p:spPr>
        <p:txBody>
          <a:bodyPr wrap="none" rtlCol="0">
            <a:spAutoFit/>
          </a:bodyPr>
          <a:lstStyle/>
          <a:p>
            <a:r>
              <a:rPr lang="en-US" dirty="0"/>
              <a:t>Amplified genes (left panel) — oncogenes being turned ON</a:t>
            </a:r>
          </a:p>
          <a:p>
            <a:r>
              <a:rPr lang="en-US" dirty="0"/>
              <a:t>Deleted genes (right panel) — tumor suppressors being turned OFF</a:t>
            </a:r>
          </a:p>
        </p:txBody>
      </p:sp>
      <p:pic>
        <p:nvPicPr>
          <p:cNvPr id="2" name="Picture 1">
            <a:extLst>
              <a:ext uri="{FF2B5EF4-FFF2-40B4-BE49-F238E27FC236}">
                <a16:creationId xmlns:a16="http://schemas.microsoft.com/office/drawing/2014/main" id="{E27A9F89-4795-F6D5-36DF-485D3CEDCFFA}"/>
              </a:ext>
            </a:extLst>
          </p:cNvPr>
          <p:cNvPicPr>
            <a:picLocks noChangeAspect="1"/>
          </p:cNvPicPr>
          <p:nvPr/>
        </p:nvPicPr>
        <p:blipFill>
          <a:blip r:embed="rId3"/>
          <a:stretch>
            <a:fillRect/>
          </a:stretch>
        </p:blipFill>
        <p:spPr>
          <a:xfrm>
            <a:off x="2301135" y="1947450"/>
            <a:ext cx="7589729" cy="3914062"/>
          </a:xfrm>
          <a:prstGeom prst="rect">
            <a:avLst/>
          </a:prstGeom>
        </p:spPr>
      </p:pic>
    </p:spTree>
    <p:extLst>
      <p:ext uri="{BB962C8B-B14F-4D97-AF65-F5344CB8AC3E}">
        <p14:creationId xmlns:p14="http://schemas.microsoft.com/office/powerpoint/2010/main" val="186149062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A3BEB-D12B-CB91-CABF-F7664DD59EE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193E180-EB01-9ECE-1243-D31F5973EB3E}"/>
              </a:ext>
            </a:extLst>
          </p:cNvPr>
          <p:cNvSpPr txBox="1"/>
          <p:nvPr/>
        </p:nvSpPr>
        <p:spPr>
          <a:xfrm>
            <a:off x="4244454" y="6210"/>
            <a:ext cx="3698414" cy="468000"/>
          </a:xfrm>
          <a:prstGeom prst="rect">
            <a:avLst/>
          </a:prstGeom>
          <a:solidFill>
            <a:srgbClr val="903063"/>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Results</a:t>
            </a:r>
          </a:p>
        </p:txBody>
      </p:sp>
      <p:sp>
        <p:nvSpPr>
          <p:cNvPr id="7" name="Title 1">
            <a:extLst>
              <a:ext uri="{FF2B5EF4-FFF2-40B4-BE49-F238E27FC236}">
                <a16:creationId xmlns:a16="http://schemas.microsoft.com/office/drawing/2014/main" id="{536CA0E1-8570-4D19-76A9-3451F87062A2}"/>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which pathways are triggered?</a:t>
            </a:r>
          </a:p>
        </p:txBody>
      </p:sp>
      <p:sp>
        <p:nvSpPr>
          <p:cNvPr id="13" name="TextBox 12">
            <a:extLst>
              <a:ext uri="{FF2B5EF4-FFF2-40B4-BE49-F238E27FC236}">
                <a16:creationId xmlns:a16="http://schemas.microsoft.com/office/drawing/2014/main" id="{DE2D1785-4F39-48A7-21A4-CC375FCE1ADD}"/>
              </a:ext>
            </a:extLst>
          </p:cNvPr>
          <p:cNvSpPr txBox="1"/>
          <p:nvPr/>
        </p:nvSpPr>
        <p:spPr>
          <a:xfrm>
            <a:off x="1826190" y="5996699"/>
            <a:ext cx="9079595" cy="646331"/>
          </a:xfrm>
          <a:prstGeom prst="rect">
            <a:avLst/>
          </a:prstGeom>
          <a:noFill/>
        </p:spPr>
        <p:txBody>
          <a:bodyPr wrap="square" rtlCol="0">
            <a:spAutoFit/>
          </a:bodyPr>
          <a:lstStyle/>
          <a:p>
            <a:r>
              <a:rPr lang="en-US" dirty="0"/>
              <a:t>When TP53 breaks and FGA is high, cell cycle control (E2F, G2-M) and growth signaling (PI3K/AKT/mTOR) pathways are the main downstream consequences</a:t>
            </a:r>
          </a:p>
        </p:txBody>
      </p:sp>
      <p:pic>
        <p:nvPicPr>
          <p:cNvPr id="2" name="Picture 1">
            <a:extLst>
              <a:ext uri="{FF2B5EF4-FFF2-40B4-BE49-F238E27FC236}">
                <a16:creationId xmlns:a16="http://schemas.microsoft.com/office/drawing/2014/main" id="{0B860F4F-D332-2A94-21C1-B599432884A2}"/>
              </a:ext>
            </a:extLst>
          </p:cNvPr>
          <p:cNvPicPr>
            <a:picLocks noChangeAspect="1"/>
          </p:cNvPicPr>
          <p:nvPr/>
        </p:nvPicPr>
        <p:blipFill>
          <a:blip r:embed="rId3"/>
          <a:stretch>
            <a:fillRect/>
          </a:stretch>
        </p:blipFill>
        <p:spPr>
          <a:xfrm>
            <a:off x="1286215" y="2020945"/>
            <a:ext cx="9619570" cy="3772530"/>
          </a:xfrm>
          <a:prstGeom prst="rect">
            <a:avLst/>
          </a:prstGeom>
        </p:spPr>
      </p:pic>
    </p:spTree>
    <p:extLst>
      <p:ext uri="{BB962C8B-B14F-4D97-AF65-F5344CB8AC3E}">
        <p14:creationId xmlns:p14="http://schemas.microsoft.com/office/powerpoint/2010/main" val="23782452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B8FF6F-4BEA-6F3E-3F23-5A89C248E7B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639E3F-4B1A-153B-CB66-47213375D7FA}"/>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DFAAF338-1ECF-E45A-E298-522A12B8B2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Binary effect VS. CONTINUOUS EFFECT</a:t>
            </a:r>
          </a:p>
        </p:txBody>
      </p:sp>
      <p:sp>
        <p:nvSpPr>
          <p:cNvPr id="7" name="TextBox 6">
            <a:extLst>
              <a:ext uri="{FF2B5EF4-FFF2-40B4-BE49-F238E27FC236}">
                <a16:creationId xmlns:a16="http://schemas.microsoft.com/office/drawing/2014/main" id="{4E8F13B0-6EAA-EE2F-2862-05D00F6DFCC3}"/>
              </a:ext>
            </a:extLst>
          </p:cNvPr>
          <p:cNvSpPr txBox="1"/>
          <p:nvPr/>
        </p:nvSpPr>
        <p:spPr>
          <a:xfrm>
            <a:off x="1020801" y="2333767"/>
            <a:ext cx="10395550" cy="954107"/>
          </a:xfrm>
          <a:prstGeom prst="rect">
            <a:avLst/>
          </a:prstGeom>
          <a:noFill/>
        </p:spPr>
        <p:txBody>
          <a:bodyPr wrap="square" rtlCol="0">
            <a:spAutoFit/>
          </a:bodyPr>
          <a:lstStyle/>
          <a:p>
            <a:pPr marL="285750" indent="-285750">
              <a:buFont typeface="Wingdings" pitchFamily="2" charset="2"/>
              <a:buChar char="Ø"/>
            </a:pPr>
            <a:r>
              <a:rPr lang="en-US" sz="2800" dirty="0"/>
              <a:t>The binary effect (mutant vs WT) is stronger than the continuous effect (EFS vs FGA).</a:t>
            </a:r>
            <a:endParaRPr lang="en-IL" sz="2800" dirty="0"/>
          </a:p>
        </p:txBody>
      </p:sp>
      <p:sp>
        <p:nvSpPr>
          <p:cNvPr id="8" name="TextBox 7">
            <a:extLst>
              <a:ext uri="{FF2B5EF4-FFF2-40B4-BE49-F238E27FC236}">
                <a16:creationId xmlns:a16="http://schemas.microsoft.com/office/drawing/2014/main" id="{CEABEF96-7F43-EBF9-A13B-2B3AD8DA053F}"/>
              </a:ext>
            </a:extLst>
          </p:cNvPr>
          <p:cNvSpPr txBox="1"/>
          <p:nvPr/>
        </p:nvSpPr>
        <p:spPr>
          <a:xfrm>
            <a:off x="1020799" y="3632964"/>
            <a:ext cx="10395551" cy="1384995"/>
          </a:xfrm>
          <a:prstGeom prst="rect">
            <a:avLst/>
          </a:prstGeom>
          <a:noFill/>
        </p:spPr>
        <p:txBody>
          <a:bodyPr wrap="square" rtlCol="0">
            <a:spAutoFit/>
          </a:bodyPr>
          <a:lstStyle/>
          <a:p>
            <a:pPr marL="285750" indent="-285750">
              <a:buFont typeface="Wingdings" pitchFamily="2" charset="2"/>
              <a:buChar char="Ø"/>
            </a:pPr>
            <a:r>
              <a:rPr lang="en-US" sz="2800" dirty="0"/>
              <a:t>This suggests a </a:t>
            </a:r>
            <a:r>
              <a:rPr lang="en-US" sz="2800" u="sng" dirty="0"/>
              <a:t>threshold model</a:t>
            </a:r>
            <a:r>
              <a:rPr lang="en-US" sz="2800" dirty="0"/>
              <a:t>: once TP53 loses function, genomic chaos follows, but the </a:t>
            </a:r>
            <a:r>
              <a:rPr lang="en-US" sz="2800" u="sng" dirty="0"/>
              <a:t>specific degree</a:t>
            </a:r>
            <a:r>
              <a:rPr lang="en-US" sz="2800" dirty="0"/>
              <a:t> of functional loss matters less than its </a:t>
            </a:r>
            <a:r>
              <a:rPr lang="en-US" sz="2800" u="sng" dirty="0"/>
              <a:t>presence</a:t>
            </a:r>
            <a:endParaRPr lang="en-IL" sz="2800" dirty="0"/>
          </a:p>
        </p:txBody>
      </p:sp>
      <p:sp>
        <p:nvSpPr>
          <p:cNvPr id="9" name="TextBox 8">
            <a:extLst>
              <a:ext uri="{FF2B5EF4-FFF2-40B4-BE49-F238E27FC236}">
                <a16:creationId xmlns:a16="http://schemas.microsoft.com/office/drawing/2014/main" id="{91CF58FC-D142-D3D0-2598-79549E45F738}"/>
              </a:ext>
            </a:extLst>
          </p:cNvPr>
          <p:cNvSpPr txBox="1"/>
          <p:nvPr/>
        </p:nvSpPr>
        <p:spPr>
          <a:xfrm>
            <a:off x="1020800" y="5363049"/>
            <a:ext cx="10395551" cy="523220"/>
          </a:xfrm>
          <a:prstGeom prst="rect">
            <a:avLst/>
          </a:prstGeom>
          <a:noFill/>
        </p:spPr>
        <p:txBody>
          <a:bodyPr wrap="square" rtlCol="0">
            <a:spAutoFit/>
          </a:bodyPr>
          <a:lstStyle/>
          <a:p>
            <a:pPr marL="285750" indent="-285750">
              <a:buFont typeface="Wingdings" pitchFamily="2" charset="2"/>
              <a:buChar char="Ø"/>
            </a:pPr>
            <a:r>
              <a:rPr lang="en-US" sz="2800" dirty="0"/>
              <a:t>Other tumor-intrinsic and tissue-specific factors play a larger role</a:t>
            </a:r>
            <a:endParaRPr lang="en-IL" sz="2800" dirty="0"/>
          </a:p>
        </p:txBody>
      </p:sp>
    </p:spTree>
    <p:extLst>
      <p:ext uri="{BB962C8B-B14F-4D97-AF65-F5344CB8AC3E}">
        <p14:creationId xmlns:p14="http://schemas.microsoft.com/office/powerpoint/2010/main" val="10650893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96F576C-EB48-52F6-5A79-0822C7E173B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43D6910E-825C-3411-A9AA-7AC88F9B34F8}"/>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9C31A4FE-D124-BE44-DCE1-8BF1EAF1A6BD}"/>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The hotspot paradox</a:t>
            </a:r>
          </a:p>
        </p:txBody>
      </p:sp>
      <p:sp>
        <p:nvSpPr>
          <p:cNvPr id="7" name="TextBox 6">
            <a:extLst>
              <a:ext uri="{FF2B5EF4-FFF2-40B4-BE49-F238E27FC236}">
                <a16:creationId xmlns:a16="http://schemas.microsoft.com/office/drawing/2014/main" id="{C2BD100E-D4DA-1C6C-09A5-C56EC2A38BBE}"/>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Hotspot mutations dominate in tumors not because they're functionally the worst (Giacomelli showed this), but because their DNA sequences are highly mutable. Yet they still drive genomic instability, consistent with the threshold model.</a:t>
            </a:r>
          </a:p>
        </p:txBody>
      </p:sp>
    </p:spTree>
    <p:extLst>
      <p:ext uri="{BB962C8B-B14F-4D97-AF65-F5344CB8AC3E}">
        <p14:creationId xmlns:p14="http://schemas.microsoft.com/office/powerpoint/2010/main" val="167903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4B59AA-C2FC-5D5B-688C-2CB4457CBB3D}"/>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C51EFF4C-6D0D-B1A7-7ACD-A1722EFC2D36}"/>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763DACFC-91D9-69A5-56DC-A764E8036EC8}"/>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err="1"/>
              <a:t>lIMITATIONS</a:t>
            </a:r>
            <a:endParaRPr lang="en-US" dirty="0"/>
          </a:p>
        </p:txBody>
      </p:sp>
      <p:sp>
        <p:nvSpPr>
          <p:cNvPr id="7" name="TextBox 6">
            <a:extLst>
              <a:ext uri="{FF2B5EF4-FFF2-40B4-BE49-F238E27FC236}">
                <a16:creationId xmlns:a16="http://schemas.microsoft.com/office/drawing/2014/main" id="{B5508A9F-418E-84DC-5FE9-AABEE2687AFA}"/>
              </a:ext>
            </a:extLst>
          </p:cNvPr>
          <p:cNvSpPr txBox="1"/>
          <p:nvPr/>
        </p:nvSpPr>
        <p:spPr>
          <a:xfrm>
            <a:off x="1020801" y="2333767"/>
            <a:ext cx="9931527" cy="954107"/>
          </a:xfrm>
          <a:prstGeom prst="rect">
            <a:avLst/>
          </a:prstGeom>
          <a:noFill/>
        </p:spPr>
        <p:txBody>
          <a:bodyPr wrap="square" rtlCol="0">
            <a:spAutoFit/>
          </a:bodyPr>
          <a:lstStyle/>
          <a:p>
            <a:pPr marL="285750" indent="-285750">
              <a:buFont typeface="Wingdings" pitchFamily="2" charset="2"/>
              <a:buChar char="Ø"/>
            </a:pPr>
            <a:r>
              <a:rPr lang="en-US" sz="2800" dirty="0"/>
              <a:t>EFS derived from one lung cell line. That may not generalize across tissues</a:t>
            </a:r>
          </a:p>
        </p:txBody>
      </p:sp>
      <p:sp>
        <p:nvSpPr>
          <p:cNvPr id="2" name="TextBox 1">
            <a:extLst>
              <a:ext uri="{FF2B5EF4-FFF2-40B4-BE49-F238E27FC236}">
                <a16:creationId xmlns:a16="http://schemas.microsoft.com/office/drawing/2014/main" id="{5B443CA9-DD0B-9E6C-F746-8A4B863685D0}"/>
              </a:ext>
            </a:extLst>
          </p:cNvPr>
          <p:cNvSpPr txBox="1"/>
          <p:nvPr/>
        </p:nvSpPr>
        <p:spPr>
          <a:xfrm>
            <a:off x="1020801" y="3570127"/>
            <a:ext cx="9931527" cy="954107"/>
          </a:xfrm>
          <a:prstGeom prst="rect">
            <a:avLst/>
          </a:prstGeom>
          <a:noFill/>
        </p:spPr>
        <p:txBody>
          <a:bodyPr wrap="square" rtlCol="0">
            <a:spAutoFit/>
          </a:bodyPr>
          <a:lstStyle/>
          <a:p>
            <a:pPr marL="285750" indent="-285750">
              <a:buFont typeface="Wingdings" pitchFamily="2" charset="2"/>
              <a:buChar char="Ø"/>
            </a:pPr>
            <a:r>
              <a:rPr lang="en-US" sz="2800" dirty="0"/>
              <a:t>FGA is a bulk measure, and it doesn’t capture which specific chromosomal regions break</a:t>
            </a:r>
          </a:p>
        </p:txBody>
      </p:sp>
    </p:spTree>
    <p:extLst>
      <p:ext uri="{BB962C8B-B14F-4D97-AF65-F5344CB8AC3E}">
        <p14:creationId xmlns:p14="http://schemas.microsoft.com/office/powerpoint/2010/main" val="18716801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4659005-9761-7A24-3731-DDAE032BB35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D08189D-EE63-A69D-B4E2-FAAF437EAC02}"/>
              </a:ext>
            </a:extLst>
          </p:cNvPr>
          <p:cNvSpPr txBox="1"/>
          <p:nvPr/>
        </p:nvSpPr>
        <p:spPr>
          <a:xfrm>
            <a:off x="8043084" y="0"/>
            <a:ext cx="3700815" cy="468000"/>
          </a:xfrm>
          <a:prstGeom prst="rect">
            <a:avLst/>
          </a:prstGeom>
          <a:solidFill>
            <a:srgbClr val="96A0A7"/>
          </a:solidFill>
        </p:spPr>
        <p:txBody>
          <a:bodyPr wrap="square" rtlCol="0">
            <a:spAutoFit/>
          </a:bodyPr>
          <a:lstStyle/>
          <a:p>
            <a:pPr algn="ctr"/>
            <a:endParaRPr lang="en-IL" sz="700" dirty="0">
              <a:solidFill>
                <a:schemeClr val="bg1"/>
              </a:solidFill>
            </a:endParaRPr>
          </a:p>
          <a:p>
            <a:pPr algn="ctr"/>
            <a:r>
              <a:rPr lang="en-IL" sz="1400" i="1" dirty="0">
                <a:solidFill>
                  <a:schemeClr val="bg1"/>
                </a:solidFill>
                <a:latin typeface="Abadi MT Condensed Light" panose="020B0306030101010103" pitchFamily="34" charset="77"/>
                <a:ea typeface="Batang" panose="02030600000101010101" pitchFamily="18" charset="-127"/>
                <a:cs typeface="Corsiva Hebrew" pitchFamily="2" charset="-79"/>
              </a:rPr>
              <a:t>Discussion</a:t>
            </a:r>
          </a:p>
        </p:txBody>
      </p:sp>
      <p:sp>
        <p:nvSpPr>
          <p:cNvPr id="3" name="Title 1">
            <a:extLst>
              <a:ext uri="{FF2B5EF4-FFF2-40B4-BE49-F238E27FC236}">
                <a16:creationId xmlns:a16="http://schemas.microsoft.com/office/drawing/2014/main" id="{2315B551-78A5-80AC-8BF1-AFBB22F5C9A4}"/>
              </a:ext>
            </a:extLst>
          </p:cNvPr>
          <p:cNvSpPr txBox="1">
            <a:spLocks/>
          </p:cNvSpPr>
          <p:nvPr/>
        </p:nvSpPr>
        <p:spPr>
          <a:xfrm>
            <a:off x="1020801" y="822800"/>
            <a:ext cx="10395551" cy="624060"/>
          </a:xfrm>
          <a:prstGeom prst="rect">
            <a:avLst/>
          </a:prstGeom>
        </p:spPr>
        <p:txBody>
          <a:bodyPr vert="horz" lIns="91440" tIns="45720" rIns="91440" bIns="45720" rtlCol="0" anchor="b">
            <a:normAutofit/>
          </a:bodyPr>
          <a:lst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Conclusions</a:t>
            </a:r>
          </a:p>
        </p:txBody>
      </p:sp>
      <p:sp>
        <p:nvSpPr>
          <p:cNvPr id="7" name="TextBox 6">
            <a:extLst>
              <a:ext uri="{FF2B5EF4-FFF2-40B4-BE49-F238E27FC236}">
                <a16:creationId xmlns:a16="http://schemas.microsoft.com/office/drawing/2014/main" id="{515D867E-2040-5650-B54E-F434E6687274}"/>
              </a:ext>
            </a:extLst>
          </p:cNvPr>
          <p:cNvSpPr txBox="1"/>
          <p:nvPr/>
        </p:nvSpPr>
        <p:spPr>
          <a:xfrm>
            <a:off x="1020801" y="2333767"/>
            <a:ext cx="9931527" cy="1815882"/>
          </a:xfrm>
          <a:prstGeom prst="rect">
            <a:avLst/>
          </a:prstGeom>
          <a:noFill/>
        </p:spPr>
        <p:txBody>
          <a:bodyPr wrap="square" rtlCol="0">
            <a:spAutoFit/>
          </a:bodyPr>
          <a:lstStyle/>
          <a:p>
            <a:pPr marL="285750" indent="-285750">
              <a:buFont typeface="Wingdings" pitchFamily="2" charset="2"/>
              <a:buChar char="Ø"/>
            </a:pPr>
            <a:r>
              <a:rPr lang="en-US" sz="2800" dirty="0"/>
              <a:t>TP53 loss </a:t>
            </a:r>
            <a:r>
              <a:rPr lang="en-US" sz="2800" dirty="0" err="1"/>
              <a:t>drived</a:t>
            </a:r>
            <a:r>
              <a:rPr lang="en-US" sz="2800" dirty="0"/>
              <a:t> genomic instability as a class effect, which in turn selectively amplifies oncogenic growth pathways, which explains why TP53 mutation is such a universal and aggressive cancer event.</a:t>
            </a:r>
          </a:p>
        </p:txBody>
      </p:sp>
    </p:spTree>
    <p:extLst>
      <p:ext uri="{BB962C8B-B14F-4D97-AF65-F5344CB8AC3E}">
        <p14:creationId xmlns:p14="http://schemas.microsoft.com/office/powerpoint/2010/main" val="1256860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C7B6FD1-38A4-D753-E777-86AD4369D5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BE7E1C-DBED-BE8A-25C1-FF54E557790A}"/>
              </a:ext>
            </a:extLst>
          </p:cNvPr>
          <p:cNvSpPr>
            <a:spLocks noGrp="1"/>
          </p:cNvSpPr>
          <p:nvPr>
            <p:ph type="ctrTitle"/>
          </p:nvPr>
        </p:nvSpPr>
        <p:spPr>
          <a:xfrm>
            <a:off x="1852977" y="378485"/>
            <a:ext cx="8486046" cy="2876471"/>
          </a:xfrm>
        </p:spPr>
        <p:txBody>
          <a:bodyPr anchor="ctr">
            <a:normAutofit/>
          </a:bodyPr>
          <a:lstStyle/>
          <a:p>
            <a:pPr algn="ctr"/>
            <a:r>
              <a:rPr lang="en-US" dirty="0">
                <a:solidFill>
                  <a:schemeClr val="accent1">
                    <a:lumMod val="50000"/>
                  </a:schemeClr>
                </a:solidFill>
              </a:rPr>
              <a:t>Thank you!</a:t>
            </a:r>
          </a:p>
        </p:txBody>
      </p:sp>
    </p:spTree>
    <p:extLst>
      <p:ext uri="{BB962C8B-B14F-4D97-AF65-F5344CB8AC3E}">
        <p14:creationId xmlns:p14="http://schemas.microsoft.com/office/powerpoint/2010/main" val="3900602769"/>
      </p:ext>
    </p:extLst>
  </p:cSld>
  <p:clrMapOvr>
    <a:masterClrMapping/>
  </p:clrMapOvr>
</p:sld>
</file>

<file path=ppt/theme/theme1.xml><?xml version="1.0" encoding="utf-8"?>
<a:theme xmlns:a="http://schemas.openxmlformats.org/drawingml/2006/main" name="Dividend">
  <a:themeElements>
    <a:clrScheme name="Dividend">
      <a:dk1>
        <a:sysClr val="windowText" lastClr="000000"/>
      </a:dk1>
      <a:lt1>
        <a:sysClr val="window" lastClr="FFFFFF"/>
      </a:lt1>
      <a:dk2>
        <a:srgbClr val="3D3D3D"/>
      </a:dk2>
      <a:lt2>
        <a:srgbClr val="EBEBEB"/>
      </a:lt2>
      <a:accent1>
        <a:srgbClr val="4D1434"/>
      </a:accent1>
      <a:accent2>
        <a:srgbClr val="903163"/>
      </a:accent2>
      <a:accent3>
        <a:srgbClr val="B2324B"/>
      </a:accent3>
      <a:accent4>
        <a:srgbClr val="969FA7"/>
      </a:accent4>
      <a:accent5>
        <a:srgbClr val="66B1CE"/>
      </a:accent5>
      <a:accent6>
        <a:srgbClr val="40619D"/>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 id="{9697A71B-4AB7-4A1A-BD5B-BB2D22835B57}" vid="{C21699FF-00E4-43C8-BBCC-D7E5536C37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Dividend</Template>
  <TotalTime>8199</TotalTime>
  <Words>1990</Words>
  <Application>Microsoft Macintosh PowerPoint</Application>
  <PresentationFormat>Widescreen</PresentationFormat>
  <Paragraphs>200</Paragraphs>
  <Slides>21</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Abadi MT Condensed Light</vt:lpstr>
      <vt:lpstr>Aptos</vt:lpstr>
      <vt:lpstr>Arial</vt:lpstr>
      <vt:lpstr>Gill Sans MT</vt:lpstr>
      <vt:lpstr>Wingdings</vt:lpstr>
      <vt:lpstr>Wingdings 2</vt:lpstr>
      <vt:lpstr>Dividend</vt:lpstr>
      <vt:lpstr>TP53 mutations that are associated with an increased Copy Number Variation</vt:lpstr>
      <vt:lpstr>TP53</vt:lpstr>
      <vt:lpstr>Copy Number Variation</vt:lpstr>
      <vt:lpstr>Experimental Functional Score</vt:lpstr>
      <vt:lpstr>Experimental Functional Score</vt:lpstr>
      <vt:lpstr>Experimental Functional Score</vt:lpstr>
      <vt:lpstr>Hypothesis</vt:lpstr>
      <vt:lpstr>Research Questions</vt:lpstr>
      <vt:lpstr>Data Sources: Integrating Phenotype &amp; Genotype</vt:lpstr>
      <vt:lpstr>Data Sources: Integrating Phenotype &amp; Genotype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Ornit Bhonkar</dc:creator>
  <cp:lastModifiedBy>Ornit Bhonkar</cp:lastModifiedBy>
  <cp:revision>353</cp:revision>
  <dcterms:created xsi:type="dcterms:W3CDTF">2026-01-27T21:31:11Z</dcterms:created>
  <dcterms:modified xsi:type="dcterms:W3CDTF">2026-03-16T17:56:06Z</dcterms:modified>
</cp:coreProperties>
</file>