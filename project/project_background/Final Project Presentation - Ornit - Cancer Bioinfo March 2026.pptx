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7" r:id="rId1"/>
  </p:sldMasterIdLst>
  <p:notesMasterIdLst>
    <p:notesMasterId r:id="rId20"/>
  </p:notesMasterIdLst>
  <p:sldIdLst>
    <p:sldId id="256" r:id="rId2"/>
    <p:sldId id="359" r:id="rId3"/>
    <p:sldId id="358" r:id="rId4"/>
    <p:sldId id="360" r:id="rId5"/>
    <p:sldId id="363" r:id="rId6"/>
    <p:sldId id="364" r:id="rId7"/>
    <p:sldId id="265" r:id="rId8"/>
    <p:sldId id="259" r:id="rId9"/>
    <p:sldId id="272" r:id="rId10"/>
    <p:sldId id="271" r:id="rId11"/>
    <p:sldId id="366" r:id="rId12"/>
    <p:sldId id="367" r:id="rId13"/>
    <p:sldId id="375" r:id="rId14"/>
    <p:sldId id="368" r:id="rId15"/>
    <p:sldId id="365" r:id="rId16"/>
    <p:sldId id="370" r:id="rId17"/>
    <p:sldId id="371" r:id="rId18"/>
    <p:sldId id="373"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03063"/>
    <a:srgbClr val="96A0A7"/>
    <a:srgbClr val="4D14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036"/>
    <p:restoredTop sz="83574"/>
  </p:normalViewPr>
  <p:slideViewPr>
    <p:cSldViewPr snapToGrid="0">
      <p:cViewPr varScale="1">
        <p:scale>
          <a:sx n="89" d="100"/>
          <a:sy n="89" d="100"/>
        </p:scale>
        <p:origin x="184" y="7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s>
</file>

<file path=ppt/diagrams/_rels/drawing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83F21B75-5146-4195-9459-51C622777FCC}"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BBC8A45-8DB2-4A0C-82DF-AAFEED00AC93}">
      <dgm:prSet/>
      <dgm:spPr/>
      <dgm:t>
        <a:bodyPr/>
        <a:lstStyle/>
        <a:p>
          <a:r>
            <a:rPr lang="en-US" dirty="0"/>
            <a:t>Is there a correlation between the experimental TP53 EFS</a:t>
          </a:r>
          <a:r>
            <a:rPr lang="he-IL" dirty="0"/>
            <a:t> </a:t>
          </a:r>
          <a:r>
            <a:rPr lang="en-US" dirty="0"/>
            <a:t>(Giacomelli et al.) and patient FGA (GENIE)?</a:t>
          </a:r>
        </a:p>
      </dgm:t>
    </dgm:pt>
    <dgm:pt modelId="{EBB82DBD-5FA3-40DD-9047-DB7B10450E9D}" type="parTrans" cxnId="{4A8B65DD-CC61-47F9-AEED-E83FDB2C97AE}">
      <dgm:prSet/>
      <dgm:spPr/>
      <dgm:t>
        <a:bodyPr/>
        <a:lstStyle/>
        <a:p>
          <a:endParaRPr lang="en-US"/>
        </a:p>
      </dgm:t>
    </dgm:pt>
    <dgm:pt modelId="{641914C6-6F3E-4C04-B6C1-45E8B6E8A99A}" type="sibTrans" cxnId="{4A8B65DD-CC61-47F9-AEED-E83FDB2C97AE}">
      <dgm:prSet/>
      <dgm:spPr/>
      <dgm:t>
        <a:bodyPr/>
        <a:lstStyle/>
        <a:p>
          <a:endParaRPr lang="en-US"/>
        </a:p>
      </dgm:t>
    </dgm:pt>
    <dgm:pt modelId="{D509BDE4-52F2-4A30-93B1-9C4AA34B8A00}">
      <dgm:prSet/>
      <dgm:spPr/>
      <dgm:t>
        <a:bodyPr/>
        <a:lstStyle/>
        <a:p>
          <a:r>
            <a:rPr lang="en-US" dirty="0"/>
            <a:t>Do "Hotspot" mutations drive higher genomic instability than rare mutations?</a:t>
          </a:r>
        </a:p>
      </dgm:t>
    </dgm:pt>
    <dgm:pt modelId="{146E563D-AE1B-4CA0-A906-6F857769FE4C}" type="parTrans" cxnId="{83FA26EB-E73B-4F0E-A208-0D1ECAEDB441}">
      <dgm:prSet/>
      <dgm:spPr/>
      <dgm:t>
        <a:bodyPr/>
        <a:lstStyle/>
        <a:p>
          <a:endParaRPr lang="en-US"/>
        </a:p>
      </dgm:t>
    </dgm:pt>
    <dgm:pt modelId="{19ACE51A-69C9-45BA-BAF3-5F83594449F4}" type="sibTrans" cxnId="{83FA26EB-E73B-4F0E-A208-0D1ECAEDB441}">
      <dgm:prSet/>
      <dgm:spPr/>
      <dgm:t>
        <a:bodyPr/>
        <a:lstStyle/>
        <a:p>
          <a:endParaRPr lang="en-US"/>
        </a:p>
      </dgm:t>
    </dgm:pt>
    <dgm:pt modelId="{6125D1FD-2174-41C1-B9E9-8AB8CFA1E045}">
      <dgm:prSet/>
      <dgm:spPr/>
      <dgm:t>
        <a:bodyPr/>
        <a:lstStyle/>
        <a:p>
          <a:r>
            <a:rPr lang="en-US" dirty="0"/>
            <a:t>Does this correlation hold true across all cancer types or is it specific to certain tissues?</a:t>
          </a:r>
        </a:p>
      </dgm:t>
    </dgm:pt>
    <dgm:pt modelId="{550F4277-5D36-4853-8A58-BD8E286667AF}" type="parTrans" cxnId="{CE9CEED5-4342-4458-BA70-9F798966922A}">
      <dgm:prSet/>
      <dgm:spPr/>
      <dgm:t>
        <a:bodyPr/>
        <a:lstStyle/>
        <a:p>
          <a:endParaRPr lang="en-US"/>
        </a:p>
      </dgm:t>
    </dgm:pt>
    <dgm:pt modelId="{D1B9CC37-8B92-456D-B2DA-C95951955C33}" type="sibTrans" cxnId="{CE9CEED5-4342-4458-BA70-9F798966922A}">
      <dgm:prSet/>
      <dgm:spPr/>
      <dgm:t>
        <a:bodyPr/>
        <a:lstStyle/>
        <a:p>
          <a:endParaRPr lang="en-US"/>
        </a:p>
      </dgm:t>
    </dgm:pt>
    <dgm:pt modelId="{4858335A-3207-4F5D-B354-CDF132D24DF1}" type="pres">
      <dgm:prSet presAssocID="{83F21B75-5146-4195-9459-51C622777FCC}" presName="root" presStyleCnt="0">
        <dgm:presLayoutVars>
          <dgm:dir/>
          <dgm:resizeHandles val="exact"/>
        </dgm:presLayoutVars>
      </dgm:prSet>
      <dgm:spPr/>
    </dgm:pt>
    <dgm:pt modelId="{BF5EE8C4-A69D-40C5-B324-5843A2199C84}" type="pres">
      <dgm:prSet presAssocID="{9BBC8A45-8DB2-4A0C-82DF-AAFEED00AC93}" presName="compNode" presStyleCnt="0"/>
      <dgm:spPr/>
    </dgm:pt>
    <dgm:pt modelId="{BCB2B71C-9545-43F4-8376-864E42A022A4}" type="pres">
      <dgm:prSet presAssocID="{9BBC8A45-8DB2-4A0C-82DF-AAFEED00AC93}" presName="bgRect" presStyleLbl="bgShp" presStyleIdx="0" presStyleCnt="3"/>
      <dgm:spPr/>
    </dgm:pt>
    <dgm:pt modelId="{18DC14EC-2901-496F-8FEF-55A978EC6F84}" type="pres">
      <dgm:prSet presAssocID="{9BBC8A45-8DB2-4A0C-82DF-AAFEED00AC93}"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rocessor"/>
        </a:ext>
      </dgm:extLst>
    </dgm:pt>
    <dgm:pt modelId="{71C848F9-D8F8-449B-A15E-C906710CAEC8}" type="pres">
      <dgm:prSet presAssocID="{9BBC8A45-8DB2-4A0C-82DF-AAFEED00AC93}" presName="spaceRect" presStyleCnt="0"/>
      <dgm:spPr/>
    </dgm:pt>
    <dgm:pt modelId="{C3BC3749-F12B-44EA-AEDB-69785241ABF0}" type="pres">
      <dgm:prSet presAssocID="{9BBC8A45-8DB2-4A0C-82DF-AAFEED00AC93}" presName="parTx" presStyleLbl="revTx" presStyleIdx="0" presStyleCnt="3">
        <dgm:presLayoutVars>
          <dgm:chMax val="0"/>
          <dgm:chPref val="0"/>
        </dgm:presLayoutVars>
      </dgm:prSet>
      <dgm:spPr/>
    </dgm:pt>
    <dgm:pt modelId="{7BA49996-218C-49BC-B8C0-1607C020769C}" type="pres">
      <dgm:prSet presAssocID="{641914C6-6F3E-4C04-B6C1-45E8B6E8A99A}" presName="sibTrans" presStyleCnt="0"/>
      <dgm:spPr/>
    </dgm:pt>
    <dgm:pt modelId="{857074C8-4BA0-4AC9-9F60-83E79CC4E54B}" type="pres">
      <dgm:prSet presAssocID="{D509BDE4-52F2-4A30-93B1-9C4AA34B8A00}" presName="compNode" presStyleCnt="0"/>
      <dgm:spPr/>
    </dgm:pt>
    <dgm:pt modelId="{38BBD7EB-99E3-4E91-A381-FFD8E899A99E}" type="pres">
      <dgm:prSet presAssocID="{D509BDE4-52F2-4A30-93B1-9C4AA34B8A00}" presName="bgRect" presStyleLbl="bgShp" presStyleIdx="1" presStyleCnt="3"/>
      <dgm:spPr/>
    </dgm:pt>
    <dgm:pt modelId="{2A21B101-9457-4CF6-BE8A-092C8EDB98A3}" type="pres">
      <dgm:prSet presAssocID="{D509BDE4-52F2-4A30-93B1-9C4AA34B8A0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NA"/>
        </a:ext>
      </dgm:extLst>
    </dgm:pt>
    <dgm:pt modelId="{89489B1A-8A70-4907-957A-690FE7B6A587}" type="pres">
      <dgm:prSet presAssocID="{D509BDE4-52F2-4A30-93B1-9C4AA34B8A00}" presName="spaceRect" presStyleCnt="0"/>
      <dgm:spPr/>
    </dgm:pt>
    <dgm:pt modelId="{3D8B549A-F582-407A-8FBE-1DEC81D362E6}" type="pres">
      <dgm:prSet presAssocID="{D509BDE4-52F2-4A30-93B1-9C4AA34B8A00}" presName="parTx" presStyleLbl="revTx" presStyleIdx="1" presStyleCnt="3">
        <dgm:presLayoutVars>
          <dgm:chMax val="0"/>
          <dgm:chPref val="0"/>
        </dgm:presLayoutVars>
      </dgm:prSet>
      <dgm:spPr/>
    </dgm:pt>
    <dgm:pt modelId="{B354B10A-3B39-4AA5-AECC-94BB07B49574}" type="pres">
      <dgm:prSet presAssocID="{19ACE51A-69C9-45BA-BAF3-5F83594449F4}" presName="sibTrans" presStyleCnt="0"/>
      <dgm:spPr/>
    </dgm:pt>
    <dgm:pt modelId="{78B6154E-574F-47A1-9101-EDAE68E3F70F}" type="pres">
      <dgm:prSet presAssocID="{6125D1FD-2174-41C1-B9E9-8AB8CFA1E045}" presName="compNode" presStyleCnt="0"/>
      <dgm:spPr/>
    </dgm:pt>
    <dgm:pt modelId="{4D29B9D9-CAA4-4473-AC64-F3635AD81E37}" type="pres">
      <dgm:prSet presAssocID="{6125D1FD-2174-41C1-B9E9-8AB8CFA1E045}" presName="bgRect" presStyleLbl="bgShp" presStyleIdx="2" presStyleCnt="3"/>
      <dgm:spPr/>
    </dgm:pt>
    <dgm:pt modelId="{008FA23B-86AA-437F-8BC3-11F23665006F}" type="pres">
      <dgm:prSet presAssocID="{6125D1FD-2174-41C1-B9E9-8AB8CFA1E04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Kidney"/>
        </a:ext>
      </dgm:extLst>
    </dgm:pt>
    <dgm:pt modelId="{D8258EA5-3BDF-4701-8056-5F8449A081E1}" type="pres">
      <dgm:prSet presAssocID="{6125D1FD-2174-41C1-B9E9-8AB8CFA1E045}" presName="spaceRect" presStyleCnt="0"/>
      <dgm:spPr/>
    </dgm:pt>
    <dgm:pt modelId="{EAB5C3A8-791F-442C-A264-0491E2C1EBEF}" type="pres">
      <dgm:prSet presAssocID="{6125D1FD-2174-41C1-B9E9-8AB8CFA1E045}" presName="parTx" presStyleLbl="revTx" presStyleIdx="2" presStyleCnt="3">
        <dgm:presLayoutVars>
          <dgm:chMax val="0"/>
          <dgm:chPref val="0"/>
        </dgm:presLayoutVars>
      </dgm:prSet>
      <dgm:spPr/>
    </dgm:pt>
  </dgm:ptLst>
  <dgm:cxnLst>
    <dgm:cxn modelId="{506A3531-DFD8-4F62-AE1A-5F4A38ECDFC8}" type="presOf" srcId="{6125D1FD-2174-41C1-B9E9-8AB8CFA1E045}" destId="{EAB5C3A8-791F-442C-A264-0491E2C1EBEF}" srcOrd="0" destOrd="0" presId="urn:microsoft.com/office/officeart/2018/2/layout/IconVerticalSolidList"/>
    <dgm:cxn modelId="{427E1CA8-135A-4618-9B43-0DC1200E10B2}" type="presOf" srcId="{83F21B75-5146-4195-9459-51C622777FCC}" destId="{4858335A-3207-4F5D-B354-CDF132D24DF1}" srcOrd="0" destOrd="0" presId="urn:microsoft.com/office/officeart/2018/2/layout/IconVerticalSolidList"/>
    <dgm:cxn modelId="{4EA579C1-ED55-4726-9271-0AFB9BEE1F3A}" type="presOf" srcId="{9BBC8A45-8DB2-4A0C-82DF-AAFEED00AC93}" destId="{C3BC3749-F12B-44EA-AEDB-69785241ABF0}" srcOrd="0" destOrd="0" presId="urn:microsoft.com/office/officeart/2018/2/layout/IconVerticalSolidList"/>
    <dgm:cxn modelId="{CE9CEED5-4342-4458-BA70-9F798966922A}" srcId="{83F21B75-5146-4195-9459-51C622777FCC}" destId="{6125D1FD-2174-41C1-B9E9-8AB8CFA1E045}" srcOrd="2" destOrd="0" parTransId="{550F4277-5D36-4853-8A58-BD8E286667AF}" sibTransId="{D1B9CC37-8B92-456D-B2DA-C95951955C33}"/>
    <dgm:cxn modelId="{4A8B65DD-CC61-47F9-AEED-E83FDB2C97AE}" srcId="{83F21B75-5146-4195-9459-51C622777FCC}" destId="{9BBC8A45-8DB2-4A0C-82DF-AAFEED00AC93}" srcOrd="0" destOrd="0" parTransId="{EBB82DBD-5FA3-40DD-9047-DB7B10450E9D}" sibTransId="{641914C6-6F3E-4C04-B6C1-45E8B6E8A99A}"/>
    <dgm:cxn modelId="{A19F6FE4-A2C2-4350-BD61-7F906E66F3C0}" type="presOf" srcId="{D509BDE4-52F2-4A30-93B1-9C4AA34B8A00}" destId="{3D8B549A-F582-407A-8FBE-1DEC81D362E6}" srcOrd="0" destOrd="0" presId="urn:microsoft.com/office/officeart/2018/2/layout/IconVerticalSolidList"/>
    <dgm:cxn modelId="{83FA26EB-E73B-4F0E-A208-0D1ECAEDB441}" srcId="{83F21B75-5146-4195-9459-51C622777FCC}" destId="{D509BDE4-52F2-4A30-93B1-9C4AA34B8A00}" srcOrd="1" destOrd="0" parTransId="{146E563D-AE1B-4CA0-A906-6F857769FE4C}" sibTransId="{19ACE51A-69C9-45BA-BAF3-5F83594449F4}"/>
    <dgm:cxn modelId="{D6C12E9F-8FCD-4B34-9F59-034795BB93AB}" type="presParOf" srcId="{4858335A-3207-4F5D-B354-CDF132D24DF1}" destId="{BF5EE8C4-A69D-40C5-B324-5843A2199C84}" srcOrd="0" destOrd="0" presId="urn:microsoft.com/office/officeart/2018/2/layout/IconVerticalSolidList"/>
    <dgm:cxn modelId="{50B6D364-B026-49E7-8701-37489D4C61A2}" type="presParOf" srcId="{BF5EE8C4-A69D-40C5-B324-5843A2199C84}" destId="{BCB2B71C-9545-43F4-8376-864E42A022A4}" srcOrd="0" destOrd="0" presId="urn:microsoft.com/office/officeart/2018/2/layout/IconVerticalSolidList"/>
    <dgm:cxn modelId="{EC22320A-B812-4EE9-AF60-611C61958AC3}" type="presParOf" srcId="{BF5EE8C4-A69D-40C5-B324-5843A2199C84}" destId="{18DC14EC-2901-496F-8FEF-55A978EC6F84}" srcOrd="1" destOrd="0" presId="urn:microsoft.com/office/officeart/2018/2/layout/IconVerticalSolidList"/>
    <dgm:cxn modelId="{96472E57-0D73-41E6-9B15-5652F711D86B}" type="presParOf" srcId="{BF5EE8C4-A69D-40C5-B324-5843A2199C84}" destId="{71C848F9-D8F8-449B-A15E-C906710CAEC8}" srcOrd="2" destOrd="0" presId="urn:microsoft.com/office/officeart/2018/2/layout/IconVerticalSolidList"/>
    <dgm:cxn modelId="{DA917739-AF6B-46B0-9425-003400FAABCE}" type="presParOf" srcId="{BF5EE8C4-A69D-40C5-B324-5843A2199C84}" destId="{C3BC3749-F12B-44EA-AEDB-69785241ABF0}" srcOrd="3" destOrd="0" presId="urn:microsoft.com/office/officeart/2018/2/layout/IconVerticalSolidList"/>
    <dgm:cxn modelId="{C508F955-9A64-4E52-9C99-C8CCA80EF64D}" type="presParOf" srcId="{4858335A-3207-4F5D-B354-CDF132D24DF1}" destId="{7BA49996-218C-49BC-B8C0-1607C020769C}" srcOrd="1" destOrd="0" presId="urn:microsoft.com/office/officeart/2018/2/layout/IconVerticalSolidList"/>
    <dgm:cxn modelId="{89705C6C-0AE9-4113-BD8B-8481B7CE0751}" type="presParOf" srcId="{4858335A-3207-4F5D-B354-CDF132D24DF1}" destId="{857074C8-4BA0-4AC9-9F60-83E79CC4E54B}" srcOrd="2" destOrd="0" presId="urn:microsoft.com/office/officeart/2018/2/layout/IconVerticalSolidList"/>
    <dgm:cxn modelId="{C0EF9417-EFBD-4339-A411-07726A306FDE}" type="presParOf" srcId="{857074C8-4BA0-4AC9-9F60-83E79CC4E54B}" destId="{38BBD7EB-99E3-4E91-A381-FFD8E899A99E}" srcOrd="0" destOrd="0" presId="urn:microsoft.com/office/officeart/2018/2/layout/IconVerticalSolidList"/>
    <dgm:cxn modelId="{E93AA1DB-587C-4804-8801-010FB8E8A172}" type="presParOf" srcId="{857074C8-4BA0-4AC9-9F60-83E79CC4E54B}" destId="{2A21B101-9457-4CF6-BE8A-092C8EDB98A3}" srcOrd="1" destOrd="0" presId="urn:microsoft.com/office/officeart/2018/2/layout/IconVerticalSolidList"/>
    <dgm:cxn modelId="{1BEA3888-CF5E-46D0-9DC7-B99CC99C47BB}" type="presParOf" srcId="{857074C8-4BA0-4AC9-9F60-83E79CC4E54B}" destId="{89489B1A-8A70-4907-957A-690FE7B6A587}" srcOrd="2" destOrd="0" presId="urn:microsoft.com/office/officeart/2018/2/layout/IconVerticalSolidList"/>
    <dgm:cxn modelId="{80CF7DC1-3C40-4BF3-9AEC-8101FC0F8035}" type="presParOf" srcId="{857074C8-4BA0-4AC9-9F60-83E79CC4E54B}" destId="{3D8B549A-F582-407A-8FBE-1DEC81D362E6}" srcOrd="3" destOrd="0" presId="urn:microsoft.com/office/officeart/2018/2/layout/IconVerticalSolidList"/>
    <dgm:cxn modelId="{3DC40669-E113-48D3-B35C-585056D38AA5}" type="presParOf" srcId="{4858335A-3207-4F5D-B354-CDF132D24DF1}" destId="{B354B10A-3B39-4AA5-AECC-94BB07B49574}" srcOrd="3" destOrd="0" presId="urn:microsoft.com/office/officeart/2018/2/layout/IconVerticalSolidList"/>
    <dgm:cxn modelId="{A974A118-34DD-48F4-9695-3D177F25A6FE}" type="presParOf" srcId="{4858335A-3207-4F5D-B354-CDF132D24DF1}" destId="{78B6154E-574F-47A1-9101-EDAE68E3F70F}" srcOrd="4" destOrd="0" presId="urn:microsoft.com/office/officeart/2018/2/layout/IconVerticalSolidList"/>
    <dgm:cxn modelId="{8010456C-559C-4F12-A1F7-AF3BC5B557DE}" type="presParOf" srcId="{78B6154E-574F-47A1-9101-EDAE68E3F70F}" destId="{4D29B9D9-CAA4-4473-AC64-F3635AD81E37}" srcOrd="0" destOrd="0" presId="urn:microsoft.com/office/officeart/2018/2/layout/IconVerticalSolidList"/>
    <dgm:cxn modelId="{3A1063E4-E858-487C-B16F-F006C6DEF955}" type="presParOf" srcId="{78B6154E-574F-47A1-9101-EDAE68E3F70F}" destId="{008FA23B-86AA-437F-8BC3-11F23665006F}" srcOrd="1" destOrd="0" presId="urn:microsoft.com/office/officeart/2018/2/layout/IconVerticalSolidList"/>
    <dgm:cxn modelId="{0CA57DEB-FDB4-4BF8-9A00-8FEEC221F52E}" type="presParOf" srcId="{78B6154E-574F-47A1-9101-EDAE68E3F70F}" destId="{D8258EA5-3BDF-4701-8056-5F8449A081E1}" srcOrd="2" destOrd="0" presId="urn:microsoft.com/office/officeart/2018/2/layout/IconVerticalSolidList"/>
    <dgm:cxn modelId="{F209B170-6C57-4BC7-8AF7-91B4F04446A1}" type="presParOf" srcId="{78B6154E-574F-47A1-9101-EDAE68E3F70F}" destId="{EAB5C3A8-791F-442C-A264-0491E2C1EBE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B2B71C-9545-43F4-8376-864E42A022A4}">
      <dsp:nvSpPr>
        <dsp:cNvPr id="0" name=""/>
        <dsp:cNvSpPr/>
      </dsp:nvSpPr>
      <dsp:spPr>
        <a:xfrm>
          <a:off x="0" y="499"/>
          <a:ext cx="9618133" cy="116928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8DC14EC-2901-496F-8FEF-55A978EC6F84}">
      <dsp:nvSpPr>
        <dsp:cNvPr id="0" name=""/>
        <dsp:cNvSpPr/>
      </dsp:nvSpPr>
      <dsp:spPr>
        <a:xfrm>
          <a:off x="353707" y="263587"/>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3BC3749-F12B-44EA-AEDB-69785241ABF0}">
      <dsp:nvSpPr>
        <dsp:cNvPr id="0" name=""/>
        <dsp:cNvSpPr/>
      </dsp:nvSpPr>
      <dsp:spPr>
        <a:xfrm>
          <a:off x="1350519" y="499"/>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Is there a correlation between the experimental TP53 EFS</a:t>
          </a:r>
          <a:r>
            <a:rPr lang="he-IL" sz="2500" kern="1200" dirty="0"/>
            <a:t> </a:t>
          </a:r>
          <a:r>
            <a:rPr lang="en-US" sz="2500" kern="1200" dirty="0"/>
            <a:t>(Giacomelli et al.) and patient FGA (GENIE)?</a:t>
          </a:r>
        </a:p>
      </dsp:txBody>
      <dsp:txXfrm>
        <a:off x="1350519" y="499"/>
        <a:ext cx="8267613" cy="1169280"/>
      </dsp:txXfrm>
    </dsp:sp>
    <dsp:sp modelId="{38BBD7EB-99E3-4E91-A381-FFD8E899A99E}">
      <dsp:nvSpPr>
        <dsp:cNvPr id="0" name=""/>
        <dsp:cNvSpPr/>
      </dsp:nvSpPr>
      <dsp:spPr>
        <a:xfrm>
          <a:off x="0" y="1462100"/>
          <a:ext cx="9618133" cy="116928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21B101-9457-4CF6-BE8A-092C8EDB98A3}">
      <dsp:nvSpPr>
        <dsp:cNvPr id="0" name=""/>
        <dsp:cNvSpPr/>
      </dsp:nvSpPr>
      <dsp:spPr>
        <a:xfrm>
          <a:off x="353707" y="1725188"/>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D8B549A-F582-407A-8FBE-1DEC81D362E6}">
      <dsp:nvSpPr>
        <dsp:cNvPr id="0" name=""/>
        <dsp:cNvSpPr/>
      </dsp:nvSpPr>
      <dsp:spPr>
        <a:xfrm>
          <a:off x="1350519" y="1462100"/>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 "Hotspot" mutations drive higher genomic instability than rare mutations?</a:t>
          </a:r>
        </a:p>
      </dsp:txBody>
      <dsp:txXfrm>
        <a:off x="1350519" y="1462100"/>
        <a:ext cx="8267613" cy="1169280"/>
      </dsp:txXfrm>
    </dsp:sp>
    <dsp:sp modelId="{4D29B9D9-CAA4-4473-AC64-F3635AD81E37}">
      <dsp:nvSpPr>
        <dsp:cNvPr id="0" name=""/>
        <dsp:cNvSpPr/>
      </dsp:nvSpPr>
      <dsp:spPr>
        <a:xfrm>
          <a:off x="0" y="2923701"/>
          <a:ext cx="9618133" cy="116928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8FA23B-86AA-437F-8BC3-11F23665006F}">
      <dsp:nvSpPr>
        <dsp:cNvPr id="0" name=""/>
        <dsp:cNvSpPr/>
      </dsp:nvSpPr>
      <dsp:spPr>
        <a:xfrm>
          <a:off x="353707" y="3186789"/>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AB5C3A8-791F-442C-A264-0491E2C1EBEF}">
      <dsp:nvSpPr>
        <dsp:cNvPr id="0" name=""/>
        <dsp:cNvSpPr/>
      </dsp:nvSpPr>
      <dsp:spPr>
        <a:xfrm>
          <a:off x="1350519" y="2923701"/>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Does this correlation hold true across all cancer types or is it specific to certain tissues?</a:t>
          </a:r>
        </a:p>
      </dsp:txBody>
      <dsp:txXfrm>
        <a:off x="1350519" y="2923701"/>
        <a:ext cx="8267613" cy="116928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CD6A08-F84D-254F-876D-619DDBFD23F2}" type="datetimeFigureOut">
              <a:rPr lang="en-IL" smtClean="0"/>
              <a:t>18/03/2026</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42DB82-1DC1-9846-88D7-11B539157949}" type="slidenum">
              <a:rPr lang="en-IL" smtClean="0"/>
              <a:t>‹#›</a:t>
            </a:fld>
            <a:endParaRPr lang="en-IL"/>
          </a:p>
        </p:txBody>
      </p:sp>
    </p:spTree>
    <p:extLst>
      <p:ext uri="{BB962C8B-B14F-4D97-AF65-F5344CB8AC3E}">
        <p14:creationId xmlns:p14="http://schemas.microsoft.com/office/powerpoint/2010/main" val="643175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p:cNvSpPr>
            <a:spLocks noGrp="1"/>
          </p:cNvSpPr>
          <p:nvPr>
            <p:ph type="sldNum" sz="quarter" idx="5"/>
          </p:nvPr>
        </p:nvSpPr>
        <p:spPr/>
        <p:txBody>
          <a:bodyPr/>
          <a:lstStyle/>
          <a:p>
            <a:fld id="{7242DB82-1DC1-9846-88D7-11B539157949}" type="slidenum">
              <a:rPr lang="en-IL" smtClean="0"/>
              <a:t>1</a:t>
            </a:fld>
            <a:endParaRPr lang="en-IL"/>
          </a:p>
        </p:txBody>
      </p:sp>
    </p:spTree>
    <p:extLst>
      <p:ext uri="{BB962C8B-B14F-4D97-AF65-F5344CB8AC3E}">
        <p14:creationId xmlns:p14="http://schemas.microsoft.com/office/powerpoint/2010/main" val="889774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3720-E357-4473-84FE-312A1097C4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54E84-A083-1426-FDAA-AB88ECAF20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BF795-B903-D79B-1F1B-80C5E254F92C}"/>
              </a:ext>
            </a:extLst>
          </p:cNvPr>
          <p:cNvSpPr>
            <a:spLocks noGrp="1"/>
          </p:cNvSpPr>
          <p:nvPr>
            <p:ph type="body" idx="1"/>
          </p:nvPr>
        </p:nvSpPr>
        <p:spPr/>
        <p:txBody>
          <a:bodyPr/>
          <a:lstStyle/>
          <a:p>
            <a:pPr marL="0" algn="r" defTabSz="914400" rtl="1" eaLnBrk="1" latinLnBrk="0" hangingPunct="1"/>
            <a:r>
              <a:rPr lang="he-IL" dirty="0"/>
              <a:t>אני אעשה </a:t>
            </a:r>
            <a:r>
              <a:rPr lang="he-IL" dirty="0" err="1"/>
              <a:t>ריקאפ</a:t>
            </a:r>
            <a:r>
              <a:rPr lang="he-IL" dirty="0"/>
              <a:t> קצר: </a:t>
            </a:r>
            <a:r>
              <a:rPr lang="en-US" dirty="0"/>
              <a:t>TP53</a:t>
            </a:r>
            <a:r>
              <a:rPr lang="he-IL" dirty="0"/>
              <a:t> הוא בעצם </a:t>
            </a:r>
            <a:r>
              <a:rPr lang="he-IL" dirty="0" err="1"/>
              <a:t>טומר</a:t>
            </a:r>
            <a:r>
              <a:rPr lang="he-IL" dirty="0"/>
              <a:t> </a:t>
            </a:r>
            <a:r>
              <a:rPr lang="he-IL" dirty="0" err="1"/>
              <a:t>סופרסור</a:t>
            </a:r>
            <a:r>
              <a:rPr lang="he-IL" dirty="0"/>
              <a:t> מרכזי, שמתפקד כמעין </a:t>
            </a:r>
            <a:r>
              <a:rPr lang="he-IL" dirty="0" err="1"/>
              <a:t>סופרהירו</a:t>
            </a:r>
            <a:r>
              <a:rPr lang="he-IL" dirty="0"/>
              <a:t> של התא: אם יש צורך להפעיל סטרס </a:t>
            </a:r>
            <a:r>
              <a:rPr lang="he-IL" dirty="0" err="1"/>
              <a:t>ריספונס</a:t>
            </a:r>
            <a:r>
              <a:rPr lang="he-IL" dirty="0"/>
              <a:t>, הליכי תיקון דנ״א, </a:t>
            </a:r>
            <a:r>
              <a:rPr lang="he-IL" dirty="0" err="1"/>
              <a:t>אפופטוזיס</a:t>
            </a:r>
            <a:r>
              <a:rPr lang="he-IL" dirty="0"/>
              <a:t> וכן הלאה, </a:t>
            </a:r>
            <a:r>
              <a:rPr lang="en-US" dirty="0"/>
              <a:t>TP53</a:t>
            </a:r>
            <a:r>
              <a:rPr lang="he-IL" dirty="0"/>
              <a:t> נמצא שם ומניע או מבקר את התהליכים האלו. מוטציות ב-</a:t>
            </a:r>
            <a:r>
              <a:rPr lang="en-US" dirty="0"/>
              <a:t>TP53</a:t>
            </a:r>
            <a:r>
              <a:rPr lang="he-IL" dirty="0"/>
              <a:t> יכולות להשפיע על המסלולים האלו, והן יושבות על איזשהו ספקטרום מבחינת הפנוטיפ שהן גורמות לו, ז״א מוטציות שונות ב-</a:t>
            </a:r>
            <a:r>
              <a:rPr lang="en-US" dirty="0"/>
              <a:t>TP53</a:t>
            </a:r>
            <a:r>
              <a:rPr lang="he-IL" dirty="0"/>
              <a:t> יובילו לקשת של </a:t>
            </a:r>
            <a:r>
              <a:rPr lang="he-IL" dirty="0" err="1"/>
              <a:t>פנוטיפים</a:t>
            </a:r>
            <a:r>
              <a:rPr lang="he-IL" dirty="0"/>
              <a:t> ולא מדובר באחד יחיד.</a:t>
            </a:r>
          </a:p>
          <a:p>
            <a:pPr marL="0" algn="r" defTabSz="914400" rtl="1" eaLnBrk="1" latinLnBrk="0" hangingPunct="1"/>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אחת ההשערות שלי היא ש-</a:t>
            </a:r>
            <a:r>
              <a:rPr lang="en-US" dirty="0"/>
              <a:t>TP53</a:t>
            </a:r>
            <a:r>
              <a:rPr lang="he-IL" dirty="0"/>
              <a:t> פגום יכול להוביל ל-</a:t>
            </a:r>
            <a:r>
              <a:rPr lang="en-US" dirty="0"/>
              <a:t>Copy number variation</a:t>
            </a:r>
            <a:r>
              <a:rPr lang="he-IL" dirty="0"/>
              <a:t> וכתוצאה מכך לכאוס </a:t>
            </a:r>
            <a:r>
              <a:rPr lang="he-IL" dirty="0" err="1"/>
              <a:t>גנומי</a:t>
            </a:r>
            <a:r>
              <a:rPr lang="he-IL" dirty="0"/>
              <a:t>.</a:t>
            </a:r>
          </a:p>
          <a:p>
            <a:pPr marL="0" algn="r" defTabSz="914400" rtl="1" eaLnBrk="1" latinLnBrk="0" hangingPunct="1"/>
            <a:endParaRPr lang="he-IL" dirty="0"/>
          </a:p>
        </p:txBody>
      </p:sp>
      <p:sp>
        <p:nvSpPr>
          <p:cNvPr id="4" name="Slide Number Placeholder 3">
            <a:extLst>
              <a:ext uri="{FF2B5EF4-FFF2-40B4-BE49-F238E27FC236}">
                <a16:creationId xmlns:a16="http://schemas.microsoft.com/office/drawing/2014/main" id="{5B76F355-EE9F-75DD-C84B-4B74F2DED9C7}"/>
              </a:ext>
            </a:extLst>
          </p:cNvPr>
          <p:cNvSpPr>
            <a:spLocks noGrp="1"/>
          </p:cNvSpPr>
          <p:nvPr>
            <p:ph type="sldNum" sz="quarter" idx="5"/>
          </p:nvPr>
        </p:nvSpPr>
        <p:spPr/>
        <p:txBody>
          <a:bodyPr/>
          <a:lstStyle/>
          <a:p>
            <a:fld id="{7242DB82-1DC1-9846-88D7-11B539157949}" type="slidenum">
              <a:rPr lang="en-IL" smtClean="0"/>
              <a:t>2</a:t>
            </a:fld>
            <a:endParaRPr lang="en-IL"/>
          </a:p>
        </p:txBody>
      </p:sp>
    </p:spTree>
    <p:extLst>
      <p:ext uri="{BB962C8B-B14F-4D97-AF65-F5344CB8AC3E}">
        <p14:creationId xmlns:p14="http://schemas.microsoft.com/office/powerpoint/2010/main" val="2301723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50740-E186-E036-D921-6A2E97D1B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67774F-386B-21E1-CF58-2F4795DBC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D3DB58-41AD-15E6-40CE-DABAB2F065AC}"/>
              </a:ext>
            </a:extLst>
          </p:cNvPr>
          <p:cNvSpPr>
            <a:spLocks noGrp="1"/>
          </p:cNvSpPr>
          <p:nvPr>
            <p:ph type="body" idx="1"/>
          </p:nvPr>
        </p:nvSpPr>
        <p:spPr/>
        <p:txBody>
          <a:bodyPr/>
          <a:lstStyle/>
          <a:p>
            <a:pPr marL="0" algn="r" defTabSz="914400" rtl="1" eaLnBrk="1" latinLnBrk="0" hangingPunct="1"/>
            <a:r>
              <a:rPr lang="he-IL" dirty="0"/>
              <a:t>מה זה </a:t>
            </a:r>
            <a:r>
              <a:rPr lang="en-US" dirty="0"/>
              <a:t>Copy number variation</a:t>
            </a:r>
            <a:r>
              <a:rPr lang="he-IL" dirty="0"/>
              <a:t>? מדובר במספר עותקים שונה מהרגיל של גן מסוים, בין אם זה מחיקה של גן או אמפליפיקציה של גן. בהתאמה, אם יש לנו הרבה עותקים מגן מסוים, יהיה לנו יותר רנ״א וסביר להניח שיהיה לנו יותר חלבון. אותו דבר אם יש לנו החסרה של עותק, ככל הנראה יהיה לנו פחות חלבון. זה בעייתי אם פתאום יש לנו החסרה של גן </a:t>
            </a:r>
            <a:r>
              <a:rPr lang="he-IL" dirty="0" err="1"/>
              <a:t>טומר</a:t>
            </a:r>
            <a:r>
              <a:rPr lang="he-IL" dirty="0"/>
              <a:t> </a:t>
            </a:r>
            <a:r>
              <a:rPr lang="he-IL" dirty="0" err="1"/>
              <a:t>סופרסור</a:t>
            </a:r>
            <a:r>
              <a:rPr lang="he-IL" dirty="0"/>
              <a:t>, שאחראי למשל על בקרת חלוקת התא. אם יש לנו החסרה של עותקים ממנו, אנחנו עלולים לקבל חלוקה בלתי נשלטת של התא.</a:t>
            </a:r>
            <a:endParaRPr lang="en-US" dirty="0"/>
          </a:p>
          <a:p>
            <a:pPr marL="0" algn="r" defTabSz="914400" rtl="1" eaLnBrk="1" latinLnBrk="0" hangingPunct="1"/>
            <a:endParaRPr lang="en-US" dirty="0"/>
          </a:p>
          <a:p>
            <a:pPr marL="0" algn="r" defTabSz="914400" rtl="1" eaLnBrk="1" latinLnBrk="0" hangingPunct="1"/>
            <a:r>
              <a:rPr lang="he-IL" dirty="0"/>
              <a:t>אני אשתמש במדד שנקרא </a:t>
            </a:r>
            <a:r>
              <a:rPr lang="en-US" dirty="0"/>
              <a:t>FGA</a:t>
            </a:r>
            <a:r>
              <a:rPr lang="he-IL" dirty="0"/>
              <a:t>.</a:t>
            </a:r>
            <a:endParaRPr lang="en-US" dirty="0"/>
          </a:p>
          <a:p>
            <a:pPr marL="0" marR="0" lvl="0" indent="0" algn="r" defTabSz="914400" rtl="1"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FGA = (number of base pairs with copy number gain or loss) / (total base pairs profiled)</a:t>
            </a:r>
          </a:p>
          <a:p>
            <a:pPr algn="r" rtl="1"/>
            <a:r>
              <a:rPr lang="en-US" dirty="0"/>
              <a:t>FGA</a:t>
            </a:r>
            <a:r>
              <a:rPr lang="he-IL" dirty="0"/>
              <a:t> בודק מה הגודל של ה-</a:t>
            </a:r>
            <a:r>
              <a:rPr lang="en-US" dirty="0"/>
              <a:t>fraction</a:t>
            </a:r>
            <a:r>
              <a:rPr lang="he-IL" dirty="0"/>
              <a:t> מהגנום שיש לו </a:t>
            </a:r>
            <a:r>
              <a:rPr lang="en-US" dirty="0"/>
              <a:t>CNV</a:t>
            </a:r>
            <a:r>
              <a:rPr lang="he-IL" dirty="0"/>
              <a:t>.</a:t>
            </a:r>
          </a:p>
          <a:p>
            <a:pPr algn="r" rtl="1"/>
            <a:r>
              <a:rPr lang="en-US" dirty="0"/>
              <a:t>CNV</a:t>
            </a:r>
            <a:r>
              <a:rPr lang="he-IL" dirty="0"/>
              <a:t> מתייחס למקרה ספציפי, </a:t>
            </a:r>
            <a:r>
              <a:rPr lang="en-US" dirty="0"/>
              <a:t>FGA</a:t>
            </a:r>
            <a:r>
              <a:rPr lang="he-IL" dirty="0"/>
              <a:t> הוא </a:t>
            </a:r>
            <a:r>
              <a:rPr lang="he-IL" dirty="0" err="1"/>
              <a:t>סקאלאר</a:t>
            </a:r>
            <a:r>
              <a:rPr lang="he-IL" dirty="0"/>
              <a:t> אחד שמתאר את ה-</a:t>
            </a:r>
            <a:r>
              <a:rPr lang="en-US" dirty="0"/>
              <a:t>burden</a:t>
            </a:r>
            <a:r>
              <a:rPr lang="he-IL" dirty="0"/>
              <a:t> של כל האירועים האלו.</a:t>
            </a:r>
          </a:p>
          <a:p>
            <a:pPr marL="0" marR="0" lvl="0" indent="0" algn="r" defTabSz="914400" rtl="1"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algn="r" defTabSz="914400" rtl="1" eaLnBrk="1" latinLnBrk="0" hangingPunct="1"/>
            <a:endParaRPr lang="he-IL" dirty="0"/>
          </a:p>
        </p:txBody>
      </p:sp>
      <p:sp>
        <p:nvSpPr>
          <p:cNvPr id="4" name="Slide Number Placeholder 3">
            <a:extLst>
              <a:ext uri="{FF2B5EF4-FFF2-40B4-BE49-F238E27FC236}">
                <a16:creationId xmlns:a16="http://schemas.microsoft.com/office/drawing/2014/main" id="{2EAAB3B9-BBFC-BA2A-C686-BE5145D6DC03}"/>
              </a:ext>
            </a:extLst>
          </p:cNvPr>
          <p:cNvSpPr>
            <a:spLocks noGrp="1"/>
          </p:cNvSpPr>
          <p:nvPr>
            <p:ph type="sldNum" sz="quarter" idx="5"/>
          </p:nvPr>
        </p:nvSpPr>
        <p:spPr/>
        <p:txBody>
          <a:bodyPr/>
          <a:lstStyle/>
          <a:p>
            <a:fld id="{7242DB82-1DC1-9846-88D7-11B539157949}" type="slidenum">
              <a:rPr lang="en-IL" smtClean="0"/>
              <a:t>3</a:t>
            </a:fld>
            <a:endParaRPr lang="en-IL"/>
          </a:p>
        </p:txBody>
      </p:sp>
    </p:spTree>
    <p:extLst>
      <p:ext uri="{BB962C8B-B14F-4D97-AF65-F5344CB8AC3E}">
        <p14:creationId xmlns:p14="http://schemas.microsoft.com/office/powerpoint/2010/main" val="7816995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1DA42-1EEB-4506-B293-FE2AAFBC1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63708-603B-C5AD-3075-351E8BDEEA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9B3DFA-AA74-B6FE-F70D-511559573298}"/>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כדי למדוד </a:t>
            </a:r>
            <a:r>
              <a:rPr lang="en-US" dirty="0"/>
              <a:t>CNA</a:t>
            </a:r>
            <a:r>
              <a:rPr lang="he-IL" dirty="0"/>
              <a:t>, נעזרתי במאמר של </a:t>
            </a:r>
            <a:r>
              <a:rPr lang="en-US" dirty="0" err="1"/>
              <a:t>Giancomelli</a:t>
            </a:r>
            <a:r>
              <a:rPr lang="en-US" dirty="0"/>
              <a:t> et al</a:t>
            </a:r>
            <a:r>
              <a:rPr lang="he-IL" dirty="0"/>
              <a:t> שפורסם </a:t>
            </a:r>
            <a:r>
              <a:rPr lang="he-IL" dirty="0" err="1"/>
              <a:t>בנייצ׳ר</a:t>
            </a:r>
            <a:r>
              <a:rPr lang="he-IL" dirty="0"/>
              <a:t> לפני כמה שנים. הם יצרו שם ספרייה ענקית שכוללת כמעט את כל המוטציות האפשריות ב-</a:t>
            </a:r>
            <a:r>
              <a:rPr lang="en-US" dirty="0"/>
              <a:t>TP53</a:t>
            </a:r>
            <a:r>
              <a:rPr lang="he-IL" dirty="0"/>
              <a:t>, סה״כ </a:t>
            </a:r>
            <a:r>
              <a:rPr lang="en-US" dirty="0"/>
              <a:t>8,258</a:t>
            </a:r>
            <a:r>
              <a:rPr lang="he-IL" dirty="0"/>
              <a:t> וריאנטים. כל מוטציה הוכנסה לתאי סרטן ריאה אנושיים וסומנה בברקוד כדי לעקוב אחרי בריצוף ובדקו מה ההשפעה על התא מבחינת קצב הגידול של תאים סרטניים.</a:t>
            </a:r>
            <a:endParaRPr lang="en-US" dirty="0"/>
          </a:p>
        </p:txBody>
      </p:sp>
      <p:sp>
        <p:nvSpPr>
          <p:cNvPr id="4" name="Slide Number Placeholder 3">
            <a:extLst>
              <a:ext uri="{FF2B5EF4-FFF2-40B4-BE49-F238E27FC236}">
                <a16:creationId xmlns:a16="http://schemas.microsoft.com/office/drawing/2014/main" id="{2F97F769-C1AA-8583-0A4A-E95E0B0BB95B}"/>
              </a:ext>
            </a:extLst>
          </p:cNvPr>
          <p:cNvSpPr>
            <a:spLocks noGrp="1"/>
          </p:cNvSpPr>
          <p:nvPr>
            <p:ph type="sldNum" sz="quarter" idx="5"/>
          </p:nvPr>
        </p:nvSpPr>
        <p:spPr/>
        <p:txBody>
          <a:bodyPr/>
          <a:lstStyle/>
          <a:p>
            <a:fld id="{7242DB82-1DC1-9846-88D7-11B539157949}" type="slidenum">
              <a:rPr lang="en-IL" smtClean="0"/>
              <a:t>4</a:t>
            </a:fld>
            <a:endParaRPr lang="en-IL"/>
          </a:p>
        </p:txBody>
      </p:sp>
    </p:spTree>
    <p:extLst>
      <p:ext uri="{BB962C8B-B14F-4D97-AF65-F5344CB8AC3E}">
        <p14:creationId xmlns:p14="http://schemas.microsoft.com/office/powerpoint/2010/main" val="7921066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1B1C-55E6-A11B-E36B-3157AA225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6B2018-8DFA-B1A5-F386-B01D8AB15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35F96B-8633-4823-4F20-5263FEC789B5}"/>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1200" b="0" i="0" kern="1200" dirty="0">
                <a:solidFill>
                  <a:schemeClr val="tx1"/>
                </a:solidFill>
                <a:effectLst/>
                <a:latin typeface="+mn-lt"/>
                <a:ea typeface="+mn-ea"/>
                <a:cs typeface="+mn-cs"/>
              </a:rPr>
              <a:t>בשלב השני הם רצו למדוד את שכיחות האלל הספציפי שהם בודקים. אחרי 12 ימים הם ריצפו את התאים ששרדו כדי לראות אילו וריאנטים נשארו בחיים. לכל אלל חישבו </a:t>
            </a:r>
            <a:r>
              <a:rPr lang="en-US" sz="1200" b="0" i="0" kern="1200" dirty="0">
                <a:solidFill>
                  <a:schemeClr val="tx1"/>
                </a:solidFill>
                <a:effectLst/>
                <a:latin typeface="+mn-lt"/>
                <a:ea typeface="+mn-ea"/>
                <a:cs typeface="+mn-cs"/>
              </a:rPr>
              <a:t>log2FoldChange</a:t>
            </a:r>
            <a:r>
              <a:rPr lang="he-IL" sz="1200" b="0" i="0" kern="1200" dirty="0">
                <a:solidFill>
                  <a:schemeClr val="tx1"/>
                </a:solidFill>
                <a:effectLst/>
                <a:latin typeface="+mn-lt"/>
                <a:ea typeface="+mn-ea"/>
                <a:cs typeface="+mn-cs"/>
              </a:rPr>
              <a:t> ביחס לנקודת הזמן הבסיסית, ז״א האם האלל התעשר או הידלל תחת הלחץ.</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909B97A1-414D-6222-D42A-1B1E4498AD3E}"/>
              </a:ext>
            </a:extLst>
          </p:cNvPr>
          <p:cNvSpPr>
            <a:spLocks noGrp="1"/>
          </p:cNvSpPr>
          <p:nvPr>
            <p:ph type="sldNum" sz="quarter" idx="5"/>
          </p:nvPr>
        </p:nvSpPr>
        <p:spPr/>
        <p:txBody>
          <a:bodyPr/>
          <a:lstStyle/>
          <a:p>
            <a:fld id="{7242DB82-1DC1-9846-88D7-11B539157949}" type="slidenum">
              <a:rPr lang="en-IL" smtClean="0"/>
              <a:t>5</a:t>
            </a:fld>
            <a:endParaRPr lang="en-IL"/>
          </a:p>
        </p:txBody>
      </p:sp>
    </p:spTree>
    <p:extLst>
      <p:ext uri="{BB962C8B-B14F-4D97-AF65-F5344CB8AC3E}">
        <p14:creationId xmlns:p14="http://schemas.microsoft.com/office/powerpoint/2010/main" val="14315123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214BB-CEE1-A2B5-D70C-B793620C4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373BF7-DC50-71DC-7C1D-7B6D98E2E8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752FC-FD98-813F-4A81-48D876566D54}"/>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בשלב השלישי הם נתנו ציון לכל אחד </a:t>
            </a:r>
            <a:r>
              <a:rPr lang="he-IL" dirty="0" err="1"/>
              <a:t>מהוריאנטים</a:t>
            </a:r>
            <a:r>
              <a:rPr lang="he-IL" dirty="0"/>
              <a:t>: 1) אם וריאנט מתנהג כמו </a:t>
            </a:r>
            <a:r>
              <a:rPr lang="en-US" dirty="0"/>
              <a:t>p53</a:t>
            </a:r>
            <a:r>
              <a:rPr lang="he-IL" dirty="0"/>
              <a:t>, 2) כאילו הוא לא נמצא, 3) או משהו באמצע. מהשילוב של שלושת המדידות האלה קיבלנו מספר יחיד, שזה ה-</a:t>
            </a:r>
            <a:r>
              <a:rPr lang="en-US" dirty="0"/>
              <a:t>Experimental Functional Score</a:t>
            </a:r>
            <a:r>
              <a:rPr lang="he-IL" dirty="0"/>
              <a:t> שהשתמשתי בו, שאומר לנו כמה וריאנט של </a:t>
            </a:r>
            <a:r>
              <a:rPr lang="en-US" dirty="0"/>
              <a:t>p53</a:t>
            </a:r>
            <a:r>
              <a:rPr lang="he-IL" dirty="0"/>
              <a:t> הוא פעיל. ציון נמוך משמע אובדן תפקוד, ציון גבוה = התנהגות דומה ל-</a:t>
            </a:r>
            <a:r>
              <a:rPr lang="en-US" dirty="0"/>
              <a:t>p53</a:t>
            </a:r>
            <a:r>
              <a:rPr lang="he-IL" dirty="0"/>
              <a:t> תקין.</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הערכים הם </a:t>
            </a:r>
            <a:r>
              <a:rPr lang="en-US" dirty="0"/>
              <a:t>z-score</a:t>
            </a:r>
            <a:r>
              <a:rPr lang="he-IL" dirty="0"/>
              <a:t>, אז הם יכולים להיות שליליים או חיוביים. אם הערך שלילי מאוד, המוטציה שוברת את </a:t>
            </a:r>
            <a:r>
              <a:rPr lang="en-US" dirty="0"/>
              <a:t>p53</a:t>
            </a:r>
            <a:r>
              <a:rPr lang="he-IL" dirty="0"/>
              <a:t>, אם הוא קרוב ל-0, המוטציה משפיעה הרבה ואם הציון הוא חיובי, הוא דומה ל-</a:t>
            </a:r>
            <a:r>
              <a:rPr lang="en-US" dirty="0"/>
              <a:t>WT</a:t>
            </a:r>
            <a:r>
              <a:rPr lang="he-IL" dirty="0"/>
              <a:t>.</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CF5D42A6-066D-3FDD-F7D4-329AD0121613}"/>
              </a:ext>
            </a:extLst>
          </p:cNvPr>
          <p:cNvSpPr>
            <a:spLocks noGrp="1"/>
          </p:cNvSpPr>
          <p:nvPr>
            <p:ph type="sldNum" sz="quarter" idx="5"/>
          </p:nvPr>
        </p:nvSpPr>
        <p:spPr/>
        <p:txBody>
          <a:bodyPr/>
          <a:lstStyle/>
          <a:p>
            <a:fld id="{7242DB82-1DC1-9846-88D7-11B539157949}" type="slidenum">
              <a:rPr lang="en-IL" smtClean="0"/>
              <a:t>6</a:t>
            </a:fld>
            <a:endParaRPr lang="en-IL"/>
          </a:p>
        </p:txBody>
      </p:sp>
    </p:spTree>
    <p:extLst>
      <p:ext uri="{BB962C8B-B14F-4D97-AF65-F5344CB8AC3E}">
        <p14:creationId xmlns:p14="http://schemas.microsoft.com/office/powerpoint/2010/main" val="28957471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b="0" dirty="0"/>
              <a:t>ההיפותזה שאני הולכת לעבוד איתה היא שלחולים עם מוטציות tp53 שיש להם ציון </a:t>
            </a:r>
            <a:r>
              <a:rPr lang="he-IL" b="0" dirty="0" err="1"/>
              <a:t>פיטנס</a:t>
            </a:r>
            <a:r>
              <a:rPr lang="he-IL" b="0" dirty="0"/>
              <a:t> נמוך</a:t>
            </a:r>
            <a:r>
              <a:rPr lang="en-US" b="0" dirty="0"/>
              <a:t> </a:t>
            </a:r>
            <a:r>
              <a:rPr lang="he-IL" b="0" dirty="0"/>
              <a:t>(</a:t>
            </a:r>
            <a:r>
              <a:rPr lang="en-US" b="0" dirty="0"/>
              <a:t>EFS</a:t>
            </a:r>
            <a:r>
              <a:rPr lang="he-IL" b="0" dirty="0"/>
              <a:t>), יהיה אחוז גבוה יותר של כאוס </a:t>
            </a:r>
            <a:r>
              <a:rPr lang="he-IL" b="0" dirty="0" err="1"/>
              <a:t>גנומי</a:t>
            </a:r>
            <a:r>
              <a:rPr lang="he-IL" b="0" dirty="0"/>
              <a:t> (</a:t>
            </a:r>
            <a:r>
              <a:rPr lang="en-US" b="0" dirty="0"/>
              <a:t>FGA</a:t>
            </a:r>
            <a:r>
              <a:rPr lang="he-IL" b="0" dirty="0"/>
              <a:t>).</a:t>
            </a:r>
          </a:p>
          <a:p>
            <a:pPr lvl="1"/>
            <a:r>
              <a:rPr lang="en-US" sz="1200" b="1" i="0" kern="1200" dirty="0">
                <a:solidFill>
                  <a:schemeClr val="tx1"/>
                </a:solidFill>
                <a:effectLst/>
                <a:latin typeface="+mn-lt"/>
                <a:ea typeface="+mn-ea"/>
                <a:cs typeface="+mn-cs"/>
              </a:rPr>
              <a:t>more negative = more LOF = hypothesis predicts more FGA</a:t>
            </a:r>
            <a:endParaRPr lang="he-IL" b="0" dirty="0"/>
          </a:p>
        </p:txBody>
      </p:sp>
      <p:sp>
        <p:nvSpPr>
          <p:cNvPr id="4" name="Slide Number Placeholder 3"/>
          <p:cNvSpPr>
            <a:spLocks noGrp="1"/>
          </p:cNvSpPr>
          <p:nvPr>
            <p:ph type="sldNum" sz="quarter" idx="5"/>
          </p:nvPr>
        </p:nvSpPr>
        <p:spPr/>
        <p:txBody>
          <a:bodyPr/>
          <a:lstStyle/>
          <a:p>
            <a:fld id="{7242DB82-1DC1-9846-88D7-11B539157949}" type="slidenum">
              <a:rPr lang="en-IL" smtClean="0"/>
              <a:t>7</a:t>
            </a:fld>
            <a:endParaRPr lang="en-IL"/>
          </a:p>
        </p:txBody>
      </p:sp>
    </p:spTree>
    <p:extLst>
      <p:ext uri="{BB962C8B-B14F-4D97-AF65-F5344CB8AC3E}">
        <p14:creationId xmlns:p14="http://schemas.microsoft.com/office/powerpoint/2010/main" val="20650812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sz="1200" b="0" i="0" kern="1200" dirty="0">
                <a:solidFill>
                  <a:schemeClr val="tx1"/>
                </a:solidFill>
                <a:effectLst/>
                <a:latin typeface="+mn-lt"/>
                <a:ea typeface="+mn-ea"/>
                <a:cs typeface="+mn-cs"/>
              </a:rPr>
              <a:t>אני רוצה לבדוק 3 דברים: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קודם כל לבדוק את ההיפותזה שלי: האם יש קורלציה בין ה-</a:t>
            </a:r>
            <a:r>
              <a:rPr lang="en-US" sz="1200" b="0" i="0" kern="1200" dirty="0">
                <a:solidFill>
                  <a:schemeClr val="tx1"/>
                </a:solidFill>
                <a:effectLst/>
                <a:latin typeface="+mn-lt"/>
                <a:ea typeface="+mn-ea"/>
                <a:cs typeface="+mn-cs"/>
              </a:rPr>
              <a:t>functional score</a:t>
            </a:r>
            <a:r>
              <a:rPr lang="he-IL" sz="1200" b="0" i="0" kern="1200" dirty="0">
                <a:solidFill>
                  <a:schemeClr val="tx1"/>
                </a:solidFill>
                <a:effectLst/>
                <a:latin typeface="+mn-lt"/>
                <a:ea typeface="+mn-ea"/>
                <a:cs typeface="+mn-cs"/>
              </a:rPr>
              <a:t> של מוטציה כלשהי ב-</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ל-</a:t>
            </a:r>
            <a:r>
              <a:rPr lang="en-US" sz="1200" b="0" i="0" kern="1200" dirty="0">
                <a:solidFill>
                  <a:schemeClr val="tx1"/>
                </a:solidFill>
                <a:effectLst/>
                <a:latin typeface="+mn-lt"/>
                <a:ea typeface="+mn-ea"/>
                <a:cs typeface="+mn-cs"/>
              </a:rPr>
              <a:t>FGA</a:t>
            </a:r>
            <a:r>
              <a:rPr lang="he-IL" sz="1200" b="0" i="0" kern="1200" dirty="0">
                <a:solidFill>
                  <a:schemeClr val="tx1"/>
                </a:solidFill>
                <a:effectLst/>
                <a:latin typeface="+mn-lt"/>
                <a:ea typeface="+mn-ea"/>
                <a:cs typeface="+mn-cs"/>
              </a:rPr>
              <a:t> גבוה יותר אצל החולים?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אחרי זה להרחיב את האנליזה עוד קצת: האם יש מוטציות באזורים שהם </a:t>
            </a:r>
            <a:r>
              <a:rPr lang="he-IL" sz="1200" b="0" i="0" kern="1200" dirty="0" err="1">
                <a:solidFill>
                  <a:schemeClr val="tx1"/>
                </a:solidFill>
                <a:effectLst/>
                <a:latin typeface="+mn-lt"/>
                <a:ea typeface="+mn-ea"/>
                <a:cs typeface="+mn-cs"/>
              </a:rPr>
              <a:t>הוטספוט</a:t>
            </a:r>
            <a:r>
              <a:rPr lang="he-IL" sz="1200" b="0" i="0" kern="1200" dirty="0">
                <a:solidFill>
                  <a:schemeClr val="tx1"/>
                </a:solidFill>
                <a:effectLst/>
                <a:latin typeface="+mn-lt"/>
                <a:ea typeface="+mn-ea"/>
                <a:cs typeface="+mn-cs"/>
              </a:rPr>
              <a:t> שגורמים ליותר כאוס </a:t>
            </a:r>
            <a:r>
              <a:rPr lang="he-IL" sz="1200" b="0" i="0" kern="1200" dirty="0" err="1">
                <a:solidFill>
                  <a:schemeClr val="tx1"/>
                </a:solidFill>
                <a:effectLst/>
                <a:latin typeface="+mn-lt"/>
                <a:ea typeface="+mn-ea"/>
                <a:cs typeface="+mn-cs"/>
              </a:rPr>
              <a:t>גנומי</a:t>
            </a:r>
            <a:r>
              <a:rPr lang="he-IL" sz="1200" b="0" i="0" kern="1200" dirty="0">
                <a:solidFill>
                  <a:schemeClr val="tx1"/>
                </a:solidFill>
                <a:effectLst/>
                <a:latin typeface="+mn-lt"/>
                <a:ea typeface="+mn-ea"/>
                <a:cs typeface="+mn-cs"/>
              </a:rPr>
              <a:t>?</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מדובר בכל סוגי הסרטן או שאמצא את הקורלציה רק בסוגי סרטן ספציפיים?</a:t>
            </a:r>
            <a:endParaRPr lang="he-IL" dirty="0"/>
          </a:p>
          <a:p>
            <a:pPr marL="0" algn="r" defTabSz="914400" rtl="1" eaLnBrk="1" latinLnBrk="0" hangingPunct="1"/>
            <a:endParaRPr lang="he-IL" dirty="0"/>
          </a:p>
        </p:txBody>
      </p:sp>
      <p:sp>
        <p:nvSpPr>
          <p:cNvPr id="4" name="Slide Number Placeholder 3"/>
          <p:cNvSpPr>
            <a:spLocks noGrp="1"/>
          </p:cNvSpPr>
          <p:nvPr>
            <p:ph type="sldNum" sz="quarter" idx="5"/>
          </p:nvPr>
        </p:nvSpPr>
        <p:spPr/>
        <p:txBody>
          <a:bodyPr/>
          <a:lstStyle/>
          <a:p>
            <a:fld id="{7242DB82-1DC1-9846-88D7-11B539157949}" type="slidenum">
              <a:rPr lang="en-IL" smtClean="0"/>
              <a:t>8</a:t>
            </a:fld>
            <a:endParaRPr lang="en-IL"/>
          </a:p>
        </p:txBody>
      </p:sp>
    </p:spTree>
    <p:extLst>
      <p:ext uri="{BB962C8B-B14F-4D97-AF65-F5344CB8AC3E}">
        <p14:creationId xmlns:p14="http://schemas.microsoft.com/office/powerpoint/2010/main" val="21951883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FD762-9745-8AB7-5946-5E3E3A7EF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A760D4-4D2F-D147-3570-C8A78EFED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B9091D-4536-722D-9602-CC5976BEC451}"/>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יש מתוך 271 אלף </a:t>
            </a:r>
            <a:r>
              <a:rPr lang="he-IL" dirty="0" err="1"/>
              <a:t>סאמפלים</a:t>
            </a:r>
            <a:r>
              <a:rPr lang="he-IL" dirty="0"/>
              <a:t>, בערך 100 אלף עם פרמטר בשם </a:t>
            </a:r>
            <a:r>
              <a:rPr lang="en-US" dirty="0"/>
              <a:t>Fraction Genome Altered</a:t>
            </a:r>
            <a:r>
              <a:rPr lang="he-IL" dirty="0"/>
              <a:t>, שהוא בעצם פרמטר שמתאר את כל ה-</a:t>
            </a:r>
            <a:r>
              <a:rPr lang="en-US" dirty="0"/>
              <a:t>CNA</a:t>
            </a:r>
            <a:r>
              <a:rPr lang="he-IL" dirty="0"/>
              <a:t> רק לכל הגנום.</a:t>
            </a:r>
          </a:p>
          <a:p>
            <a:pPr algn="r" rtl="1"/>
            <a:r>
              <a:rPr lang="he-IL" dirty="0"/>
              <a:t>אז </a:t>
            </a:r>
            <a:r>
              <a:rPr lang="en-US" dirty="0"/>
              <a:t>FGA</a:t>
            </a:r>
            <a:r>
              <a:rPr lang="he-IL" dirty="0"/>
              <a:t> בודק בכמה מהגנום יש לנו </a:t>
            </a:r>
            <a:r>
              <a:rPr lang="en-US" dirty="0"/>
              <a:t>CNA</a:t>
            </a:r>
            <a:r>
              <a:rPr lang="he-IL" dirty="0"/>
              <a:t>.</a:t>
            </a:r>
          </a:p>
          <a:p>
            <a:pPr algn="r" rtl="1"/>
            <a:r>
              <a:rPr lang="en-US" dirty="0"/>
              <a:t>CNA</a:t>
            </a:r>
            <a:r>
              <a:rPr lang="he-IL" dirty="0"/>
              <a:t> מתייחס למקרה ספציפי, </a:t>
            </a:r>
            <a:r>
              <a:rPr lang="en-US" dirty="0"/>
              <a:t>FGA</a:t>
            </a:r>
            <a:r>
              <a:rPr lang="he-IL" dirty="0"/>
              <a:t> הוא </a:t>
            </a:r>
            <a:r>
              <a:rPr lang="he-IL" dirty="0" err="1"/>
              <a:t>סקאלאר</a:t>
            </a:r>
            <a:r>
              <a:rPr lang="he-IL" dirty="0"/>
              <a:t> אחד שמתאר את ה-</a:t>
            </a:r>
            <a:r>
              <a:rPr lang="en-US" dirty="0"/>
              <a:t>burden</a:t>
            </a:r>
            <a:r>
              <a:rPr lang="he-IL" dirty="0"/>
              <a:t> של כל האירועים האלו.</a:t>
            </a:r>
          </a:p>
        </p:txBody>
      </p:sp>
      <p:sp>
        <p:nvSpPr>
          <p:cNvPr id="4" name="Slide Number Placeholder 3">
            <a:extLst>
              <a:ext uri="{FF2B5EF4-FFF2-40B4-BE49-F238E27FC236}">
                <a16:creationId xmlns:a16="http://schemas.microsoft.com/office/drawing/2014/main" id="{48DFD91B-081F-8A88-ECB1-6277A658140C}"/>
              </a:ext>
            </a:extLst>
          </p:cNvPr>
          <p:cNvSpPr>
            <a:spLocks noGrp="1"/>
          </p:cNvSpPr>
          <p:nvPr>
            <p:ph type="sldNum" sz="quarter" idx="5"/>
          </p:nvPr>
        </p:nvSpPr>
        <p:spPr/>
        <p:txBody>
          <a:bodyPr/>
          <a:lstStyle/>
          <a:p>
            <a:fld id="{7242DB82-1DC1-9846-88D7-11B539157949}" type="slidenum">
              <a:rPr lang="en-IL" smtClean="0"/>
              <a:t>9</a:t>
            </a:fld>
            <a:endParaRPr lang="en-IL"/>
          </a:p>
        </p:txBody>
      </p:sp>
    </p:spTree>
    <p:extLst>
      <p:ext uri="{BB962C8B-B14F-4D97-AF65-F5344CB8AC3E}">
        <p14:creationId xmlns:p14="http://schemas.microsoft.com/office/powerpoint/2010/main" val="40379932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אז לקחתי את </a:t>
            </a:r>
            <a:r>
              <a:rPr lang="he-IL" dirty="0" err="1"/>
              <a:t>הדטא</a:t>
            </a:r>
            <a:r>
              <a:rPr lang="he-IL" dirty="0"/>
              <a:t> של </a:t>
            </a:r>
            <a:r>
              <a:rPr lang="he-IL" dirty="0" err="1"/>
              <a:t>ג׳יני</a:t>
            </a:r>
            <a:r>
              <a:rPr lang="he-IL" dirty="0"/>
              <a:t> עם פרופיל  tp53 לכל אחד </a:t>
            </a:r>
            <a:r>
              <a:rPr lang="he-IL" dirty="0" err="1"/>
              <a:t>מהסאמפלים</a:t>
            </a:r>
            <a:r>
              <a:rPr lang="he-IL" dirty="0"/>
              <a:t> והפכתי אותם לבינאריים (מוטנט או לא) כדי לענות על השאלה הראשונה שלי.</a:t>
            </a:r>
          </a:p>
          <a:p>
            <a:pPr marL="0" algn="r" defTabSz="914400" rtl="1" eaLnBrk="1" latinLnBrk="0" hangingPunct="1"/>
            <a:endParaRPr lang="he-IL" dirty="0"/>
          </a:p>
          <a:p>
            <a:pPr marL="0" algn="r" defTabSz="914400" rtl="1" eaLnBrk="1" latinLnBrk="0" hangingPunct="1"/>
            <a:r>
              <a:rPr lang="he-IL" dirty="0" err="1"/>
              <a:t>בדטא</a:t>
            </a:r>
            <a:r>
              <a:rPr lang="he-IL" dirty="0"/>
              <a:t> של </a:t>
            </a:r>
            <a:r>
              <a:rPr lang="he-IL" dirty="0" err="1"/>
              <a:t>ג׳יני</a:t>
            </a:r>
            <a:r>
              <a:rPr lang="he-IL" dirty="0"/>
              <a:t> (</a:t>
            </a:r>
            <a:r>
              <a:rPr lang="en-US" dirty="0" err="1"/>
              <a:t>cna.txt</a:t>
            </a:r>
            <a:r>
              <a:rPr lang="he-IL" dirty="0"/>
              <a:t>): 0 אומר </a:t>
            </a:r>
            <a:r>
              <a:rPr lang="en-US" dirty="0"/>
              <a:t>WT</a:t>
            </a:r>
            <a:r>
              <a:rPr lang="he-IL" dirty="0"/>
              <a:t>, ז״א אין </a:t>
            </a:r>
            <a:r>
              <a:rPr lang="en-US" dirty="0"/>
              <a:t>copy number change</a:t>
            </a:r>
            <a:r>
              <a:rPr lang="he-IL" dirty="0"/>
              <a:t>, </a:t>
            </a:r>
            <a:r>
              <a:rPr lang="en-US" dirty="0"/>
              <a:t>-1</a:t>
            </a:r>
            <a:r>
              <a:rPr lang="he-IL" dirty="0"/>
              <a:t> זה </a:t>
            </a:r>
            <a:r>
              <a:rPr lang="en-US" dirty="0"/>
              <a:t>shallow deletion</a:t>
            </a:r>
            <a:r>
              <a:rPr lang="he-IL" dirty="0"/>
              <a:t>, </a:t>
            </a:r>
            <a:r>
              <a:rPr lang="en-US" dirty="0"/>
              <a:t>-2</a:t>
            </a:r>
            <a:r>
              <a:rPr lang="he-IL" dirty="0"/>
              <a:t> זה </a:t>
            </a:r>
            <a:r>
              <a:rPr lang="en-US" dirty="0"/>
              <a:t>deep deletion</a:t>
            </a:r>
            <a:r>
              <a:rPr lang="he-IL" dirty="0"/>
              <a:t>, 1 זה </a:t>
            </a:r>
            <a:r>
              <a:rPr lang="en-US" dirty="0"/>
              <a:t>low amplification</a:t>
            </a:r>
            <a:r>
              <a:rPr lang="he-IL" dirty="0"/>
              <a:t>, 2 זה </a:t>
            </a:r>
            <a:r>
              <a:rPr lang="en-US" dirty="0"/>
              <a:t>high amplification</a:t>
            </a:r>
            <a:r>
              <a:rPr lang="he-IL" dirty="0"/>
              <a:t>. </a:t>
            </a:r>
            <a:r>
              <a:rPr lang="en-US" dirty="0"/>
              <a:t>NP</a:t>
            </a:r>
            <a:r>
              <a:rPr lang="he-IL" dirty="0"/>
              <a:t> אומר שזה </a:t>
            </a:r>
            <a:r>
              <a:rPr lang="en-US" dirty="0"/>
              <a:t>not profiled</a:t>
            </a:r>
            <a:r>
              <a:rPr lang="he-IL" dirty="0"/>
              <a:t>. אז כאן, כל מה שהוא 0 הוא </a:t>
            </a:r>
            <a:r>
              <a:rPr lang="en-US" dirty="0"/>
              <a:t>WT</a:t>
            </a:r>
            <a:r>
              <a:rPr lang="he-IL" dirty="0"/>
              <a:t>. את זה בדקתי מול </a:t>
            </a:r>
            <a:r>
              <a:rPr lang="en-US" dirty="0" err="1"/>
              <a:t>mutantions.txt</a:t>
            </a:r>
            <a:r>
              <a:rPr lang="he-IL" dirty="0"/>
              <a:t> </a:t>
            </a:r>
            <a:r>
              <a:rPr lang="he-IL" dirty="0" err="1"/>
              <a:t>מג׳יני</a:t>
            </a:r>
            <a:r>
              <a:rPr lang="he-IL" dirty="0"/>
              <a:t>, ששם הם מציינים לכל </a:t>
            </a:r>
            <a:r>
              <a:rPr lang="he-IL" dirty="0" err="1"/>
              <a:t>סאמפל</a:t>
            </a:r>
            <a:r>
              <a:rPr lang="he-IL" dirty="0"/>
              <a:t> איזו מוטציה של </a:t>
            </a:r>
            <a:r>
              <a:rPr lang="en-US" dirty="0"/>
              <a:t>TP53</a:t>
            </a:r>
            <a:r>
              <a:rPr lang="he-IL" dirty="0"/>
              <a:t> יש לו. </a:t>
            </a:r>
            <a:r>
              <a:rPr lang="en-US" dirty="0"/>
              <a:t>WT</a:t>
            </a:r>
            <a:r>
              <a:rPr lang="he-IL" dirty="0"/>
              <a:t> אמיתי זה כשאין לנו מוטציה ואין לנו </a:t>
            </a:r>
            <a:r>
              <a:rPr lang="en-US" dirty="0"/>
              <a:t>CNA</a:t>
            </a:r>
            <a:r>
              <a:rPr lang="he-IL" dirty="0"/>
              <a:t>. מוטציה מוגדרת </a:t>
            </a:r>
            <a:r>
              <a:rPr lang="he-IL" dirty="0" err="1"/>
              <a:t>ככזו</a:t>
            </a:r>
            <a:r>
              <a:rPr lang="he-IL" dirty="0"/>
              <a:t> אם מצוין ב-</a:t>
            </a:r>
            <a:r>
              <a:rPr lang="en-US" dirty="0" err="1"/>
              <a:t>mutations.txt</a:t>
            </a:r>
            <a:r>
              <a:rPr lang="he-IL" dirty="0"/>
              <a:t> שיש פה </a:t>
            </a:r>
            <a:r>
              <a:rPr lang="en-US" dirty="0"/>
              <a:t>somatic point mutation</a:t>
            </a:r>
            <a:r>
              <a:rPr lang="he-IL" dirty="0"/>
              <a:t>, לא משנה אם יש לנו </a:t>
            </a:r>
            <a:r>
              <a:rPr lang="en-US" dirty="0"/>
              <a:t>CNA</a:t>
            </a:r>
            <a:r>
              <a:rPr lang="he-IL" dirty="0"/>
              <a:t> עליו או לא. אם יש רק </a:t>
            </a:r>
            <a:r>
              <a:rPr lang="en-US" dirty="0"/>
              <a:t>CNA</a:t>
            </a:r>
            <a:r>
              <a:rPr lang="he-IL" dirty="0"/>
              <a:t>, אז לא החשבתי את זה כמוטציה.</a:t>
            </a:r>
            <a:endParaRPr lang="en-US" dirty="0"/>
          </a:p>
          <a:p>
            <a:pPr marL="0" algn="r" defTabSz="914400" rtl="1" eaLnBrk="1" latinLnBrk="0" hangingPunct="1"/>
            <a:endParaRPr lang="en-US" dirty="0"/>
          </a:p>
          <a:p>
            <a:pPr marL="0" algn="r" defTabSz="914400" rtl="1" eaLnBrk="1" latinLnBrk="0" hangingPunct="1"/>
            <a:r>
              <a:rPr lang="he-IL" dirty="0"/>
              <a:t>את זה השוויתי לפרמטר </a:t>
            </a:r>
            <a:r>
              <a:rPr lang="en-US" dirty="0"/>
              <a:t>Fraction Genome Altered</a:t>
            </a:r>
            <a:r>
              <a:rPr lang="he-IL" dirty="0"/>
              <a:t>. התוצאות מראות בבירור שיש יותר כאוס </a:t>
            </a:r>
            <a:r>
              <a:rPr lang="he-IL" dirty="0" err="1"/>
              <a:t>גנומי</a:t>
            </a:r>
            <a:r>
              <a:rPr lang="he-IL" dirty="0"/>
              <a:t> במוטציות לעומת </a:t>
            </a:r>
            <a:r>
              <a:rPr lang="en-US" dirty="0"/>
              <a:t>WT</a:t>
            </a:r>
            <a:r>
              <a:rPr lang="he-IL" dirty="0"/>
              <a:t>, אבל זה מראה לנו את זה באופן מאוד שטחי וכאמור בינארי, אז רציתי להכניס לכאן עוד פרמטר, את </a:t>
            </a:r>
            <a:r>
              <a:rPr lang="en-US" dirty="0"/>
              <a:t>EFS</a:t>
            </a:r>
            <a:r>
              <a:rPr lang="he-IL" dirty="0"/>
              <a:t> </a:t>
            </a:r>
            <a:r>
              <a:rPr lang="he-IL" dirty="0" err="1"/>
              <a:t>מהדטא</a:t>
            </a:r>
            <a:r>
              <a:rPr lang="he-IL" dirty="0"/>
              <a:t> של </a:t>
            </a:r>
            <a:r>
              <a:rPr lang="he-IL" dirty="0" err="1"/>
              <a:t>ג׳יאנקומלי</a:t>
            </a:r>
            <a:r>
              <a:rPr lang="he-IL" dirty="0"/>
              <a:t> ולבדוק האם יש קשר בין הפרמטר שבדקתי כאן, לבין </a:t>
            </a:r>
            <a:r>
              <a:rPr lang="en-US" dirty="0"/>
              <a:t>FGA</a:t>
            </a:r>
            <a:r>
              <a:rPr lang="he-IL" dirty="0"/>
              <a:t>.</a:t>
            </a:r>
          </a:p>
        </p:txBody>
      </p:sp>
      <p:sp>
        <p:nvSpPr>
          <p:cNvPr id="4" name="Slide Number Placeholder 3"/>
          <p:cNvSpPr>
            <a:spLocks noGrp="1"/>
          </p:cNvSpPr>
          <p:nvPr>
            <p:ph type="sldNum" sz="quarter" idx="5"/>
          </p:nvPr>
        </p:nvSpPr>
        <p:spPr/>
        <p:txBody>
          <a:bodyPr/>
          <a:lstStyle/>
          <a:p>
            <a:fld id="{7242DB82-1DC1-9846-88D7-11B539157949}" type="slidenum">
              <a:rPr lang="en-IL" smtClean="0"/>
              <a:t>10</a:t>
            </a:fld>
            <a:endParaRPr lang="en-IL"/>
          </a:p>
        </p:txBody>
      </p:sp>
    </p:spTree>
    <p:extLst>
      <p:ext uri="{BB962C8B-B14F-4D97-AF65-F5344CB8AC3E}">
        <p14:creationId xmlns:p14="http://schemas.microsoft.com/office/powerpoint/2010/main" val="17679520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BDBF2-8F57-269F-5EBC-724AA9A9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F9C7A-1769-DF3F-3541-0BFB5B17C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607F63-426D-49ED-465A-ABEEE8D0AF80}"/>
              </a:ext>
            </a:extLst>
          </p:cNvPr>
          <p:cNvSpPr>
            <a:spLocks noGrp="1"/>
          </p:cNvSpPr>
          <p:nvPr>
            <p:ph type="body" idx="1"/>
          </p:nvPr>
        </p:nvSpPr>
        <p:spPr/>
        <p:txBody>
          <a:bodyPr/>
          <a:lstStyle/>
          <a:p>
            <a:pPr marL="0" algn="r" defTabSz="914400" rtl="1" eaLnBrk="1" latinLnBrk="0" hangingPunct="1"/>
            <a:r>
              <a:rPr lang="he-IL" dirty="0"/>
              <a:t>אז ראיתי </a:t>
            </a:r>
            <a:r>
              <a:rPr lang="he-IL" dirty="0" err="1"/>
              <a:t>שסאמפלים</a:t>
            </a:r>
            <a:r>
              <a:rPr lang="he-IL" dirty="0"/>
              <a:t> עם מוטציות ב-</a:t>
            </a:r>
            <a:r>
              <a:rPr lang="en-US" dirty="0"/>
              <a:t>TP53</a:t>
            </a:r>
            <a:r>
              <a:rPr lang="he-IL" dirty="0"/>
              <a:t> יש להן יותר כאוס </a:t>
            </a:r>
            <a:r>
              <a:rPr lang="he-IL" dirty="0" err="1"/>
              <a:t>גנומי</a:t>
            </a:r>
            <a:r>
              <a:rPr lang="he-IL" dirty="0"/>
              <a:t>, אבל האם יש איזושהי קורלציה בין כמה המוטציה פונקציונאלית לבין הכאוס </a:t>
            </a:r>
            <a:r>
              <a:rPr lang="he-IL" dirty="0" err="1"/>
              <a:t>הגנומי</a:t>
            </a:r>
            <a:r>
              <a:rPr lang="he-IL" dirty="0"/>
              <a:t> שמדדנו? ז״א האם ככל שמוטציה פחות פונקציונאלית ככה יש לנו יותר כאוס?</a:t>
            </a:r>
          </a:p>
          <a:p>
            <a:pPr marL="0" algn="r" defTabSz="914400" rtl="1" eaLnBrk="1" latinLnBrk="0" hangingPunct="1"/>
            <a:endParaRPr lang="he-IL" dirty="0"/>
          </a:p>
          <a:p>
            <a:pPr marL="0" algn="r" defTabSz="914400" rtl="1" eaLnBrk="1" latinLnBrk="0" hangingPunct="1"/>
            <a:r>
              <a:rPr lang="he-IL" dirty="0"/>
              <a:t>לקחתי את שם המוטציה (נניח </a:t>
            </a:r>
            <a:r>
              <a:rPr lang="en-US" dirty="0"/>
              <a:t>R175H</a:t>
            </a:r>
            <a:r>
              <a:rPr lang="he-IL" dirty="0"/>
              <a:t>) </a:t>
            </a:r>
            <a:r>
              <a:rPr lang="he-IL" dirty="0" err="1"/>
              <a:t>מג׳יני</a:t>
            </a:r>
            <a:r>
              <a:rPr lang="he-IL" dirty="0"/>
              <a:t> ובדקתי </a:t>
            </a:r>
            <a:r>
              <a:rPr lang="he-IL" dirty="0" err="1"/>
              <a:t>בדטא</a:t>
            </a:r>
            <a:r>
              <a:rPr lang="he-IL" dirty="0"/>
              <a:t> של </a:t>
            </a:r>
            <a:r>
              <a:rPr lang="en-US" dirty="0"/>
              <a:t>Giacomelli</a:t>
            </a:r>
            <a:r>
              <a:rPr lang="he-IL" dirty="0"/>
              <a:t> מה ה-</a:t>
            </a:r>
            <a:r>
              <a:rPr lang="en-US" dirty="0"/>
              <a:t>EFS</a:t>
            </a:r>
            <a:r>
              <a:rPr lang="he-IL" dirty="0"/>
              <a:t> של המוטציה הזו. </a:t>
            </a:r>
          </a:p>
          <a:p>
            <a:pPr marL="0" algn="r" defTabSz="914400" rtl="1" eaLnBrk="1" latinLnBrk="0" hangingPunct="1"/>
            <a:r>
              <a:rPr lang="he-IL" dirty="0"/>
              <a:t>הקורלציה קיימת, אבל האפקט הוא די נמוך. יצא לי </a:t>
            </a:r>
            <a:r>
              <a:rPr lang="he-IL" dirty="0" err="1"/>
              <a:t>סיגניפיקנטי</a:t>
            </a:r>
            <a:r>
              <a:rPr lang="he-IL" dirty="0"/>
              <a:t> ככל הנראה בגלל כמות </a:t>
            </a:r>
            <a:r>
              <a:rPr lang="he-IL" dirty="0" err="1"/>
              <a:t>סאמפלים</a:t>
            </a:r>
            <a:r>
              <a:rPr lang="he-IL" dirty="0"/>
              <a:t> גבוהה, אבל האפקט הביולוגי די נמוך, ז״א כמה </a:t>
            </a:r>
            <a:r>
              <a:rPr lang="en-US" dirty="0"/>
              <a:t>TP53</a:t>
            </a:r>
            <a:r>
              <a:rPr lang="he-IL" dirty="0"/>
              <a:t> לא פונקציונלי לא בהכרח חוזה לנו כמה כאוס </a:t>
            </a:r>
            <a:r>
              <a:rPr lang="he-IL" dirty="0" err="1"/>
              <a:t>גנומי</a:t>
            </a:r>
            <a:r>
              <a:rPr lang="he-IL" dirty="0"/>
              <a:t> יהיה.</a:t>
            </a:r>
          </a:p>
        </p:txBody>
      </p:sp>
      <p:sp>
        <p:nvSpPr>
          <p:cNvPr id="4" name="Slide Number Placeholder 3">
            <a:extLst>
              <a:ext uri="{FF2B5EF4-FFF2-40B4-BE49-F238E27FC236}">
                <a16:creationId xmlns:a16="http://schemas.microsoft.com/office/drawing/2014/main" id="{E6915596-885C-C11B-E033-821B51297EC2}"/>
              </a:ext>
            </a:extLst>
          </p:cNvPr>
          <p:cNvSpPr>
            <a:spLocks noGrp="1"/>
          </p:cNvSpPr>
          <p:nvPr>
            <p:ph type="sldNum" sz="quarter" idx="5"/>
          </p:nvPr>
        </p:nvSpPr>
        <p:spPr/>
        <p:txBody>
          <a:bodyPr/>
          <a:lstStyle/>
          <a:p>
            <a:fld id="{7242DB82-1DC1-9846-88D7-11B539157949}" type="slidenum">
              <a:rPr lang="en-IL" smtClean="0"/>
              <a:t>11</a:t>
            </a:fld>
            <a:endParaRPr lang="en-IL"/>
          </a:p>
        </p:txBody>
      </p:sp>
    </p:spTree>
    <p:extLst>
      <p:ext uri="{BB962C8B-B14F-4D97-AF65-F5344CB8AC3E}">
        <p14:creationId xmlns:p14="http://schemas.microsoft.com/office/powerpoint/2010/main" val="26118536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6F6A6-2150-3230-F9F5-A060C433C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906AC-3C16-C612-E51E-0F9524687F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821A-D7E3-FD3E-A216-3CED12244A73}"/>
              </a:ext>
            </a:extLst>
          </p:cNvPr>
          <p:cNvSpPr>
            <a:spLocks noGrp="1"/>
          </p:cNvSpPr>
          <p:nvPr>
            <p:ph type="body" idx="1"/>
          </p:nvPr>
        </p:nvSpPr>
        <p:spPr/>
        <p:txBody>
          <a:bodyPr/>
          <a:lstStyle/>
          <a:p>
            <a:pPr marL="0" algn="r" defTabSz="914400" rtl="1" eaLnBrk="1" latinLnBrk="0" hangingPunct="1"/>
            <a:r>
              <a:rPr lang="he-IL" dirty="0"/>
              <a:t>כאן רציתי לבדוק האם מוטציות שכיחות גורמות ליותר </a:t>
            </a:r>
            <a:r>
              <a:rPr lang="en-US" dirty="0"/>
              <a:t>FGA</a:t>
            </a:r>
            <a:r>
              <a:rPr lang="he-IL" dirty="0"/>
              <a:t> לעומת מוטציות נדירות. הגרף השמאלי מראה את המוטציות הכי שכיחות ב-</a:t>
            </a:r>
            <a:r>
              <a:rPr lang="en-US" dirty="0"/>
              <a:t>TP53</a:t>
            </a:r>
            <a:r>
              <a:rPr lang="he-IL" dirty="0"/>
              <a:t>, מסודרות עפ״י חציון יורד משמאל לימין. הקו המקווקו הכחול זה החציון של ה-</a:t>
            </a:r>
            <a:r>
              <a:rPr lang="en-US" dirty="0"/>
              <a:t>FGA</a:t>
            </a:r>
            <a:r>
              <a:rPr lang="he-IL" dirty="0"/>
              <a:t> של ה-</a:t>
            </a:r>
            <a:r>
              <a:rPr lang="en-US" dirty="0"/>
              <a:t>WT</a:t>
            </a:r>
            <a:r>
              <a:rPr lang="he-IL" dirty="0"/>
              <a:t>. אפשר לראות די ברור שהחציונים של כל המוטציות הכי שכיחות הן מעל הממוצע של ה-</a:t>
            </a:r>
            <a:r>
              <a:rPr lang="en-US" dirty="0"/>
              <a:t>WT</a:t>
            </a:r>
            <a:r>
              <a:rPr lang="he-IL" dirty="0"/>
              <a:t>, ז״א כולן גורמות לכאוס </a:t>
            </a:r>
            <a:r>
              <a:rPr lang="he-IL" dirty="0" err="1"/>
              <a:t>גנומי</a:t>
            </a:r>
            <a:r>
              <a:rPr lang="he-IL" dirty="0"/>
              <a:t>, אבל המוטציות הנדירות גורמות ליותר כאוס, וגם הן יותר </a:t>
            </a:r>
            <a:r>
              <a:rPr lang="he-IL" dirty="0" err="1"/>
              <a:t>וריאביליות</a:t>
            </a:r>
            <a:r>
              <a:rPr lang="he-IL" dirty="0"/>
              <a:t>. ההבדל גם </a:t>
            </a:r>
            <a:r>
              <a:rPr lang="he-IL" dirty="0" err="1"/>
              <a:t>סיגניפיקנטי</a:t>
            </a:r>
            <a:r>
              <a:rPr lang="he-IL" dirty="0"/>
              <a:t> סטטיסטית. מה שכן, לקחתי את המוטציות הנדירות ביותר עם </a:t>
            </a:r>
            <a:r>
              <a:rPr lang="en-US" dirty="0"/>
              <a:t>n=10</a:t>
            </a:r>
            <a:r>
              <a:rPr lang="he-IL" dirty="0"/>
              <a:t> לעומת השכיחות יותר, עם מאות </a:t>
            </a:r>
            <a:r>
              <a:rPr lang="he-IL" dirty="0" err="1"/>
              <a:t>סאמפלים</a:t>
            </a:r>
            <a:r>
              <a:rPr lang="he-IL" dirty="0"/>
              <a:t> לכל אחד, אז החציון הוא לא בהכרח יציב. אם היו לנו יותר </a:t>
            </a:r>
            <a:r>
              <a:rPr lang="he-IL" dirty="0" err="1"/>
              <a:t>סאמפלים</a:t>
            </a:r>
            <a:r>
              <a:rPr lang="he-IL" dirty="0"/>
              <a:t> אולי התמונה הייתה אחרת.</a:t>
            </a:r>
          </a:p>
        </p:txBody>
      </p:sp>
      <p:sp>
        <p:nvSpPr>
          <p:cNvPr id="4" name="Slide Number Placeholder 3">
            <a:extLst>
              <a:ext uri="{FF2B5EF4-FFF2-40B4-BE49-F238E27FC236}">
                <a16:creationId xmlns:a16="http://schemas.microsoft.com/office/drawing/2014/main" id="{B9F11EC6-092A-A52B-CC72-F949F7CD1765}"/>
              </a:ext>
            </a:extLst>
          </p:cNvPr>
          <p:cNvSpPr>
            <a:spLocks noGrp="1"/>
          </p:cNvSpPr>
          <p:nvPr>
            <p:ph type="sldNum" sz="quarter" idx="5"/>
          </p:nvPr>
        </p:nvSpPr>
        <p:spPr/>
        <p:txBody>
          <a:bodyPr/>
          <a:lstStyle/>
          <a:p>
            <a:fld id="{7242DB82-1DC1-9846-88D7-11B539157949}" type="slidenum">
              <a:rPr lang="en-IL" smtClean="0"/>
              <a:t>12</a:t>
            </a:fld>
            <a:endParaRPr lang="en-IL"/>
          </a:p>
        </p:txBody>
      </p:sp>
    </p:spTree>
    <p:extLst>
      <p:ext uri="{BB962C8B-B14F-4D97-AF65-F5344CB8AC3E}">
        <p14:creationId xmlns:p14="http://schemas.microsoft.com/office/powerpoint/2010/main" val="25145765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C97C8-0AD7-A969-2D58-74FFA090CC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79C487-C3B3-3743-7553-535131712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CD741E-53C0-A2DA-D837-CF9F972924C9}"/>
              </a:ext>
            </a:extLst>
          </p:cNvPr>
          <p:cNvSpPr>
            <a:spLocks noGrp="1"/>
          </p:cNvSpPr>
          <p:nvPr>
            <p:ph type="body" idx="1"/>
          </p:nvPr>
        </p:nvSpPr>
        <p:spPr/>
        <p:txBody>
          <a:bodyPr/>
          <a:lstStyle/>
          <a:p>
            <a:pPr marL="0" algn="r" defTabSz="914400" rtl="1" eaLnBrk="1" latinLnBrk="0" hangingPunct="1"/>
            <a:r>
              <a:rPr lang="he-IL" dirty="0"/>
              <a:t>פה רציתי לענות על השאלה השנייה, ולעשות אנליזה עפ״י מיקום החומצות האמיניות. רציתי לראות האם יש אזורים מסוימים בגנום עם יותר מוטציות או לא.</a:t>
            </a:r>
          </a:p>
          <a:p>
            <a:pPr marL="0" algn="r" defTabSz="914400" rtl="1" eaLnBrk="1" latinLnBrk="0" hangingPunct="1"/>
            <a:r>
              <a:rPr lang="he-IL" dirty="0"/>
              <a:t>בצד שמאל אפשר לראות את האזורים הכי שכיחים נמצאים סביב חומצות אמינו </a:t>
            </a:r>
            <a:r>
              <a:rPr lang="en-US" dirty="0"/>
              <a:t>245</a:t>
            </a:r>
            <a:r>
              <a:rPr lang="he-IL" dirty="0"/>
              <a:t>, </a:t>
            </a:r>
            <a:r>
              <a:rPr lang="en-US" dirty="0"/>
              <a:t>248</a:t>
            </a:r>
            <a:r>
              <a:rPr lang="he-IL" dirty="0"/>
              <a:t>, </a:t>
            </a:r>
            <a:r>
              <a:rPr lang="en-US" dirty="0"/>
              <a:t>273</a:t>
            </a:r>
            <a:r>
              <a:rPr lang="he-IL" dirty="0"/>
              <a:t>, 175. אלו </a:t>
            </a:r>
            <a:r>
              <a:rPr lang="he-IL" dirty="0" err="1"/>
              <a:t>הוטספוט</a:t>
            </a:r>
            <a:r>
              <a:rPr lang="he-IL" dirty="0"/>
              <a:t> קנוניים, כולם נמצאים ב-</a:t>
            </a:r>
            <a:r>
              <a:rPr lang="en-US" dirty="0"/>
              <a:t>DNA binding domains</a:t>
            </a:r>
            <a:r>
              <a:rPr lang="he-IL" dirty="0"/>
              <a:t> (שהוא בעצמו </a:t>
            </a:r>
            <a:r>
              <a:rPr lang="he-IL" dirty="0" err="1"/>
              <a:t>באיזור</a:t>
            </a:r>
            <a:r>
              <a:rPr lang="he-IL" dirty="0"/>
              <a:t> ה-100-290 חומצות אמיניות). כן אפשר להגיד שרוב המוטציות נמצאות באזור הזה, אבל עפ״י הגרף הימני, אי אפשר להגיד שזה אומר שבהכרח שנקבל יותר כאוס </a:t>
            </a:r>
            <a:r>
              <a:rPr lang="he-IL" dirty="0" err="1"/>
              <a:t>גנומי</a:t>
            </a:r>
            <a:r>
              <a:rPr lang="he-IL" dirty="0"/>
              <a:t>. המוטציות ההרסניות ביותר הן גם הנדירות ביותר.</a:t>
            </a:r>
          </a:p>
          <a:p>
            <a:pPr marL="0" algn="r" defTabSz="914400" rtl="1" eaLnBrk="1" latinLnBrk="0" hangingPunct="1"/>
            <a:r>
              <a:rPr lang="he-IL" dirty="0"/>
              <a:t>מה שכן, בגלל שאין הרבה מהמוטציות הנדירות ביותר, אי אפשר להגיד שבהכרח הן הכי הרסניות, כי </a:t>
            </a:r>
            <a:r>
              <a:rPr lang="he-IL" dirty="0" err="1"/>
              <a:t>הסאמפל</a:t>
            </a:r>
            <a:r>
              <a:rPr lang="he-IL" dirty="0"/>
              <a:t> </a:t>
            </a:r>
            <a:r>
              <a:rPr lang="he-IL" dirty="0" err="1"/>
              <a:t>סייז</a:t>
            </a:r>
            <a:r>
              <a:rPr lang="he-IL" dirty="0"/>
              <a:t> נמוך. ז״א היה מעניין לראות האם התוצאות האלה חוזרות על עצמן כשיש לנו את אותם מספר </a:t>
            </a:r>
            <a:r>
              <a:rPr lang="he-IL" dirty="0" err="1"/>
              <a:t>סאמפלים</a:t>
            </a:r>
            <a:r>
              <a:rPr lang="he-IL" dirty="0"/>
              <a:t>.</a:t>
            </a:r>
            <a:endParaRPr lang="en-IL" dirty="0"/>
          </a:p>
        </p:txBody>
      </p:sp>
      <p:sp>
        <p:nvSpPr>
          <p:cNvPr id="4" name="Slide Number Placeholder 3">
            <a:extLst>
              <a:ext uri="{FF2B5EF4-FFF2-40B4-BE49-F238E27FC236}">
                <a16:creationId xmlns:a16="http://schemas.microsoft.com/office/drawing/2014/main" id="{8F9381B7-4819-DE5A-FAA1-23DF5608550E}"/>
              </a:ext>
            </a:extLst>
          </p:cNvPr>
          <p:cNvSpPr>
            <a:spLocks noGrp="1"/>
          </p:cNvSpPr>
          <p:nvPr>
            <p:ph type="sldNum" sz="quarter" idx="5"/>
          </p:nvPr>
        </p:nvSpPr>
        <p:spPr/>
        <p:txBody>
          <a:bodyPr/>
          <a:lstStyle/>
          <a:p>
            <a:fld id="{7242DB82-1DC1-9846-88D7-11B539157949}" type="slidenum">
              <a:rPr lang="en-IL" smtClean="0"/>
              <a:t>13</a:t>
            </a:fld>
            <a:endParaRPr lang="en-IL"/>
          </a:p>
        </p:txBody>
      </p:sp>
    </p:spTree>
    <p:extLst>
      <p:ext uri="{BB962C8B-B14F-4D97-AF65-F5344CB8AC3E}">
        <p14:creationId xmlns:p14="http://schemas.microsoft.com/office/powerpoint/2010/main" val="33285239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500F2-5FDA-D4B4-B1B6-07AFA765CA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F09464-29B0-BC85-B3CE-034CFCF78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0D699-52D9-94E6-08E9-73CCB90009B3}"/>
              </a:ext>
            </a:extLst>
          </p:cNvPr>
          <p:cNvSpPr>
            <a:spLocks noGrp="1"/>
          </p:cNvSpPr>
          <p:nvPr>
            <p:ph type="body" idx="1"/>
          </p:nvPr>
        </p:nvSpPr>
        <p:spPr/>
        <p:txBody>
          <a:bodyPr/>
          <a:lstStyle/>
          <a:p>
            <a:pPr marL="0" algn="r" defTabSz="914400" rtl="1" eaLnBrk="1" latinLnBrk="0" hangingPunct="1"/>
            <a:r>
              <a:rPr lang="he-IL" dirty="0"/>
              <a:t>אחרי זה השאלה האחרונה שרציתי לענות עליה היא האם יש לסוגי סרטן מסוימים נטייה לאפקט חזק יותר של כאוס </a:t>
            </a:r>
            <a:r>
              <a:rPr lang="he-IL" dirty="0" err="1"/>
              <a:t>גנומי</a:t>
            </a:r>
            <a:r>
              <a:rPr lang="he-IL" dirty="0"/>
              <a:t>? בצד שמאל בדקתי מה ה-</a:t>
            </a:r>
            <a:r>
              <a:rPr lang="en-US" dirty="0"/>
              <a:t>Fold Change</a:t>
            </a:r>
            <a:r>
              <a:rPr lang="he-IL" dirty="0"/>
              <a:t> בין מוטציה ל-</a:t>
            </a:r>
            <a:r>
              <a:rPr lang="en-US" dirty="0"/>
              <a:t>WT</a:t>
            </a:r>
            <a:r>
              <a:rPr lang="he-IL" dirty="0"/>
              <a:t>, ז״א ההבדלים הכי גדולים בין מוטציות ל-</a:t>
            </a:r>
            <a:r>
              <a:rPr lang="en-US" dirty="0"/>
              <a:t>WT</a:t>
            </a:r>
            <a:r>
              <a:rPr lang="he-IL" dirty="0"/>
              <a:t> קרו בסרטנים שנמצאים גבוה יותר. לקחתי סוגי סרטן עם לפחות 30 </a:t>
            </a:r>
            <a:r>
              <a:rPr lang="he-IL" dirty="0" err="1"/>
              <a:t>סאמפלים</a:t>
            </a:r>
            <a:r>
              <a:rPr lang="he-IL" dirty="0"/>
              <a:t>, גם מוטנט וגם ב-</a:t>
            </a:r>
            <a:r>
              <a:rPr lang="en-US" dirty="0"/>
              <a:t>WT</a:t>
            </a:r>
            <a:r>
              <a:rPr lang="he-IL" dirty="0"/>
              <a:t> (</a:t>
            </a:r>
            <a:r>
              <a:rPr lang="en-US" dirty="0" err="1"/>
              <a:t>mann-whitney</a:t>
            </a:r>
            <a:r>
              <a:rPr lang="en-US" dirty="0"/>
              <a:t> U test</a:t>
            </a:r>
            <a:r>
              <a:rPr lang="he-IL" dirty="0"/>
              <a:t>, </a:t>
            </a:r>
            <a:r>
              <a:rPr lang="he-IL" dirty="0" err="1"/>
              <a:t>וה</a:t>
            </a:r>
            <a:r>
              <a:rPr lang="he-IL" dirty="0"/>
              <a:t>-</a:t>
            </a:r>
            <a:r>
              <a:rPr lang="en-US" dirty="0"/>
              <a:t>p-values</a:t>
            </a:r>
            <a:r>
              <a:rPr lang="he-IL" dirty="0"/>
              <a:t> תוקנו ל-</a:t>
            </a:r>
            <a:r>
              <a:rPr lang="en-US" dirty="0"/>
              <a:t>FDR</a:t>
            </a:r>
            <a:r>
              <a:rPr lang="he-IL" dirty="0"/>
              <a:t>), את השאר העפתי.</a:t>
            </a:r>
          </a:p>
          <a:p>
            <a:pPr marL="0" algn="r" defTabSz="914400" rtl="1" eaLnBrk="1" latinLnBrk="0" hangingPunct="1"/>
            <a:r>
              <a:rPr lang="he-IL" dirty="0"/>
              <a:t>בצד הימני בדקתי את ה-</a:t>
            </a:r>
            <a:r>
              <a:rPr lang="en-US" dirty="0"/>
              <a:t>raw FGA</a:t>
            </a:r>
            <a:r>
              <a:rPr lang="he-IL" dirty="0"/>
              <a:t> ל-</a:t>
            </a:r>
            <a:r>
              <a:rPr lang="en-US" dirty="0" err="1"/>
              <a:t>wt</a:t>
            </a:r>
            <a:r>
              <a:rPr lang="he-IL" dirty="0"/>
              <a:t> ומוטנט עפ״י סוג סרטן. כאן דווקא רואים משהו אחר, למשל סרטני דם (</a:t>
            </a:r>
            <a:r>
              <a:rPr lang="en-US" dirty="0"/>
              <a:t>blood cancer</a:t>
            </a:r>
            <a:r>
              <a:rPr lang="he-IL" dirty="0"/>
              <a:t>, </a:t>
            </a:r>
            <a:r>
              <a:rPr lang="en-US" dirty="0"/>
              <a:t>myelodysplastic syndromes</a:t>
            </a:r>
            <a:r>
              <a:rPr lang="he-IL" dirty="0"/>
              <a:t> ולוקמיה) אמנם יש להם </a:t>
            </a:r>
            <a:r>
              <a:rPr lang="he-IL" dirty="0" err="1"/>
              <a:t>פולד</a:t>
            </a:r>
            <a:r>
              <a:rPr lang="he-IL" dirty="0"/>
              <a:t> </a:t>
            </a:r>
            <a:r>
              <a:rPr lang="he-IL" dirty="0" err="1"/>
              <a:t>צ׳יינג</a:t>
            </a:r>
            <a:r>
              <a:rPr lang="he-IL" dirty="0"/>
              <a:t>׳ גבוה לכאורה, אבל בגלל שב-</a:t>
            </a:r>
            <a:r>
              <a:rPr lang="en-US" dirty="0"/>
              <a:t>WT</a:t>
            </a:r>
            <a:r>
              <a:rPr lang="he-IL" dirty="0"/>
              <a:t> ה-</a:t>
            </a:r>
            <a:r>
              <a:rPr lang="en-US" dirty="0"/>
              <a:t>FGA</a:t>
            </a:r>
            <a:r>
              <a:rPr lang="he-IL" dirty="0"/>
              <a:t> כל כך קרוב ל-0 כל עליה בערכים הופכת להיות משמעותית. לעומת זאת </a:t>
            </a:r>
            <a:r>
              <a:rPr lang="en-US" dirty="0"/>
              <a:t>solid tumors</a:t>
            </a:r>
            <a:r>
              <a:rPr lang="he-IL" dirty="0"/>
              <a:t> מראים אפקטים חזקים.</a:t>
            </a:r>
            <a:endParaRPr lang="en-IL" dirty="0"/>
          </a:p>
        </p:txBody>
      </p:sp>
      <p:sp>
        <p:nvSpPr>
          <p:cNvPr id="4" name="Slide Number Placeholder 3">
            <a:extLst>
              <a:ext uri="{FF2B5EF4-FFF2-40B4-BE49-F238E27FC236}">
                <a16:creationId xmlns:a16="http://schemas.microsoft.com/office/drawing/2014/main" id="{C360718F-D2BA-49E1-D9E2-F43FC321E02D}"/>
              </a:ext>
            </a:extLst>
          </p:cNvPr>
          <p:cNvSpPr>
            <a:spLocks noGrp="1"/>
          </p:cNvSpPr>
          <p:nvPr>
            <p:ph type="sldNum" sz="quarter" idx="5"/>
          </p:nvPr>
        </p:nvSpPr>
        <p:spPr/>
        <p:txBody>
          <a:bodyPr/>
          <a:lstStyle/>
          <a:p>
            <a:fld id="{7242DB82-1DC1-9846-88D7-11B539157949}" type="slidenum">
              <a:rPr lang="en-IL" smtClean="0"/>
              <a:t>14</a:t>
            </a:fld>
            <a:endParaRPr lang="en-IL"/>
          </a:p>
        </p:txBody>
      </p:sp>
    </p:spTree>
    <p:extLst>
      <p:ext uri="{BB962C8B-B14F-4D97-AF65-F5344CB8AC3E}">
        <p14:creationId xmlns:p14="http://schemas.microsoft.com/office/powerpoint/2010/main" val="40180341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3DF4B-6968-547D-6BE3-D4A5D57FA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5A4DE-1ADA-D3C4-09B9-B1FC3244E7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8F276-6B19-0712-1368-97B5A1E0BEF2}"/>
              </a:ext>
            </a:extLst>
          </p:cNvPr>
          <p:cNvSpPr>
            <a:spLocks noGrp="1"/>
          </p:cNvSpPr>
          <p:nvPr>
            <p:ph type="body" idx="1"/>
          </p:nvPr>
        </p:nvSpPr>
        <p:spPr/>
        <p:txBody>
          <a:bodyPr/>
          <a:lstStyle/>
          <a:p>
            <a:pPr marL="0" algn="r" defTabSz="914400" rtl="1" eaLnBrk="1" latinLnBrk="0" hangingPunct="1"/>
            <a:r>
              <a:rPr lang="he-IL" dirty="0"/>
              <a:t>מהאנליזה שעשיתי אפשר להסיק מספר דברים:</a:t>
            </a:r>
          </a:p>
          <a:p>
            <a:pPr marL="0" algn="r" defTabSz="914400" rtl="1" eaLnBrk="1" latinLnBrk="0" hangingPunct="1"/>
            <a:r>
              <a:rPr lang="he-IL" dirty="0"/>
              <a:t>דבר ראשון זה שהאפקט הבינארי, מוטנט מול </a:t>
            </a:r>
            <a:r>
              <a:rPr lang="en-US" dirty="0"/>
              <a:t>WT</a:t>
            </a:r>
            <a:r>
              <a:rPr lang="he-IL" dirty="0"/>
              <a:t> הוא חזק הרבה יותר מהאפקט </a:t>
            </a:r>
            <a:r>
              <a:rPr lang="he-IL" dirty="0" err="1"/>
              <a:t>הסקאלרי</a:t>
            </a:r>
            <a:r>
              <a:rPr lang="he-IL" dirty="0"/>
              <a:t> של </a:t>
            </a:r>
            <a:r>
              <a:rPr lang="en-US" dirty="0"/>
              <a:t>EFS vs FGA</a:t>
            </a:r>
            <a:r>
              <a:rPr lang="he-IL" dirty="0"/>
              <a:t>. אפשר להגיד שיש לנו כאן איזשהו מודל של </a:t>
            </a:r>
            <a:r>
              <a:rPr lang="en-US" dirty="0"/>
              <a:t>Threshold</a:t>
            </a:r>
            <a:r>
              <a:rPr lang="he-IL" dirty="0"/>
              <a:t>, ברגע ש-</a:t>
            </a:r>
            <a:r>
              <a:rPr lang="en-US" dirty="0"/>
              <a:t>TP53</a:t>
            </a:r>
            <a:r>
              <a:rPr lang="he-IL" dirty="0"/>
              <a:t> משתנה איכשהו, מגיע הכאוס. ההשערה שלי היא שכשיש </a:t>
            </a:r>
            <a:r>
              <a:rPr lang="en-US" dirty="0"/>
              <a:t>GOF</a:t>
            </a:r>
            <a:r>
              <a:rPr lang="he-IL" dirty="0"/>
              <a:t> הוא כנראה מעודד חלוקה תאית ופרוליפרציה וכשיש </a:t>
            </a:r>
            <a:r>
              <a:rPr lang="en-US" dirty="0"/>
              <a:t>LOF</a:t>
            </a:r>
            <a:r>
              <a:rPr lang="he-IL" dirty="0"/>
              <a:t> אין בקרה תקינה על </a:t>
            </a:r>
            <a:r>
              <a:rPr lang="he-IL" dirty="0" err="1"/>
              <a:t>אפופטוזיס</a:t>
            </a:r>
            <a:r>
              <a:rPr lang="he-IL" dirty="0"/>
              <a:t>.</a:t>
            </a:r>
          </a:p>
          <a:p>
            <a:pPr marL="0" algn="r" defTabSz="914400" rtl="1" eaLnBrk="1" latinLnBrk="0" hangingPunct="1"/>
            <a:r>
              <a:rPr lang="he-IL" dirty="0"/>
              <a:t>חוץ מזה, נראה שמדובר בהבדלים בין </a:t>
            </a:r>
            <a:r>
              <a:rPr lang="he-IL" dirty="0" err="1"/>
              <a:t>סוליד</a:t>
            </a:r>
            <a:r>
              <a:rPr lang="he-IL" dirty="0"/>
              <a:t> </a:t>
            </a:r>
            <a:r>
              <a:rPr lang="he-IL" dirty="0" err="1"/>
              <a:t>טומר</a:t>
            </a:r>
            <a:r>
              <a:rPr lang="he-IL" dirty="0"/>
              <a:t> </a:t>
            </a:r>
            <a:r>
              <a:rPr lang="he-IL" dirty="0" err="1"/>
              <a:t>לליקוויד</a:t>
            </a:r>
            <a:r>
              <a:rPr lang="he-IL" dirty="0"/>
              <a:t> </a:t>
            </a:r>
            <a:r>
              <a:rPr lang="he-IL" dirty="0" err="1"/>
              <a:t>טומורס</a:t>
            </a:r>
            <a:r>
              <a:rPr lang="he-IL" dirty="0"/>
              <a:t>. ראינו שהאפקט הכי חזק נראה </a:t>
            </a:r>
            <a:r>
              <a:rPr lang="he-IL" dirty="0" err="1"/>
              <a:t>בסוליד</a:t>
            </a:r>
            <a:r>
              <a:rPr lang="he-IL" dirty="0"/>
              <a:t> </a:t>
            </a:r>
            <a:r>
              <a:rPr lang="he-IL" dirty="0" err="1"/>
              <a:t>טומורס</a:t>
            </a:r>
            <a:r>
              <a:rPr lang="he-IL" dirty="0"/>
              <a:t>, ייתכן בגלל </a:t>
            </a:r>
            <a:r>
              <a:rPr lang="he-IL" dirty="0" err="1"/>
              <a:t>היפוקסיה</a:t>
            </a:r>
            <a:r>
              <a:rPr lang="he-IL" dirty="0"/>
              <a:t> מאחר </a:t>
            </a:r>
            <a:r>
              <a:rPr lang="he-IL" dirty="0" err="1"/>
              <a:t>וסוליד</a:t>
            </a:r>
            <a:r>
              <a:rPr lang="he-IL" dirty="0"/>
              <a:t> </a:t>
            </a:r>
            <a:r>
              <a:rPr lang="he-IL" dirty="0" err="1"/>
              <a:t>טומורס</a:t>
            </a:r>
            <a:r>
              <a:rPr lang="he-IL" dirty="0"/>
              <a:t> מוגבלים מבחינת מקום והתאים מתחלקים ביותר סטרס, משמע יותר טעויות חלוקה וכתוצאה מכך כאוס </a:t>
            </a:r>
            <a:r>
              <a:rPr lang="he-IL" dirty="0" err="1"/>
              <a:t>גנומי</a:t>
            </a:r>
            <a:r>
              <a:rPr lang="he-IL" dirty="0"/>
              <a:t>. חוץ מזה הסטרס </a:t>
            </a:r>
            <a:r>
              <a:rPr lang="he-IL" dirty="0" err="1"/>
              <a:t>בסוליד</a:t>
            </a:r>
            <a:r>
              <a:rPr lang="he-IL" dirty="0"/>
              <a:t> </a:t>
            </a:r>
            <a:r>
              <a:rPr lang="he-IL" dirty="0" err="1"/>
              <a:t>טומורס</a:t>
            </a:r>
            <a:r>
              <a:rPr lang="he-IL" dirty="0"/>
              <a:t> אולי גורם </a:t>
            </a:r>
            <a:r>
              <a:rPr lang="he-IL" dirty="0" err="1"/>
              <a:t>לסלקשן</a:t>
            </a:r>
            <a:r>
              <a:rPr lang="he-IL" dirty="0"/>
              <a:t> </a:t>
            </a:r>
            <a:r>
              <a:rPr lang="he-IL" dirty="0" err="1"/>
              <a:t>פרשר</a:t>
            </a:r>
            <a:r>
              <a:rPr lang="he-IL" dirty="0"/>
              <a:t> יותר חזק למוטציות הרסניות שמצליחות לשרוד טוב יותר ולהתרבות.</a:t>
            </a:r>
          </a:p>
        </p:txBody>
      </p:sp>
      <p:sp>
        <p:nvSpPr>
          <p:cNvPr id="4" name="Slide Number Placeholder 3">
            <a:extLst>
              <a:ext uri="{FF2B5EF4-FFF2-40B4-BE49-F238E27FC236}">
                <a16:creationId xmlns:a16="http://schemas.microsoft.com/office/drawing/2014/main" id="{F44C1A0E-FDC0-BC84-9CF9-2237A80D1984}"/>
              </a:ext>
            </a:extLst>
          </p:cNvPr>
          <p:cNvSpPr>
            <a:spLocks noGrp="1"/>
          </p:cNvSpPr>
          <p:nvPr>
            <p:ph type="sldNum" sz="quarter" idx="5"/>
          </p:nvPr>
        </p:nvSpPr>
        <p:spPr/>
        <p:txBody>
          <a:bodyPr/>
          <a:lstStyle/>
          <a:p>
            <a:fld id="{7242DB82-1DC1-9846-88D7-11B539157949}" type="slidenum">
              <a:rPr lang="en-IL" smtClean="0"/>
              <a:t>15</a:t>
            </a:fld>
            <a:endParaRPr lang="en-IL"/>
          </a:p>
        </p:txBody>
      </p:sp>
    </p:spTree>
    <p:extLst>
      <p:ext uri="{BB962C8B-B14F-4D97-AF65-F5344CB8AC3E}">
        <p14:creationId xmlns:p14="http://schemas.microsoft.com/office/powerpoint/2010/main" val="27343328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60FEB-3EAA-8A17-381F-3641FB7CF4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63B79-9EB2-B28B-C950-0F63B20F5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0BDA6B-38D1-673C-04A3-BDA28F353377}"/>
              </a:ext>
            </a:extLst>
          </p:cNvPr>
          <p:cNvSpPr>
            <a:spLocks noGrp="1"/>
          </p:cNvSpPr>
          <p:nvPr>
            <p:ph type="body" idx="1"/>
          </p:nvPr>
        </p:nvSpPr>
        <p:spPr/>
        <p:txBody>
          <a:bodyPr/>
          <a:lstStyle/>
          <a:p>
            <a:pPr marL="0" algn="r" defTabSz="914400" rtl="1" eaLnBrk="1" latinLnBrk="0" hangingPunct="1"/>
            <a:r>
              <a:rPr lang="he-IL" dirty="0"/>
              <a:t>חוץ מזה ראינו </a:t>
            </a:r>
            <a:r>
              <a:rPr lang="he-IL" dirty="0" err="1"/>
              <a:t>שהוטספוטס</a:t>
            </a:r>
            <a:r>
              <a:rPr lang="he-IL" dirty="0"/>
              <a:t> לא בהכרח יותר הרסניות, אלא האזור שלהן בגנום הוא יותר </a:t>
            </a:r>
            <a:r>
              <a:rPr lang="he-IL" dirty="0" err="1"/>
              <a:t>מוטבילי</a:t>
            </a:r>
            <a:r>
              <a:rPr lang="he-IL" dirty="0"/>
              <a:t>. </a:t>
            </a:r>
            <a:endParaRPr lang="en-IL" dirty="0"/>
          </a:p>
        </p:txBody>
      </p:sp>
      <p:sp>
        <p:nvSpPr>
          <p:cNvPr id="4" name="Slide Number Placeholder 3">
            <a:extLst>
              <a:ext uri="{FF2B5EF4-FFF2-40B4-BE49-F238E27FC236}">
                <a16:creationId xmlns:a16="http://schemas.microsoft.com/office/drawing/2014/main" id="{17B6989F-53F0-9712-820E-9D4683B1860E}"/>
              </a:ext>
            </a:extLst>
          </p:cNvPr>
          <p:cNvSpPr>
            <a:spLocks noGrp="1"/>
          </p:cNvSpPr>
          <p:nvPr>
            <p:ph type="sldNum" sz="quarter" idx="5"/>
          </p:nvPr>
        </p:nvSpPr>
        <p:spPr/>
        <p:txBody>
          <a:bodyPr/>
          <a:lstStyle/>
          <a:p>
            <a:fld id="{7242DB82-1DC1-9846-88D7-11B539157949}" type="slidenum">
              <a:rPr lang="en-IL" smtClean="0"/>
              <a:t>16</a:t>
            </a:fld>
            <a:endParaRPr lang="en-IL"/>
          </a:p>
        </p:txBody>
      </p:sp>
    </p:spTree>
    <p:extLst>
      <p:ext uri="{BB962C8B-B14F-4D97-AF65-F5344CB8AC3E}">
        <p14:creationId xmlns:p14="http://schemas.microsoft.com/office/powerpoint/2010/main" val="17758136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BD74F-AEBA-8953-5957-21DA5B5E5A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81FBE0-C4F8-56CC-49FE-4D80F75B1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1C479-4B61-32ED-2058-C6E2381053B8}"/>
              </a:ext>
            </a:extLst>
          </p:cNvPr>
          <p:cNvSpPr>
            <a:spLocks noGrp="1"/>
          </p:cNvSpPr>
          <p:nvPr>
            <p:ph type="body" idx="1"/>
          </p:nvPr>
        </p:nvSpPr>
        <p:spPr/>
        <p:txBody>
          <a:bodyPr/>
          <a:lstStyle/>
          <a:p>
            <a:pPr marL="0" algn="r" defTabSz="914400" rtl="1" eaLnBrk="1" latinLnBrk="0" hangingPunct="1"/>
            <a:r>
              <a:rPr lang="he-IL" dirty="0"/>
              <a:t>אז בסה״כ הצלחתי לענות על שלוש השאלות, אבל הייתי שמחה לראות את סוגי המוטציות במספרים דומים תחת ניסוי אחד, או לבדוק את ה-</a:t>
            </a:r>
            <a:r>
              <a:rPr lang="en-US" dirty="0"/>
              <a:t>EFS</a:t>
            </a:r>
            <a:r>
              <a:rPr lang="he-IL" dirty="0"/>
              <a:t> לא רק בסוג סרטן אחד (סרטן ריאה) כמו </a:t>
            </a:r>
            <a:r>
              <a:rPr lang="he-IL" dirty="0" err="1"/>
              <a:t>שג׳יאנקומלי</a:t>
            </a:r>
            <a:r>
              <a:rPr lang="he-IL" dirty="0"/>
              <a:t> עשו, אלא בעוד סרטנים ולכל סרטן לבצע את האנליזה שלו, מאחר ו-</a:t>
            </a:r>
            <a:r>
              <a:rPr lang="en-US" dirty="0"/>
              <a:t>p53</a:t>
            </a:r>
            <a:r>
              <a:rPr lang="he-IL" dirty="0"/>
              <a:t> יכול לקבל </a:t>
            </a:r>
            <a:r>
              <a:rPr lang="en-US" dirty="0"/>
              <a:t>EFS</a:t>
            </a:r>
            <a:r>
              <a:rPr lang="he-IL" dirty="0"/>
              <a:t> שונים ככל הנראה בין סוגי סרטן, כמו שראינו את ההבדלים בין </a:t>
            </a:r>
            <a:r>
              <a:rPr lang="en-US" dirty="0"/>
              <a:t>Solid</a:t>
            </a:r>
            <a:r>
              <a:rPr lang="he-IL" dirty="0"/>
              <a:t> ל-</a:t>
            </a:r>
            <a:r>
              <a:rPr lang="en-US" dirty="0"/>
              <a:t>Liquid</a:t>
            </a:r>
            <a:r>
              <a:rPr lang="he-IL" dirty="0"/>
              <a:t> </a:t>
            </a:r>
            <a:r>
              <a:rPr lang="he-IL" dirty="0" err="1"/>
              <a:t>טומורס</a:t>
            </a:r>
            <a:r>
              <a:rPr lang="he-IL" dirty="0"/>
              <a:t>.</a:t>
            </a:r>
          </a:p>
          <a:p>
            <a:pPr marL="0" algn="r" defTabSz="914400" rtl="1" eaLnBrk="1" latinLnBrk="0" hangingPunct="1"/>
            <a:r>
              <a:rPr lang="he-IL" dirty="0"/>
              <a:t>עוד דבר שהיה נחמד לעשות, זה לבדוק </a:t>
            </a:r>
            <a:r>
              <a:rPr lang="en-US" dirty="0"/>
              <a:t>region breaks</a:t>
            </a:r>
            <a:r>
              <a:rPr lang="he-IL" dirty="0"/>
              <a:t> ספציפיים ולהיכנס יותר לעומק שלהם מאשר להשתמש בפרמטר </a:t>
            </a:r>
            <a:r>
              <a:rPr lang="en-US" dirty="0"/>
              <a:t>bulky</a:t>
            </a:r>
            <a:r>
              <a:rPr lang="he-IL" dirty="0"/>
              <a:t> אחד (</a:t>
            </a:r>
            <a:r>
              <a:rPr lang="en-US" dirty="0"/>
              <a:t>FGA</a:t>
            </a:r>
            <a:r>
              <a:rPr lang="he-IL" dirty="0"/>
              <a:t>) כדי לבדוק טרנדים ספציפיים יותר מאשר התנהגויות גלובליות שלא רגישות לכל המקרים.</a:t>
            </a:r>
            <a:endParaRPr lang="en-IL" dirty="0"/>
          </a:p>
        </p:txBody>
      </p:sp>
      <p:sp>
        <p:nvSpPr>
          <p:cNvPr id="4" name="Slide Number Placeholder 3">
            <a:extLst>
              <a:ext uri="{FF2B5EF4-FFF2-40B4-BE49-F238E27FC236}">
                <a16:creationId xmlns:a16="http://schemas.microsoft.com/office/drawing/2014/main" id="{C540340E-3F34-C6D4-E1EC-5C655231E989}"/>
              </a:ext>
            </a:extLst>
          </p:cNvPr>
          <p:cNvSpPr>
            <a:spLocks noGrp="1"/>
          </p:cNvSpPr>
          <p:nvPr>
            <p:ph type="sldNum" sz="quarter" idx="5"/>
          </p:nvPr>
        </p:nvSpPr>
        <p:spPr/>
        <p:txBody>
          <a:bodyPr/>
          <a:lstStyle/>
          <a:p>
            <a:fld id="{7242DB82-1DC1-9846-88D7-11B539157949}" type="slidenum">
              <a:rPr lang="en-IL" smtClean="0"/>
              <a:t>17</a:t>
            </a:fld>
            <a:endParaRPr lang="en-IL"/>
          </a:p>
        </p:txBody>
      </p:sp>
    </p:spTree>
    <p:extLst>
      <p:ext uri="{BB962C8B-B14F-4D97-AF65-F5344CB8AC3E}">
        <p14:creationId xmlns:p14="http://schemas.microsoft.com/office/powerpoint/2010/main" val="5538188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CCE8D-9330-B3DB-5B69-D30309955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3B9118-304F-2BE6-8422-0DD687862C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97C7D5-11A5-3A69-7067-279DCBDAB834}"/>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pandas, </a:t>
            </a:r>
            <a:r>
              <a:rPr lang="en-US" sz="1200" b="0" i="0" kern="1200" dirty="0" err="1">
                <a:solidFill>
                  <a:schemeClr val="tx1"/>
                </a:solidFill>
                <a:effectLst/>
                <a:latin typeface="+mn-lt"/>
                <a:ea typeface="+mn-ea"/>
                <a:cs typeface="+mn-cs"/>
              </a:rPr>
              <a:t>numpy</a:t>
            </a:r>
            <a:r>
              <a:rPr lang="he-IL" sz="1200" b="0" i="0" kern="1200" dirty="0">
                <a:solidFill>
                  <a:schemeClr val="tx1"/>
                </a:solidFill>
                <a:effectLst/>
                <a:latin typeface="+mn-lt"/>
                <a:ea typeface="+mn-ea"/>
                <a:cs typeface="+mn-cs"/>
              </a:rPr>
              <a:t>:</a:t>
            </a:r>
            <a:r>
              <a:rPr lang="en-US" sz="1200" b="0" i="0" kern="1200" dirty="0">
                <a:solidFill>
                  <a:schemeClr val="tx1"/>
                </a:solidFill>
                <a:effectLst/>
                <a:latin typeface="+mn-lt"/>
                <a:ea typeface="+mn-ea"/>
                <a:cs typeface="+mn-cs"/>
              </a:rPr>
              <a:t> data wrangling</a:t>
            </a:r>
          </a:p>
          <a:p>
            <a:r>
              <a:rPr lang="en-US" sz="1200" b="0" i="0" kern="1200" dirty="0" err="1">
                <a:solidFill>
                  <a:schemeClr val="tx1"/>
                </a:solidFill>
                <a:effectLst/>
                <a:latin typeface="+mn-lt"/>
                <a:ea typeface="+mn-ea"/>
                <a:cs typeface="+mn-cs"/>
              </a:rPr>
              <a:t>scipy.stats</a:t>
            </a:r>
            <a:r>
              <a:rPr lang="he-IL" sz="1200" b="0" i="0" kern="1200" dirty="0">
                <a:solidFill>
                  <a:schemeClr val="tx1"/>
                </a:solidFill>
                <a:effectLst/>
                <a:latin typeface="+mn-lt"/>
                <a:ea typeface="+mn-ea"/>
                <a:cs typeface="+mn-cs"/>
              </a:rPr>
              <a:t>:</a:t>
            </a:r>
            <a:r>
              <a:rPr lang="en-US" sz="1200" b="0" i="0" kern="1200" dirty="0">
                <a:solidFill>
                  <a:schemeClr val="tx1"/>
                </a:solidFill>
                <a:effectLst/>
                <a:latin typeface="+mn-lt"/>
                <a:ea typeface="+mn-ea"/>
                <a:cs typeface="+mn-cs"/>
              </a:rPr>
              <a:t> statistical tests</a:t>
            </a:r>
          </a:p>
          <a:p>
            <a:r>
              <a:rPr lang="en-US" sz="1200" b="0" i="0" kern="1200" dirty="0" err="1">
                <a:solidFill>
                  <a:schemeClr val="tx1"/>
                </a:solidFill>
                <a:effectLst/>
                <a:latin typeface="+mn-lt"/>
                <a:ea typeface="+mn-ea"/>
                <a:cs typeface="+mn-cs"/>
              </a:rPr>
              <a:t>Statsmodels</a:t>
            </a:r>
            <a:r>
              <a:rPr lang="he-IL" sz="1200" b="0" i="0" kern="1200" dirty="0">
                <a:solidFill>
                  <a:schemeClr val="tx1"/>
                </a:solidFill>
                <a:effectLst/>
                <a:latin typeface="+mn-lt"/>
                <a:ea typeface="+mn-ea"/>
                <a:cs typeface="+mn-cs"/>
              </a:rPr>
              <a:t>:</a:t>
            </a:r>
            <a:r>
              <a:rPr lang="en-US" sz="1200" b="0" i="0" kern="1200" dirty="0">
                <a:solidFill>
                  <a:schemeClr val="tx1"/>
                </a:solidFill>
                <a:effectLst/>
                <a:latin typeface="+mn-lt"/>
                <a:ea typeface="+mn-ea"/>
                <a:cs typeface="+mn-cs"/>
              </a:rPr>
              <a:t> BH FDR correction (</a:t>
            </a:r>
            <a:r>
              <a:rPr lang="en-US" sz="1200" b="0" i="0" kern="1200" dirty="0" err="1">
                <a:solidFill>
                  <a:schemeClr val="tx1"/>
                </a:solidFill>
                <a:effectLst/>
                <a:latin typeface="+mn-lt"/>
                <a:ea typeface="+mn-ea"/>
                <a:cs typeface="+mn-cs"/>
              </a:rPr>
              <a:t>multipletests</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matplotlib, seaborn</a:t>
            </a:r>
            <a:r>
              <a:rPr lang="he-IL" sz="1200" b="0" i="0" kern="1200" dirty="0">
                <a:solidFill>
                  <a:schemeClr val="tx1"/>
                </a:solidFill>
                <a:effectLst/>
                <a:latin typeface="+mn-lt"/>
                <a:ea typeface="+mn-ea"/>
                <a:cs typeface="+mn-cs"/>
              </a:rPr>
              <a:t>:</a:t>
            </a:r>
            <a:r>
              <a:rPr lang="en-US" sz="1200" b="0" i="0" kern="1200" dirty="0">
                <a:solidFill>
                  <a:schemeClr val="tx1"/>
                </a:solidFill>
                <a:effectLst/>
                <a:latin typeface="+mn-lt"/>
                <a:ea typeface="+mn-ea"/>
                <a:cs typeface="+mn-cs"/>
              </a:rPr>
              <a:t> visualization</a:t>
            </a:r>
          </a:p>
          <a:p>
            <a:br>
              <a:rPr lang="en-US" dirty="0"/>
            </a:br>
            <a:endParaRPr lang="he-IL" dirty="0"/>
          </a:p>
        </p:txBody>
      </p:sp>
      <p:sp>
        <p:nvSpPr>
          <p:cNvPr id="4" name="Slide Number Placeholder 3">
            <a:extLst>
              <a:ext uri="{FF2B5EF4-FFF2-40B4-BE49-F238E27FC236}">
                <a16:creationId xmlns:a16="http://schemas.microsoft.com/office/drawing/2014/main" id="{D056188F-620B-449A-B931-04C627F70D9A}"/>
              </a:ext>
            </a:extLst>
          </p:cNvPr>
          <p:cNvSpPr>
            <a:spLocks noGrp="1"/>
          </p:cNvSpPr>
          <p:nvPr>
            <p:ph type="sldNum" sz="quarter" idx="5"/>
          </p:nvPr>
        </p:nvSpPr>
        <p:spPr/>
        <p:txBody>
          <a:bodyPr/>
          <a:lstStyle/>
          <a:p>
            <a:fld id="{7242DB82-1DC1-9846-88D7-11B539157949}" type="slidenum">
              <a:rPr lang="en-IL" smtClean="0"/>
              <a:t>18</a:t>
            </a:fld>
            <a:endParaRPr lang="en-IL"/>
          </a:p>
        </p:txBody>
      </p:sp>
    </p:spTree>
    <p:extLst>
      <p:ext uri="{BB962C8B-B14F-4D97-AF65-F5344CB8AC3E}">
        <p14:creationId xmlns:p14="http://schemas.microsoft.com/office/powerpoint/2010/main" val="1189219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3/18/26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solidFill>
                <a:schemeClr val="bg1"/>
              </a:solidFill>
            </a:endParaRPr>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00404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3/18/26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558300" y="5956137"/>
            <a:ext cx="1052508" cy="365125"/>
          </a:xfrm>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9706807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3/18/26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2883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3/18/26</a:t>
            </a:fld>
            <a:endParaRPr lang="en-US" dirty="0"/>
          </a:p>
        </p:txBody>
      </p:sp>
      <p:sp>
        <p:nvSpPr>
          <p:cNvPr id="6" name="Footer Placeholder 5"/>
          <p:cNvSpPr>
            <a:spLocks noGrp="1"/>
          </p:cNvSpPr>
          <p:nvPr>
            <p:ph type="ftr" sz="quarter" idx="11"/>
          </p:nvPr>
        </p:nvSpPr>
        <p:spPr/>
        <p:txBody>
          <a:body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776367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lgn="r"/>
            <a:fld id="{A37D6D71-8B28-4ED6-B932-04B197003D23}" type="datetimeFigureOut">
              <a:rPr lang="en-US" smtClean="0"/>
              <a:pPr algn="r"/>
              <a:t>3/18/26</a:t>
            </a:fld>
            <a:endParaRPr lang="en-US" spc="50" dirty="0"/>
          </a:p>
        </p:txBody>
      </p:sp>
      <p:sp>
        <p:nvSpPr>
          <p:cNvPr id="8" name="Footer Placeholder 7"/>
          <p:cNvSpPr>
            <a:spLocks noGrp="1"/>
          </p:cNvSpPr>
          <p:nvPr>
            <p:ph type="ftr" sz="quarter" idx="11"/>
          </p:nvPr>
        </p:nvSpPr>
        <p:spPr/>
        <p:txBody>
          <a:bodyPr/>
          <a:lstStyle/>
          <a:p>
            <a:endParaRPr lang="en-US" spc="50" dirty="0"/>
          </a:p>
        </p:txBody>
      </p:sp>
      <p:sp>
        <p:nvSpPr>
          <p:cNvPr id="9" name="Slide Number Placeholder 8"/>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98425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lgn="r"/>
            <a:fld id="{A37D6D71-8B28-4ED6-B932-04B197003D23}" type="datetimeFigureOut">
              <a:rPr lang="en-US" smtClean="0"/>
              <a:pPr algn="r"/>
              <a:t>3/18/26</a:t>
            </a:fld>
            <a:endParaRPr lang="en-US" dirty="0"/>
          </a:p>
        </p:txBody>
      </p:sp>
      <p:sp>
        <p:nvSpPr>
          <p:cNvPr id="4" name="Footer Placeholder 3"/>
          <p:cNvSpPr>
            <a:spLocks noGrp="1"/>
          </p:cNvSpPr>
          <p:nvPr>
            <p:ph type="ftr" sz="quarter" idx="11"/>
          </p:nvPr>
        </p:nvSpPr>
        <p:spPr/>
        <p:txBody>
          <a:bodyPr/>
          <a:lstStyle/>
          <a:p>
            <a:endParaRPr lang="en-US" dirty="0">
              <a:solidFill>
                <a:schemeClr val="tx1"/>
              </a:solidFill>
            </a:endParaRPr>
          </a:p>
        </p:txBody>
      </p:sp>
      <p:sp>
        <p:nvSpPr>
          <p:cNvPr id="5" name="Slide Number Placeholder 4"/>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30068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lgn="r"/>
            <a:fld id="{A37D6D71-8B28-4ED6-B932-04B197003D23}" type="datetimeFigureOut">
              <a:rPr lang="en-US" smtClean="0"/>
              <a:pPr algn="r"/>
              <a:t>3/18/26</a:t>
            </a:fld>
            <a:endParaRPr lang="en-US" dirty="0"/>
          </a:p>
        </p:txBody>
      </p:sp>
      <p:sp>
        <p:nvSpPr>
          <p:cNvPr id="3" name="Footer Placeholder 2"/>
          <p:cNvSpPr>
            <a:spLocks noGrp="1"/>
          </p:cNvSpPr>
          <p:nvPr>
            <p:ph type="ftr" sz="quarter" idx="11"/>
          </p:nvPr>
        </p:nvSpPr>
        <p:spPr/>
        <p:txBody>
          <a:bodyPr/>
          <a:lstStyle/>
          <a:p>
            <a:endParaRPr lang="en-US" dirty="0">
              <a:solidFill>
                <a:schemeClr val="tx1"/>
              </a:solidFill>
            </a:endParaRPr>
          </a:p>
        </p:txBody>
      </p:sp>
      <p:sp>
        <p:nvSpPr>
          <p:cNvPr id="4" name="Slide Number Placeholder 3"/>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086625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3/18/26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250930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3/18/26</a:t>
            </a:fld>
            <a:endParaRPr lang="en-US" spc="50" dirty="0"/>
          </a:p>
        </p:txBody>
      </p:sp>
      <p:sp>
        <p:nvSpPr>
          <p:cNvPr id="6" name="Footer Placeholder 5"/>
          <p:cNvSpPr>
            <a:spLocks noGrp="1"/>
          </p:cNvSpPr>
          <p:nvPr>
            <p:ph type="ftr" sz="quarter" idx="11"/>
          </p:nvPr>
        </p:nvSpPr>
        <p:spPr/>
        <p:txBody>
          <a:bodyPr/>
          <a:lstStyle/>
          <a:p>
            <a:endParaRPr lang="en-US" spc="50" dirty="0"/>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9016625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3/18/26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787376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3/18/26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4046438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algn="r"/>
            <a:fld id="{A37D6D71-8B28-4ED6-B932-04B197003D23}" type="datetimeFigureOut">
              <a:rPr lang="en-US" smtClean="0"/>
              <a:pPr algn="r"/>
              <a:t>3/18/26</a:t>
            </a:fld>
            <a:endParaRPr lang="en-US" spc="50"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spc="50"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algn="l"/>
            <a:fld id="{F97E8200-1950-409B-82E7-99938E7AE355}" type="slidenum">
              <a:rPr lang="en-US" smtClean="0"/>
              <a:pPr algn="l"/>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Tree>
    <p:extLst>
      <p:ext uri="{BB962C8B-B14F-4D97-AF65-F5344CB8AC3E}">
        <p14:creationId xmlns:p14="http://schemas.microsoft.com/office/powerpoint/2010/main" val="3489716901"/>
      </p:ext>
    </p:extLst>
  </p:cSld>
  <p:clrMap bg1="lt1" tx1="dk1" bg2="lt2" tx2="dk2" accent1="accent1" accent2="accent2" accent3="accent3" accent4="accent4" accent5="accent5" accent6="accent6" hlink="hlink" folHlink="folHlink"/>
  <p:sldLayoutIdLst>
    <p:sldLayoutId id="2147484298" r:id="rId1"/>
    <p:sldLayoutId id="2147484299" r:id="rId2"/>
    <p:sldLayoutId id="2147484300" r:id="rId3"/>
    <p:sldLayoutId id="2147484301" r:id="rId4"/>
    <p:sldLayoutId id="2147484302" r:id="rId5"/>
    <p:sldLayoutId id="2147484303" r:id="rId6"/>
    <p:sldLayoutId id="2147484304" r:id="rId7"/>
    <p:sldLayoutId id="2147484305" r:id="rId8"/>
    <p:sldLayoutId id="2147484306" r:id="rId9"/>
    <p:sldLayoutId id="2147484307" r:id="rId10"/>
    <p:sldLayoutId id="2147484308"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A296D-E8F9-B326-5356-2C6AA3E5449E}"/>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TP53 mutations that are associated with an increased Copy Number Variation</a:t>
            </a:r>
          </a:p>
        </p:txBody>
      </p:sp>
      <p:sp>
        <p:nvSpPr>
          <p:cNvPr id="28" name="TextBox 27">
            <a:extLst>
              <a:ext uri="{FF2B5EF4-FFF2-40B4-BE49-F238E27FC236}">
                <a16:creationId xmlns:a16="http://schemas.microsoft.com/office/drawing/2014/main" id="{F2321456-BD03-93AA-AA0C-5A387C9AA80E}"/>
              </a:ext>
            </a:extLst>
          </p:cNvPr>
          <p:cNvSpPr txBox="1"/>
          <p:nvPr/>
        </p:nvSpPr>
        <p:spPr>
          <a:xfrm>
            <a:off x="3321651" y="4002227"/>
            <a:ext cx="5548698" cy="1384995"/>
          </a:xfrm>
          <a:prstGeom prst="rect">
            <a:avLst/>
          </a:prstGeom>
          <a:noFill/>
        </p:spPr>
        <p:txBody>
          <a:bodyPr wrap="none" rtlCol="0">
            <a:spAutoFit/>
          </a:bodyPr>
          <a:lstStyle/>
          <a:p>
            <a:pPr algn="ctr"/>
            <a:r>
              <a:rPr lang="en-IL" sz="2800" dirty="0">
                <a:solidFill>
                  <a:schemeClr val="bg1"/>
                </a:solidFill>
              </a:rPr>
              <a:t>Cancer Bioinformatics - Final Project</a:t>
            </a:r>
          </a:p>
          <a:p>
            <a:pPr algn="ctr"/>
            <a:r>
              <a:rPr lang="en-IL" sz="2800" dirty="0">
                <a:solidFill>
                  <a:schemeClr val="bg1"/>
                </a:solidFill>
              </a:rPr>
              <a:t>Ornit Bhonkar</a:t>
            </a:r>
          </a:p>
          <a:p>
            <a:pPr algn="ctr"/>
            <a:r>
              <a:rPr lang="en-IL" sz="2800" dirty="0">
                <a:solidFill>
                  <a:schemeClr val="bg1"/>
                </a:solidFill>
              </a:rPr>
              <a:t>March 19, 2026</a:t>
            </a:r>
          </a:p>
        </p:txBody>
      </p:sp>
    </p:spTree>
    <p:extLst>
      <p:ext uri="{BB962C8B-B14F-4D97-AF65-F5344CB8AC3E}">
        <p14:creationId xmlns:p14="http://schemas.microsoft.com/office/powerpoint/2010/main" val="1702451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BEC890-C6AC-F7F4-5276-8742D7AA6E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7D1D69-5D86-686E-31C4-698DA1D1860B}"/>
              </a:ext>
            </a:extLst>
          </p:cNvPr>
          <p:cNvSpPr>
            <a:spLocks noGrp="1"/>
          </p:cNvSpPr>
          <p:nvPr>
            <p:ph type="title"/>
          </p:nvPr>
        </p:nvSpPr>
        <p:spPr>
          <a:xfrm>
            <a:off x="1205046" y="798394"/>
            <a:ext cx="1340261" cy="678651"/>
          </a:xfrm>
        </p:spPr>
        <p:txBody>
          <a:bodyPr>
            <a:normAutofit/>
          </a:bodyPr>
          <a:lstStyle/>
          <a:p>
            <a:r>
              <a:rPr lang="en-US" dirty="0"/>
              <a:t>TP53</a:t>
            </a:r>
            <a:endParaRPr lang="en-IL" dirty="0"/>
          </a:p>
        </p:txBody>
      </p:sp>
      <p:sp>
        <p:nvSpPr>
          <p:cNvPr id="3" name="Content Placeholder 2">
            <a:extLst>
              <a:ext uri="{FF2B5EF4-FFF2-40B4-BE49-F238E27FC236}">
                <a16:creationId xmlns:a16="http://schemas.microsoft.com/office/drawing/2014/main" id="{785414FA-DE03-E189-4DCE-E04D097B7CA7}"/>
              </a:ext>
            </a:extLst>
          </p:cNvPr>
          <p:cNvSpPr txBox="1">
            <a:spLocks/>
          </p:cNvSpPr>
          <p:nvPr/>
        </p:nvSpPr>
        <p:spPr>
          <a:xfrm>
            <a:off x="359208" y="4801891"/>
            <a:ext cx="11473581" cy="1758483"/>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sz="2000" dirty="0"/>
              <a:t>TP53 acts as the cellular “superhero” responsible for maintaining genomic integrity. It functions as a stress sensor that responds to DNA damage.</a:t>
            </a:r>
          </a:p>
          <a:p>
            <a:r>
              <a:rPr lang="en-US" sz="2000" dirty="0"/>
              <a:t>When TP53 is functional, it induces DNA repairs or apoptosis. When broken, errors accumulate.</a:t>
            </a:r>
          </a:p>
          <a:p>
            <a:r>
              <a:rPr lang="en-US" sz="2000" dirty="0"/>
              <a:t>TP53 mutations are not binary, and they exist on a spectrum of phenotypic impact.</a:t>
            </a:r>
          </a:p>
        </p:txBody>
      </p:sp>
      <p:pic>
        <p:nvPicPr>
          <p:cNvPr id="8" name="Picture 2" descr="Figure 1">
            <a:extLst>
              <a:ext uri="{FF2B5EF4-FFF2-40B4-BE49-F238E27FC236}">
                <a16:creationId xmlns:a16="http://schemas.microsoft.com/office/drawing/2014/main" id="{9BC91899-43E3-CEDD-FE5D-05DC59AA58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31667"/>
          <a:stretch>
            <a:fillRect/>
          </a:stretch>
        </p:blipFill>
        <p:spPr bwMode="auto">
          <a:xfrm>
            <a:off x="2734115" y="1948624"/>
            <a:ext cx="6723769" cy="260773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203DC6B-71C6-BA4C-58BA-63AD22A0BAF3}"/>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5278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5F7B51-0CB9-849F-CB7E-C7A9B50FC5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6F7E30-26B1-B557-6AD3-D1C25884083D}"/>
              </a:ext>
            </a:extLst>
          </p:cNvPr>
          <p:cNvSpPr>
            <a:spLocks noGrp="1"/>
          </p:cNvSpPr>
          <p:nvPr>
            <p:ph type="title"/>
          </p:nvPr>
        </p:nvSpPr>
        <p:spPr>
          <a:xfrm>
            <a:off x="1175457" y="900752"/>
            <a:ext cx="4714335" cy="576293"/>
          </a:xfrm>
        </p:spPr>
        <p:txBody>
          <a:bodyPr>
            <a:normAutofit/>
          </a:bodyPr>
          <a:lstStyle/>
          <a:p>
            <a:r>
              <a:rPr lang="en-US" dirty="0"/>
              <a:t>Copy Number Variation</a:t>
            </a:r>
            <a:endParaRPr lang="en-IL" dirty="0"/>
          </a:p>
        </p:txBody>
      </p:sp>
      <p:sp>
        <p:nvSpPr>
          <p:cNvPr id="5" name="Content Placeholder 2">
            <a:extLst>
              <a:ext uri="{FF2B5EF4-FFF2-40B4-BE49-F238E27FC236}">
                <a16:creationId xmlns:a16="http://schemas.microsoft.com/office/drawing/2014/main" id="{9D517E4E-D17F-EBB7-61A7-E50879226793}"/>
              </a:ext>
            </a:extLst>
          </p:cNvPr>
          <p:cNvSpPr>
            <a:spLocks noGrp="1"/>
          </p:cNvSpPr>
          <p:nvPr>
            <p:ph idx="1"/>
          </p:nvPr>
        </p:nvSpPr>
        <p:spPr>
          <a:xfrm>
            <a:off x="679569" y="2054792"/>
            <a:ext cx="5706109" cy="3560733"/>
          </a:xfrm>
        </p:spPr>
        <p:txBody>
          <a:bodyPr>
            <a:normAutofit/>
          </a:bodyPr>
          <a:lstStyle/>
          <a:p>
            <a:r>
              <a:rPr lang="en-US" sz="2400" dirty="0"/>
              <a:t>A stretch of DNA where the number of copies differs from the normal two copies.</a:t>
            </a:r>
          </a:p>
          <a:p>
            <a:pPr lvl="1"/>
            <a:r>
              <a:rPr lang="he-IL" sz="2000" dirty="0"/>
              <a:t>   </a:t>
            </a:r>
            <a:r>
              <a:rPr lang="en-US" sz="2000" dirty="0"/>
              <a:t>copies → </a:t>
            </a:r>
            <a:r>
              <a:rPr lang="he-IL" sz="2000" dirty="0"/>
              <a:t>   </a:t>
            </a:r>
            <a:r>
              <a:rPr lang="en-US" sz="2000" dirty="0"/>
              <a:t>RNA → </a:t>
            </a:r>
            <a:r>
              <a:rPr lang="he-IL" sz="2000" dirty="0"/>
              <a:t>   </a:t>
            </a:r>
            <a:r>
              <a:rPr lang="en-US" sz="2000" dirty="0"/>
              <a:t>protein</a:t>
            </a:r>
          </a:p>
          <a:p>
            <a:pPr lvl="1"/>
            <a:r>
              <a:rPr lang="he-IL" sz="2000" dirty="0"/>
              <a:t>   </a:t>
            </a:r>
            <a:r>
              <a:rPr lang="en-US" sz="2000" dirty="0"/>
              <a:t>copies → </a:t>
            </a:r>
            <a:r>
              <a:rPr lang="he-IL" sz="2000" dirty="0"/>
              <a:t> </a:t>
            </a:r>
            <a:r>
              <a:rPr lang="en-US" sz="2000" dirty="0"/>
              <a:t> </a:t>
            </a:r>
            <a:r>
              <a:rPr lang="he-IL" sz="2000" dirty="0"/>
              <a:t> </a:t>
            </a:r>
            <a:r>
              <a:rPr lang="en-US" sz="2000" dirty="0"/>
              <a:t>protein</a:t>
            </a:r>
          </a:p>
          <a:p>
            <a:pPr lvl="1"/>
            <a:r>
              <a:rPr lang="en-US" sz="2000" dirty="0"/>
              <a:t>Example: Oncogene amplification → uncontrolled growth</a:t>
            </a:r>
          </a:p>
        </p:txBody>
      </p:sp>
      <p:pic>
        <p:nvPicPr>
          <p:cNvPr id="6" name="Picture 2">
            <a:extLst>
              <a:ext uri="{FF2B5EF4-FFF2-40B4-BE49-F238E27FC236}">
                <a16:creationId xmlns:a16="http://schemas.microsoft.com/office/drawing/2014/main" id="{CC5A2D30-1AD0-064B-BE91-9654F83A8EB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714699" y="1878725"/>
            <a:ext cx="5097438" cy="485746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804325B-1D0E-C332-B0BD-75656AD7E274}"/>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
        <p:nvSpPr>
          <p:cNvPr id="10" name="TextBox 9">
            <a:extLst>
              <a:ext uri="{FF2B5EF4-FFF2-40B4-BE49-F238E27FC236}">
                <a16:creationId xmlns:a16="http://schemas.microsoft.com/office/drawing/2014/main" id="{3951447A-2D47-8269-33CF-EF6CBA2182A3}"/>
              </a:ext>
            </a:extLst>
          </p:cNvPr>
          <p:cNvSpPr txBox="1"/>
          <p:nvPr/>
        </p:nvSpPr>
        <p:spPr>
          <a:xfrm>
            <a:off x="1982916" y="5446207"/>
            <a:ext cx="4537570" cy="861774"/>
          </a:xfrm>
          <a:prstGeom prst="rect">
            <a:avLst/>
          </a:prstGeom>
          <a:noFill/>
        </p:spPr>
        <p:txBody>
          <a:bodyPr wrap="square" rtlCol="0">
            <a:spAutoFit/>
          </a:bodyPr>
          <a:lstStyle/>
          <a:p>
            <a:pPr algn="ctr"/>
            <a:r>
              <a:rPr lang="en-US" b="1" dirty="0"/>
              <a:t>(number of base pairs with</a:t>
            </a:r>
            <a:endParaRPr lang="he-IL" b="1" dirty="0"/>
          </a:p>
          <a:p>
            <a:pPr algn="ctr"/>
            <a:r>
              <a:rPr lang="en-US" b="1" dirty="0"/>
              <a:t>copy number gain or loss)</a:t>
            </a:r>
            <a:endParaRPr lang="en-US" dirty="0"/>
          </a:p>
          <a:p>
            <a:pPr algn="ctr"/>
            <a:r>
              <a:rPr lang="he-IL" sz="1200" dirty="0"/>
              <a:t>__________________________________________</a:t>
            </a:r>
            <a:endParaRPr lang="en-IL" sz="1200" dirty="0"/>
          </a:p>
        </p:txBody>
      </p:sp>
      <p:sp>
        <p:nvSpPr>
          <p:cNvPr id="15" name="TextBox 14">
            <a:extLst>
              <a:ext uri="{FF2B5EF4-FFF2-40B4-BE49-F238E27FC236}">
                <a16:creationId xmlns:a16="http://schemas.microsoft.com/office/drawing/2014/main" id="{A02A50E2-0749-D037-202D-B1C97392B1B0}"/>
              </a:ext>
            </a:extLst>
          </p:cNvPr>
          <p:cNvSpPr txBox="1"/>
          <p:nvPr/>
        </p:nvSpPr>
        <p:spPr>
          <a:xfrm>
            <a:off x="538717" y="5479150"/>
            <a:ext cx="1280293" cy="1200329"/>
          </a:xfrm>
          <a:prstGeom prst="rect">
            <a:avLst/>
          </a:prstGeom>
          <a:noFill/>
        </p:spPr>
        <p:txBody>
          <a:bodyPr wrap="square" rtlCol="0">
            <a:spAutoFit/>
          </a:bodyPr>
          <a:lstStyle/>
          <a:p>
            <a:pPr rtl="1"/>
            <a:r>
              <a:rPr lang="en-US" b="1" dirty="0">
                <a:solidFill>
                  <a:srgbClr val="FF0000"/>
                </a:solidFill>
              </a:rPr>
              <a:t>Fraction Genome Altered (FGA)</a:t>
            </a:r>
            <a:endParaRPr lang="en-IL" dirty="0"/>
          </a:p>
        </p:txBody>
      </p:sp>
      <p:sp>
        <p:nvSpPr>
          <p:cNvPr id="16" name="TextBox 15">
            <a:extLst>
              <a:ext uri="{FF2B5EF4-FFF2-40B4-BE49-F238E27FC236}">
                <a16:creationId xmlns:a16="http://schemas.microsoft.com/office/drawing/2014/main" id="{E9E03FD2-8AFA-095B-15B1-E939AF3DF244}"/>
              </a:ext>
            </a:extLst>
          </p:cNvPr>
          <p:cNvSpPr txBox="1"/>
          <p:nvPr/>
        </p:nvSpPr>
        <p:spPr>
          <a:xfrm>
            <a:off x="1816180" y="5894648"/>
            <a:ext cx="364202" cy="461665"/>
          </a:xfrm>
          <a:prstGeom prst="rect">
            <a:avLst/>
          </a:prstGeom>
          <a:noFill/>
        </p:spPr>
        <p:txBody>
          <a:bodyPr wrap="none" rtlCol="0">
            <a:spAutoFit/>
          </a:bodyPr>
          <a:lstStyle/>
          <a:p>
            <a:pPr marL="0" algn="r" defTabSz="457200" rtl="1" eaLnBrk="1" latinLnBrk="0" hangingPunct="1"/>
            <a:r>
              <a:rPr lang="he-IL" sz="2400" dirty="0"/>
              <a:t>=</a:t>
            </a:r>
            <a:endParaRPr lang="en-IL" sz="2400" dirty="0"/>
          </a:p>
        </p:txBody>
      </p:sp>
      <p:sp>
        <p:nvSpPr>
          <p:cNvPr id="17" name="TextBox 16">
            <a:extLst>
              <a:ext uri="{FF2B5EF4-FFF2-40B4-BE49-F238E27FC236}">
                <a16:creationId xmlns:a16="http://schemas.microsoft.com/office/drawing/2014/main" id="{7664A01E-F97B-1E8C-7323-7A19C70DF8C7}"/>
              </a:ext>
            </a:extLst>
          </p:cNvPr>
          <p:cNvSpPr txBox="1"/>
          <p:nvPr/>
        </p:nvSpPr>
        <p:spPr>
          <a:xfrm>
            <a:off x="2806914" y="6312380"/>
            <a:ext cx="2889574" cy="369332"/>
          </a:xfrm>
          <a:prstGeom prst="rect">
            <a:avLst/>
          </a:prstGeom>
          <a:noFill/>
        </p:spPr>
        <p:txBody>
          <a:bodyPr wrap="none" rtlCol="0">
            <a:spAutoFit/>
          </a:bodyPr>
          <a:lstStyle/>
          <a:p>
            <a:pPr algn="r" rtl="1"/>
            <a:r>
              <a:rPr lang="en-US" b="1" dirty="0"/>
              <a:t>(total base pairs profiled)</a:t>
            </a:r>
            <a:endParaRPr lang="en-IL" dirty="0"/>
          </a:p>
        </p:txBody>
      </p:sp>
      <p:sp>
        <p:nvSpPr>
          <p:cNvPr id="19" name="Down Arrow 18">
            <a:extLst>
              <a:ext uri="{FF2B5EF4-FFF2-40B4-BE49-F238E27FC236}">
                <a16:creationId xmlns:a16="http://schemas.microsoft.com/office/drawing/2014/main" id="{1615CDF4-29E7-1281-FF3C-8851781293A4}"/>
              </a:ext>
            </a:extLst>
          </p:cNvPr>
          <p:cNvSpPr/>
          <p:nvPr/>
        </p:nvSpPr>
        <p:spPr>
          <a:xfrm>
            <a:off x="1346792" y="4165688"/>
            <a:ext cx="205561" cy="320392"/>
          </a:xfrm>
          <a:prstGeom prst="downArrow">
            <a:avLst/>
          </a:prstGeom>
          <a:solidFill>
            <a:srgbClr val="FF0000"/>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marL="0" algn="ctr" defTabSz="457200" rtl="1" eaLnBrk="1" latinLnBrk="0" hangingPunct="1"/>
            <a:endParaRPr lang="en-IL"/>
          </a:p>
        </p:txBody>
      </p:sp>
      <p:sp>
        <p:nvSpPr>
          <p:cNvPr id="20" name="Down Arrow 19">
            <a:extLst>
              <a:ext uri="{FF2B5EF4-FFF2-40B4-BE49-F238E27FC236}">
                <a16:creationId xmlns:a16="http://schemas.microsoft.com/office/drawing/2014/main" id="{B652A589-60E1-219C-4767-B1457DE37F46}"/>
              </a:ext>
            </a:extLst>
          </p:cNvPr>
          <p:cNvSpPr/>
          <p:nvPr/>
        </p:nvSpPr>
        <p:spPr>
          <a:xfrm>
            <a:off x="2601353" y="4177036"/>
            <a:ext cx="205561" cy="320392"/>
          </a:xfrm>
          <a:prstGeom prst="downArrow">
            <a:avLst/>
          </a:prstGeom>
          <a:solidFill>
            <a:srgbClr val="FF0000"/>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marL="0" algn="ctr" defTabSz="457200" rtl="1" eaLnBrk="1" latinLnBrk="0" hangingPunct="1"/>
            <a:endParaRPr lang="en-IL"/>
          </a:p>
        </p:txBody>
      </p:sp>
      <p:sp>
        <p:nvSpPr>
          <p:cNvPr id="21" name="Down Arrow 20">
            <a:extLst>
              <a:ext uri="{FF2B5EF4-FFF2-40B4-BE49-F238E27FC236}">
                <a16:creationId xmlns:a16="http://schemas.microsoft.com/office/drawing/2014/main" id="{B837372D-F0E1-DD72-35FE-69007F005E83}"/>
              </a:ext>
            </a:extLst>
          </p:cNvPr>
          <p:cNvSpPr/>
          <p:nvPr/>
        </p:nvSpPr>
        <p:spPr>
          <a:xfrm rot="10800000">
            <a:off x="1346791" y="3716619"/>
            <a:ext cx="205561" cy="320392"/>
          </a:xfrm>
          <a:prstGeom prst="downArrow">
            <a:avLst/>
          </a:prstGeom>
          <a:solidFill>
            <a:srgbClr val="00B050"/>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marL="0" algn="ctr" defTabSz="457200" rtl="1" eaLnBrk="1" latinLnBrk="0" hangingPunct="1"/>
            <a:endParaRPr lang="en-IL"/>
          </a:p>
        </p:txBody>
      </p:sp>
      <p:sp>
        <p:nvSpPr>
          <p:cNvPr id="22" name="Down Arrow 21">
            <a:extLst>
              <a:ext uri="{FF2B5EF4-FFF2-40B4-BE49-F238E27FC236}">
                <a16:creationId xmlns:a16="http://schemas.microsoft.com/office/drawing/2014/main" id="{EBBC11A4-FD48-A96F-CA7C-93D4B47CF5A8}"/>
              </a:ext>
            </a:extLst>
          </p:cNvPr>
          <p:cNvSpPr/>
          <p:nvPr/>
        </p:nvSpPr>
        <p:spPr>
          <a:xfrm rot="10800000">
            <a:off x="2601353" y="3694249"/>
            <a:ext cx="205561" cy="320392"/>
          </a:xfrm>
          <a:prstGeom prst="downArrow">
            <a:avLst/>
          </a:prstGeom>
          <a:solidFill>
            <a:srgbClr val="00B050"/>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marL="0" algn="ctr" defTabSz="457200" rtl="1" eaLnBrk="1" latinLnBrk="0" hangingPunct="1"/>
            <a:endParaRPr lang="en-IL"/>
          </a:p>
        </p:txBody>
      </p:sp>
      <p:sp>
        <p:nvSpPr>
          <p:cNvPr id="23" name="Down Arrow 22">
            <a:extLst>
              <a:ext uri="{FF2B5EF4-FFF2-40B4-BE49-F238E27FC236}">
                <a16:creationId xmlns:a16="http://schemas.microsoft.com/office/drawing/2014/main" id="{0A19F019-0476-9785-84CC-F0FF1420E352}"/>
              </a:ext>
            </a:extLst>
          </p:cNvPr>
          <p:cNvSpPr/>
          <p:nvPr/>
        </p:nvSpPr>
        <p:spPr>
          <a:xfrm rot="10800000">
            <a:off x="3753133" y="3716619"/>
            <a:ext cx="205561" cy="320392"/>
          </a:xfrm>
          <a:prstGeom prst="downArrow">
            <a:avLst/>
          </a:prstGeom>
          <a:solidFill>
            <a:srgbClr val="00B050"/>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marL="0" algn="ctr" defTabSz="457200" rtl="1" eaLnBrk="1" latinLnBrk="0" hangingPunct="1"/>
            <a:endParaRPr lang="en-IL"/>
          </a:p>
        </p:txBody>
      </p:sp>
    </p:spTree>
    <p:extLst>
      <p:ext uri="{BB962C8B-B14F-4D97-AF65-F5344CB8AC3E}">
        <p14:creationId xmlns:p14="http://schemas.microsoft.com/office/powerpoint/2010/main" val="1299099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5" grpId="0"/>
      <p:bldP spid="16" grpId="0"/>
      <p:bldP spid="17"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D78DBB-44CA-8953-BAA3-D911E61766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E1891-06CD-1C02-0414-011F0217D8C4}"/>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3C919F62-B5BF-D929-2843-8ABB25266375}"/>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05B62530-1BD2-AD91-8DDB-A19CAC48CF63}"/>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E23DAB0-7AD3-659B-646F-007313A4B0C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1607EF1A-442A-0953-02FA-06BBFF268FC4}"/>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0A15A1CB-8B3F-B5D0-F494-B87727E4C264}"/>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33C8F5EC-EC64-A858-CEB0-2B6F1D0E5C0F}"/>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DDD2CA11-ADD6-0E64-CDF8-A58319B47FA5}"/>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2A32926C-890B-9A62-C0EE-F11AE4713D84}"/>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41A222E0-99DB-AE50-9B6E-33151204F8E6}"/>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8007DE2-5BD9-5C67-0B28-F7352639D91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8081AE7B-E1AE-6078-E090-43B40CDF16D5}"/>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1" name="Circle">
            <a:extLst>
              <a:ext uri="{FF2B5EF4-FFF2-40B4-BE49-F238E27FC236}">
                <a16:creationId xmlns:a16="http://schemas.microsoft.com/office/drawing/2014/main" id="{42C4BCEC-E259-3077-6BF6-6557CA49DA74}"/>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400" dirty="0">
              <a:solidFill>
                <a:srgbClr val="FFFFFF"/>
              </a:solidFill>
            </a:endParaRPr>
          </a:p>
        </p:txBody>
      </p:sp>
      <p:sp>
        <p:nvSpPr>
          <p:cNvPr id="22" name="Circle">
            <a:extLst>
              <a:ext uri="{FF2B5EF4-FFF2-40B4-BE49-F238E27FC236}">
                <a16:creationId xmlns:a16="http://schemas.microsoft.com/office/drawing/2014/main" id="{0942E217-7310-96A2-2DDA-C439DD189675}"/>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sz="2400" b="1" dirty="0"/>
          </a:p>
        </p:txBody>
      </p:sp>
      <p:sp>
        <p:nvSpPr>
          <p:cNvPr id="23" name="Circle">
            <a:extLst>
              <a:ext uri="{FF2B5EF4-FFF2-40B4-BE49-F238E27FC236}">
                <a16:creationId xmlns:a16="http://schemas.microsoft.com/office/drawing/2014/main" id="{FC8BE534-91CD-8C49-5200-A26DC21D28C6}"/>
              </a:ext>
            </a:extLst>
          </p:cNvPr>
          <p:cNvSpPr>
            <a:spLocks/>
          </p:cNvSpPr>
          <p:nvPr/>
        </p:nvSpPr>
        <p:spPr>
          <a:xfrm>
            <a:off x="5321662" y="1997303"/>
            <a:ext cx="1548672" cy="1548671"/>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1</a:t>
            </a:r>
            <a:endParaRPr sz="2400" b="1" dirty="0">
              <a:solidFill>
                <a:schemeClr val="bg1"/>
              </a:solidFill>
            </a:endParaRPr>
          </a:p>
        </p:txBody>
      </p:sp>
      <p:sp>
        <p:nvSpPr>
          <p:cNvPr id="28" name="TextBox 27">
            <a:extLst>
              <a:ext uri="{FF2B5EF4-FFF2-40B4-BE49-F238E27FC236}">
                <a16:creationId xmlns:a16="http://schemas.microsoft.com/office/drawing/2014/main" id="{71428924-C3F8-AD23-A029-7B41748237E3}"/>
              </a:ext>
            </a:extLst>
          </p:cNvPr>
          <p:cNvSpPr txBox="1"/>
          <p:nvPr/>
        </p:nvSpPr>
        <p:spPr>
          <a:xfrm>
            <a:off x="267478" y="4631438"/>
            <a:ext cx="3331985" cy="369331"/>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31" name="TextBox 30">
            <a:extLst>
              <a:ext uri="{FF2B5EF4-FFF2-40B4-BE49-F238E27FC236}">
                <a16:creationId xmlns:a16="http://schemas.microsoft.com/office/drawing/2014/main" id="{7FB8F06D-FC26-5F60-BF33-6284F4203DE4}"/>
              </a:ext>
            </a:extLst>
          </p:cNvPr>
          <p:cNvSpPr txBox="1"/>
          <p:nvPr/>
        </p:nvSpPr>
        <p:spPr>
          <a:xfrm>
            <a:off x="1286933" y="2249613"/>
            <a:ext cx="3614699" cy="414475"/>
          </a:xfrm>
          <a:prstGeom prst="rect">
            <a:avLst/>
          </a:prstGeom>
          <a:noFill/>
        </p:spPr>
        <p:txBody>
          <a:bodyPr wrap="square" lIns="0" rIns="0" rtlCol="0" anchor="b">
            <a:spAutoFit/>
          </a:bodyPr>
          <a:lstStyle/>
          <a:p>
            <a:r>
              <a:rPr lang="en-US" sz="2000" b="1" noProof="1">
                <a:solidFill>
                  <a:schemeClr val="accent3">
                    <a:lumMod val="75000"/>
                  </a:schemeClr>
                </a:solidFill>
              </a:rPr>
              <a:t>Screen 8,258 TP53 Variants</a:t>
            </a:r>
          </a:p>
        </p:txBody>
      </p:sp>
      <p:sp>
        <p:nvSpPr>
          <p:cNvPr id="36" name="TextBox 35">
            <a:extLst>
              <a:ext uri="{FF2B5EF4-FFF2-40B4-BE49-F238E27FC236}">
                <a16:creationId xmlns:a16="http://schemas.microsoft.com/office/drawing/2014/main" id="{61CAC2AA-7851-7415-B7BC-8419E257DE5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9" name="TextBox 48">
            <a:extLst>
              <a:ext uri="{FF2B5EF4-FFF2-40B4-BE49-F238E27FC236}">
                <a16:creationId xmlns:a16="http://schemas.microsoft.com/office/drawing/2014/main" id="{A3346886-1E0C-9717-3143-983684FF5096}"/>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pic>
        <p:nvPicPr>
          <p:cNvPr id="1028" name="Picture 4" descr="Fig. 2: Comprehensive mutational scanning of TP53.">
            <a:extLst>
              <a:ext uri="{FF2B5EF4-FFF2-40B4-BE49-F238E27FC236}">
                <a16:creationId xmlns:a16="http://schemas.microsoft.com/office/drawing/2014/main" id="{B34741D3-1514-3CD8-E18E-B25A3C46E46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784" t="3317" r="71211" b="77069"/>
          <a:stretch>
            <a:fillRect/>
          </a:stretch>
        </p:blipFill>
        <p:spPr bwMode="auto">
          <a:xfrm>
            <a:off x="8619550" y="2030181"/>
            <a:ext cx="3112039" cy="1814294"/>
          </a:xfrm>
          <a:prstGeom prst="rect">
            <a:avLst/>
          </a:prstGeom>
          <a:noFill/>
          <a:ln w="12700">
            <a:solidFill>
              <a:schemeClr val="accent1"/>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2017DD6-D740-DA0B-9FD4-35A26585108D}"/>
              </a:ext>
            </a:extLst>
          </p:cNvPr>
          <p:cNvSpPr txBox="1"/>
          <p:nvPr/>
        </p:nvSpPr>
        <p:spPr>
          <a:xfrm>
            <a:off x="8559805" y="4600659"/>
            <a:ext cx="3276783" cy="400110"/>
          </a:xfrm>
          <a:prstGeom prst="rect">
            <a:avLst/>
          </a:prstGeom>
          <a:noFill/>
        </p:spPr>
        <p:txBody>
          <a:bodyPr wrap="square" lIns="0" rIns="0" rtlCol="0" anchor="b">
            <a:spAutoFit/>
          </a:bodyPr>
          <a:lstStyle/>
          <a:p>
            <a:r>
              <a:rPr lang="en-US" sz="2000" b="1" noProof="1"/>
              <a:t>Calculate Functional Score</a:t>
            </a:r>
          </a:p>
        </p:txBody>
      </p:sp>
    </p:spTree>
    <p:extLst>
      <p:ext uri="{BB962C8B-B14F-4D97-AF65-F5344CB8AC3E}">
        <p14:creationId xmlns:p14="http://schemas.microsoft.com/office/powerpoint/2010/main" val="18291268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58EF4-9571-AEBD-4097-BF887B2D8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5036D-21E5-E69F-DDAC-19BC4CE5421A}"/>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7D33C76D-1C6F-D0DA-AF94-08480681CA89}"/>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B6BA6F8D-8F8A-615B-497B-CA8F99663F16}"/>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4B4A215-6A52-F48A-BD20-135BC4819CF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4DA9C1E7-A4C4-0312-AAF4-06E37D9CD97E}"/>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A56F910-0894-8726-4028-7414D9CD49BA}"/>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02BAB27C-C5C4-8191-296B-C6FBE632FC48}"/>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C1D02CDC-EE64-9209-BC87-E09AB5DBA907}"/>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1050582-7E10-9FC7-E18B-115D39EA3FF7}"/>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D02D98C3-CFC8-6615-DD45-5C2195189EE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A71D7CB-D14E-3ED9-2156-6654656FF54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4ED36199-B78B-78A1-9B40-1B1AB69AFB2B}"/>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8" name="TextBox 27">
            <a:extLst>
              <a:ext uri="{FF2B5EF4-FFF2-40B4-BE49-F238E27FC236}">
                <a16:creationId xmlns:a16="http://schemas.microsoft.com/office/drawing/2014/main" id="{8942A983-A5F6-ABFD-0224-23DB26EE91EE}"/>
              </a:ext>
            </a:extLst>
          </p:cNvPr>
          <p:cNvSpPr txBox="1"/>
          <p:nvPr/>
        </p:nvSpPr>
        <p:spPr>
          <a:xfrm>
            <a:off x="267478" y="4631438"/>
            <a:ext cx="3331985" cy="369331"/>
          </a:xfrm>
          <a:prstGeom prst="rect">
            <a:avLst/>
          </a:prstGeom>
          <a:noFill/>
        </p:spPr>
        <p:txBody>
          <a:bodyPr wrap="square" lIns="0" rIns="0" rtlCol="0" anchor="b">
            <a:spAutoFit/>
          </a:bodyPr>
          <a:lstStyle/>
          <a:p>
            <a:pPr algn="r"/>
            <a:r>
              <a:rPr lang="en-US" b="1" dirty="0">
                <a:solidFill>
                  <a:schemeClr val="accent3">
                    <a:lumMod val="75000"/>
                  </a:schemeClr>
                </a:solidFill>
              </a:rPr>
              <a:t>Quantify Allele Enrichment</a:t>
            </a:r>
            <a:endParaRPr lang="en-US" sz="2000" b="1" noProof="1">
              <a:solidFill>
                <a:schemeClr val="accent3">
                  <a:lumMod val="75000"/>
                </a:schemeClr>
              </a:solidFill>
            </a:endParaRPr>
          </a:p>
        </p:txBody>
      </p:sp>
      <p:sp>
        <p:nvSpPr>
          <p:cNvPr id="31" name="TextBox 30">
            <a:extLst>
              <a:ext uri="{FF2B5EF4-FFF2-40B4-BE49-F238E27FC236}">
                <a16:creationId xmlns:a16="http://schemas.microsoft.com/office/drawing/2014/main" id="{3D260321-9767-EB34-9D32-B3E6B7A5E920}"/>
              </a:ext>
            </a:extLst>
          </p:cNvPr>
          <p:cNvSpPr txBox="1"/>
          <p:nvPr/>
        </p:nvSpPr>
        <p:spPr>
          <a:xfrm>
            <a:off x="1286933" y="2249613"/>
            <a:ext cx="3614699" cy="414475"/>
          </a:xfrm>
          <a:prstGeom prst="rect">
            <a:avLst/>
          </a:prstGeom>
          <a:noFill/>
        </p:spPr>
        <p:txBody>
          <a:bodyPr wrap="square" lIns="0" rIns="0" rtlCol="0" anchor="b">
            <a:spAutoFit/>
          </a:bodyPr>
          <a:lstStyle/>
          <a:p>
            <a:r>
              <a:rPr lang="en-US" sz="2000" b="1" noProof="1"/>
              <a:t>Screen 8,258 TP53 Variants</a:t>
            </a:r>
          </a:p>
        </p:txBody>
      </p:sp>
      <p:sp>
        <p:nvSpPr>
          <p:cNvPr id="36" name="TextBox 35">
            <a:extLst>
              <a:ext uri="{FF2B5EF4-FFF2-40B4-BE49-F238E27FC236}">
                <a16:creationId xmlns:a16="http://schemas.microsoft.com/office/drawing/2014/main" id="{AA877511-70EC-877E-C1A7-DBA3712DD49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3" name="Circle">
            <a:extLst>
              <a:ext uri="{FF2B5EF4-FFF2-40B4-BE49-F238E27FC236}">
                <a16:creationId xmlns:a16="http://schemas.microsoft.com/office/drawing/2014/main" id="{26DC282D-94D0-79C8-AA07-DEF57C74BA94}"/>
              </a:ext>
            </a:extLst>
          </p:cNvPr>
          <p:cNvSpPr>
            <a:spLocks/>
          </p:cNvSpPr>
          <p:nvPr/>
        </p:nvSpPr>
        <p:spPr>
          <a:xfrm>
            <a:off x="3862264" y="4591900"/>
            <a:ext cx="1459398" cy="1501932"/>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2</a:t>
            </a:r>
            <a:endParaRPr sz="2400" b="1" dirty="0">
              <a:solidFill>
                <a:schemeClr val="bg1"/>
              </a:solidFill>
            </a:endParaRPr>
          </a:p>
        </p:txBody>
      </p:sp>
      <p:grpSp>
        <p:nvGrpSpPr>
          <p:cNvPr id="4" name="Group 3">
            <a:extLst>
              <a:ext uri="{FF2B5EF4-FFF2-40B4-BE49-F238E27FC236}">
                <a16:creationId xmlns:a16="http://schemas.microsoft.com/office/drawing/2014/main" id="{9922419D-E055-2B2E-CA04-4BE3C8EDA600}"/>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352BCFB2-22BE-ACE8-C6D5-F4ABD74175E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E2C32C73-C5AB-A460-1964-50E655172D4D}"/>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5D6697AC-B138-08EF-B17D-EE1452D055FB}"/>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pic>
        <p:nvPicPr>
          <p:cNvPr id="2050" name="Picture 2" descr="Fig. 2: Comprehensive mutational scanning of TP53.">
            <a:extLst>
              <a:ext uri="{FF2B5EF4-FFF2-40B4-BE49-F238E27FC236}">
                <a16:creationId xmlns:a16="http://schemas.microsoft.com/office/drawing/2014/main" id="{CF0DE577-6944-CDF6-5AC2-08D75F2FD64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77" t="28507" r="68816" b="51724"/>
          <a:stretch>
            <a:fillRect/>
          </a:stretch>
        </p:blipFill>
        <p:spPr bwMode="auto">
          <a:xfrm>
            <a:off x="7990286" y="1978178"/>
            <a:ext cx="3771741" cy="1826083"/>
          </a:xfrm>
          <a:prstGeom prst="rect">
            <a:avLst/>
          </a:prstGeom>
          <a:noFill/>
          <a:ln w="12700">
            <a:solidFill>
              <a:schemeClr val="accent1"/>
            </a:solidFill>
          </a:ln>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E2C4D7A4-18DC-99E0-5260-56985152EFDE}"/>
              </a:ext>
            </a:extLst>
          </p:cNvPr>
          <p:cNvSpPr txBox="1"/>
          <p:nvPr/>
        </p:nvSpPr>
        <p:spPr>
          <a:xfrm>
            <a:off x="8559805" y="4600659"/>
            <a:ext cx="3276783" cy="400110"/>
          </a:xfrm>
          <a:prstGeom prst="rect">
            <a:avLst/>
          </a:prstGeom>
          <a:noFill/>
        </p:spPr>
        <p:txBody>
          <a:bodyPr wrap="square" lIns="0" rIns="0" rtlCol="0" anchor="b">
            <a:spAutoFit/>
          </a:bodyPr>
          <a:lstStyle/>
          <a:p>
            <a:r>
              <a:rPr lang="en-US" sz="2000" b="1" noProof="1"/>
              <a:t>Calculate Functional Score</a:t>
            </a:r>
          </a:p>
        </p:txBody>
      </p:sp>
    </p:spTree>
    <p:extLst>
      <p:ext uri="{BB962C8B-B14F-4D97-AF65-F5344CB8AC3E}">
        <p14:creationId xmlns:p14="http://schemas.microsoft.com/office/powerpoint/2010/main" val="713465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443DF-98F7-95DF-F695-5A8181BCF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E1DF23-4A25-1848-D659-2C79EA9810D2}"/>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B6512411-125B-95BE-6A95-D424A9A86BCD}"/>
              </a:ext>
            </a:extLst>
          </p:cNvPr>
          <p:cNvGrpSpPr/>
          <p:nvPr/>
        </p:nvGrpSpPr>
        <p:grpSpPr>
          <a:xfrm>
            <a:off x="3860398" y="4606814"/>
            <a:ext cx="1459397" cy="1460406"/>
            <a:chOff x="9094660" y="1419321"/>
            <a:chExt cx="1663059" cy="1664208"/>
          </a:xfrm>
        </p:grpSpPr>
        <p:sp>
          <p:nvSpPr>
            <p:cNvPr id="8" name="Oval 7">
              <a:extLst>
                <a:ext uri="{FF2B5EF4-FFF2-40B4-BE49-F238E27FC236}">
                  <a16:creationId xmlns:a16="http://schemas.microsoft.com/office/drawing/2014/main" id="{CEDCFE01-3B2A-E5B1-D7BA-438FE7EF142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98E92F83-D3C9-B664-B770-59FEC9C31F6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B5B92404-62F1-2A5C-3C5E-B017E10579D1}"/>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3F41867-AF60-B5F3-04BE-9F48A1BB09B0}"/>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271F0C38-0FE4-362E-3F57-FC310EF4C202}"/>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2E3B01F4-EF93-339F-B824-3A33423F0BA2}"/>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995BD10-0928-A499-1331-CCDD83904A5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A5C2C977-C5E9-1B8F-530A-8BDBD770B5EE}"/>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1CA274DC-454A-6E5E-6D25-51991BFEC0E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E2975257-5C90-B058-DBB8-F814A8F17989}"/>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8" name="TextBox 27">
            <a:extLst>
              <a:ext uri="{FF2B5EF4-FFF2-40B4-BE49-F238E27FC236}">
                <a16:creationId xmlns:a16="http://schemas.microsoft.com/office/drawing/2014/main" id="{C068C0E7-73EB-621D-7356-C23796AAF798}"/>
              </a:ext>
            </a:extLst>
          </p:cNvPr>
          <p:cNvSpPr txBox="1"/>
          <p:nvPr/>
        </p:nvSpPr>
        <p:spPr>
          <a:xfrm>
            <a:off x="267478" y="4631438"/>
            <a:ext cx="3331985" cy="369331"/>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31" name="TextBox 30">
            <a:extLst>
              <a:ext uri="{FF2B5EF4-FFF2-40B4-BE49-F238E27FC236}">
                <a16:creationId xmlns:a16="http://schemas.microsoft.com/office/drawing/2014/main" id="{C179F1FA-36D8-4879-074A-1A5D6C93F38A}"/>
              </a:ext>
            </a:extLst>
          </p:cNvPr>
          <p:cNvSpPr txBox="1"/>
          <p:nvPr/>
        </p:nvSpPr>
        <p:spPr>
          <a:xfrm>
            <a:off x="1286933" y="2249613"/>
            <a:ext cx="3614699" cy="414475"/>
          </a:xfrm>
          <a:prstGeom prst="rect">
            <a:avLst/>
          </a:prstGeom>
          <a:noFill/>
        </p:spPr>
        <p:txBody>
          <a:bodyPr wrap="square" lIns="0" rIns="0" rtlCol="0" anchor="b">
            <a:spAutoFit/>
          </a:bodyPr>
          <a:lstStyle/>
          <a:p>
            <a:r>
              <a:rPr lang="en-US" sz="2000" b="1" noProof="1"/>
              <a:t>Screen 8,258 TP53 Variants</a:t>
            </a:r>
          </a:p>
        </p:txBody>
      </p:sp>
      <p:sp>
        <p:nvSpPr>
          <p:cNvPr id="36" name="TextBox 35">
            <a:extLst>
              <a:ext uri="{FF2B5EF4-FFF2-40B4-BE49-F238E27FC236}">
                <a16:creationId xmlns:a16="http://schemas.microsoft.com/office/drawing/2014/main" id="{95D58AF2-E905-8DD8-F9E7-C14EF010632A}"/>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3" name="Circle">
            <a:extLst>
              <a:ext uri="{FF2B5EF4-FFF2-40B4-BE49-F238E27FC236}">
                <a16:creationId xmlns:a16="http://schemas.microsoft.com/office/drawing/2014/main" id="{6BF07ACD-7958-F801-5A96-DFBCF58B89B6}"/>
              </a:ext>
            </a:extLst>
          </p:cNvPr>
          <p:cNvSpPr>
            <a:spLocks/>
          </p:cNvSpPr>
          <p:nvPr/>
        </p:nvSpPr>
        <p:spPr>
          <a:xfrm>
            <a:off x="6865379" y="4595756"/>
            <a:ext cx="1459397" cy="1460406"/>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3</a:t>
            </a:r>
            <a:endParaRPr sz="2400" b="1" dirty="0">
              <a:solidFill>
                <a:schemeClr val="bg1"/>
              </a:solidFill>
            </a:endParaRPr>
          </a:p>
        </p:txBody>
      </p:sp>
      <p:grpSp>
        <p:nvGrpSpPr>
          <p:cNvPr id="4" name="Group 3">
            <a:extLst>
              <a:ext uri="{FF2B5EF4-FFF2-40B4-BE49-F238E27FC236}">
                <a16:creationId xmlns:a16="http://schemas.microsoft.com/office/drawing/2014/main" id="{2FAD9B7E-139E-9756-E43F-B22E28E10D2B}"/>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84364443-2463-4F2E-736F-D6F14070BC18}"/>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38C97F78-302D-4513-0AEA-0F96BA8FE33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011AC7CC-5E93-8896-B9C3-F186819264CE}"/>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
        <p:nvSpPr>
          <p:cNvPr id="11" name="TextBox 10">
            <a:extLst>
              <a:ext uri="{FF2B5EF4-FFF2-40B4-BE49-F238E27FC236}">
                <a16:creationId xmlns:a16="http://schemas.microsoft.com/office/drawing/2014/main" id="{52F7814D-2864-116E-71FD-D49FD17CE8AB}"/>
              </a:ext>
            </a:extLst>
          </p:cNvPr>
          <p:cNvSpPr txBox="1"/>
          <p:nvPr/>
        </p:nvSpPr>
        <p:spPr>
          <a:xfrm>
            <a:off x="8559805" y="4600659"/>
            <a:ext cx="3276783" cy="400110"/>
          </a:xfrm>
          <a:prstGeom prst="rect">
            <a:avLst/>
          </a:prstGeom>
          <a:noFill/>
        </p:spPr>
        <p:txBody>
          <a:bodyPr wrap="square" lIns="0" rIns="0" rtlCol="0" anchor="b">
            <a:spAutoFit/>
          </a:bodyPr>
          <a:lstStyle/>
          <a:p>
            <a:r>
              <a:rPr lang="en-US" sz="2000" b="1" noProof="1">
                <a:solidFill>
                  <a:srgbClr val="903063"/>
                </a:solidFill>
              </a:rPr>
              <a:t>Calculate Functional Score</a:t>
            </a:r>
          </a:p>
        </p:txBody>
      </p:sp>
      <p:sp>
        <p:nvSpPr>
          <p:cNvPr id="12" name="TextBox 11">
            <a:extLst>
              <a:ext uri="{FF2B5EF4-FFF2-40B4-BE49-F238E27FC236}">
                <a16:creationId xmlns:a16="http://schemas.microsoft.com/office/drawing/2014/main" id="{C3937F33-FAFC-5F41-1DB1-44F6F9FB5B3D}"/>
              </a:ext>
            </a:extLst>
          </p:cNvPr>
          <p:cNvSpPr txBox="1"/>
          <p:nvPr/>
        </p:nvSpPr>
        <p:spPr>
          <a:xfrm>
            <a:off x="8712017" y="2377178"/>
            <a:ext cx="3092506" cy="1123384"/>
          </a:xfrm>
          <a:prstGeom prst="rect">
            <a:avLst/>
          </a:prstGeom>
          <a:noFill/>
        </p:spPr>
        <p:txBody>
          <a:bodyPr wrap="square" rtlCol="0">
            <a:spAutoFit/>
          </a:bodyPr>
          <a:lstStyle/>
          <a:p>
            <a:pPr algn="ctr"/>
            <a:r>
              <a:rPr lang="en-US" sz="1400" dirty="0"/>
              <a:t>[Z(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a:t>
            </a:r>
          </a:p>
          <a:p>
            <a:pPr algn="ctr"/>
            <a:r>
              <a:rPr lang="en-US" sz="1400" dirty="0"/>
              <a:t>____________________________</a:t>
            </a:r>
          </a:p>
          <a:p>
            <a:pPr algn="ctr"/>
            <a:endParaRPr lang="en-US" sz="1100" dirty="0"/>
          </a:p>
          <a:p>
            <a:pPr algn="ctr"/>
            <a:r>
              <a:rPr lang="en-US" sz="1400" dirty="0"/>
              <a:t>3</a:t>
            </a:r>
          </a:p>
        </p:txBody>
      </p:sp>
      <p:sp>
        <p:nvSpPr>
          <p:cNvPr id="13" name="TextBox 12">
            <a:extLst>
              <a:ext uri="{FF2B5EF4-FFF2-40B4-BE49-F238E27FC236}">
                <a16:creationId xmlns:a16="http://schemas.microsoft.com/office/drawing/2014/main" id="{75673C05-49DD-3F2C-6DF9-6F2930A59569}"/>
              </a:ext>
            </a:extLst>
          </p:cNvPr>
          <p:cNvSpPr txBox="1"/>
          <p:nvPr/>
        </p:nvSpPr>
        <p:spPr>
          <a:xfrm>
            <a:off x="8044920" y="2870577"/>
            <a:ext cx="514885" cy="369332"/>
          </a:xfrm>
          <a:prstGeom prst="rect">
            <a:avLst/>
          </a:prstGeom>
          <a:noFill/>
        </p:spPr>
        <p:txBody>
          <a:bodyPr wrap="none" rtlCol="0">
            <a:spAutoFit/>
          </a:bodyPr>
          <a:lstStyle/>
          <a:p>
            <a:r>
              <a:rPr lang="en-IL" dirty="0"/>
              <a:t>EFS</a:t>
            </a:r>
          </a:p>
        </p:txBody>
      </p:sp>
      <p:sp>
        <p:nvSpPr>
          <p:cNvPr id="21" name="TextBox 20">
            <a:extLst>
              <a:ext uri="{FF2B5EF4-FFF2-40B4-BE49-F238E27FC236}">
                <a16:creationId xmlns:a16="http://schemas.microsoft.com/office/drawing/2014/main" id="{B80031CB-6D8D-D75F-F5C7-B4AB49F1FB13}"/>
              </a:ext>
            </a:extLst>
          </p:cNvPr>
          <p:cNvSpPr txBox="1"/>
          <p:nvPr/>
        </p:nvSpPr>
        <p:spPr>
          <a:xfrm>
            <a:off x="8552358" y="2870577"/>
            <a:ext cx="319318" cy="369332"/>
          </a:xfrm>
          <a:prstGeom prst="rect">
            <a:avLst/>
          </a:prstGeom>
          <a:noFill/>
        </p:spPr>
        <p:txBody>
          <a:bodyPr wrap="none" rtlCol="0">
            <a:spAutoFit/>
          </a:bodyPr>
          <a:lstStyle/>
          <a:p>
            <a:r>
              <a:rPr lang="en-IL" dirty="0"/>
              <a:t>=</a:t>
            </a:r>
          </a:p>
        </p:txBody>
      </p:sp>
    </p:spTree>
    <p:extLst>
      <p:ext uri="{BB962C8B-B14F-4D97-AF65-F5344CB8AC3E}">
        <p14:creationId xmlns:p14="http://schemas.microsoft.com/office/powerpoint/2010/main" val="2559149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F8A75-3D0E-FBA7-C9A9-52E29C13E2B4}"/>
              </a:ext>
            </a:extLst>
          </p:cNvPr>
          <p:cNvSpPr>
            <a:spLocks noGrp="1"/>
          </p:cNvSpPr>
          <p:nvPr>
            <p:ph type="title"/>
          </p:nvPr>
        </p:nvSpPr>
        <p:spPr>
          <a:xfrm>
            <a:off x="1043950" y="1179151"/>
            <a:ext cx="3300646" cy="4463889"/>
          </a:xfrm>
        </p:spPr>
        <p:txBody>
          <a:bodyPr anchor="ctr">
            <a:normAutofit/>
          </a:bodyPr>
          <a:lstStyle/>
          <a:p>
            <a:r>
              <a:rPr lang="en-IL" dirty="0"/>
              <a:t>Hypothesis</a:t>
            </a:r>
          </a:p>
        </p:txBody>
      </p:sp>
      <p:sp>
        <p:nvSpPr>
          <p:cNvPr id="3" name="Content Placeholder 2">
            <a:extLst>
              <a:ext uri="{FF2B5EF4-FFF2-40B4-BE49-F238E27FC236}">
                <a16:creationId xmlns:a16="http://schemas.microsoft.com/office/drawing/2014/main" id="{450371DA-6225-3ED0-31FB-0CFC1E1B1070}"/>
              </a:ext>
            </a:extLst>
          </p:cNvPr>
          <p:cNvSpPr>
            <a:spLocks noGrp="1"/>
          </p:cNvSpPr>
          <p:nvPr>
            <p:ph idx="1"/>
          </p:nvPr>
        </p:nvSpPr>
        <p:spPr>
          <a:xfrm>
            <a:off x="616688" y="2475595"/>
            <a:ext cx="10958623" cy="3572037"/>
          </a:xfrm>
        </p:spPr>
        <p:txBody>
          <a:bodyPr anchor="ctr">
            <a:normAutofit/>
          </a:bodyPr>
          <a:lstStyle/>
          <a:p>
            <a:pPr marL="0" indent="0" algn="ctr">
              <a:buNone/>
            </a:pPr>
            <a:r>
              <a:rPr lang="en-US" sz="4000" dirty="0"/>
              <a:t>Patients with TP53 mutations that have</a:t>
            </a:r>
            <a:r>
              <a:rPr lang="he-IL" sz="4000" dirty="0"/>
              <a:t> </a:t>
            </a:r>
            <a:r>
              <a:rPr lang="en-US" sz="4000" dirty="0"/>
              <a:t>the</a:t>
            </a:r>
            <a:endParaRPr lang="he-IL" sz="4000" dirty="0"/>
          </a:p>
          <a:p>
            <a:pPr marL="0" indent="0" algn="ctr">
              <a:buNone/>
            </a:pPr>
            <a:r>
              <a:rPr lang="en-US" sz="4000" dirty="0"/>
              <a:t>lowest</a:t>
            </a:r>
            <a:r>
              <a:rPr lang="he-IL" sz="4000" dirty="0"/>
              <a:t> </a:t>
            </a:r>
            <a:r>
              <a:rPr lang="en-US" sz="4000" dirty="0">
                <a:solidFill>
                  <a:srgbClr val="00B050"/>
                </a:solidFill>
              </a:rPr>
              <a:t>experimental function scores (EFS) </a:t>
            </a:r>
            <a:r>
              <a:rPr lang="en-US" sz="4000" dirty="0"/>
              <a:t>will show </a:t>
            </a:r>
            <a:endParaRPr lang="he-IL" sz="4000" dirty="0"/>
          </a:p>
          <a:p>
            <a:pPr marL="0" indent="0" algn="ctr">
              <a:buNone/>
            </a:pPr>
            <a:r>
              <a:rPr lang="en-US" sz="4000" dirty="0"/>
              <a:t>the highest </a:t>
            </a:r>
            <a:r>
              <a:rPr lang="en-US" sz="4000" dirty="0">
                <a:solidFill>
                  <a:srgbClr val="FF0000"/>
                </a:solidFill>
              </a:rPr>
              <a:t>Fraction Genome Altered (FGA)</a:t>
            </a:r>
            <a:endParaRPr lang="en-IL" sz="4000" dirty="0">
              <a:solidFill>
                <a:srgbClr val="FF0000"/>
              </a:solidFill>
            </a:endParaRPr>
          </a:p>
        </p:txBody>
      </p:sp>
      <p:sp>
        <p:nvSpPr>
          <p:cNvPr id="5" name="Title 1">
            <a:extLst>
              <a:ext uri="{FF2B5EF4-FFF2-40B4-BE49-F238E27FC236}">
                <a16:creationId xmlns:a16="http://schemas.microsoft.com/office/drawing/2014/main" id="{BC41C240-75A6-F0C4-6E17-4569BB826D9A}"/>
              </a:ext>
            </a:extLst>
          </p:cNvPr>
          <p:cNvSpPr txBox="1">
            <a:spLocks/>
          </p:cNvSpPr>
          <p:nvPr/>
        </p:nvSpPr>
        <p:spPr>
          <a:xfrm>
            <a:off x="1170052" y="774559"/>
            <a:ext cx="6750756" cy="688622"/>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err="1"/>
              <a:t>iNITIAL</a:t>
            </a:r>
            <a:r>
              <a:rPr lang="en-US" dirty="0"/>
              <a:t> Hypothesis</a:t>
            </a:r>
            <a:endParaRPr lang="en-IL" dirty="0"/>
          </a:p>
        </p:txBody>
      </p:sp>
      <p:sp>
        <p:nvSpPr>
          <p:cNvPr id="13" name="TextBox 12">
            <a:extLst>
              <a:ext uri="{FF2B5EF4-FFF2-40B4-BE49-F238E27FC236}">
                <a16:creationId xmlns:a16="http://schemas.microsoft.com/office/drawing/2014/main" id="{55CA4A04-F3CC-E50D-A930-C2617987304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263438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98ABE-CF8B-D69D-E84E-44B2D17D2AA8}"/>
              </a:ext>
            </a:extLst>
          </p:cNvPr>
          <p:cNvSpPr>
            <a:spLocks noGrp="1"/>
          </p:cNvSpPr>
          <p:nvPr>
            <p:ph type="title"/>
          </p:nvPr>
        </p:nvSpPr>
        <p:spPr>
          <a:xfrm>
            <a:off x="1170927" y="815975"/>
            <a:ext cx="4090285" cy="624060"/>
          </a:xfrm>
        </p:spPr>
        <p:txBody>
          <a:bodyPr>
            <a:normAutofit/>
          </a:bodyPr>
          <a:lstStyle/>
          <a:p>
            <a:r>
              <a:rPr lang="en-US" dirty="0"/>
              <a:t>Research Questions</a:t>
            </a:r>
            <a:endParaRPr lang="en-IL" dirty="0"/>
          </a:p>
        </p:txBody>
      </p:sp>
      <p:graphicFrame>
        <p:nvGraphicFramePr>
          <p:cNvPr id="14" name="Content Placeholder 2">
            <a:extLst>
              <a:ext uri="{FF2B5EF4-FFF2-40B4-BE49-F238E27FC236}">
                <a16:creationId xmlns:a16="http://schemas.microsoft.com/office/drawing/2014/main" id="{3D6605E1-D9B9-4C0E-8948-1BDE3BBABAE1}"/>
              </a:ext>
            </a:extLst>
          </p:cNvPr>
          <p:cNvGraphicFramePr>
            <a:graphicFrameLocks noGrp="1"/>
          </p:cNvGraphicFramePr>
          <p:nvPr>
            <p:ph idx="1"/>
            <p:extLst>
              <p:ext uri="{D42A27DB-BD31-4B8C-83A1-F6EECF244321}">
                <p14:modId xmlns:p14="http://schemas.microsoft.com/office/powerpoint/2010/main" val="1234365697"/>
              </p:ext>
            </p:extLst>
          </p:nvPr>
        </p:nvGraphicFramePr>
        <p:xfrm>
          <a:off x="1286933" y="2180555"/>
          <a:ext cx="9618133"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47A52DF3-CC9E-2060-FEF8-AF5B00368D9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81758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23E3D-3081-6279-96AE-306C13DFF5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DB3BD-D1C6-E2CF-8283-E2C584FD5742}"/>
              </a:ext>
            </a:extLst>
          </p:cNvPr>
          <p:cNvSpPr>
            <a:spLocks noGrp="1"/>
          </p:cNvSpPr>
          <p:nvPr>
            <p:ph type="title"/>
          </p:nvPr>
        </p:nvSpPr>
        <p:spPr>
          <a:xfrm>
            <a:off x="1075907" y="348735"/>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3" name="Content Placeholder 2">
            <a:extLst>
              <a:ext uri="{FF2B5EF4-FFF2-40B4-BE49-F238E27FC236}">
                <a16:creationId xmlns:a16="http://schemas.microsoft.com/office/drawing/2014/main" id="{01AA0A3D-8BE3-0B9A-CB05-49515B9F5340}"/>
              </a:ext>
            </a:extLst>
          </p:cNvPr>
          <p:cNvSpPr>
            <a:spLocks noGrp="1"/>
          </p:cNvSpPr>
          <p:nvPr>
            <p:ph idx="1"/>
          </p:nvPr>
        </p:nvSpPr>
        <p:spPr>
          <a:xfrm>
            <a:off x="6308306" y="1988231"/>
            <a:ext cx="3981164" cy="3880773"/>
          </a:xfrm>
        </p:spPr>
        <p:txBody>
          <a:bodyPr>
            <a:normAutofit/>
          </a:bodyPr>
          <a:lstStyle/>
          <a:p>
            <a:pPr>
              <a:buFont typeface="Wingdings" pitchFamily="2" charset="2"/>
              <a:buChar char="Ø"/>
            </a:pPr>
            <a:r>
              <a:rPr lang="en-US" dirty="0"/>
              <a:t>Giacomelli et al., Nature Genetics, 2018 (25,217 variants, 8,274 unique)</a:t>
            </a:r>
          </a:p>
          <a:p>
            <a:pPr>
              <a:buFont typeface="Wingdings" pitchFamily="2" charset="2"/>
              <a:buChar char="Ø"/>
            </a:pPr>
            <a:r>
              <a:rPr lang="en-US" dirty="0"/>
              <a:t>Role: Experimental "fitness" scores for every possible TP53 mutation - </a:t>
            </a:r>
            <a:r>
              <a:rPr lang="en-US" u="sng" dirty="0"/>
              <a:t>the genotype</a:t>
            </a:r>
          </a:p>
          <a:p>
            <a:pPr>
              <a:buFont typeface="Wingdings" pitchFamily="2" charset="2"/>
              <a:buChar char="Ø"/>
            </a:pPr>
            <a:r>
              <a:rPr lang="en-US" dirty="0"/>
              <a:t>Metric: Experimental Functional Score (derived from cell line fitness screens) quantifies exactly how well each specific TP53 mutant can suppress tumor growth in a controlled lab setting</a:t>
            </a:r>
          </a:p>
        </p:txBody>
      </p:sp>
      <p:sp>
        <p:nvSpPr>
          <p:cNvPr id="4" name="Content Placeholder 2">
            <a:extLst>
              <a:ext uri="{FF2B5EF4-FFF2-40B4-BE49-F238E27FC236}">
                <a16:creationId xmlns:a16="http://schemas.microsoft.com/office/drawing/2014/main" id="{E9705883-5B8C-C2EF-4572-7F0261B08839}"/>
              </a:ext>
            </a:extLst>
          </p:cNvPr>
          <p:cNvSpPr txBox="1">
            <a:spLocks/>
          </p:cNvSpPr>
          <p:nvPr/>
        </p:nvSpPr>
        <p:spPr>
          <a:xfrm>
            <a:off x="1440834" y="2162599"/>
            <a:ext cx="3821288" cy="388077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buFont typeface="Wingdings" pitchFamily="2" charset="2"/>
              <a:buChar char="Ø"/>
            </a:pPr>
            <a:r>
              <a:rPr lang="en-US" dirty="0"/>
              <a:t>AACR GENIE v19.0 (~271,000 samples, 100,418 with FGA).</a:t>
            </a:r>
          </a:p>
          <a:p>
            <a:pPr>
              <a:buFont typeface="Wingdings" pitchFamily="2" charset="2"/>
              <a:buChar char="Ø"/>
            </a:pPr>
            <a:r>
              <a:rPr lang="en-US" dirty="0"/>
              <a:t>Role: Real-world patient data - </a:t>
            </a:r>
            <a:r>
              <a:rPr lang="en-US" u="sng" dirty="0"/>
              <a:t>the phenotype</a:t>
            </a:r>
          </a:p>
          <a:p>
            <a:pPr>
              <a:buFont typeface="Wingdings" pitchFamily="2" charset="2"/>
              <a:buChar char="Ø"/>
            </a:pPr>
            <a:r>
              <a:rPr lang="en-US" dirty="0"/>
              <a:t>Metric: FRACTION_GENOME_ALTERED (FGA), a quantitative measure of chromosomal instability</a:t>
            </a:r>
          </a:p>
          <a:p>
            <a:pPr>
              <a:buFont typeface="Wingdings" pitchFamily="2" charset="2"/>
              <a:buChar char="Ø"/>
            </a:pPr>
            <a:r>
              <a:rPr lang="en-US" dirty="0"/>
              <a:t>35,357 TP53-mutant</a:t>
            </a:r>
          </a:p>
          <a:p>
            <a:pPr>
              <a:buFont typeface="Wingdings" pitchFamily="2" charset="2"/>
              <a:buChar char="Ø"/>
            </a:pPr>
            <a:r>
              <a:rPr lang="en-US" dirty="0"/>
              <a:t>65,061 TP53-WT</a:t>
            </a:r>
          </a:p>
        </p:txBody>
      </p:sp>
      <p:sp>
        <p:nvSpPr>
          <p:cNvPr id="6" name="TextBox 5">
            <a:extLst>
              <a:ext uri="{FF2B5EF4-FFF2-40B4-BE49-F238E27FC236}">
                <a16:creationId xmlns:a16="http://schemas.microsoft.com/office/drawing/2014/main" id="{3DC19C54-F4B6-77C2-43EE-6855AEF25ABD}"/>
              </a:ext>
            </a:extLst>
          </p:cNvPr>
          <p:cNvSpPr txBox="1"/>
          <p:nvPr/>
        </p:nvSpPr>
        <p:spPr>
          <a:xfrm>
            <a:off x="2104783" y="6187700"/>
            <a:ext cx="7945508" cy="369332"/>
          </a:xfrm>
          <a:prstGeom prst="rect">
            <a:avLst/>
          </a:prstGeom>
          <a:noFill/>
        </p:spPr>
        <p:txBody>
          <a:bodyPr wrap="none" rtlCol="0">
            <a:spAutoFit/>
          </a:bodyPr>
          <a:lstStyle/>
          <a:p>
            <a:pPr lvl="0"/>
            <a:r>
              <a:rPr lang="en-US" b="1" dirty="0">
                <a:solidFill>
                  <a:srgbClr val="C00000"/>
                </a:solidFill>
              </a:rPr>
              <a:t>Goal: to show that the physical structure of the genome is breaking down</a:t>
            </a:r>
          </a:p>
        </p:txBody>
      </p:sp>
      <p:sp>
        <p:nvSpPr>
          <p:cNvPr id="10" name="TextBox 9">
            <a:extLst>
              <a:ext uri="{FF2B5EF4-FFF2-40B4-BE49-F238E27FC236}">
                <a16:creationId xmlns:a16="http://schemas.microsoft.com/office/drawing/2014/main" id="{F180386E-378B-FAFF-E227-36C13857EF32}"/>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0826711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4D48C21-D9D6-2A8D-E5A9-03D57CD6983B}"/>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50D5BB2-B032-C09A-7B4B-4C9C1F6F2A6D}"/>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TP53 mutations correlate with higher genomic instability (FGA)?</a:t>
            </a:r>
            <a:endParaRPr lang="en-IL" dirty="0"/>
          </a:p>
        </p:txBody>
      </p:sp>
      <p:sp>
        <p:nvSpPr>
          <p:cNvPr id="13" name="TextBox 12">
            <a:extLst>
              <a:ext uri="{FF2B5EF4-FFF2-40B4-BE49-F238E27FC236}">
                <a16:creationId xmlns:a16="http://schemas.microsoft.com/office/drawing/2014/main" id="{C7149966-4352-0034-EA18-0391EB8BAE2C}"/>
              </a:ext>
            </a:extLst>
          </p:cNvPr>
          <p:cNvSpPr txBox="1"/>
          <p:nvPr/>
        </p:nvSpPr>
        <p:spPr>
          <a:xfrm>
            <a:off x="1537775" y="6076144"/>
            <a:ext cx="9361602" cy="369332"/>
          </a:xfrm>
          <a:prstGeom prst="rect">
            <a:avLst/>
          </a:prstGeom>
          <a:noFill/>
        </p:spPr>
        <p:txBody>
          <a:bodyPr wrap="none" rtlCol="0">
            <a:spAutoFit/>
          </a:bodyPr>
          <a:lstStyle/>
          <a:p>
            <a:r>
              <a:rPr lang="en-US" dirty="0"/>
              <a:t>TP53 mutant tumors have significantly higher FGA than WT (median 0.182 vs 0.037, p &lt; 1×10⁻</a:t>
            </a:r>
            <a:r>
              <a:rPr lang="en-US" baseline="30000" dirty="0"/>
              <a:t>300</a:t>
            </a:r>
            <a:r>
              <a:rPr lang="en-US" dirty="0"/>
              <a:t>)</a:t>
            </a:r>
          </a:p>
        </p:txBody>
      </p:sp>
      <p:pic>
        <p:nvPicPr>
          <p:cNvPr id="14" name="Picture 13">
            <a:extLst>
              <a:ext uri="{FF2B5EF4-FFF2-40B4-BE49-F238E27FC236}">
                <a16:creationId xmlns:a16="http://schemas.microsoft.com/office/drawing/2014/main" id="{3295D02F-25C7-4C16-5200-8AF8D295E981}"/>
              </a:ext>
            </a:extLst>
          </p:cNvPr>
          <p:cNvPicPr>
            <a:picLocks noChangeAspect="1"/>
          </p:cNvPicPr>
          <p:nvPr/>
        </p:nvPicPr>
        <p:blipFill>
          <a:blip r:embed="rId3"/>
          <a:stretch>
            <a:fillRect/>
          </a:stretch>
        </p:blipFill>
        <p:spPr>
          <a:xfrm>
            <a:off x="2207461" y="2231141"/>
            <a:ext cx="7772400" cy="3671624"/>
          </a:xfrm>
          <a:prstGeom prst="rect">
            <a:avLst/>
          </a:prstGeom>
        </p:spPr>
      </p:pic>
    </p:spTree>
    <p:extLst>
      <p:ext uri="{BB962C8B-B14F-4D97-AF65-F5344CB8AC3E}">
        <p14:creationId xmlns:p14="http://schemas.microsoft.com/office/powerpoint/2010/main" val="2411909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2F011-000C-1AE0-7D31-CBAC702369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70276BC-0AC6-A717-FA6A-AE32621A2EB8}"/>
              </a:ext>
            </a:extLst>
          </p:cNvPr>
          <p:cNvSpPr txBox="1"/>
          <p:nvPr/>
        </p:nvSpPr>
        <p:spPr>
          <a:xfrm>
            <a:off x="4244454" y="6210"/>
            <a:ext cx="3698414" cy="504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2036B11B-88A0-682B-9FD9-78FF979F19E7}"/>
              </a:ext>
            </a:extLst>
          </p:cNvPr>
          <p:cNvSpPr txBox="1">
            <a:spLocks/>
          </p:cNvSpPr>
          <p:nvPr/>
        </p:nvSpPr>
        <p:spPr>
          <a:xfrm>
            <a:off x="1020801" y="815976"/>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 Is there a correlation between EFS and FGA?</a:t>
            </a:r>
          </a:p>
        </p:txBody>
      </p:sp>
      <p:sp>
        <p:nvSpPr>
          <p:cNvPr id="13" name="TextBox 12">
            <a:extLst>
              <a:ext uri="{FF2B5EF4-FFF2-40B4-BE49-F238E27FC236}">
                <a16:creationId xmlns:a16="http://schemas.microsoft.com/office/drawing/2014/main" id="{D9DAE156-E127-133B-B04F-6C8288694112}"/>
              </a:ext>
            </a:extLst>
          </p:cNvPr>
          <p:cNvSpPr txBox="1"/>
          <p:nvPr/>
        </p:nvSpPr>
        <p:spPr>
          <a:xfrm>
            <a:off x="1896807" y="6074821"/>
            <a:ext cx="8393708" cy="369332"/>
          </a:xfrm>
          <a:prstGeom prst="rect">
            <a:avLst/>
          </a:prstGeom>
          <a:noFill/>
        </p:spPr>
        <p:txBody>
          <a:bodyPr wrap="none" rtlCol="0">
            <a:spAutoFit/>
          </a:bodyPr>
          <a:lstStyle/>
          <a:p>
            <a:r>
              <a:rPr lang="en-US" dirty="0"/>
              <a:t>Weak correlation. The hypothesis partially holds but EFS alone doesn't predict FGA well</a:t>
            </a:r>
          </a:p>
        </p:txBody>
      </p:sp>
      <p:pic>
        <p:nvPicPr>
          <p:cNvPr id="3" name="Picture 2">
            <a:extLst>
              <a:ext uri="{FF2B5EF4-FFF2-40B4-BE49-F238E27FC236}">
                <a16:creationId xmlns:a16="http://schemas.microsoft.com/office/drawing/2014/main" id="{27C1CB25-1DF6-0CAF-F6B5-069EF6524031}"/>
              </a:ext>
            </a:extLst>
          </p:cNvPr>
          <p:cNvPicPr>
            <a:picLocks noChangeAspect="1"/>
          </p:cNvPicPr>
          <p:nvPr/>
        </p:nvPicPr>
        <p:blipFill>
          <a:blip r:embed="rId3"/>
          <a:srcRect r="50000"/>
          <a:stretch>
            <a:fillRect/>
          </a:stretch>
        </p:blipFill>
        <p:spPr>
          <a:xfrm>
            <a:off x="3817096" y="2093428"/>
            <a:ext cx="4553129" cy="3948596"/>
          </a:xfrm>
          <a:prstGeom prst="rect">
            <a:avLst/>
          </a:prstGeom>
        </p:spPr>
      </p:pic>
    </p:spTree>
    <p:extLst>
      <p:ext uri="{BB962C8B-B14F-4D97-AF65-F5344CB8AC3E}">
        <p14:creationId xmlns:p14="http://schemas.microsoft.com/office/powerpoint/2010/main" val="35530312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2E269-B919-A0CE-D943-1E6DFA1B89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2485392-FF72-2B72-BD76-DE0A2F158F18}"/>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82547B83-2C72-0FFA-8ED4-EA2AF20BE789}"/>
              </a:ext>
            </a:extLst>
          </p:cNvPr>
          <p:cNvSpPr txBox="1">
            <a:spLocks/>
          </p:cNvSpPr>
          <p:nvPr/>
        </p:nvSpPr>
        <p:spPr>
          <a:xfrm>
            <a:off x="705067" y="991992"/>
            <a:ext cx="11037048" cy="624060"/>
          </a:xfrm>
          <a:prstGeom prst="rect">
            <a:avLst/>
          </a:prstGeom>
        </p:spPr>
        <p:txBody>
          <a:bodyPr vert="horz" lIns="91440" tIns="45720" rIns="91440" bIns="45720" rtlCol="0" anchor="b">
            <a:normAutofit fontScale="700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higher genomic instability than rare mutations?</a:t>
            </a:r>
          </a:p>
          <a:p>
            <a:endParaRPr lang="en-US" dirty="0"/>
          </a:p>
        </p:txBody>
      </p:sp>
      <p:sp>
        <p:nvSpPr>
          <p:cNvPr id="13" name="TextBox 12">
            <a:extLst>
              <a:ext uri="{FF2B5EF4-FFF2-40B4-BE49-F238E27FC236}">
                <a16:creationId xmlns:a16="http://schemas.microsoft.com/office/drawing/2014/main" id="{7E0EF9D9-E489-49CE-71A9-5D56630B5D83}"/>
              </a:ext>
            </a:extLst>
          </p:cNvPr>
          <p:cNvSpPr txBox="1"/>
          <p:nvPr/>
        </p:nvSpPr>
        <p:spPr>
          <a:xfrm>
            <a:off x="1018041" y="6174992"/>
            <a:ext cx="10151240" cy="369332"/>
          </a:xfrm>
          <a:prstGeom prst="rect">
            <a:avLst/>
          </a:prstGeom>
          <a:noFill/>
        </p:spPr>
        <p:txBody>
          <a:bodyPr wrap="none" rtlCol="0">
            <a:spAutoFit/>
          </a:bodyPr>
          <a:lstStyle/>
          <a:p>
            <a:r>
              <a:rPr lang="en-US" dirty="0"/>
              <a:t>Rare mutations have higher median FGA. ”Hotspot” mutations have lower FGA median than rare mutations</a:t>
            </a:r>
          </a:p>
        </p:txBody>
      </p:sp>
      <p:pic>
        <p:nvPicPr>
          <p:cNvPr id="10" name="Picture 9">
            <a:extLst>
              <a:ext uri="{FF2B5EF4-FFF2-40B4-BE49-F238E27FC236}">
                <a16:creationId xmlns:a16="http://schemas.microsoft.com/office/drawing/2014/main" id="{B9EED151-DAE9-8272-1813-D69686A9F18D}"/>
              </a:ext>
            </a:extLst>
          </p:cNvPr>
          <p:cNvPicPr>
            <a:picLocks noChangeAspect="1"/>
          </p:cNvPicPr>
          <p:nvPr/>
        </p:nvPicPr>
        <p:blipFill>
          <a:blip r:embed="rId3"/>
          <a:stretch>
            <a:fillRect/>
          </a:stretch>
        </p:blipFill>
        <p:spPr>
          <a:xfrm>
            <a:off x="577476" y="2133835"/>
            <a:ext cx="11037048" cy="3799132"/>
          </a:xfrm>
          <a:prstGeom prst="rect">
            <a:avLst/>
          </a:prstGeom>
        </p:spPr>
      </p:pic>
    </p:spTree>
    <p:extLst>
      <p:ext uri="{BB962C8B-B14F-4D97-AF65-F5344CB8AC3E}">
        <p14:creationId xmlns:p14="http://schemas.microsoft.com/office/powerpoint/2010/main" val="2765281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CE85B-3309-1B69-BD5B-E101E2A88CC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1B9404A-6A00-538C-10D9-D01D95DC611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13" name="TextBox 12">
            <a:extLst>
              <a:ext uri="{FF2B5EF4-FFF2-40B4-BE49-F238E27FC236}">
                <a16:creationId xmlns:a16="http://schemas.microsoft.com/office/drawing/2014/main" id="{FD78E343-857C-92B0-92F1-B3E4ECE429F5}"/>
              </a:ext>
            </a:extLst>
          </p:cNvPr>
          <p:cNvSpPr txBox="1"/>
          <p:nvPr/>
        </p:nvSpPr>
        <p:spPr>
          <a:xfrm>
            <a:off x="2832736" y="6206143"/>
            <a:ext cx="6521850" cy="369332"/>
          </a:xfrm>
          <a:prstGeom prst="rect">
            <a:avLst/>
          </a:prstGeom>
          <a:noFill/>
        </p:spPr>
        <p:txBody>
          <a:bodyPr wrap="none" rtlCol="0">
            <a:spAutoFit/>
          </a:bodyPr>
          <a:lstStyle/>
          <a:p>
            <a:r>
              <a:rPr lang="en-US" dirty="0"/>
              <a:t>The loss of TP53 function itself drives genomic instability uniformly.</a:t>
            </a:r>
          </a:p>
        </p:txBody>
      </p:sp>
      <p:pic>
        <p:nvPicPr>
          <p:cNvPr id="8" name="Picture 7">
            <a:extLst>
              <a:ext uri="{FF2B5EF4-FFF2-40B4-BE49-F238E27FC236}">
                <a16:creationId xmlns:a16="http://schemas.microsoft.com/office/drawing/2014/main" id="{FDE45903-0388-A24D-CF78-EB50EA792B9D}"/>
              </a:ext>
            </a:extLst>
          </p:cNvPr>
          <p:cNvPicPr>
            <a:picLocks noChangeAspect="1"/>
          </p:cNvPicPr>
          <p:nvPr/>
        </p:nvPicPr>
        <p:blipFill>
          <a:blip r:embed="rId3"/>
          <a:srcRect t="9479"/>
          <a:stretch>
            <a:fillRect/>
          </a:stretch>
        </p:blipFill>
        <p:spPr>
          <a:xfrm>
            <a:off x="984518" y="2063261"/>
            <a:ext cx="10222963" cy="3880339"/>
          </a:xfrm>
          <a:prstGeom prst="rect">
            <a:avLst/>
          </a:prstGeom>
        </p:spPr>
      </p:pic>
      <p:sp>
        <p:nvSpPr>
          <p:cNvPr id="2" name="Title 1">
            <a:extLst>
              <a:ext uri="{FF2B5EF4-FFF2-40B4-BE49-F238E27FC236}">
                <a16:creationId xmlns:a16="http://schemas.microsoft.com/office/drawing/2014/main" id="{E0895FE1-4970-5175-634D-1C6A90FF7541}"/>
              </a:ext>
            </a:extLst>
          </p:cNvPr>
          <p:cNvSpPr txBox="1">
            <a:spLocks/>
          </p:cNvSpPr>
          <p:nvPr/>
        </p:nvSpPr>
        <p:spPr>
          <a:xfrm>
            <a:off x="705067" y="991992"/>
            <a:ext cx="11037048" cy="624060"/>
          </a:xfrm>
          <a:prstGeom prst="rect">
            <a:avLst/>
          </a:prstGeom>
        </p:spPr>
        <p:txBody>
          <a:bodyPr vert="horz" lIns="91440" tIns="45720" rIns="91440" bIns="45720" rtlCol="0" anchor="b">
            <a:normAutofit fontScale="700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higher genomic instability than rare mutations?</a:t>
            </a:r>
          </a:p>
          <a:p>
            <a:endParaRPr lang="en-US" dirty="0"/>
          </a:p>
        </p:txBody>
      </p:sp>
    </p:spTree>
    <p:extLst>
      <p:ext uri="{BB962C8B-B14F-4D97-AF65-F5344CB8AC3E}">
        <p14:creationId xmlns:p14="http://schemas.microsoft.com/office/powerpoint/2010/main" val="35401302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4F387-8656-ECB8-2928-1EB11651CD1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AFA7E82-AC1C-DDBE-C702-5EFE13545870}"/>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2970265-613D-7411-DDFD-4EF5DD9D036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Is this cancer-type specific?</a:t>
            </a:r>
          </a:p>
        </p:txBody>
      </p:sp>
      <p:sp>
        <p:nvSpPr>
          <p:cNvPr id="13" name="TextBox 12">
            <a:extLst>
              <a:ext uri="{FF2B5EF4-FFF2-40B4-BE49-F238E27FC236}">
                <a16:creationId xmlns:a16="http://schemas.microsoft.com/office/drawing/2014/main" id="{BC06C175-0B76-F25D-CD66-7276044E17BB}"/>
              </a:ext>
            </a:extLst>
          </p:cNvPr>
          <p:cNvSpPr txBox="1"/>
          <p:nvPr/>
        </p:nvSpPr>
        <p:spPr>
          <a:xfrm>
            <a:off x="895881" y="5821166"/>
            <a:ext cx="10395551" cy="923330"/>
          </a:xfrm>
          <a:prstGeom prst="rect">
            <a:avLst/>
          </a:prstGeom>
          <a:noFill/>
        </p:spPr>
        <p:txBody>
          <a:bodyPr wrap="square" rtlCol="0">
            <a:spAutoFit/>
          </a:bodyPr>
          <a:lstStyle/>
          <a:p>
            <a:pPr algn="ctr"/>
            <a:r>
              <a:rPr lang="en-US" dirty="0"/>
              <a:t>All top absolute FGA cancers are solid tumors (Ovarian Cancer, Soft Tissue Sarcoma, and Colorectal Cancer).</a:t>
            </a:r>
          </a:p>
          <a:p>
            <a:pPr algn="ctr"/>
            <a:r>
              <a:rPr lang="en-US" dirty="0"/>
              <a:t>The blood cancers have the highest fold change but tiny absolute FGA values (~0.03–0.07) because their WT baseline is essentially zero.</a:t>
            </a:r>
          </a:p>
        </p:txBody>
      </p:sp>
      <p:pic>
        <p:nvPicPr>
          <p:cNvPr id="6" name="Picture 5">
            <a:extLst>
              <a:ext uri="{FF2B5EF4-FFF2-40B4-BE49-F238E27FC236}">
                <a16:creationId xmlns:a16="http://schemas.microsoft.com/office/drawing/2014/main" id="{405032C8-B68F-E5B1-5A9F-C9DCAD7677EA}"/>
              </a:ext>
            </a:extLst>
          </p:cNvPr>
          <p:cNvPicPr>
            <a:picLocks noChangeAspect="1"/>
          </p:cNvPicPr>
          <p:nvPr/>
        </p:nvPicPr>
        <p:blipFill>
          <a:blip r:embed="rId3"/>
          <a:stretch>
            <a:fillRect/>
          </a:stretch>
        </p:blipFill>
        <p:spPr>
          <a:xfrm>
            <a:off x="1672352" y="1934359"/>
            <a:ext cx="8842611" cy="3860973"/>
          </a:xfrm>
          <a:prstGeom prst="rect">
            <a:avLst/>
          </a:prstGeom>
        </p:spPr>
      </p:pic>
    </p:spTree>
    <p:extLst>
      <p:ext uri="{BB962C8B-B14F-4D97-AF65-F5344CB8AC3E}">
        <p14:creationId xmlns:p14="http://schemas.microsoft.com/office/powerpoint/2010/main" val="10180632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B8FF6F-4BEA-6F3E-3F23-5A89C248E7B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B639E3F-4B1A-153B-CB66-47213375D7FA}"/>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DFAAF338-1ECF-E45A-E298-522A12B8B2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Conclusions</a:t>
            </a:r>
          </a:p>
        </p:txBody>
      </p:sp>
      <p:sp>
        <p:nvSpPr>
          <p:cNvPr id="7" name="TextBox 6">
            <a:extLst>
              <a:ext uri="{FF2B5EF4-FFF2-40B4-BE49-F238E27FC236}">
                <a16:creationId xmlns:a16="http://schemas.microsoft.com/office/drawing/2014/main" id="{4E8F13B0-6EAA-EE2F-2862-05D00F6DFCC3}"/>
              </a:ext>
            </a:extLst>
          </p:cNvPr>
          <p:cNvSpPr txBox="1"/>
          <p:nvPr/>
        </p:nvSpPr>
        <p:spPr>
          <a:xfrm>
            <a:off x="1020801" y="2333767"/>
            <a:ext cx="10395550" cy="954107"/>
          </a:xfrm>
          <a:prstGeom prst="rect">
            <a:avLst/>
          </a:prstGeom>
          <a:noFill/>
        </p:spPr>
        <p:txBody>
          <a:bodyPr wrap="square" rtlCol="0">
            <a:spAutoFit/>
          </a:bodyPr>
          <a:lstStyle/>
          <a:p>
            <a:pPr marL="285750" indent="-285750">
              <a:buFont typeface="Wingdings" pitchFamily="2" charset="2"/>
              <a:buChar char="Ø"/>
            </a:pPr>
            <a:r>
              <a:rPr lang="en-US" sz="2800" dirty="0"/>
              <a:t>The binary effect (mutant vs WT) is stronger than the continuous effect (EFS vs FGA).</a:t>
            </a:r>
            <a:endParaRPr lang="en-IL" sz="2800" dirty="0"/>
          </a:p>
        </p:txBody>
      </p:sp>
      <p:sp>
        <p:nvSpPr>
          <p:cNvPr id="8" name="TextBox 7">
            <a:extLst>
              <a:ext uri="{FF2B5EF4-FFF2-40B4-BE49-F238E27FC236}">
                <a16:creationId xmlns:a16="http://schemas.microsoft.com/office/drawing/2014/main" id="{CEABEF96-7F43-EBF9-A13B-2B3AD8DA053F}"/>
              </a:ext>
            </a:extLst>
          </p:cNvPr>
          <p:cNvSpPr txBox="1"/>
          <p:nvPr/>
        </p:nvSpPr>
        <p:spPr>
          <a:xfrm>
            <a:off x="1020799" y="3632964"/>
            <a:ext cx="10395551" cy="1384995"/>
          </a:xfrm>
          <a:prstGeom prst="rect">
            <a:avLst/>
          </a:prstGeom>
          <a:noFill/>
        </p:spPr>
        <p:txBody>
          <a:bodyPr wrap="square" rtlCol="0">
            <a:spAutoFit/>
          </a:bodyPr>
          <a:lstStyle/>
          <a:p>
            <a:pPr marL="285750" indent="-285750">
              <a:buFont typeface="Wingdings" pitchFamily="2" charset="2"/>
              <a:buChar char="Ø"/>
            </a:pPr>
            <a:r>
              <a:rPr lang="en-US" sz="2800" dirty="0"/>
              <a:t>This suggests a </a:t>
            </a:r>
            <a:r>
              <a:rPr lang="en-US" sz="2800" u="sng" dirty="0"/>
              <a:t>threshold model</a:t>
            </a:r>
            <a:r>
              <a:rPr lang="en-US" sz="2800" dirty="0"/>
              <a:t>: once TP53 changes its function, genomic chaos follows, but the </a:t>
            </a:r>
            <a:r>
              <a:rPr lang="en-US" sz="2800" u="sng" dirty="0"/>
              <a:t>specific degree</a:t>
            </a:r>
            <a:r>
              <a:rPr lang="en-US" sz="2800" dirty="0"/>
              <a:t> of functional loss matters less than its </a:t>
            </a:r>
            <a:r>
              <a:rPr lang="en-US" sz="2800" u="sng" dirty="0"/>
              <a:t>presence</a:t>
            </a:r>
            <a:endParaRPr lang="en-IL" sz="2800" dirty="0"/>
          </a:p>
        </p:txBody>
      </p:sp>
      <p:sp>
        <p:nvSpPr>
          <p:cNvPr id="9" name="TextBox 8">
            <a:extLst>
              <a:ext uri="{FF2B5EF4-FFF2-40B4-BE49-F238E27FC236}">
                <a16:creationId xmlns:a16="http://schemas.microsoft.com/office/drawing/2014/main" id="{91CF58FC-D142-D3D0-2598-79549E45F738}"/>
              </a:ext>
            </a:extLst>
          </p:cNvPr>
          <p:cNvSpPr txBox="1"/>
          <p:nvPr/>
        </p:nvSpPr>
        <p:spPr>
          <a:xfrm>
            <a:off x="1020800" y="5363049"/>
            <a:ext cx="10395551" cy="523220"/>
          </a:xfrm>
          <a:prstGeom prst="rect">
            <a:avLst/>
          </a:prstGeom>
          <a:noFill/>
        </p:spPr>
        <p:txBody>
          <a:bodyPr wrap="square" rtlCol="0">
            <a:spAutoFit/>
          </a:bodyPr>
          <a:lstStyle/>
          <a:p>
            <a:pPr marL="285750" indent="-285750">
              <a:buFont typeface="Wingdings" pitchFamily="2" charset="2"/>
              <a:buChar char="Ø"/>
            </a:pPr>
            <a:r>
              <a:rPr lang="en-US" sz="2800" dirty="0"/>
              <a:t>Other tumor-intrinsic and tissue-specific factors play a larger role</a:t>
            </a:r>
            <a:endParaRPr lang="en-IL" sz="2800" dirty="0"/>
          </a:p>
        </p:txBody>
      </p:sp>
    </p:spTree>
    <p:extLst>
      <p:ext uri="{BB962C8B-B14F-4D97-AF65-F5344CB8AC3E}">
        <p14:creationId xmlns:p14="http://schemas.microsoft.com/office/powerpoint/2010/main" val="1065089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6F576C-EB48-52F6-5A79-0822C7E173B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3D6910E-825C-3411-A9AA-7AC88F9B34F8}"/>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9C31A4FE-D124-BE44-DCE1-8BF1EAF1A6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Conclusions</a:t>
            </a:r>
          </a:p>
        </p:txBody>
      </p:sp>
      <p:sp>
        <p:nvSpPr>
          <p:cNvPr id="7" name="TextBox 6">
            <a:extLst>
              <a:ext uri="{FF2B5EF4-FFF2-40B4-BE49-F238E27FC236}">
                <a16:creationId xmlns:a16="http://schemas.microsoft.com/office/drawing/2014/main" id="{C2BD100E-D4DA-1C6C-09A5-C56EC2A38BBE}"/>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Hotspot mutations dominate in tumors not because they're functionally the worst (Giacomelli showed this), but because their DNA sequences are highly mutable. Yet they still drive genomic instability, consistent with the threshold model.</a:t>
            </a:r>
          </a:p>
        </p:txBody>
      </p:sp>
    </p:spTree>
    <p:extLst>
      <p:ext uri="{BB962C8B-B14F-4D97-AF65-F5344CB8AC3E}">
        <p14:creationId xmlns:p14="http://schemas.microsoft.com/office/powerpoint/2010/main" val="167903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4B59AA-C2FC-5D5B-688C-2CB4457CBB3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51EFF4C-6D0D-B1A7-7ACD-A1722EFC2D36}"/>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763DACFC-91D9-69A5-56DC-A764E8036EC8}"/>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Constrains and future directions</a:t>
            </a:r>
          </a:p>
        </p:txBody>
      </p:sp>
      <p:sp>
        <p:nvSpPr>
          <p:cNvPr id="7" name="TextBox 6">
            <a:extLst>
              <a:ext uri="{FF2B5EF4-FFF2-40B4-BE49-F238E27FC236}">
                <a16:creationId xmlns:a16="http://schemas.microsoft.com/office/drawing/2014/main" id="{B5508A9F-418E-84DC-5FE9-AABEE2687AFA}"/>
              </a:ext>
            </a:extLst>
          </p:cNvPr>
          <p:cNvSpPr txBox="1"/>
          <p:nvPr/>
        </p:nvSpPr>
        <p:spPr>
          <a:xfrm>
            <a:off x="1020801" y="2333767"/>
            <a:ext cx="9931527" cy="954107"/>
          </a:xfrm>
          <a:prstGeom prst="rect">
            <a:avLst/>
          </a:prstGeom>
          <a:noFill/>
        </p:spPr>
        <p:txBody>
          <a:bodyPr wrap="square" rtlCol="0">
            <a:spAutoFit/>
          </a:bodyPr>
          <a:lstStyle/>
          <a:p>
            <a:pPr marL="285750" indent="-285750">
              <a:buFont typeface="Wingdings" pitchFamily="2" charset="2"/>
              <a:buChar char="Ø"/>
            </a:pPr>
            <a:r>
              <a:rPr lang="en-US" sz="2800" dirty="0"/>
              <a:t>EFS derived from one lung cell line. That may not generalize across tissues</a:t>
            </a:r>
          </a:p>
        </p:txBody>
      </p:sp>
      <p:sp>
        <p:nvSpPr>
          <p:cNvPr id="2" name="TextBox 1">
            <a:extLst>
              <a:ext uri="{FF2B5EF4-FFF2-40B4-BE49-F238E27FC236}">
                <a16:creationId xmlns:a16="http://schemas.microsoft.com/office/drawing/2014/main" id="{5B443CA9-DD0B-9E6C-F746-8A4B863685D0}"/>
              </a:ext>
            </a:extLst>
          </p:cNvPr>
          <p:cNvSpPr txBox="1"/>
          <p:nvPr/>
        </p:nvSpPr>
        <p:spPr>
          <a:xfrm>
            <a:off x="1020801" y="3570127"/>
            <a:ext cx="9931527" cy="954107"/>
          </a:xfrm>
          <a:prstGeom prst="rect">
            <a:avLst/>
          </a:prstGeom>
          <a:noFill/>
        </p:spPr>
        <p:txBody>
          <a:bodyPr wrap="square" rtlCol="0">
            <a:spAutoFit/>
          </a:bodyPr>
          <a:lstStyle/>
          <a:p>
            <a:pPr marL="285750" indent="-285750">
              <a:buFont typeface="Wingdings" pitchFamily="2" charset="2"/>
              <a:buChar char="Ø"/>
            </a:pPr>
            <a:r>
              <a:rPr lang="en-US" sz="2800" dirty="0"/>
              <a:t>FGA is a bulk measure, and it doesn’t capture which specific chromosomal regions break</a:t>
            </a:r>
          </a:p>
        </p:txBody>
      </p:sp>
    </p:spTree>
    <p:extLst>
      <p:ext uri="{BB962C8B-B14F-4D97-AF65-F5344CB8AC3E}">
        <p14:creationId xmlns:p14="http://schemas.microsoft.com/office/powerpoint/2010/main" val="1871680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7B6FD1-38A4-D753-E777-86AD4369D5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E7E1C-DBED-BE8A-25C1-FF54E557790A}"/>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Thank you!</a:t>
            </a:r>
          </a:p>
        </p:txBody>
      </p:sp>
    </p:spTree>
    <p:extLst>
      <p:ext uri="{BB962C8B-B14F-4D97-AF65-F5344CB8AC3E}">
        <p14:creationId xmlns:p14="http://schemas.microsoft.com/office/powerpoint/2010/main" val="390060276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11352</TotalTime>
  <Words>2603</Words>
  <Application>Microsoft Macintosh PowerPoint</Application>
  <PresentationFormat>Widescreen</PresentationFormat>
  <Paragraphs>203</Paragraphs>
  <Slides>18</Slides>
  <Notes>18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Abadi MT Condensed Light</vt:lpstr>
      <vt:lpstr>Aptos</vt:lpstr>
      <vt:lpstr>Gill Sans MT</vt:lpstr>
      <vt:lpstr>Wingdings</vt:lpstr>
      <vt:lpstr>Wingdings 2</vt:lpstr>
      <vt:lpstr>Dividend</vt:lpstr>
      <vt:lpstr>TP53 mutations that are associated with an increased Copy Number Variation</vt:lpstr>
      <vt:lpstr>TP53</vt:lpstr>
      <vt:lpstr>Copy Number Variation</vt:lpstr>
      <vt:lpstr>Experimental Functional Score</vt:lpstr>
      <vt:lpstr>Experimental Functional Score</vt:lpstr>
      <vt:lpstr>Experimental Functional Score</vt:lpstr>
      <vt:lpstr>Hypothesis</vt:lpstr>
      <vt:lpstr>Research Questions</vt:lpstr>
      <vt:lpstr>Data Sources: Integrating Phenotype &amp; Genotype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Ornit Bhonkar</dc:creator>
  <cp:lastModifiedBy>Ornit Bhonkar</cp:lastModifiedBy>
  <cp:revision>568</cp:revision>
  <dcterms:created xsi:type="dcterms:W3CDTF">2026-01-27T21:31:11Z</dcterms:created>
  <dcterms:modified xsi:type="dcterms:W3CDTF">2026-03-18T22:34:16Z</dcterms:modified>
</cp:coreProperties>
</file>