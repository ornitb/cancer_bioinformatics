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12" r:id="rId1"/>
  </p:sldMasterIdLst>
  <p:notesMasterIdLst>
    <p:notesMasterId r:id="rId15"/>
  </p:notesMasterIdLst>
  <p:sldIdLst>
    <p:sldId id="256" r:id="rId2"/>
    <p:sldId id="359" r:id="rId3"/>
    <p:sldId id="358" r:id="rId4"/>
    <p:sldId id="360" r:id="rId5"/>
    <p:sldId id="259" r:id="rId6"/>
    <p:sldId id="308" r:id="rId7"/>
    <p:sldId id="261" r:id="rId8"/>
    <p:sldId id="265" r:id="rId9"/>
    <p:sldId id="272" r:id="rId10"/>
    <p:sldId id="273" r:id="rId11"/>
    <p:sldId id="258" r:id="rId12"/>
    <p:sldId id="263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3"/>
    <p:restoredTop sz="94677"/>
  </p:normalViewPr>
  <p:slideViewPr>
    <p:cSldViewPr snapToGrid="0">
      <p:cViewPr varScale="1">
        <p:scale>
          <a:sx n="205" d="100"/>
          <a:sy n="205" d="100"/>
        </p:scale>
        <p:origin x="14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F21B75-5146-4195-9459-51C622777FC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BBC8A45-8DB2-4A0C-82DF-AAFEED00AC93}">
      <dgm:prSet/>
      <dgm:spPr/>
      <dgm:t>
        <a:bodyPr/>
        <a:lstStyle/>
        <a:p>
          <a:r>
            <a:rPr lang="en-US" dirty="0"/>
            <a:t>Is there a correlation between the experimental TP53 EFS(Giacomelli et al.) and patient FGA (GENIE)?</a:t>
          </a:r>
        </a:p>
      </dgm:t>
    </dgm:pt>
    <dgm:pt modelId="{EBB82DBD-5FA3-40DD-9047-DB7B10450E9D}" type="parTrans" cxnId="{4A8B65DD-CC61-47F9-AEED-E83FDB2C97AE}">
      <dgm:prSet/>
      <dgm:spPr/>
      <dgm:t>
        <a:bodyPr/>
        <a:lstStyle/>
        <a:p>
          <a:endParaRPr lang="en-US"/>
        </a:p>
      </dgm:t>
    </dgm:pt>
    <dgm:pt modelId="{641914C6-6F3E-4C04-B6C1-45E8B6E8A99A}" type="sibTrans" cxnId="{4A8B65DD-CC61-47F9-AEED-E83FDB2C97AE}">
      <dgm:prSet/>
      <dgm:spPr/>
      <dgm:t>
        <a:bodyPr/>
        <a:lstStyle/>
        <a:p>
          <a:endParaRPr lang="en-US"/>
        </a:p>
      </dgm:t>
    </dgm:pt>
    <dgm:pt modelId="{D509BDE4-52F2-4A30-93B1-9C4AA34B8A00}">
      <dgm:prSet/>
      <dgm:spPr/>
      <dgm:t>
        <a:bodyPr/>
        <a:lstStyle/>
        <a:p>
          <a:r>
            <a:rPr lang="en-US" dirty="0"/>
            <a:t>Do "Hotspot" mutations drive higher genomic instability than rare mutations?</a:t>
          </a:r>
        </a:p>
      </dgm:t>
    </dgm:pt>
    <dgm:pt modelId="{146E563D-AE1B-4CA0-A906-6F857769FE4C}" type="parTrans" cxnId="{83FA26EB-E73B-4F0E-A208-0D1ECAEDB441}">
      <dgm:prSet/>
      <dgm:spPr/>
      <dgm:t>
        <a:bodyPr/>
        <a:lstStyle/>
        <a:p>
          <a:endParaRPr lang="en-US"/>
        </a:p>
      </dgm:t>
    </dgm:pt>
    <dgm:pt modelId="{19ACE51A-69C9-45BA-BAF3-5F83594449F4}" type="sibTrans" cxnId="{83FA26EB-E73B-4F0E-A208-0D1ECAEDB441}">
      <dgm:prSet/>
      <dgm:spPr/>
      <dgm:t>
        <a:bodyPr/>
        <a:lstStyle/>
        <a:p>
          <a:endParaRPr lang="en-US"/>
        </a:p>
      </dgm:t>
    </dgm:pt>
    <dgm:pt modelId="{6125D1FD-2174-41C1-B9E9-8AB8CFA1E045}">
      <dgm:prSet/>
      <dgm:spPr/>
      <dgm:t>
        <a:bodyPr/>
        <a:lstStyle/>
        <a:p>
          <a:r>
            <a:rPr lang="en-US" dirty="0"/>
            <a:t>Does this correlation hold true across all cancer types or is it specific to certain tissues?</a:t>
          </a:r>
        </a:p>
      </dgm:t>
    </dgm:pt>
    <dgm:pt modelId="{550F4277-5D36-4853-8A58-BD8E286667AF}" type="parTrans" cxnId="{CE9CEED5-4342-4458-BA70-9F798966922A}">
      <dgm:prSet/>
      <dgm:spPr/>
      <dgm:t>
        <a:bodyPr/>
        <a:lstStyle/>
        <a:p>
          <a:endParaRPr lang="en-US"/>
        </a:p>
      </dgm:t>
    </dgm:pt>
    <dgm:pt modelId="{D1B9CC37-8B92-456D-B2DA-C95951955C33}" type="sibTrans" cxnId="{CE9CEED5-4342-4458-BA70-9F798966922A}">
      <dgm:prSet/>
      <dgm:spPr/>
      <dgm:t>
        <a:bodyPr/>
        <a:lstStyle/>
        <a:p>
          <a:endParaRPr lang="en-US"/>
        </a:p>
      </dgm:t>
    </dgm:pt>
    <dgm:pt modelId="{4858335A-3207-4F5D-B354-CDF132D24DF1}" type="pres">
      <dgm:prSet presAssocID="{83F21B75-5146-4195-9459-51C622777FCC}" presName="root" presStyleCnt="0">
        <dgm:presLayoutVars>
          <dgm:dir/>
          <dgm:resizeHandles val="exact"/>
        </dgm:presLayoutVars>
      </dgm:prSet>
      <dgm:spPr/>
    </dgm:pt>
    <dgm:pt modelId="{BF5EE8C4-A69D-40C5-B324-5843A2199C84}" type="pres">
      <dgm:prSet presAssocID="{9BBC8A45-8DB2-4A0C-82DF-AAFEED00AC93}" presName="compNode" presStyleCnt="0"/>
      <dgm:spPr/>
    </dgm:pt>
    <dgm:pt modelId="{BCB2B71C-9545-43F4-8376-864E42A022A4}" type="pres">
      <dgm:prSet presAssocID="{9BBC8A45-8DB2-4A0C-82DF-AAFEED00AC93}" presName="bgRect" presStyleLbl="bgShp" presStyleIdx="0" presStyleCnt="3"/>
      <dgm:spPr/>
    </dgm:pt>
    <dgm:pt modelId="{18DC14EC-2901-496F-8FEF-55A978EC6F84}" type="pres">
      <dgm:prSet presAssocID="{9BBC8A45-8DB2-4A0C-82DF-AAFEED00AC9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1C848F9-D8F8-449B-A15E-C906710CAEC8}" type="pres">
      <dgm:prSet presAssocID="{9BBC8A45-8DB2-4A0C-82DF-AAFEED00AC93}" presName="spaceRect" presStyleCnt="0"/>
      <dgm:spPr/>
    </dgm:pt>
    <dgm:pt modelId="{C3BC3749-F12B-44EA-AEDB-69785241ABF0}" type="pres">
      <dgm:prSet presAssocID="{9BBC8A45-8DB2-4A0C-82DF-AAFEED00AC93}" presName="parTx" presStyleLbl="revTx" presStyleIdx="0" presStyleCnt="3">
        <dgm:presLayoutVars>
          <dgm:chMax val="0"/>
          <dgm:chPref val="0"/>
        </dgm:presLayoutVars>
      </dgm:prSet>
      <dgm:spPr/>
    </dgm:pt>
    <dgm:pt modelId="{7BA49996-218C-49BC-B8C0-1607C020769C}" type="pres">
      <dgm:prSet presAssocID="{641914C6-6F3E-4C04-B6C1-45E8B6E8A99A}" presName="sibTrans" presStyleCnt="0"/>
      <dgm:spPr/>
    </dgm:pt>
    <dgm:pt modelId="{857074C8-4BA0-4AC9-9F60-83E79CC4E54B}" type="pres">
      <dgm:prSet presAssocID="{D509BDE4-52F2-4A30-93B1-9C4AA34B8A00}" presName="compNode" presStyleCnt="0"/>
      <dgm:spPr/>
    </dgm:pt>
    <dgm:pt modelId="{38BBD7EB-99E3-4E91-A381-FFD8E899A99E}" type="pres">
      <dgm:prSet presAssocID="{D509BDE4-52F2-4A30-93B1-9C4AA34B8A00}" presName="bgRect" presStyleLbl="bgShp" presStyleIdx="1" presStyleCnt="3"/>
      <dgm:spPr/>
    </dgm:pt>
    <dgm:pt modelId="{2A21B101-9457-4CF6-BE8A-092C8EDB98A3}" type="pres">
      <dgm:prSet presAssocID="{D509BDE4-52F2-4A30-93B1-9C4AA34B8A0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89489B1A-8A70-4907-957A-690FE7B6A587}" type="pres">
      <dgm:prSet presAssocID="{D509BDE4-52F2-4A30-93B1-9C4AA34B8A00}" presName="spaceRect" presStyleCnt="0"/>
      <dgm:spPr/>
    </dgm:pt>
    <dgm:pt modelId="{3D8B549A-F582-407A-8FBE-1DEC81D362E6}" type="pres">
      <dgm:prSet presAssocID="{D509BDE4-52F2-4A30-93B1-9C4AA34B8A00}" presName="parTx" presStyleLbl="revTx" presStyleIdx="1" presStyleCnt="3">
        <dgm:presLayoutVars>
          <dgm:chMax val="0"/>
          <dgm:chPref val="0"/>
        </dgm:presLayoutVars>
      </dgm:prSet>
      <dgm:spPr/>
    </dgm:pt>
    <dgm:pt modelId="{B354B10A-3B39-4AA5-AECC-94BB07B49574}" type="pres">
      <dgm:prSet presAssocID="{19ACE51A-69C9-45BA-BAF3-5F83594449F4}" presName="sibTrans" presStyleCnt="0"/>
      <dgm:spPr/>
    </dgm:pt>
    <dgm:pt modelId="{78B6154E-574F-47A1-9101-EDAE68E3F70F}" type="pres">
      <dgm:prSet presAssocID="{6125D1FD-2174-41C1-B9E9-8AB8CFA1E045}" presName="compNode" presStyleCnt="0"/>
      <dgm:spPr/>
    </dgm:pt>
    <dgm:pt modelId="{4D29B9D9-CAA4-4473-AC64-F3635AD81E37}" type="pres">
      <dgm:prSet presAssocID="{6125D1FD-2174-41C1-B9E9-8AB8CFA1E045}" presName="bgRect" presStyleLbl="bgShp" presStyleIdx="2" presStyleCnt="3"/>
      <dgm:spPr/>
    </dgm:pt>
    <dgm:pt modelId="{008FA23B-86AA-437F-8BC3-11F23665006F}" type="pres">
      <dgm:prSet presAssocID="{6125D1FD-2174-41C1-B9E9-8AB8CFA1E04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D8258EA5-3BDF-4701-8056-5F8449A081E1}" type="pres">
      <dgm:prSet presAssocID="{6125D1FD-2174-41C1-B9E9-8AB8CFA1E045}" presName="spaceRect" presStyleCnt="0"/>
      <dgm:spPr/>
    </dgm:pt>
    <dgm:pt modelId="{EAB5C3A8-791F-442C-A264-0491E2C1EBEF}" type="pres">
      <dgm:prSet presAssocID="{6125D1FD-2174-41C1-B9E9-8AB8CFA1E04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06A3531-DFD8-4F62-AE1A-5F4A38ECDFC8}" type="presOf" srcId="{6125D1FD-2174-41C1-B9E9-8AB8CFA1E045}" destId="{EAB5C3A8-791F-442C-A264-0491E2C1EBEF}" srcOrd="0" destOrd="0" presId="urn:microsoft.com/office/officeart/2018/2/layout/IconVerticalSolidList"/>
    <dgm:cxn modelId="{427E1CA8-135A-4618-9B43-0DC1200E10B2}" type="presOf" srcId="{83F21B75-5146-4195-9459-51C622777FCC}" destId="{4858335A-3207-4F5D-B354-CDF132D24DF1}" srcOrd="0" destOrd="0" presId="urn:microsoft.com/office/officeart/2018/2/layout/IconVerticalSolidList"/>
    <dgm:cxn modelId="{4EA579C1-ED55-4726-9271-0AFB9BEE1F3A}" type="presOf" srcId="{9BBC8A45-8DB2-4A0C-82DF-AAFEED00AC93}" destId="{C3BC3749-F12B-44EA-AEDB-69785241ABF0}" srcOrd="0" destOrd="0" presId="urn:microsoft.com/office/officeart/2018/2/layout/IconVerticalSolidList"/>
    <dgm:cxn modelId="{CE9CEED5-4342-4458-BA70-9F798966922A}" srcId="{83F21B75-5146-4195-9459-51C622777FCC}" destId="{6125D1FD-2174-41C1-B9E9-8AB8CFA1E045}" srcOrd="2" destOrd="0" parTransId="{550F4277-5D36-4853-8A58-BD8E286667AF}" sibTransId="{D1B9CC37-8B92-456D-B2DA-C95951955C33}"/>
    <dgm:cxn modelId="{4A8B65DD-CC61-47F9-AEED-E83FDB2C97AE}" srcId="{83F21B75-5146-4195-9459-51C622777FCC}" destId="{9BBC8A45-8DB2-4A0C-82DF-AAFEED00AC93}" srcOrd="0" destOrd="0" parTransId="{EBB82DBD-5FA3-40DD-9047-DB7B10450E9D}" sibTransId="{641914C6-6F3E-4C04-B6C1-45E8B6E8A99A}"/>
    <dgm:cxn modelId="{A19F6FE4-A2C2-4350-BD61-7F906E66F3C0}" type="presOf" srcId="{D509BDE4-52F2-4A30-93B1-9C4AA34B8A00}" destId="{3D8B549A-F582-407A-8FBE-1DEC81D362E6}" srcOrd="0" destOrd="0" presId="urn:microsoft.com/office/officeart/2018/2/layout/IconVerticalSolidList"/>
    <dgm:cxn modelId="{83FA26EB-E73B-4F0E-A208-0D1ECAEDB441}" srcId="{83F21B75-5146-4195-9459-51C622777FCC}" destId="{D509BDE4-52F2-4A30-93B1-9C4AA34B8A00}" srcOrd="1" destOrd="0" parTransId="{146E563D-AE1B-4CA0-A906-6F857769FE4C}" sibTransId="{19ACE51A-69C9-45BA-BAF3-5F83594449F4}"/>
    <dgm:cxn modelId="{D6C12E9F-8FCD-4B34-9F59-034795BB93AB}" type="presParOf" srcId="{4858335A-3207-4F5D-B354-CDF132D24DF1}" destId="{BF5EE8C4-A69D-40C5-B324-5843A2199C84}" srcOrd="0" destOrd="0" presId="urn:microsoft.com/office/officeart/2018/2/layout/IconVerticalSolidList"/>
    <dgm:cxn modelId="{50B6D364-B026-49E7-8701-37489D4C61A2}" type="presParOf" srcId="{BF5EE8C4-A69D-40C5-B324-5843A2199C84}" destId="{BCB2B71C-9545-43F4-8376-864E42A022A4}" srcOrd="0" destOrd="0" presId="urn:microsoft.com/office/officeart/2018/2/layout/IconVerticalSolidList"/>
    <dgm:cxn modelId="{EC22320A-B812-4EE9-AF60-611C61958AC3}" type="presParOf" srcId="{BF5EE8C4-A69D-40C5-B324-5843A2199C84}" destId="{18DC14EC-2901-496F-8FEF-55A978EC6F84}" srcOrd="1" destOrd="0" presId="urn:microsoft.com/office/officeart/2018/2/layout/IconVerticalSolidList"/>
    <dgm:cxn modelId="{96472E57-0D73-41E6-9B15-5652F711D86B}" type="presParOf" srcId="{BF5EE8C4-A69D-40C5-B324-5843A2199C84}" destId="{71C848F9-D8F8-449B-A15E-C906710CAEC8}" srcOrd="2" destOrd="0" presId="urn:microsoft.com/office/officeart/2018/2/layout/IconVerticalSolidList"/>
    <dgm:cxn modelId="{DA917739-AF6B-46B0-9425-003400FAABCE}" type="presParOf" srcId="{BF5EE8C4-A69D-40C5-B324-5843A2199C84}" destId="{C3BC3749-F12B-44EA-AEDB-69785241ABF0}" srcOrd="3" destOrd="0" presId="urn:microsoft.com/office/officeart/2018/2/layout/IconVerticalSolidList"/>
    <dgm:cxn modelId="{C508F955-9A64-4E52-9C99-C8CCA80EF64D}" type="presParOf" srcId="{4858335A-3207-4F5D-B354-CDF132D24DF1}" destId="{7BA49996-218C-49BC-B8C0-1607C020769C}" srcOrd="1" destOrd="0" presId="urn:microsoft.com/office/officeart/2018/2/layout/IconVerticalSolidList"/>
    <dgm:cxn modelId="{89705C6C-0AE9-4113-BD8B-8481B7CE0751}" type="presParOf" srcId="{4858335A-3207-4F5D-B354-CDF132D24DF1}" destId="{857074C8-4BA0-4AC9-9F60-83E79CC4E54B}" srcOrd="2" destOrd="0" presId="urn:microsoft.com/office/officeart/2018/2/layout/IconVerticalSolidList"/>
    <dgm:cxn modelId="{C0EF9417-EFBD-4339-A411-07726A306FDE}" type="presParOf" srcId="{857074C8-4BA0-4AC9-9F60-83E79CC4E54B}" destId="{38BBD7EB-99E3-4E91-A381-FFD8E899A99E}" srcOrd="0" destOrd="0" presId="urn:microsoft.com/office/officeart/2018/2/layout/IconVerticalSolidList"/>
    <dgm:cxn modelId="{E93AA1DB-587C-4804-8801-010FB8E8A172}" type="presParOf" srcId="{857074C8-4BA0-4AC9-9F60-83E79CC4E54B}" destId="{2A21B101-9457-4CF6-BE8A-092C8EDB98A3}" srcOrd="1" destOrd="0" presId="urn:microsoft.com/office/officeart/2018/2/layout/IconVerticalSolidList"/>
    <dgm:cxn modelId="{1BEA3888-CF5E-46D0-9DC7-B99CC99C47BB}" type="presParOf" srcId="{857074C8-4BA0-4AC9-9F60-83E79CC4E54B}" destId="{89489B1A-8A70-4907-957A-690FE7B6A587}" srcOrd="2" destOrd="0" presId="urn:microsoft.com/office/officeart/2018/2/layout/IconVerticalSolidList"/>
    <dgm:cxn modelId="{80CF7DC1-3C40-4BF3-9AEC-8101FC0F8035}" type="presParOf" srcId="{857074C8-4BA0-4AC9-9F60-83E79CC4E54B}" destId="{3D8B549A-F582-407A-8FBE-1DEC81D362E6}" srcOrd="3" destOrd="0" presId="urn:microsoft.com/office/officeart/2018/2/layout/IconVerticalSolidList"/>
    <dgm:cxn modelId="{3DC40669-E113-48D3-B35C-585056D38AA5}" type="presParOf" srcId="{4858335A-3207-4F5D-B354-CDF132D24DF1}" destId="{B354B10A-3B39-4AA5-AECC-94BB07B49574}" srcOrd="3" destOrd="0" presId="urn:microsoft.com/office/officeart/2018/2/layout/IconVerticalSolidList"/>
    <dgm:cxn modelId="{A974A118-34DD-48F4-9695-3D177F25A6FE}" type="presParOf" srcId="{4858335A-3207-4F5D-B354-CDF132D24DF1}" destId="{78B6154E-574F-47A1-9101-EDAE68E3F70F}" srcOrd="4" destOrd="0" presId="urn:microsoft.com/office/officeart/2018/2/layout/IconVerticalSolidList"/>
    <dgm:cxn modelId="{8010456C-559C-4F12-A1F7-AF3BC5B557DE}" type="presParOf" srcId="{78B6154E-574F-47A1-9101-EDAE68E3F70F}" destId="{4D29B9D9-CAA4-4473-AC64-F3635AD81E37}" srcOrd="0" destOrd="0" presId="urn:microsoft.com/office/officeart/2018/2/layout/IconVerticalSolidList"/>
    <dgm:cxn modelId="{3A1063E4-E858-487C-B16F-F006C6DEF955}" type="presParOf" srcId="{78B6154E-574F-47A1-9101-EDAE68E3F70F}" destId="{008FA23B-86AA-437F-8BC3-11F23665006F}" srcOrd="1" destOrd="0" presId="urn:microsoft.com/office/officeart/2018/2/layout/IconVerticalSolidList"/>
    <dgm:cxn modelId="{0CA57DEB-FDB4-4BF8-9A00-8FEEC221F52E}" type="presParOf" srcId="{78B6154E-574F-47A1-9101-EDAE68E3F70F}" destId="{D8258EA5-3BDF-4701-8056-5F8449A081E1}" srcOrd="2" destOrd="0" presId="urn:microsoft.com/office/officeart/2018/2/layout/IconVerticalSolidList"/>
    <dgm:cxn modelId="{F209B170-6C57-4BC7-8AF7-91B4F04446A1}" type="presParOf" srcId="{78B6154E-574F-47A1-9101-EDAE68E3F70F}" destId="{EAB5C3A8-791F-442C-A264-0491E2C1EBE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0E621B-AC46-4E54-A926-03E708E1EF98}" type="doc">
      <dgm:prSet loTypeId="urn:microsoft.com/office/officeart/2005/8/layout/hierarchy3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0C01B81-8DAF-432E-B1FE-1CE156F54EF7}">
      <dgm:prSet/>
      <dgm:spPr/>
      <dgm:t>
        <a:bodyPr/>
        <a:lstStyle/>
        <a:p>
          <a:r>
            <a:rPr lang="en-US" dirty="0"/>
            <a:t>Primary Analysis (DNA/GENIE): Statistical Power. With ~200,000 samples, I plan to establish that TP53 mutations result in Genomic Instability. </a:t>
          </a:r>
        </a:p>
      </dgm:t>
    </dgm:pt>
    <dgm:pt modelId="{1AF508F1-DBC2-4E6A-90B6-E54A116159B8}" type="parTrans" cxnId="{9E5FC8F5-5007-4A32-B510-23AC1033151D}">
      <dgm:prSet/>
      <dgm:spPr/>
      <dgm:t>
        <a:bodyPr/>
        <a:lstStyle/>
        <a:p>
          <a:endParaRPr lang="en-US"/>
        </a:p>
      </dgm:t>
    </dgm:pt>
    <dgm:pt modelId="{CBB8732D-8744-4ADC-867E-786F57F6F03E}" type="sibTrans" cxnId="{9E5FC8F5-5007-4A32-B510-23AC1033151D}">
      <dgm:prSet/>
      <dgm:spPr/>
      <dgm:t>
        <a:bodyPr/>
        <a:lstStyle/>
        <a:p>
          <a:endParaRPr lang="en-US"/>
        </a:p>
      </dgm:t>
    </dgm:pt>
    <dgm:pt modelId="{4ACDAFBB-E26C-4B2B-8FBE-3DD9A98BD8B5}">
      <dgm:prSet custT="1"/>
      <dgm:spPr/>
      <dgm:t>
        <a:bodyPr/>
        <a:lstStyle/>
        <a:p>
          <a:r>
            <a:rPr lang="en-US" sz="2000" dirty="0"/>
            <a:t>Show that the physical structure of the genome is breaking down</a:t>
          </a:r>
        </a:p>
      </dgm:t>
    </dgm:pt>
    <dgm:pt modelId="{78C5EAE0-5034-4F73-93A2-F325F6BDAEB0}" type="parTrans" cxnId="{1C277A64-B9C6-4F4F-AEC8-0070930189C5}">
      <dgm:prSet/>
      <dgm:spPr/>
      <dgm:t>
        <a:bodyPr/>
        <a:lstStyle/>
        <a:p>
          <a:endParaRPr lang="en-US"/>
        </a:p>
      </dgm:t>
    </dgm:pt>
    <dgm:pt modelId="{DB03B225-AF72-4434-9442-64D4E7D34A1D}" type="sibTrans" cxnId="{1C277A64-B9C6-4F4F-AEC8-0070930189C5}">
      <dgm:prSet/>
      <dgm:spPr/>
      <dgm:t>
        <a:bodyPr/>
        <a:lstStyle/>
        <a:p>
          <a:endParaRPr lang="en-US"/>
        </a:p>
      </dgm:t>
    </dgm:pt>
    <dgm:pt modelId="{F15730CA-0B7E-4104-9CE3-FF20B51B017D}">
      <dgm:prSet/>
      <dgm:spPr/>
      <dgm:t>
        <a:bodyPr/>
        <a:lstStyle/>
        <a:p>
          <a:r>
            <a:rPr lang="en-US" dirty="0"/>
            <a:t>Secondary Analysis</a:t>
          </a:r>
          <a:r>
            <a:rPr lang="he-IL" dirty="0"/>
            <a:t>: </a:t>
          </a:r>
          <a:r>
            <a:rPr lang="en-US" dirty="0"/>
            <a:t>Biological Insight. Will tell us which pathways are driving the cancer's aggression.</a:t>
          </a:r>
        </a:p>
      </dgm:t>
    </dgm:pt>
    <dgm:pt modelId="{F0D4D1A2-F7D2-4E2E-8C80-67C630F4FF77}" type="parTrans" cxnId="{D13E17B0-37C7-4386-A88C-5691FB9202D7}">
      <dgm:prSet/>
      <dgm:spPr/>
      <dgm:t>
        <a:bodyPr/>
        <a:lstStyle/>
        <a:p>
          <a:endParaRPr lang="en-US"/>
        </a:p>
      </dgm:t>
    </dgm:pt>
    <dgm:pt modelId="{95A16E66-40CB-49CA-A45D-41AA56EFF813}" type="sibTrans" cxnId="{D13E17B0-37C7-4386-A88C-5691FB9202D7}">
      <dgm:prSet/>
      <dgm:spPr/>
      <dgm:t>
        <a:bodyPr/>
        <a:lstStyle/>
        <a:p>
          <a:endParaRPr lang="en-US"/>
        </a:p>
      </dgm:t>
    </dgm:pt>
    <dgm:pt modelId="{CBB4C8A0-0D5B-4116-B787-B9EF3EBF0320}">
      <dgm:prSet custT="1"/>
      <dgm:spPr/>
      <dgm:t>
        <a:bodyPr/>
        <a:lstStyle/>
        <a:p>
          <a:r>
            <a:rPr lang="en-US" sz="2000" dirty="0"/>
            <a:t>Conclude what are the major pathways are triggered</a:t>
          </a:r>
        </a:p>
      </dgm:t>
    </dgm:pt>
    <dgm:pt modelId="{FEDC5362-67BE-4602-80A9-3DB3AFC36E3E}" type="parTrans" cxnId="{2E5B93DB-B7CB-47A2-8A45-29C90DD353BD}">
      <dgm:prSet/>
      <dgm:spPr/>
      <dgm:t>
        <a:bodyPr/>
        <a:lstStyle/>
        <a:p>
          <a:endParaRPr lang="en-US"/>
        </a:p>
      </dgm:t>
    </dgm:pt>
    <dgm:pt modelId="{2966759D-859C-4BDA-9D2A-8E7F0C33EA58}" type="sibTrans" cxnId="{2E5B93DB-B7CB-47A2-8A45-29C90DD353BD}">
      <dgm:prSet/>
      <dgm:spPr/>
      <dgm:t>
        <a:bodyPr/>
        <a:lstStyle/>
        <a:p>
          <a:endParaRPr lang="en-US"/>
        </a:p>
      </dgm:t>
    </dgm:pt>
    <dgm:pt modelId="{4D7765CF-3051-FD49-8344-3E2ED20A2746}" type="pres">
      <dgm:prSet presAssocID="{5A0E621B-AC46-4E54-A926-03E708E1EF9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D6EA5A1-C242-974E-B5D9-8EFD1871695E}" type="pres">
      <dgm:prSet presAssocID="{F0C01B81-8DAF-432E-B1FE-1CE156F54EF7}" presName="root" presStyleCnt="0"/>
      <dgm:spPr/>
    </dgm:pt>
    <dgm:pt modelId="{8B84F33C-4711-7945-B8BF-588EF48F286F}" type="pres">
      <dgm:prSet presAssocID="{F0C01B81-8DAF-432E-B1FE-1CE156F54EF7}" presName="rootComposite" presStyleCnt="0"/>
      <dgm:spPr/>
    </dgm:pt>
    <dgm:pt modelId="{A49C7E3C-55A4-AC42-BC40-F4B66067512F}" type="pres">
      <dgm:prSet presAssocID="{F0C01B81-8DAF-432E-B1FE-1CE156F54EF7}" presName="rootText" presStyleLbl="node1" presStyleIdx="0" presStyleCnt="2"/>
      <dgm:spPr/>
    </dgm:pt>
    <dgm:pt modelId="{C68CF84F-54B2-EC49-86E2-C109055317F1}" type="pres">
      <dgm:prSet presAssocID="{F0C01B81-8DAF-432E-B1FE-1CE156F54EF7}" presName="rootConnector" presStyleLbl="node1" presStyleIdx="0" presStyleCnt="2"/>
      <dgm:spPr/>
    </dgm:pt>
    <dgm:pt modelId="{ED1B4E39-80CD-4B44-ACFC-1A04CA83BA64}" type="pres">
      <dgm:prSet presAssocID="{F0C01B81-8DAF-432E-B1FE-1CE156F54EF7}" presName="childShape" presStyleCnt="0"/>
      <dgm:spPr/>
    </dgm:pt>
    <dgm:pt modelId="{B6E41552-DC51-284F-B30F-7B0AE0AA5325}" type="pres">
      <dgm:prSet presAssocID="{78C5EAE0-5034-4F73-93A2-F325F6BDAEB0}" presName="Name13" presStyleLbl="parChTrans1D2" presStyleIdx="0" presStyleCnt="2"/>
      <dgm:spPr/>
    </dgm:pt>
    <dgm:pt modelId="{AE5E4114-BAEB-BD4B-A02A-0C8ED0A09D73}" type="pres">
      <dgm:prSet presAssocID="{4ACDAFBB-E26C-4B2B-8FBE-3DD9A98BD8B5}" presName="childText" presStyleLbl="bgAcc1" presStyleIdx="0" presStyleCnt="2">
        <dgm:presLayoutVars>
          <dgm:bulletEnabled val="1"/>
        </dgm:presLayoutVars>
      </dgm:prSet>
      <dgm:spPr/>
    </dgm:pt>
    <dgm:pt modelId="{0A7BDFD5-3A27-A648-B476-CB9761604A60}" type="pres">
      <dgm:prSet presAssocID="{F15730CA-0B7E-4104-9CE3-FF20B51B017D}" presName="root" presStyleCnt="0"/>
      <dgm:spPr/>
    </dgm:pt>
    <dgm:pt modelId="{04F73701-C9C7-7042-B8F5-592BA05BD3D5}" type="pres">
      <dgm:prSet presAssocID="{F15730CA-0B7E-4104-9CE3-FF20B51B017D}" presName="rootComposite" presStyleCnt="0"/>
      <dgm:spPr/>
    </dgm:pt>
    <dgm:pt modelId="{4448B8C0-36F3-D247-B185-40ACDBC248AD}" type="pres">
      <dgm:prSet presAssocID="{F15730CA-0B7E-4104-9CE3-FF20B51B017D}" presName="rootText" presStyleLbl="node1" presStyleIdx="1" presStyleCnt="2"/>
      <dgm:spPr/>
    </dgm:pt>
    <dgm:pt modelId="{78DB709A-A624-D048-B12C-B3F8360A1543}" type="pres">
      <dgm:prSet presAssocID="{F15730CA-0B7E-4104-9CE3-FF20B51B017D}" presName="rootConnector" presStyleLbl="node1" presStyleIdx="1" presStyleCnt="2"/>
      <dgm:spPr/>
    </dgm:pt>
    <dgm:pt modelId="{A6E8093D-2AB7-8B45-8764-26BDC015C073}" type="pres">
      <dgm:prSet presAssocID="{F15730CA-0B7E-4104-9CE3-FF20B51B017D}" presName="childShape" presStyleCnt="0"/>
      <dgm:spPr/>
    </dgm:pt>
    <dgm:pt modelId="{BFAA7661-613F-9C4C-8F0D-0F25850925C0}" type="pres">
      <dgm:prSet presAssocID="{FEDC5362-67BE-4602-80A9-3DB3AFC36E3E}" presName="Name13" presStyleLbl="parChTrans1D2" presStyleIdx="1" presStyleCnt="2"/>
      <dgm:spPr/>
    </dgm:pt>
    <dgm:pt modelId="{377ED1AA-6751-264B-95A8-2D3A4397E075}" type="pres">
      <dgm:prSet presAssocID="{CBB4C8A0-0D5B-4116-B787-B9EF3EBF0320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4B069119-5696-BC45-B129-42FA9558F1A7}" type="presOf" srcId="{F15730CA-0B7E-4104-9CE3-FF20B51B017D}" destId="{4448B8C0-36F3-D247-B185-40ACDBC248AD}" srcOrd="0" destOrd="0" presId="urn:microsoft.com/office/officeart/2005/8/layout/hierarchy3"/>
    <dgm:cxn modelId="{115EFE2C-8F12-AF42-A3A0-1BDBF3AF77B3}" type="presOf" srcId="{78C5EAE0-5034-4F73-93A2-F325F6BDAEB0}" destId="{B6E41552-DC51-284F-B30F-7B0AE0AA5325}" srcOrd="0" destOrd="0" presId="urn:microsoft.com/office/officeart/2005/8/layout/hierarchy3"/>
    <dgm:cxn modelId="{12A9135A-F984-F449-88C3-8D1DB1BC022E}" type="presOf" srcId="{FEDC5362-67BE-4602-80A9-3DB3AFC36E3E}" destId="{BFAA7661-613F-9C4C-8F0D-0F25850925C0}" srcOrd="0" destOrd="0" presId="urn:microsoft.com/office/officeart/2005/8/layout/hierarchy3"/>
    <dgm:cxn modelId="{1C277A64-B9C6-4F4F-AEC8-0070930189C5}" srcId="{F0C01B81-8DAF-432E-B1FE-1CE156F54EF7}" destId="{4ACDAFBB-E26C-4B2B-8FBE-3DD9A98BD8B5}" srcOrd="0" destOrd="0" parTransId="{78C5EAE0-5034-4F73-93A2-F325F6BDAEB0}" sibTransId="{DB03B225-AF72-4434-9442-64D4E7D34A1D}"/>
    <dgm:cxn modelId="{89420468-E82B-E249-8FEE-C2A882026A7B}" type="presOf" srcId="{F15730CA-0B7E-4104-9CE3-FF20B51B017D}" destId="{78DB709A-A624-D048-B12C-B3F8360A1543}" srcOrd="1" destOrd="0" presId="urn:microsoft.com/office/officeart/2005/8/layout/hierarchy3"/>
    <dgm:cxn modelId="{374E8C9A-DB57-DF45-AAD2-4CB8B8080674}" type="presOf" srcId="{F0C01B81-8DAF-432E-B1FE-1CE156F54EF7}" destId="{C68CF84F-54B2-EC49-86E2-C109055317F1}" srcOrd="1" destOrd="0" presId="urn:microsoft.com/office/officeart/2005/8/layout/hierarchy3"/>
    <dgm:cxn modelId="{D13E17B0-37C7-4386-A88C-5691FB9202D7}" srcId="{5A0E621B-AC46-4E54-A926-03E708E1EF98}" destId="{F15730CA-0B7E-4104-9CE3-FF20B51B017D}" srcOrd="1" destOrd="0" parTransId="{F0D4D1A2-F7D2-4E2E-8C80-67C630F4FF77}" sibTransId="{95A16E66-40CB-49CA-A45D-41AA56EFF813}"/>
    <dgm:cxn modelId="{16E2EADA-DE1E-214A-BCD8-0FB39C62921E}" type="presOf" srcId="{4ACDAFBB-E26C-4B2B-8FBE-3DD9A98BD8B5}" destId="{AE5E4114-BAEB-BD4B-A02A-0C8ED0A09D73}" srcOrd="0" destOrd="0" presId="urn:microsoft.com/office/officeart/2005/8/layout/hierarchy3"/>
    <dgm:cxn modelId="{2E5B93DB-B7CB-47A2-8A45-29C90DD353BD}" srcId="{F15730CA-0B7E-4104-9CE3-FF20B51B017D}" destId="{CBB4C8A0-0D5B-4116-B787-B9EF3EBF0320}" srcOrd="0" destOrd="0" parTransId="{FEDC5362-67BE-4602-80A9-3DB3AFC36E3E}" sibTransId="{2966759D-859C-4BDA-9D2A-8E7F0C33EA58}"/>
    <dgm:cxn modelId="{D3F41CDE-9E02-1F42-8B0A-DA043ECC604F}" type="presOf" srcId="{CBB4C8A0-0D5B-4116-B787-B9EF3EBF0320}" destId="{377ED1AA-6751-264B-95A8-2D3A4397E075}" srcOrd="0" destOrd="0" presId="urn:microsoft.com/office/officeart/2005/8/layout/hierarchy3"/>
    <dgm:cxn modelId="{B36131E4-92B0-BE42-A72E-C88E063D2BCA}" type="presOf" srcId="{5A0E621B-AC46-4E54-A926-03E708E1EF98}" destId="{4D7765CF-3051-FD49-8344-3E2ED20A2746}" srcOrd="0" destOrd="0" presId="urn:microsoft.com/office/officeart/2005/8/layout/hierarchy3"/>
    <dgm:cxn modelId="{9E5FC8F5-5007-4A32-B510-23AC1033151D}" srcId="{5A0E621B-AC46-4E54-A926-03E708E1EF98}" destId="{F0C01B81-8DAF-432E-B1FE-1CE156F54EF7}" srcOrd="0" destOrd="0" parTransId="{1AF508F1-DBC2-4E6A-90B6-E54A116159B8}" sibTransId="{CBB8732D-8744-4ADC-867E-786F57F6F03E}"/>
    <dgm:cxn modelId="{DDAEF0FA-7899-D740-9306-7EB2F20ACDC4}" type="presOf" srcId="{F0C01B81-8DAF-432E-B1FE-1CE156F54EF7}" destId="{A49C7E3C-55A4-AC42-BC40-F4B66067512F}" srcOrd="0" destOrd="0" presId="urn:microsoft.com/office/officeart/2005/8/layout/hierarchy3"/>
    <dgm:cxn modelId="{0500E9D5-53C7-534C-B04C-7F930CD9FAA8}" type="presParOf" srcId="{4D7765CF-3051-FD49-8344-3E2ED20A2746}" destId="{7D6EA5A1-C242-974E-B5D9-8EFD1871695E}" srcOrd="0" destOrd="0" presId="urn:microsoft.com/office/officeart/2005/8/layout/hierarchy3"/>
    <dgm:cxn modelId="{AF13EAD4-B116-E24C-8121-C7772FD1C204}" type="presParOf" srcId="{7D6EA5A1-C242-974E-B5D9-8EFD1871695E}" destId="{8B84F33C-4711-7945-B8BF-588EF48F286F}" srcOrd="0" destOrd="0" presId="urn:microsoft.com/office/officeart/2005/8/layout/hierarchy3"/>
    <dgm:cxn modelId="{390C5EC1-B283-3B48-8457-023569165A87}" type="presParOf" srcId="{8B84F33C-4711-7945-B8BF-588EF48F286F}" destId="{A49C7E3C-55A4-AC42-BC40-F4B66067512F}" srcOrd="0" destOrd="0" presId="urn:microsoft.com/office/officeart/2005/8/layout/hierarchy3"/>
    <dgm:cxn modelId="{E3BA58D9-2FDD-D942-8840-4BD6B3FAD89B}" type="presParOf" srcId="{8B84F33C-4711-7945-B8BF-588EF48F286F}" destId="{C68CF84F-54B2-EC49-86E2-C109055317F1}" srcOrd="1" destOrd="0" presId="urn:microsoft.com/office/officeart/2005/8/layout/hierarchy3"/>
    <dgm:cxn modelId="{E3331836-A6AA-5C48-9D11-9B82CA856C78}" type="presParOf" srcId="{7D6EA5A1-C242-974E-B5D9-8EFD1871695E}" destId="{ED1B4E39-80CD-4B44-ACFC-1A04CA83BA64}" srcOrd="1" destOrd="0" presId="urn:microsoft.com/office/officeart/2005/8/layout/hierarchy3"/>
    <dgm:cxn modelId="{C092D77D-21C3-9947-AC28-775A04C30839}" type="presParOf" srcId="{ED1B4E39-80CD-4B44-ACFC-1A04CA83BA64}" destId="{B6E41552-DC51-284F-B30F-7B0AE0AA5325}" srcOrd="0" destOrd="0" presId="urn:microsoft.com/office/officeart/2005/8/layout/hierarchy3"/>
    <dgm:cxn modelId="{22E13184-0B70-2740-A2CC-58E9A4A64BFF}" type="presParOf" srcId="{ED1B4E39-80CD-4B44-ACFC-1A04CA83BA64}" destId="{AE5E4114-BAEB-BD4B-A02A-0C8ED0A09D73}" srcOrd="1" destOrd="0" presId="urn:microsoft.com/office/officeart/2005/8/layout/hierarchy3"/>
    <dgm:cxn modelId="{11846901-13C5-F148-81EC-EE4F35A932DC}" type="presParOf" srcId="{4D7765CF-3051-FD49-8344-3E2ED20A2746}" destId="{0A7BDFD5-3A27-A648-B476-CB9761604A60}" srcOrd="1" destOrd="0" presId="urn:microsoft.com/office/officeart/2005/8/layout/hierarchy3"/>
    <dgm:cxn modelId="{CF773B53-CF48-2047-8569-8311C9982D59}" type="presParOf" srcId="{0A7BDFD5-3A27-A648-B476-CB9761604A60}" destId="{04F73701-C9C7-7042-B8F5-592BA05BD3D5}" srcOrd="0" destOrd="0" presId="urn:microsoft.com/office/officeart/2005/8/layout/hierarchy3"/>
    <dgm:cxn modelId="{EF12D7DE-046B-3047-BE32-44F852B1AA83}" type="presParOf" srcId="{04F73701-C9C7-7042-B8F5-592BA05BD3D5}" destId="{4448B8C0-36F3-D247-B185-40ACDBC248AD}" srcOrd="0" destOrd="0" presId="urn:microsoft.com/office/officeart/2005/8/layout/hierarchy3"/>
    <dgm:cxn modelId="{BEDBA222-4D44-7843-AFAF-9A0B1DACDF9B}" type="presParOf" srcId="{04F73701-C9C7-7042-B8F5-592BA05BD3D5}" destId="{78DB709A-A624-D048-B12C-B3F8360A1543}" srcOrd="1" destOrd="0" presId="urn:microsoft.com/office/officeart/2005/8/layout/hierarchy3"/>
    <dgm:cxn modelId="{065ED682-1845-1C4E-BBEA-983FC0281A1F}" type="presParOf" srcId="{0A7BDFD5-3A27-A648-B476-CB9761604A60}" destId="{A6E8093D-2AB7-8B45-8764-26BDC015C073}" srcOrd="1" destOrd="0" presId="urn:microsoft.com/office/officeart/2005/8/layout/hierarchy3"/>
    <dgm:cxn modelId="{CF0ADA61-63ED-A948-BFB2-4362F785C4BA}" type="presParOf" srcId="{A6E8093D-2AB7-8B45-8764-26BDC015C073}" destId="{BFAA7661-613F-9C4C-8F0D-0F25850925C0}" srcOrd="0" destOrd="0" presId="urn:microsoft.com/office/officeart/2005/8/layout/hierarchy3"/>
    <dgm:cxn modelId="{FB39C784-D57A-DA42-A81B-4B963058C913}" type="presParOf" srcId="{A6E8093D-2AB7-8B45-8764-26BDC015C073}" destId="{377ED1AA-6751-264B-95A8-2D3A4397E07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B13C13-CE03-4F27-8764-9CDACE7A6F3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EE5A69E-8AC6-4324-AAA9-39962FA9D97F}">
      <dgm:prSet/>
      <dgm:spPr/>
      <dgm:t>
        <a:bodyPr/>
        <a:lstStyle/>
        <a:p>
          <a:r>
            <a:rPr lang="en-US"/>
            <a:t>Hypothesis: Patients with TP53 mutations that have the lowest experimental function scores will show the highest Fraction Genome Altered.</a:t>
          </a:r>
        </a:p>
      </dgm:t>
    </dgm:pt>
    <dgm:pt modelId="{6F88A1DC-164C-44B1-9295-DCFE748F219E}" type="parTrans" cxnId="{94925DD0-4982-496D-9462-AEADF843B826}">
      <dgm:prSet/>
      <dgm:spPr/>
      <dgm:t>
        <a:bodyPr/>
        <a:lstStyle/>
        <a:p>
          <a:endParaRPr lang="en-US"/>
        </a:p>
      </dgm:t>
    </dgm:pt>
    <dgm:pt modelId="{13F8E075-454F-4C46-8787-D08556CB9A90}" type="sibTrans" cxnId="{94925DD0-4982-496D-9462-AEADF843B826}">
      <dgm:prSet/>
      <dgm:spPr/>
      <dgm:t>
        <a:bodyPr/>
        <a:lstStyle/>
        <a:p>
          <a:endParaRPr lang="en-US"/>
        </a:p>
      </dgm:t>
    </dgm:pt>
    <dgm:pt modelId="{1CA6A9B4-B6DA-4109-A142-643759D5B93A}">
      <dgm:prSet/>
      <dgm:spPr/>
      <dgm:t>
        <a:bodyPr/>
        <a:lstStyle/>
        <a:p>
          <a:r>
            <a:rPr lang="en-US" dirty="0"/>
            <a:t>Biological Implication: This confirms that the degree of TP53 loss directly dictates the level of genomic chaos allowed in the cell.</a:t>
          </a:r>
        </a:p>
      </dgm:t>
    </dgm:pt>
    <dgm:pt modelId="{6791BC1B-7C0D-4F9E-A290-54BBA51AB534}" type="parTrans" cxnId="{39BB9688-7235-4FF6-917F-973CCDD89654}">
      <dgm:prSet/>
      <dgm:spPr/>
      <dgm:t>
        <a:bodyPr/>
        <a:lstStyle/>
        <a:p>
          <a:endParaRPr lang="en-US"/>
        </a:p>
      </dgm:t>
    </dgm:pt>
    <dgm:pt modelId="{4A99C953-5C23-4090-B97F-6250E28FEFA9}" type="sibTrans" cxnId="{39BB9688-7235-4FF6-917F-973CCDD89654}">
      <dgm:prSet/>
      <dgm:spPr/>
      <dgm:t>
        <a:bodyPr/>
        <a:lstStyle/>
        <a:p>
          <a:endParaRPr lang="en-US"/>
        </a:p>
      </dgm:t>
    </dgm:pt>
    <dgm:pt modelId="{E20C2CA4-9221-BA46-B162-EF219DA0FAE2}" type="pres">
      <dgm:prSet presAssocID="{58B13C13-CE03-4F27-8764-9CDACE7A6F3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8553BEB-51BE-4E4B-A3DE-F4CCF697EE74}" type="pres">
      <dgm:prSet presAssocID="{8EE5A69E-8AC6-4324-AAA9-39962FA9D97F}" presName="hierRoot1" presStyleCnt="0"/>
      <dgm:spPr/>
    </dgm:pt>
    <dgm:pt modelId="{9791694F-B43B-F743-A79C-EE40627960DA}" type="pres">
      <dgm:prSet presAssocID="{8EE5A69E-8AC6-4324-AAA9-39962FA9D97F}" presName="composite" presStyleCnt="0"/>
      <dgm:spPr/>
    </dgm:pt>
    <dgm:pt modelId="{A803A55B-2C0F-8340-BC71-CF5A8E004310}" type="pres">
      <dgm:prSet presAssocID="{8EE5A69E-8AC6-4324-AAA9-39962FA9D97F}" presName="background" presStyleLbl="node0" presStyleIdx="0" presStyleCnt="2"/>
      <dgm:spPr/>
    </dgm:pt>
    <dgm:pt modelId="{87385EDF-B193-A845-836A-5D0F1B5E8C4C}" type="pres">
      <dgm:prSet presAssocID="{8EE5A69E-8AC6-4324-AAA9-39962FA9D97F}" presName="text" presStyleLbl="fgAcc0" presStyleIdx="0" presStyleCnt="2">
        <dgm:presLayoutVars>
          <dgm:chPref val="3"/>
        </dgm:presLayoutVars>
      </dgm:prSet>
      <dgm:spPr/>
    </dgm:pt>
    <dgm:pt modelId="{BBF5DFDE-5327-8748-BA45-643E2AF9006F}" type="pres">
      <dgm:prSet presAssocID="{8EE5A69E-8AC6-4324-AAA9-39962FA9D97F}" presName="hierChild2" presStyleCnt="0"/>
      <dgm:spPr/>
    </dgm:pt>
    <dgm:pt modelId="{D7EE6D69-3BD9-5245-BE1D-202E5BEC34E6}" type="pres">
      <dgm:prSet presAssocID="{1CA6A9B4-B6DA-4109-A142-643759D5B93A}" presName="hierRoot1" presStyleCnt="0"/>
      <dgm:spPr/>
    </dgm:pt>
    <dgm:pt modelId="{DFD69F36-D683-F140-A4FB-51CA303F398D}" type="pres">
      <dgm:prSet presAssocID="{1CA6A9B4-B6DA-4109-A142-643759D5B93A}" presName="composite" presStyleCnt="0"/>
      <dgm:spPr/>
    </dgm:pt>
    <dgm:pt modelId="{28800792-0ADF-F443-832A-0102E131C7B0}" type="pres">
      <dgm:prSet presAssocID="{1CA6A9B4-B6DA-4109-A142-643759D5B93A}" presName="background" presStyleLbl="node0" presStyleIdx="1" presStyleCnt="2"/>
      <dgm:spPr/>
    </dgm:pt>
    <dgm:pt modelId="{3570CAA9-A1CA-114F-8DC0-CBCE4CD38073}" type="pres">
      <dgm:prSet presAssocID="{1CA6A9B4-B6DA-4109-A142-643759D5B93A}" presName="text" presStyleLbl="fgAcc0" presStyleIdx="1" presStyleCnt="2">
        <dgm:presLayoutVars>
          <dgm:chPref val="3"/>
        </dgm:presLayoutVars>
      </dgm:prSet>
      <dgm:spPr/>
    </dgm:pt>
    <dgm:pt modelId="{DC5A353A-F70F-B040-AA0D-D4B1350747AC}" type="pres">
      <dgm:prSet presAssocID="{1CA6A9B4-B6DA-4109-A142-643759D5B93A}" presName="hierChild2" presStyleCnt="0"/>
      <dgm:spPr/>
    </dgm:pt>
  </dgm:ptLst>
  <dgm:cxnLst>
    <dgm:cxn modelId="{37D1F003-BBFF-1B4B-8B2A-F5B383ACB74C}" type="presOf" srcId="{8EE5A69E-8AC6-4324-AAA9-39962FA9D97F}" destId="{87385EDF-B193-A845-836A-5D0F1B5E8C4C}" srcOrd="0" destOrd="0" presId="urn:microsoft.com/office/officeart/2005/8/layout/hierarchy1"/>
    <dgm:cxn modelId="{F513F223-CF2C-FD42-B166-D26EC4A3C71C}" type="presOf" srcId="{1CA6A9B4-B6DA-4109-A142-643759D5B93A}" destId="{3570CAA9-A1CA-114F-8DC0-CBCE4CD38073}" srcOrd="0" destOrd="0" presId="urn:microsoft.com/office/officeart/2005/8/layout/hierarchy1"/>
    <dgm:cxn modelId="{39BB9688-7235-4FF6-917F-973CCDD89654}" srcId="{58B13C13-CE03-4F27-8764-9CDACE7A6F3F}" destId="{1CA6A9B4-B6DA-4109-A142-643759D5B93A}" srcOrd="1" destOrd="0" parTransId="{6791BC1B-7C0D-4F9E-A290-54BBA51AB534}" sibTransId="{4A99C953-5C23-4090-B97F-6250E28FEFA9}"/>
    <dgm:cxn modelId="{1C9B1E9B-2C82-914B-86E6-63A47AD1289E}" type="presOf" srcId="{58B13C13-CE03-4F27-8764-9CDACE7A6F3F}" destId="{E20C2CA4-9221-BA46-B162-EF219DA0FAE2}" srcOrd="0" destOrd="0" presId="urn:microsoft.com/office/officeart/2005/8/layout/hierarchy1"/>
    <dgm:cxn modelId="{94925DD0-4982-496D-9462-AEADF843B826}" srcId="{58B13C13-CE03-4F27-8764-9CDACE7A6F3F}" destId="{8EE5A69E-8AC6-4324-AAA9-39962FA9D97F}" srcOrd="0" destOrd="0" parTransId="{6F88A1DC-164C-44B1-9295-DCFE748F219E}" sibTransId="{13F8E075-454F-4C46-8787-D08556CB9A90}"/>
    <dgm:cxn modelId="{48C1682D-9FC3-794C-A179-AA7484463AD4}" type="presParOf" srcId="{E20C2CA4-9221-BA46-B162-EF219DA0FAE2}" destId="{28553BEB-51BE-4E4B-A3DE-F4CCF697EE74}" srcOrd="0" destOrd="0" presId="urn:microsoft.com/office/officeart/2005/8/layout/hierarchy1"/>
    <dgm:cxn modelId="{CF6F5523-7437-6448-858D-0693BB93C43F}" type="presParOf" srcId="{28553BEB-51BE-4E4B-A3DE-F4CCF697EE74}" destId="{9791694F-B43B-F743-A79C-EE40627960DA}" srcOrd="0" destOrd="0" presId="urn:microsoft.com/office/officeart/2005/8/layout/hierarchy1"/>
    <dgm:cxn modelId="{5C4FF735-414F-5748-ABEF-D97715BC7D40}" type="presParOf" srcId="{9791694F-B43B-F743-A79C-EE40627960DA}" destId="{A803A55B-2C0F-8340-BC71-CF5A8E004310}" srcOrd="0" destOrd="0" presId="urn:microsoft.com/office/officeart/2005/8/layout/hierarchy1"/>
    <dgm:cxn modelId="{00F870B0-F102-A546-9CE2-D85F27D5915E}" type="presParOf" srcId="{9791694F-B43B-F743-A79C-EE40627960DA}" destId="{87385EDF-B193-A845-836A-5D0F1B5E8C4C}" srcOrd="1" destOrd="0" presId="urn:microsoft.com/office/officeart/2005/8/layout/hierarchy1"/>
    <dgm:cxn modelId="{A4A5633F-2D7E-5341-919A-D50007805E86}" type="presParOf" srcId="{28553BEB-51BE-4E4B-A3DE-F4CCF697EE74}" destId="{BBF5DFDE-5327-8748-BA45-643E2AF9006F}" srcOrd="1" destOrd="0" presId="urn:microsoft.com/office/officeart/2005/8/layout/hierarchy1"/>
    <dgm:cxn modelId="{B7C6539F-DD76-2145-9D96-8295B9CB15C6}" type="presParOf" srcId="{E20C2CA4-9221-BA46-B162-EF219DA0FAE2}" destId="{D7EE6D69-3BD9-5245-BE1D-202E5BEC34E6}" srcOrd="1" destOrd="0" presId="urn:microsoft.com/office/officeart/2005/8/layout/hierarchy1"/>
    <dgm:cxn modelId="{E44422A6-9660-864B-ACDB-FA6E4F1991AF}" type="presParOf" srcId="{D7EE6D69-3BD9-5245-BE1D-202E5BEC34E6}" destId="{DFD69F36-D683-F140-A4FB-51CA303F398D}" srcOrd="0" destOrd="0" presId="urn:microsoft.com/office/officeart/2005/8/layout/hierarchy1"/>
    <dgm:cxn modelId="{BFF44879-950F-144F-8AA8-2EE0C595992E}" type="presParOf" srcId="{DFD69F36-D683-F140-A4FB-51CA303F398D}" destId="{28800792-0ADF-F443-832A-0102E131C7B0}" srcOrd="0" destOrd="0" presId="urn:microsoft.com/office/officeart/2005/8/layout/hierarchy1"/>
    <dgm:cxn modelId="{D29A0A89-9D56-8A48-8BA0-DCDC926C88A7}" type="presParOf" srcId="{DFD69F36-D683-F140-A4FB-51CA303F398D}" destId="{3570CAA9-A1CA-114F-8DC0-CBCE4CD38073}" srcOrd="1" destOrd="0" presId="urn:microsoft.com/office/officeart/2005/8/layout/hierarchy1"/>
    <dgm:cxn modelId="{C6CD6EB2-B0E4-D047-9E7D-F4A38C92AB02}" type="presParOf" srcId="{D7EE6D69-3BD9-5245-BE1D-202E5BEC34E6}" destId="{DC5A353A-F70F-B040-AA0D-D4B1350747A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B2B71C-9545-43F4-8376-864E42A022A4}">
      <dsp:nvSpPr>
        <dsp:cNvPr id="0" name=""/>
        <dsp:cNvSpPr/>
      </dsp:nvSpPr>
      <dsp:spPr>
        <a:xfrm>
          <a:off x="0" y="499"/>
          <a:ext cx="9618133" cy="11692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DC14EC-2901-496F-8FEF-55A978EC6F84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BC3749-F12B-44EA-AEDB-69785241ABF0}">
      <dsp:nvSpPr>
        <dsp:cNvPr id="0" name=""/>
        <dsp:cNvSpPr/>
      </dsp:nvSpPr>
      <dsp:spPr>
        <a:xfrm>
          <a:off x="1350519" y="499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Is there a correlation between the experimental TP53 EFS(Giacomelli et al.) and patient FGA (GENIE)?</a:t>
          </a:r>
        </a:p>
      </dsp:txBody>
      <dsp:txXfrm>
        <a:off x="1350519" y="499"/>
        <a:ext cx="8267613" cy="1169280"/>
      </dsp:txXfrm>
    </dsp:sp>
    <dsp:sp modelId="{38BBD7EB-99E3-4E91-A381-FFD8E899A99E}">
      <dsp:nvSpPr>
        <dsp:cNvPr id="0" name=""/>
        <dsp:cNvSpPr/>
      </dsp:nvSpPr>
      <dsp:spPr>
        <a:xfrm>
          <a:off x="0" y="1462100"/>
          <a:ext cx="9618133" cy="11692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1B101-9457-4CF6-BE8A-092C8EDB98A3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B549A-F582-407A-8FBE-1DEC81D362E6}">
      <dsp:nvSpPr>
        <dsp:cNvPr id="0" name=""/>
        <dsp:cNvSpPr/>
      </dsp:nvSpPr>
      <dsp:spPr>
        <a:xfrm>
          <a:off x="1350519" y="1462100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Do "Hotspot" mutations drive higher genomic instability than rare mutations?</a:t>
          </a:r>
        </a:p>
      </dsp:txBody>
      <dsp:txXfrm>
        <a:off x="1350519" y="1462100"/>
        <a:ext cx="8267613" cy="1169280"/>
      </dsp:txXfrm>
    </dsp:sp>
    <dsp:sp modelId="{4D29B9D9-CAA4-4473-AC64-F3635AD81E37}">
      <dsp:nvSpPr>
        <dsp:cNvPr id="0" name=""/>
        <dsp:cNvSpPr/>
      </dsp:nvSpPr>
      <dsp:spPr>
        <a:xfrm>
          <a:off x="0" y="2923701"/>
          <a:ext cx="9618133" cy="11692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8FA23B-86AA-437F-8BC3-11F23665006F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5C3A8-791F-442C-A264-0491E2C1EBEF}">
      <dsp:nvSpPr>
        <dsp:cNvPr id="0" name=""/>
        <dsp:cNvSpPr/>
      </dsp:nvSpPr>
      <dsp:spPr>
        <a:xfrm>
          <a:off x="1350519" y="2923701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Does this correlation hold true across all cancer types or is it specific to certain tissues?</a:t>
          </a:r>
        </a:p>
      </dsp:txBody>
      <dsp:txXfrm>
        <a:off x="1350519" y="2923701"/>
        <a:ext cx="8267613" cy="11692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C7E3C-55A4-AC42-BC40-F4B66067512F}">
      <dsp:nvSpPr>
        <dsp:cNvPr id="0" name=""/>
        <dsp:cNvSpPr/>
      </dsp:nvSpPr>
      <dsp:spPr>
        <a:xfrm>
          <a:off x="719716" y="2065"/>
          <a:ext cx="3634977" cy="18174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Primary Analysis (DNA/GENIE): Statistical Power. With ~200,000 samples, I plan to establish that TP53 mutations result in Genomic Instability. </a:t>
          </a:r>
        </a:p>
      </dsp:txBody>
      <dsp:txXfrm>
        <a:off x="772948" y="55297"/>
        <a:ext cx="3528513" cy="1711024"/>
      </dsp:txXfrm>
    </dsp:sp>
    <dsp:sp modelId="{B6E41552-DC51-284F-B30F-7B0AE0AA5325}">
      <dsp:nvSpPr>
        <dsp:cNvPr id="0" name=""/>
        <dsp:cNvSpPr/>
      </dsp:nvSpPr>
      <dsp:spPr>
        <a:xfrm>
          <a:off x="1083214" y="1819554"/>
          <a:ext cx="363497" cy="1363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3116"/>
              </a:lnTo>
              <a:lnTo>
                <a:pt x="363497" y="1363116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5E4114-BAEB-BD4B-A02A-0C8ED0A09D73}">
      <dsp:nvSpPr>
        <dsp:cNvPr id="0" name=""/>
        <dsp:cNvSpPr/>
      </dsp:nvSpPr>
      <dsp:spPr>
        <a:xfrm>
          <a:off x="1446711" y="2273927"/>
          <a:ext cx="2907982" cy="18174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Show that the physical structure of the genome is breaking down</a:t>
          </a:r>
        </a:p>
      </dsp:txBody>
      <dsp:txXfrm>
        <a:off x="1499943" y="2327159"/>
        <a:ext cx="2801518" cy="1711024"/>
      </dsp:txXfrm>
    </dsp:sp>
    <dsp:sp modelId="{4448B8C0-36F3-D247-B185-40ACDBC248AD}">
      <dsp:nvSpPr>
        <dsp:cNvPr id="0" name=""/>
        <dsp:cNvSpPr/>
      </dsp:nvSpPr>
      <dsp:spPr>
        <a:xfrm>
          <a:off x="5263438" y="2065"/>
          <a:ext cx="3634977" cy="1817488"/>
        </a:xfrm>
        <a:prstGeom prst="roundRect">
          <a:avLst>
            <a:gd name="adj" fmla="val 10000"/>
          </a:avLst>
        </a:prstGeom>
        <a:solidFill>
          <a:schemeClr val="accent2">
            <a:hueOff val="-1446200"/>
            <a:satOff val="-9924"/>
            <a:lumOff val="509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Secondary Analysis</a:t>
          </a:r>
          <a:r>
            <a:rPr lang="he-IL" sz="2000" kern="1200" dirty="0"/>
            <a:t>: </a:t>
          </a:r>
          <a:r>
            <a:rPr lang="en-US" sz="2000" kern="1200" dirty="0"/>
            <a:t>Biological Insight. Will tell us which pathways are driving the cancer's aggression.</a:t>
          </a:r>
        </a:p>
      </dsp:txBody>
      <dsp:txXfrm>
        <a:off x="5316670" y="55297"/>
        <a:ext cx="3528513" cy="1711024"/>
      </dsp:txXfrm>
    </dsp:sp>
    <dsp:sp modelId="{BFAA7661-613F-9C4C-8F0D-0F25850925C0}">
      <dsp:nvSpPr>
        <dsp:cNvPr id="0" name=""/>
        <dsp:cNvSpPr/>
      </dsp:nvSpPr>
      <dsp:spPr>
        <a:xfrm>
          <a:off x="5626936" y="1819554"/>
          <a:ext cx="363497" cy="1363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3116"/>
              </a:lnTo>
              <a:lnTo>
                <a:pt x="363497" y="1363116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7ED1AA-6751-264B-95A8-2D3A4397E075}">
      <dsp:nvSpPr>
        <dsp:cNvPr id="0" name=""/>
        <dsp:cNvSpPr/>
      </dsp:nvSpPr>
      <dsp:spPr>
        <a:xfrm>
          <a:off x="5990434" y="2273927"/>
          <a:ext cx="2907982" cy="18174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1446200"/>
              <a:satOff val="-9924"/>
              <a:lumOff val="5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Conclude what are the major pathways are triggered</a:t>
          </a:r>
        </a:p>
      </dsp:txBody>
      <dsp:txXfrm>
        <a:off x="6043666" y="2327159"/>
        <a:ext cx="2801518" cy="17110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3A55B-2C0F-8340-BC71-CF5A8E004310}">
      <dsp:nvSpPr>
        <dsp:cNvPr id="0" name=""/>
        <dsp:cNvSpPr/>
      </dsp:nvSpPr>
      <dsp:spPr>
        <a:xfrm>
          <a:off x="1174" y="520807"/>
          <a:ext cx="4121050" cy="26168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85EDF-B193-A845-836A-5D0F1B5E8C4C}">
      <dsp:nvSpPr>
        <dsp:cNvPr id="0" name=""/>
        <dsp:cNvSpPr/>
      </dsp:nvSpPr>
      <dsp:spPr>
        <a:xfrm>
          <a:off x="459068" y="955807"/>
          <a:ext cx="4121050" cy="26168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Hypothesis: Patients with TP53 mutations that have the lowest experimental function scores will show the highest Fraction Genome Altered.</a:t>
          </a:r>
        </a:p>
      </dsp:txBody>
      <dsp:txXfrm>
        <a:off x="535713" y="1032452"/>
        <a:ext cx="3967760" cy="2463577"/>
      </dsp:txXfrm>
    </dsp:sp>
    <dsp:sp modelId="{28800792-0ADF-F443-832A-0102E131C7B0}">
      <dsp:nvSpPr>
        <dsp:cNvPr id="0" name=""/>
        <dsp:cNvSpPr/>
      </dsp:nvSpPr>
      <dsp:spPr>
        <a:xfrm>
          <a:off x="5038013" y="520807"/>
          <a:ext cx="4121050" cy="26168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0CAA9-A1CA-114F-8DC0-CBCE4CD38073}">
      <dsp:nvSpPr>
        <dsp:cNvPr id="0" name=""/>
        <dsp:cNvSpPr/>
      </dsp:nvSpPr>
      <dsp:spPr>
        <a:xfrm>
          <a:off x="5495908" y="955807"/>
          <a:ext cx="4121050" cy="26168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Biological Implication: This confirms that the degree of TP53 loss directly dictates the level of genomic chaos allowed in the cell.</a:t>
          </a:r>
        </a:p>
      </dsp:txBody>
      <dsp:txXfrm>
        <a:off x="5572553" y="1032452"/>
        <a:ext cx="3967760" cy="2463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D6A08-F84D-254F-876D-619DDBFD23F2}" type="datetimeFigureOut">
              <a:rPr lang="en-IL" smtClean="0"/>
              <a:t>12/03/2026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2DB82-1DC1-9846-88D7-11B5391579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3175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שלום לכולם אני </a:t>
            </a:r>
            <a:r>
              <a:rPr lang="he-IL" dirty="0" err="1"/>
              <a:t>אורנית</a:t>
            </a:r>
            <a:r>
              <a:rPr lang="he-IL" dirty="0"/>
              <a:t>, ואני הולכת לדבר על הפרויקט שלי שנקרא ... </a:t>
            </a:r>
          </a:p>
          <a:p>
            <a:pPr marL="0" algn="r" defTabSz="914400" rtl="1" eaLnBrk="1" latinLnBrk="0" hangingPunct="1"/>
            <a:r>
              <a:rPr lang="he-IL" dirty="0"/>
              <a:t>כדי להבין מה הפרויקט הזה אומר, אני צריכה להסביר מה זה </a:t>
            </a:r>
            <a:r>
              <a:rPr lang="en-US" dirty="0"/>
              <a:t>TP53</a:t>
            </a:r>
            <a:r>
              <a:rPr lang="he-IL" dirty="0"/>
              <a:t> ו-</a:t>
            </a:r>
            <a:r>
              <a:rPr lang="en-US" dirty="0"/>
              <a:t>CNV</a:t>
            </a:r>
            <a:r>
              <a:rPr lang="he-IL" dirty="0"/>
              <a:t>.</a:t>
            </a:r>
          </a:p>
          <a:p>
            <a:pPr marL="0" algn="r" defTabSz="914400" rtl="1" eaLnBrk="1" latinLnBrk="0" hangingPunct="1"/>
            <a:r>
              <a:rPr lang="he-IL" dirty="0"/>
              <a:t>אלה שני נושאים שמוזכרים לפעמים יחד בהקשר לסרטן ותכף אסביר למה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9774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33720-E357-4473-84FE-312A1097C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54E84-A083-1426-FDAA-AB88ECAF2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BF795-B903-D79B-1F1B-80C5E254F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במאמר של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Giacomelli et al.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הם לקחו את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החליפו כל חומצה אמינית אחת והחליפו באחרת, בעצם יצרו מפה של כל המוטציות האפשריות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כדי לראות את האפקט של כל מוטציה וכמה היא משפיעה על התפקוד של התא מבחינת קצב הגידול של התאים הסרטניים. אז אני רוצה להסתכל האם יש מוטציות מסוימות שגורמות ל-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 number variation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לעלות? האם יש אזורים ספציפיים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שכשיש שם מוטציה ה-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cnv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עולה ובאילו סרטנים המוטציות ההרסניות ביותר פעילות?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algn="r" defTabSz="914400" rtl="1" eaLnBrk="1" latinLnBrk="0" hangingPunct="1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algn="r" defTabSz="914400" rtl="1" eaLnBrk="1" latinLnBrk="0" hangingPunct="1"/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אני רוצה לבדוק 3 דברים: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יש קורלציה בין 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score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של מוטציה כלשהי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CNV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גבוה יותר אצל החולים?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יש מוטציות באזורים שהם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הוטספוט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שגורמים ליותר חוסר יציבות?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מדובר בכל סוגי הסרטן או שאמצע את הקורלציה רק בסוגי סרטן ספציפיים?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6F355-EE9F-75DD-C84B-4B74F2DED9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0172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50740-E186-E036-D921-6A2E97D1B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7774F-386B-21E1-CF58-2F4795DBC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3DB58-41AD-15E6-40CE-DABAB2F06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במאמר של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Giacomelli et al.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הם לקחו את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החליפו כל חומצה אמינית אחת והחליפו באחרת, בעצם יצרו מפה של כל המוטציות האפשריות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כדי לראות את האפקט של כל מוטציה וכמה היא משפיעה על התפקוד של התא מבחינת קצב הגידול של התאים הסרטניים. אז אני רוצה להסתכל האם יש מוטציות מסוימות שגורמות ל-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 number variation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לעלות? האם יש אזורים ספציפיים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שכשיש שם מוטציה ה-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cnv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עולה ובאילו סרטנים המוטציות ההרסניות ביותר פעילות?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algn="r" defTabSz="914400" rtl="1" eaLnBrk="1" latinLnBrk="0" hangingPunct="1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algn="r" defTabSz="914400" rtl="1" eaLnBrk="1" latinLnBrk="0" hangingPunct="1"/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אני רוצה לבדוק 3 דברים: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יש קורלציה בין 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score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של מוטציה כלשהי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CNV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גבוה יותר אצל החולים?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יש מוטציות באזורים שהם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הוטספוט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שגורמים ליותר חוסר יציבות?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מדובר בכל סוגי הסרטן או שאמצע את הקורלציה רק בסוגי סרטן ספציפיים?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AB3B9-BBFC-BA2A-C686-BE5145D6D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81699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1DA42-1EEB-4506-B293-FE2AAFBC1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63708-603B-C5AD-3075-351E8BDEE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B3DFA-AA74-B6FE-F70D-511559573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במאמר של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Giacomelli et al.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הם לקחו את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החליפו כל חומצה אמינית אחת והחליפו באחרת, בעצם יצרו מפה של כל המוטציות האפשריות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כדי לראות את האפקט של כל מוטציה וכמה היא משפיעה על התפקוד של התא מבחינת קצב הגידול של התאים הסרטניים. אז אני רוצה להסתכל האם יש מוטציות מסוימות שגורמות ל-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 number variation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לעלות? האם יש אזורים ספציפיים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שכשיש שם מוטציה ה-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cnv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עולה ובאילו סרטנים המוטציות ההרסניות ביותר פעילות?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algn="r" defTabSz="914400" rtl="1" eaLnBrk="1" latinLnBrk="0" hangingPunct="1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algn="r" defTabSz="914400" rtl="1" eaLnBrk="1" latinLnBrk="0" hangingPunct="1"/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אני רוצה לבדוק 3 דברים: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יש קורלציה בין 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score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של מוטציה כלשהי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CNV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גבוה יותר אצל החולים?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יש מוטציות באזורים שהם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הוטספוט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שגורמים ליותר חוסר יציבות?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מדובר בכל סוגי הסרטן או שאמצע את הקורלציה רק בסוגי סרטן ספציפיים?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7F769-C1AA-8583-0A4A-E95E0B0BB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92106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במאמר של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Giacomelli et al.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הם לקחו את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החליפו כל חומצה אמינית אחת והחליפו באחרת, בעצם יצרו מפה של כל המוטציות האפשריות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כדי לראות את האפקט של כל מוטציה וכמה היא משפיעה על התפקוד של התא מבחינת קצב הגידול של התאים הסרטניים. אז אני רוצה להסתכל האם יש מוטציות מסוימות שגורמות ל-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 number variation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לעלות? האם יש אזורים ספציפיים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שכשיש שם מוטציה ה-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cnv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עולה ובאילו סרטנים המוטציות ההרסניות ביותר פעילות?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algn="r" defTabSz="914400" rtl="1" eaLnBrk="1" latinLnBrk="0" hangingPunct="1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algn="r" defTabSz="914400" rtl="1" eaLnBrk="1" latinLnBrk="0" hangingPunct="1"/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אני רוצה לבדוק 3 דברים: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יש קורלציה בין 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score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של מוטציה כלשהי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CNV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גבוה יותר אצל החולים?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יש מוטציות באזורים שהם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הוטספוט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שגורמים ליותר חוסר יציבות?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מדובר בכל סוגי הסרטן או שאמצע את הקורלציה רק בסוגי סרטן ספציפיים?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5188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060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my Primary Analysis, I am establishing the structural damage—proving that specific TP53 mutations lead to higher genomic instability using the massive GENIE dataset.</a:t>
            </a:r>
          </a:p>
          <a:p>
            <a:endParaRPr lang="en-US" dirty="0"/>
          </a:p>
          <a:p>
            <a:r>
              <a:rPr lang="en-US" dirty="0"/>
              <a:t>However, structural damage is only half the story. In my Secondary Analysis, I connect this to the functional consequence. I use TCGA data to ask: 'How does this genomic chaos actually change the cell's behavior?' specifically looking at gene expression in cell cycle and repair pathways.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92560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ההיפותזה שלי מבוססת על מאמר שפורסם </a:t>
            </a:r>
            <a:r>
              <a:rPr lang="he-IL" dirty="0" err="1"/>
              <a:t>בנייצ׳ר</a:t>
            </a:r>
            <a:r>
              <a:rPr lang="he-IL" dirty="0"/>
              <a:t> לפני כמה שנים שהם עשו דבר מאוד מעניין שם, הם יצרו ספרייה ענקית שכוללת כמעט את כל המוטציות האפשריות ב-</a:t>
            </a:r>
            <a:r>
              <a:rPr lang="en-US" dirty="0"/>
              <a:t>TP53</a:t>
            </a:r>
            <a:r>
              <a:rPr lang="he-IL" dirty="0"/>
              <a:t>, בעיקר </a:t>
            </a:r>
            <a:r>
              <a:rPr lang="he-IL" dirty="0" err="1"/>
              <a:t>מיסנס</a:t>
            </a:r>
            <a:r>
              <a:rPr lang="he-IL" dirty="0"/>
              <a:t> אבל גם נונסנס. כל מוטציה הוכנסה לתאים אנושיים וסומנה בברקוד כדי לעקוב אחריה בריצוף. הם הכניסו לתאים עותק מוטנטי של </a:t>
            </a:r>
            <a:r>
              <a:rPr lang="en-US" dirty="0"/>
              <a:t>TP53</a:t>
            </a:r>
            <a:r>
              <a:rPr lang="he-IL" dirty="0"/>
              <a:t> ובדקו מה ההשפעה של זה בתא.</a:t>
            </a:r>
            <a:endParaRPr lang="he-IL" b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0" dirty="0"/>
              <a:t>ההיפותזה שאני הולכת לעבוד איתה היא שלחולים עם מוטציות tp53 שיש להם ציון </a:t>
            </a:r>
            <a:r>
              <a:rPr lang="he-IL" b="0" dirty="0" err="1"/>
              <a:t>פיטנס</a:t>
            </a:r>
            <a:r>
              <a:rPr lang="he-IL" b="0" dirty="0"/>
              <a:t> נמוך, יהיה אחוז גבוה יותר של כאוס </a:t>
            </a:r>
            <a:r>
              <a:rPr lang="he-IL" b="0" dirty="0" err="1"/>
              <a:t>גנומי</a:t>
            </a:r>
            <a:r>
              <a:rPr lang="he-IL" b="0" dirty="0"/>
              <a:t>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dirty="0"/>
          </a:p>
          <a:p>
            <a:pPr lvl="1"/>
            <a:r>
              <a:rPr lang="en-US" dirty="0"/>
              <a:t>~0 → WT-like</a:t>
            </a:r>
          </a:p>
          <a:p>
            <a:pPr lvl="1"/>
            <a:r>
              <a:rPr lang="he-IL" dirty="0"/>
              <a:t>גבוה → </a:t>
            </a:r>
            <a:r>
              <a:rPr lang="en-US" dirty="0"/>
              <a:t>severe / LOF / GOF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5081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D762-9745-8AB7-5946-5E3E3A7EF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760D4-4D2F-D147-3570-C8A78EFED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B9091D-4536-722D-9602-CC5976BEC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FD91B-081F-8A88-ECB1-6277A65814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37993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2DA0-78C3-E2BC-A5F2-ABF8DD1F1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9D7FC3-56A0-EBA3-9609-B9DDF9436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3940C-BA75-367B-2854-DC459C6E4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ל-</a:t>
            </a:r>
            <a:r>
              <a:rPr lang="en-US" dirty="0"/>
              <a:t>GENIE</a:t>
            </a:r>
            <a:r>
              <a:rPr lang="he-IL" dirty="0"/>
              <a:t> היה רק </a:t>
            </a:r>
            <a:r>
              <a:rPr lang="en-US" dirty="0"/>
              <a:t>TP53-specific CNA</a:t>
            </a:r>
            <a:r>
              <a:rPr lang="he-IL" dirty="0"/>
              <a:t> ורציתי לראות את ההשפעה על כל הגנום, אילו גנים מוגברים, אילו גנים מושתקים או נמחקים בכל הגנום, לא רק </a:t>
            </a:r>
            <a:r>
              <a:rPr lang="en-US" dirty="0"/>
              <a:t>TP53</a:t>
            </a:r>
            <a:r>
              <a:rPr lang="he-IL" dirty="0"/>
              <a:t>. </a:t>
            </a:r>
            <a:r>
              <a:rPr lang="en-US" dirty="0"/>
              <a:t>GENIE</a:t>
            </a:r>
            <a:r>
              <a:rPr lang="he-IL" dirty="0"/>
              <a:t> של כל הגנום לא נמצא בגישה ציבורית, ולכן לא יכולתי להשתמש בזה.</a:t>
            </a:r>
          </a:p>
          <a:p>
            <a:pPr marL="0" algn="r" defTabSz="914400" rtl="1" eaLnBrk="1" latinLnBrk="0" hangingPunct="1"/>
            <a:r>
              <a:rPr lang="he-IL" dirty="0"/>
              <a:t>בגדול </a:t>
            </a:r>
            <a:r>
              <a:rPr lang="en-US" dirty="0"/>
              <a:t>GENIE</a:t>
            </a:r>
            <a:r>
              <a:rPr lang="he-IL" dirty="0"/>
              <a:t> אמר לי הגנום נשבר, </a:t>
            </a:r>
            <a:r>
              <a:rPr lang="en-US" dirty="0"/>
              <a:t>MSK-IMPACT</a:t>
            </a:r>
            <a:r>
              <a:rPr lang="he-IL" dirty="0"/>
              <a:t> אמר לי מה נשבר.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DC7C4-DD9D-503D-7A0E-8FF1827D9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436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36553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7952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86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6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192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579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spc="5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975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83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33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49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218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spc="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550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spc="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7947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spc="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524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spc="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5721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spc="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895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622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17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3/12/26</a:t>
            </a:fld>
            <a:endParaRPr lang="en-US" spc="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449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  <p:sldLayoutId id="2147484025" r:id="rId13"/>
    <p:sldLayoutId id="2147484026" r:id="rId14"/>
    <p:sldLayoutId id="2147484027" r:id="rId15"/>
    <p:sldLayoutId id="21474840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96D-E8F9-B326-5356-2C6AA3E54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651" y="1681845"/>
            <a:ext cx="8486046" cy="2876471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TP53 mutations that are associated with an increased Copy Number Variation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321456-BD03-93AA-AA0C-5A387C9AA80E}"/>
              </a:ext>
            </a:extLst>
          </p:cNvPr>
          <p:cNvSpPr txBox="1"/>
          <p:nvPr/>
        </p:nvSpPr>
        <p:spPr>
          <a:xfrm>
            <a:off x="1201651" y="4852989"/>
            <a:ext cx="1949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solidFill>
                  <a:schemeClr val="accent1">
                    <a:lumMod val="50000"/>
                  </a:schemeClr>
                </a:solidFill>
              </a:rPr>
              <a:t>Ornit Bhonkar</a:t>
            </a:r>
          </a:p>
          <a:p>
            <a:r>
              <a:rPr lang="en-IL" dirty="0">
                <a:solidFill>
                  <a:schemeClr val="accent1">
                    <a:lumMod val="50000"/>
                  </a:schemeClr>
                </a:solidFill>
              </a:rPr>
              <a:t>January 29, 2026</a:t>
            </a:r>
          </a:p>
        </p:txBody>
      </p:sp>
    </p:spTree>
    <p:extLst>
      <p:ext uri="{BB962C8B-B14F-4D97-AF65-F5344CB8AC3E}">
        <p14:creationId xmlns:p14="http://schemas.microsoft.com/office/powerpoint/2010/main" val="1702451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EC890-C6AC-F7F4-5276-8742D7AA6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685DBA3-9A98-6ADF-8AA2-BF3E8B75D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7D1D69-5D86-686E-31C4-698DA1D18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TP53</a:t>
            </a:r>
            <a:endParaRPr lang="en-IL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6018722-1E41-3739-9070-822F24698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5CE3D89-D7D3-6A41-9C73-DB8B1A2E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414FA-DE03-E189-4DCE-E04D097B7CA7}"/>
              </a:ext>
            </a:extLst>
          </p:cNvPr>
          <p:cNvSpPr txBox="1">
            <a:spLocks/>
          </p:cNvSpPr>
          <p:nvPr/>
        </p:nvSpPr>
        <p:spPr>
          <a:xfrm>
            <a:off x="455182" y="4556358"/>
            <a:ext cx="11473581" cy="17584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TP53 acts as the cellular “superhero” responsible for maintaining genomic integrity. It functions as a stress sensor that responds to DNA damage.</a:t>
            </a:r>
          </a:p>
          <a:p>
            <a:r>
              <a:rPr lang="en-US" sz="2000" dirty="0"/>
              <a:t>When TP53 is functional, it induces DNA repairs or apoptosis. When broken, errors accumulate.</a:t>
            </a:r>
          </a:p>
          <a:p>
            <a:r>
              <a:rPr lang="en-US" sz="2000" dirty="0"/>
              <a:t>TP53 mutations are not binary, and they exist on a spectrum of phenotypic impact.</a:t>
            </a:r>
          </a:p>
        </p:txBody>
      </p:sp>
      <p:pic>
        <p:nvPicPr>
          <p:cNvPr id="8" name="Picture 2" descr="Figure 1">
            <a:extLst>
              <a:ext uri="{FF2B5EF4-FFF2-40B4-BE49-F238E27FC236}">
                <a16:creationId xmlns:a16="http://schemas.microsoft.com/office/drawing/2014/main" id="{9BC91899-43E3-CEDD-FE5D-05DC59AA58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667"/>
          <a:stretch>
            <a:fillRect/>
          </a:stretch>
        </p:blipFill>
        <p:spPr bwMode="auto">
          <a:xfrm>
            <a:off x="3390828" y="543159"/>
            <a:ext cx="8447386" cy="3276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78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F7B51-0CB9-849F-CB7E-C7A9B50FC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FED349A-24C8-264C-862E-2274D9237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6F7E30-26B1-B557-6AD3-D1C258840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Copy Number Variation</a:t>
            </a:r>
            <a:endParaRPr lang="en-IL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BCF91F3-C962-D86C-83AD-3EA5160BF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FA3276C-479D-E4E7-0EAB-9209B0A51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517E4E-D17F-EBB7-61A7-E50879226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71" y="2232833"/>
            <a:ext cx="5706109" cy="3560733"/>
          </a:xfrm>
        </p:spPr>
        <p:txBody>
          <a:bodyPr>
            <a:normAutofit/>
          </a:bodyPr>
          <a:lstStyle/>
          <a:p>
            <a:r>
              <a:rPr lang="en-US" sz="2400" dirty="0"/>
              <a:t>A stretch of DNA where the number of copies differs from the normal two copies.</a:t>
            </a:r>
          </a:p>
          <a:p>
            <a:pPr lvl="1"/>
            <a:r>
              <a:rPr lang="en-US" sz="2000" dirty="0"/>
              <a:t>More copies → more RNA → more protein</a:t>
            </a:r>
          </a:p>
          <a:p>
            <a:pPr lvl="1"/>
            <a:r>
              <a:rPr lang="en-US" sz="2000" dirty="0"/>
              <a:t>Fewer copies → less protein</a:t>
            </a:r>
          </a:p>
          <a:p>
            <a:pPr lvl="1"/>
            <a:r>
              <a:rPr lang="en-US" sz="2000" dirty="0"/>
              <a:t>Example: Oncogene amplification → uncontrolled growth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C5A2D30-1AD0-064B-BE91-9654F83A8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94720" y="1114172"/>
            <a:ext cx="5289508" cy="504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09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78DBB-44CA-8953-BAA3-D911E6176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7E4B03C-3DF6-AED7-1620-1E8598DE7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E1891-06CD-1C02-0414-011F0217D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1"/>
            <a:ext cx="6750756" cy="688622"/>
          </a:xfrm>
        </p:spPr>
        <p:txBody>
          <a:bodyPr>
            <a:normAutofit/>
          </a:bodyPr>
          <a:lstStyle/>
          <a:p>
            <a:r>
              <a:rPr lang="en-US" dirty="0"/>
              <a:t>Experimental Functional Score</a:t>
            </a:r>
            <a:endParaRPr lang="en-IL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919F62-B5BF-D929-2843-8ABB25266375}"/>
              </a:ext>
            </a:extLst>
          </p:cNvPr>
          <p:cNvGrpSpPr/>
          <p:nvPr/>
        </p:nvGrpSpPr>
        <p:grpSpPr>
          <a:xfrm>
            <a:off x="3867222" y="4231497"/>
            <a:ext cx="1459397" cy="1460406"/>
            <a:chOff x="9094660" y="1419321"/>
            <a:chExt cx="1663059" cy="166420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5B62530-1BD2-AD91-8DDB-A19CAC48CF63}"/>
                </a:ext>
              </a:extLst>
            </p:cNvPr>
            <p:cNvSpPr/>
            <p:nvPr/>
          </p:nvSpPr>
          <p:spPr>
            <a:xfrm>
              <a:off x="9094660" y="1419321"/>
              <a:ext cx="1663059" cy="166420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miter lim="400000"/>
            </a:ln>
            <a:effectLst>
              <a:outerShdw blurRad="254000" dist="190500" dir="13500000" algn="tl" rotWithShape="0">
                <a:schemeClr val="bg1"/>
              </a:outerShdw>
            </a:effectLst>
          </p:spPr>
          <p:txBody>
            <a:bodyPr lIns="28575" tIns="28575" rIns="28575" bIns="28575" anchor="ctr"/>
            <a:lstStyle/>
            <a:p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E23DAB0-7AD3-659B-646F-007313A4B0C9}"/>
                </a:ext>
              </a:extLst>
            </p:cNvPr>
            <p:cNvSpPr/>
            <p:nvPr/>
          </p:nvSpPr>
          <p:spPr>
            <a:xfrm>
              <a:off x="9094660" y="1419321"/>
              <a:ext cx="1663059" cy="1664208"/>
            </a:xfrm>
            <a:prstGeom prst="ellipse">
              <a:avLst/>
            </a:prstGeom>
            <a:solidFill>
              <a:srgbClr val="F1EFF0"/>
            </a:solidFill>
            <a:ln w="12700">
              <a:miter lim="400000"/>
            </a:ln>
            <a:effectLst>
              <a:outerShdw blurRad="2540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lIns="28575" tIns="28575" rIns="28575" bIns="28575" anchor="ctr"/>
            <a:lstStyle/>
            <a:p>
              <a:pPr algn="ctr"/>
              <a:r>
                <a:rPr lang="en-US" sz="2400" b="1" dirty="0"/>
                <a:t>02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07EF1A-442A-0953-02FA-06BBFF268FC4}"/>
              </a:ext>
            </a:extLst>
          </p:cNvPr>
          <p:cNvGrpSpPr/>
          <p:nvPr/>
        </p:nvGrpSpPr>
        <p:grpSpPr>
          <a:xfrm>
            <a:off x="6865383" y="4231497"/>
            <a:ext cx="1459397" cy="1460406"/>
            <a:chOff x="9094660" y="1419321"/>
            <a:chExt cx="1663059" cy="166420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A15A1CB-8B3F-B5D0-F494-B87727E4C264}"/>
                </a:ext>
              </a:extLst>
            </p:cNvPr>
            <p:cNvSpPr/>
            <p:nvPr/>
          </p:nvSpPr>
          <p:spPr>
            <a:xfrm>
              <a:off x="9094660" y="1419321"/>
              <a:ext cx="1663059" cy="166420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miter lim="400000"/>
            </a:ln>
            <a:effectLst>
              <a:outerShdw blurRad="254000" dist="190500" dir="13500000" algn="tl" rotWithShape="0">
                <a:schemeClr val="bg1"/>
              </a:outerShdw>
            </a:effectLst>
          </p:spPr>
          <p:txBody>
            <a:bodyPr lIns="28575" tIns="28575" rIns="28575" bIns="28575" anchor="ctr"/>
            <a:lstStyle/>
            <a:p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3C8F5EC-EC64-A858-CEB0-2B6F1D0E5C0F}"/>
                </a:ext>
              </a:extLst>
            </p:cNvPr>
            <p:cNvSpPr/>
            <p:nvPr/>
          </p:nvSpPr>
          <p:spPr>
            <a:xfrm>
              <a:off x="9094660" y="1419321"/>
              <a:ext cx="1663059" cy="1664208"/>
            </a:xfrm>
            <a:prstGeom prst="ellipse">
              <a:avLst/>
            </a:prstGeom>
            <a:solidFill>
              <a:srgbClr val="F1EFF0"/>
            </a:solidFill>
            <a:ln w="12700">
              <a:miter lim="400000"/>
            </a:ln>
            <a:effectLst>
              <a:outerShdw blurRad="2540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lIns="28575" tIns="28575" rIns="28575" bIns="28575" anchor="ctr"/>
            <a:lstStyle/>
            <a:p>
              <a:pPr algn="ctr"/>
              <a:r>
                <a:rPr lang="en-US" sz="2400" b="1" dirty="0"/>
                <a:t>03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D2CA11-ADD6-0E64-CDF8-A58319B47FA5}"/>
              </a:ext>
            </a:extLst>
          </p:cNvPr>
          <p:cNvGrpSpPr/>
          <p:nvPr/>
        </p:nvGrpSpPr>
        <p:grpSpPr>
          <a:xfrm>
            <a:off x="4545430" y="2816626"/>
            <a:ext cx="3112039" cy="2812279"/>
            <a:chOff x="8212798" y="998309"/>
            <a:chExt cx="3546329" cy="3204737"/>
          </a:xfrm>
        </p:grpSpPr>
        <p:sp>
          <p:nvSpPr>
            <p:cNvPr id="17" name="Shape">
              <a:extLst>
                <a:ext uri="{FF2B5EF4-FFF2-40B4-BE49-F238E27FC236}">
                  <a16:creationId xmlns:a16="http://schemas.microsoft.com/office/drawing/2014/main" id="{2A32926C-890B-9A62-C0EE-F11AE4713D84}"/>
                </a:ext>
              </a:extLst>
            </p:cNvPr>
            <p:cNvSpPr/>
            <p:nvPr/>
          </p:nvSpPr>
          <p:spPr>
            <a:xfrm>
              <a:off x="8212798" y="998309"/>
              <a:ext cx="3546329" cy="3204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725" y="15733"/>
                  </a:moveTo>
                  <a:cubicBezTo>
                    <a:pt x="13725" y="11853"/>
                    <a:pt x="16569" y="8707"/>
                    <a:pt x="20074" y="8707"/>
                  </a:cubicBezTo>
                  <a:cubicBezTo>
                    <a:pt x="20598" y="8707"/>
                    <a:pt x="21108" y="8777"/>
                    <a:pt x="21600" y="8909"/>
                  </a:cubicBezTo>
                  <a:cubicBezTo>
                    <a:pt x="21405" y="5260"/>
                    <a:pt x="19734" y="2051"/>
                    <a:pt x="17231" y="0"/>
                  </a:cubicBezTo>
                  <a:cubicBezTo>
                    <a:pt x="16348" y="3000"/>
                    <a:pt x="13801" y="5170"/>
                    <a:pt x="10800" y="5170"/>
                  </a:cubicBezTo>
                  <a:cubicBezTo>
                    <a:pt x="7793" y="5170"/>
                    <a:pt x="5246" y="3000"/>
                    <a:pt x="4369" y="0"/>
                  </a:cubicBezTo>
                  <a:cubicBezTo>
                    <a:pt x="1873" y="2044"/>
                    <a:pt x="202" y="5247"/>
                    <a:pt x="0" y="8888"/>
                  </a:cubicBezTo>
                  <a:cubicBezTo>
                    <a:pt x="467" y="8763"/>
                    <a:pt x="958" y="8700"/>
                    <a:pt x="1463" y="8700"/>
                  </a:cubicBezTo>
                  <a:cubicBezTo>
                    <a:pt x="4968" y="8700"/>
                    <a:pt x="7812" y="11847"/>
                    <a:pt x="7812" y="15726"/>
                  </a:cubicBezTo>
                  <a:cubicBezTo>
                    <a:pt x="7812" y="17547"/>
                    <a:pt x="7187" y="19200"/>
                    <a:pt x="6166" y="20449"/>
                  </a:cubicBezTo>
                  <a:cubicBezTo>
                    <a:pt x="7572" y="21188"/>
                    <a:pt x="9148" y="21600"/>
                    <a:pt x="10806" y="21600"/>
                  </a:cubicBezTo>
                  <a:cubicBezTo>
                    <a:pt x="12452" y="21600"/>
                    <a:pt x="14009" y="21195"/>
                    <a:pt x="15402" y="20470"/>
                  </a:cubicBezTo>
                  <a:cubicBezTo>
                    <a:pt x="14356" y="19228"/>
                    <a:pt x="13725" y="17560"/>
                    <a:pt x="13725" y="1573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miter lim="400000"/>
            </a:ln>
            <a:effectLst>
              <a:outerShdw blurRad="254000" dist="190500" dir="13500000" algn="tl" rotWithShape="0">
                <a:schemeClr val="bg1"/>
              </a:outerShdw>
            </a:effectLst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250">
                <a:solidFill>
                  <a:srgbClr val="FFFFFF"/>
                </a:solidFill>
              </a:endParaRPr>
            </a:p>
          </p:txBody>
        </p:sp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41A222E0-99DB-AE50-9B6E-33151204F8E6}"/>
                </a:ext>
              </a:extLst>
            </p:cNvPr>
            <p:cNvSpPr/>
            <p:nvPr/>
          </p:nvSpPr>
          <p:spPr>
            <a:xfrm>
              <a:off x="8212798" y="998309"/>
              <a:ext cx="3546329" cy="32047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725" y="15733"/>
                  </a:moveTo>
                  <a:cubicBezTo>
                    <a:pt x="13725" y="11853"/>
                    <a:pt x="16569" y="8707"/>
                    <a:pt x="20074" y="8707"/>
                  </a:cubicBezTo>
                  <a:cubicBezTo>
                    <a:pt x="20598" y="8707"/>
                    <a:pt x="21108" y="8777"/>
                    <a:pt x="21600" y="8909"/>
                  </a:cubicBezTo>
                  <a:cubicBezTo>
                    <a:pt x="21405" y="5260"/>
                    <a:pt x="19734" y="2051"/>
                    <a:pt x="17231" y="0"/>
                  </a:cubicBezTo>
                  <a:cubicBezTo>
                    <a:pt x="16348" y="3000"/>
                    <a:pt x="13801" y="5170"/>
                    <a:pt x="10800" y="5170"/>
                  </a:cubicBezTo>
                  <a:cubicBezTo>
                    <a:pt x="7793" y="5170"/>
                    <a:pt x="5246" y="3000"/>
                    <a:pt x="4369" y="0"/>
                  </a:cubicBezTo>
                  <a:cubicBezTo>
                    <a:pt x="1873" y="2044"/>
                    <a:pt x="202" y="5247"/>
                    <a:pt x="0" y="8888"/>
                  </a:cubicBezTo>
                  <a:cubicBezTo>
                    <a:pt x="467" y="8763"/>
                    <a:pt x="958" y="8700"/>
                    <a:pt x="1463" y="8700"/>
                  </a:cubicBezTo>
                  <a:cubicBezTo>
                    <a:pt x="4968" y="8700"/>
                    <a:pt x="7812" y="11847"/>
                    <a:pt x="7812" y="15726"/>
                  </a:cubicBezTo>
                  <a:cubicBezTo>
                    <a:pt x="7812" y="17547"/>
                    <a:pt x="7187" y="19200"/>
                    <a:pt x="6166" y="20449"/>
                  </a:cubicBezTo>
                  <a:cubicBezTo>
                    <a:pt x="7572" y="21188"/>
                    <a:pt x="9148" y="21600"/>
                    <a:pt x="10806" y="21600"/>
                  </a:cubicBezTo>
                  <a:cubicBezTo>
                    <a:pt x="12452" y="21600"/>
                    <a:pt x="14009" y="21195"/>
                    <a:pt x="15402" y="20470"/>
                  </a:cubicBezTo>
                  <a:cubicBezTo>
                    <a:pt x="14356" y="19228"/>
                    <a:pt x="13725" y="17560"/>
                    <a:pt x="13725" y="15733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miter lim="400000"/>
            </a:ln>
            <a:effectLst>
              <a:outerShdw blurRad="2540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lIns="28575" tIns="28575" rIns="28575" bIns="28575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2250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9" name="Graphic 31" descr="Lights On">
            <a:extLst>
              <a:ext uri="{FF2B5EF4-FFF2-40B4-BE49-F238E27FC236}">
                <a16:creationId xmlns:a16="http://schemas.microsoft.com/office/drawing/2014/main" id="{C8007DE2-5BD9-5C67-0B28-F7352639D9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3853" y="4062693"/>
            <a:ext cx="764292" cy="764292"/>
          </a:xfrm>
          <a:prstGeom prst="rect">
            <a:avLst/>
          </a:prstGeom>
        </p:spPr>
      </p:pic>
      <p:sp>
        <p:nvSpPr>
          <p:cNvPr id="20" name="TextBox 13">
            <a:extLst>
              <a:ext uri="{FF2B5EF4-FFF2-40B4-BE49-F238E27FC236}">
                <a16:creationId xmlns:a16="http://schemas.microsoft.com/office/drawing/2014/main" id="{8081AE7B-E1AE-6078-E090-43B40CDF16D5}"/>
              </a:ext>
            </a:extLst>
          </p:cNvPr>
          <p:cNvSpPr txBox="1"/>
          <p:nvPr/>
        </p:nvSpPr>
        <p:spPr>
          <a:xfrm>
            <a:off x="5219477" y="3609483"/>
            <a:ext cx="1743042" cy="415498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00" b="1" noProof="1"/>
              <a:t>Combined Phenotype Score (EFS)</a:t>
            </a:r>
          </a:p>
          <a:p>
            <a:pPr algn="ctr"/>
            <a:r>
              <a:rPr lang="en-US" sz="700" b="1" noProof="1"/>
              <a:t>Low = Loss of Function</a:t>
            </a:r>
          </a:p>
          <a:p>
            <a:pPr algn="ctr"/>
            <a:r>
              <a:rPr lang="en-US" sz="700" b="1" noProof="1"/>
              <a:t>High = WT-like Activity</a:t>
            </a:r>
          </a:p>
        </p:txBody>
      </p:sp>
      <p:sp>
        <p:nvSpPr>
          <p:cNvPr id="21" name="Circle">
            <a:extLst>
              <a:ext uri="{FF2B5EF4-FFF2-40B4-BE49-F238E27FC236}">
                <a16:creationId xmlns:a16="http://schemas.microsoft.com/office/drawing/2014/main" id="{42C4BCEC-E259-3077-6BF6-6557CA49DA74}"/>
              </a:ext>
            </a:extLst>
          </p:cNvPr>
          <p:cNvSpPr>
            <a:spLocks/>
          </p:cNvSpPr>
          <p:nvPr/>
        </p:nvSpPr>
        <p:spPr>
          <a:xfrm>
            <a:off x="5321662" y="1656106"/>
            <a:ext cx="1548672" cy="1548671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  <a:effectLst>
            <a:outerShdw blurRad="254000" dist="190500" dir="13500000" algn="tl" rotWithShape="0">
              <a:schemeClr val="bg1"/>
            </a:outerShdw>
          </a:effectLst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400" dirty="0">
              <a:solidFill>
                <a:srgbClr val="FFFFFF"/>
              </a:solidFill>
            </a:endParaRPr>
          </a:p>
        </p:txBody>
      </p:sp>
      <p:sp>
        <p:nvSpPr>
          <p:cNvPr id="22" name="Circle">
            <a:extLst>
              <a:ext uri="{FF2B5EF4-FFF2-40B4-BE49-F238E27FC236}">
                <a16:creationId xmlns:a16="http://schemas.microsoft.com/office/drawing/2014/main" id="{0942E217-7310-96A2-2DDA-C439DD189675}"/>
              </a:ext>
            </a:extLst>
          </p:cNvPr>
          <p:cNvSpPr>
            <a:spLocks/>
          </p:cNvSpPr>
          <p:nvPr/>
        </p:nvSpPr>
        <p:spPr>
          <a:xfrm>
            <a:off x="5321662" y="1656106"/>
            <a:ext cx="1548672" cy="1548671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  <a:effectLst>
            <a:outerShdw blurRad="254000" dist="1905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lIns="28575" tIns="28575" rIns="28575" bIns="28575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 b="1" dirty="0"/>
          </a:p>
        </p:txBody>
      </p:sp>
      <p:sp>
        <p:nvSpPr>
          <p:cNvPr id="23" name="Circle">
            <a:extLst>
              <a:ext uri="{FF2B5EF4-FFF2-40B4-BE49-F238E27FC236}">
                <a16:creationId xmlns:a16="http://schemas.microsoft.com/office/drawing/2014/main" id="{FC8BE534-91CD-8C49-5200-A26DC21D28C6}"/>
              </a:ext>
            </a:extLst>
          </p:cNvPr>
          <p:cNvSpPr>
            <a:spLocks/>
          </p:cNvSpPr>
          <p:nvPr/>
        </p:nvSpPr>
        <p:spPr>
          <a:xfrm>
            <a:off x="5321662" y="1656106"/>
            <a:ext cx="1548672" cy="1548671"/>
          </a:xfrm>
          <a:prstGeom prst="ellipse">
            <a:avLst/>
          </a:prstGeom>
          <a:gradFill>
            <a:gsLst>
              <a:gs pos="50000">
                <a:schemeClr val="accent3"/>
              </a:gs>
              <a:gs pos="85000">
                <a:schemeClr val="accent3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  <a:effectLst>
            <a:innerShdw blurRad="152400" dist="101600" dir="13500000">
              <a:schemeClr val="accent3">
                <a:lumMod val="50000"/>
                <a:alpha val="4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/>
              <a:t>01</a:t>
            </a:r>
            <a:endParaRPr sz="2400" b="1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29E89F7-7DB0-B237-9C99-9CC61285E8E9}"/>
              </a:ext>
            </a:extLst>
          </p:cNvPr>
          <p:cNvGrpSpPr/>
          <p:nvPr/>
        </p:nvGrpSpPr>
        <p:grpSpPr>
          <a:xfrm>
            <a:off x="8712017" y="4370471"/>
            <a:ext cx="3276783" cy="1106115"/>
            <a:chOff x="8921977" y="4001571"/>
            <a:chExt cx="2926080" cy="147481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CC035F0-2526-D268-0E3B-75AB79A12D8E}"/>
                </a:ext>
              </a:extLst>
            </p:cNvPr>
            <p:cNvSpPr txBox="1"/>
            <p:nvPr/>
          </p:nvSpPr>
          <p:spPr>
            <a:xfrm>
              <a:off x="8921977" y="4001571"/>
              <a:ext cx="2926080" cy="533480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000" b="1" noProof="1"/>
                <a:t>Calculate Functional Score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68FC290-2159-6BA0-2442-116AB524B9D3}"/>
                </a:ext>
              </a:extLst>
            </p:cNvPr>
            <p:cNvSpPr txBox="1"/>
            <p:nvPr/>
          </p:nvSpPr>
          <p:spPr>
            <a:xfrm>
              <a:off x="8921977" y="4532543"/>
              <a:ext cx="2926080" cy="943847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0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Integrate the three Z-scores using the Combined Phenotype Score formula. This single value per allele - the EFS - reflects the degree to which each TP53 variant retains or loses normal p53 function.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B6880FB-82C4-842A-3DAF-F2B7882B9BFA}"/>
              </a:ext>
            </a:extLst>
          </p:cNvPr>
          <p:cNvGrpSpPr/>
          <p:nvPr/>
        </p:nvGrpSpPr>
        <p:grpSpPr>
          <a:xfrm>
            <a:off x="267478" y="4269769"/>
            <a:ext cx="3331985" cy="921449"/>
            <a:chOff x="332936" y="4621561"/>
            <a:chExt cx="2926080" cy="122859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1428924-C3F8-AD23-A029-7B41748237E3}"/>
                </a:ext>
              </a:extLst>
            </p:cNvPr>
            <p:cNvSpPr txBox="1"/>
            <p:nvPr/>
          </p:nvSpPr>
          <p:spPr>
            <a:xfrm>
              <a:off x="332936" y="4621561"/>
              <a:ext cx="2926080" cy="492442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r"/>
              <a:r>
                <a:rPr lang="en-US" b="1" dirty="0"/>
                <a:t>Quantify Allele Enrichment</a:t>
              </a:r>
              <a:endParaRPr lang="en-US" sz="2000" b="1" noProof="1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A0310DC-5DC9-5D1F-1D32-AD439F276849}"/>
                </a:ext>
              </a:extLst>
            </p:cNvPr>
            <p:cNvSpPr txBox="1"/>
            <p:nvPr/>
          </p:nvSpPr>
          <p:spPr>
            <a:xfrm>
              <a:off x="332936" y="5111496"/>
              <a:ext cx="2926080" cy="738664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r"/>
              <a:r>
                <a:rPr lang="en-US" sz="10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Compute log₂ fold-change for each allele relative to the early timepoint. Standardize across alleles to produce a Z-score for each of the three conditions.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202CC10-FB01-DB77-E5DD-9C862A01D79D}"/>
              </a:ext>
            </a:extLst>
          </p:cNvPr>
          <p:cNvGrpSpPr/>
          <p:nvPr/>
        </p:nvGrpSpPr>
        <p:grpSpPr>
          <a:xfrm>
            <a:off x="1286933" y="1887944"/>
            <a:ext cx="3854634" cy="967371"/>
            <a:chOff x="8921977" y="984542"/>
            <a:chExt cx="2926080" cy="220291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FB8F06D-FC26-5F60-BF33-6284F4203DE4}"/>
                </a:ext>
              </a:extLst>
            </p:cNvPr>
            <p:cNvSpPr txBox="1"/>
            <p:nvPr/>
          </p:nvSpPr>
          <p:spPr>
            <a:xfrm>
              <a:off x="8921977" y="984542"/>
              <a:ext cx="2743944" cy="943848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r>
                <a:rPr lang="en-US" sz="2000" b="1" noProof="1">
                  <a:solidFill>
                    <a:schemeClr val="accent3">
                      <a:lumMod val="75000"/>
                    </a:schemeClr>
                  </a:solidFill>
                </a:rPr>
                <a:t>Screen 8,258 TP53 Variants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76451E6-7528-1075-F5FA-4FF144465383}"/>
                </a:ext>
              </a:extLst>
            </p:cNvPr>
            <p:cNvSpPr txBox="1"/>
            <p:nvPr/>
          </p:nvSpPr>
          <p:spPr>
            <a:xfrm>
              <a:off x="8921977" y="1925881"/>
              <a:ext cx="2926080" cy="1261572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r>
                <a:rPr lang="en-US" sz="1000" noProof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Run 3 competitive growth screens in isogenic p53WT and p53NULL cells treated with nutlin-3 or etoposide. Collect read counts to quantify allele representation.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1CAC2AA-7851-7415-B7BC-8419E257DE55}"/>
              </a:ext>
            </a:extLst>
          </p:cNvPr>
          <p:cNvSpPr txBox="1"/>
          <p:nvPr/>
        </p:nvSpPr>
        <p:spPr>
          <a:xfrm>
            <a:off x="440870" y="6258822"/>
            <a:ext cx="1132115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Giacomelli, A.O., Yang, X., Lintner, R.E. </a:t>
            </a:r>
            <a:r>
              <a:rPr lang="en-US" sz="1600" i="1" dirty="0"/>
              <a:t>et al.</a:t>
            </a:r>
            <a:r>
              <a:rPr lang="en-US" sz="1600" dirty="0"/>
              <a:t> Mutational processes shape the landscape of </a:t>
            </a:r>
            <a:r>
              <a:rPr lang="en-US" sz="1600" i="1" dirty="0"/>
              <a:t>TP53</a:t>
            </a:r>
            <a:r>
              <a:rPr lang="en-US" sz="1600" dirty="0"/>
              <a:t> mutations in human cancer. </a:t>
            </a:r>
            <a:r>
              <a:rPr lang="en-US" sz="1600" i="1" dirty="0"/>
              <a:t>Nat Genet</a:t>
            </a:r>
            <a:r>
              <a:rPr lang="en-US" sz="1600" dirty="0"/>
              <a:t> 50, 1381–1387 (2018).</a:t>
            </a:r>
            <a:endParaRPr lang="en-IL" sz="1600" dirty="0"/>
          </a:p>
          <a:p>
            <a:endParaRPr lang="en-IL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5A31B5-9DA9-E651-98CD-877FEF8DF613}"/>
              </a:ext>
            </a:extLst>
          </p:cNvPr>
          <p:cNvSpPr txBox="1"/>
          <p:nvPr/>
        </p:nvSpPr>
        <p:spPr>
          <a:xfrm>
            <a:off x="8712017" y="3863159"/>
            <a:ext cx="3092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EFS = [Z(</a:t>
            </a:r>
            <a:r>
              <a:rPr lang="en-US" sz="1400" dirty="0" err="1"/>
              <a:t>WT+nutlin</a:t>
            </a:r>
            <a:r>
              <a:rPr lang="en-US" sz="1400" dirty="0"/>
              <a:t>) + Z(</a:t>
            </a:r>
            <a:r>
              <a:rPr lang="en-US" sz="1400" dirty="0" err="1"/>
              <a:t>NULL+nutlin</a:t>
            </a:r>
            <a:r>
              <a:rPr lang="en-US" sz="1400" dirty="0"/>
              <a:t>) − Z(</a:t>
            </a:r>
            <a:r>
              <a:rPr lang="en-US" sz="1400" dirty="0" err="1"/>
              <a:t>NULL+etop</a:t>
            </a:r>
            <a:r>
              <a:rPr lang="en-US" sz="1400" dirty="0"/>
              <a:t>)] / 3</a:t>
            </a:r>
          </a:p>
        </p:txBody>
      </p:sp>
    </p:spTree>
    <p:extLst>
      <p:ext uri="{BB962C8B-B14F-4D97-AF65-F5344CB8AC3E}">
        <p14:creationId xmlns:p14="http://schemas.microsoft.com/office/powerpoint/2010/main" val="1829126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98ABE-CF8B-D69D-E84E-44B2D17D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Research Questions</a:t>
            </a:r>
            <a:endParaRPr lang="en-IL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D6605E1-D9B9-4C0E-8948-1BDE3BBABA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46308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7588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5D95-B1A7-A10B-5EB5-A26C5A0AF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Crescent Step Flow – Slide Template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FF8B27F-5419-E396-41EC-3579105FC359}"/>
              </a:ext>
            </a:extLst>
          </p:cNvPr>
          <p:cNvSpPr/>
          <p:nvPr/>
        </p:nvSpPr>
        <p:spPr>
          <a:xfrm>
            <a:off x="2270136" y="2756402"/>
            <a:ext cx="1913368" cy="1622694"/>
          </a:xfrm>
          <a:custGeom>
            <a:avLst/>
            <a:gdLst>
              <a:gd name="connsiteX0" fmla="*/ 249649 w 250340"/>
              <a:gd name="connsiteY0" fmla="*/ 85639 h 212309"/>
              <a:gd name="connsiteX1" fmla="*/ 249649 w 250340"/>
              <a:gd name="connsiteY1" fmla="*/ 88174 h 212309"/>
              <a:gd name="connsiteX2" fmla="*/ 249534 w 250340"/>
              <a:gd name="connsiteY2" fmla="*/ 90019 h 212309"/>
              <a:gd name="connsiteX3" fmla="*/ 249534 w 250340"/>
              <a:gd name="connsiteY3" fmla="*/ 90019 h 212309"/>
              <a:gd name="connsiteX4" fmla="*/ 245615 w 250340"/>
              <a:gd name="connsiteY4" fmla="*/ 109382 h 212309"/>
              <a:gd name="connsiteX5" fmla="*/ 245615 w 250340"/>
              <a:gd name="connsiteY5" fmla="*/ 109382 h 212309"/>
              <a:gd name="connsiteX6" fmla="*/ 245039 w 250340"/>
              <a:gd name="connsiteY6" fmla="*/ 110996 h 212309"/>
              <a:gd name="connsiteX7" fmla="*/ 245039 w 250340"/>
              <a:gd name="connsiteY7" fmla="*/ 111226 h 212309"/>
              <a:gd name="connsiteX8" fmla="*/ 244463 w 250340"/>
              <a:gd name="connsiteY8" fmla="*/ 112725 h 212309"/>
              <a:gd name="connsiteX9" fmla="*/ 244347 w 250340"/>
              <a:gd name="connsiteY9" fmla="*/ 113071 h 212309"/>
              <a:gd name="connsiteX10" fmla="*/ 243771 w 250340"/>
              <a:gd name="connsiteY10" fmla="*/ 114454 h 212309"/>
              <a:gd name="connsiteX11" fmla="*/ 243656 w 250340"/>
              <a:gd name="connsiteY11" fmla="*/ 114800 h 212309"/>
              <a:gd name="connsiteX12" fmla="*/ 243080 w 250340"/>
              <a:gd name="connsiteY12" fmla="*/ 116183 h 212309"/>
              <a:gd name="connsiteX13" fmla="*/ 242849 w 250340"/>
              <a:gd name="connsiteY13" fmla="*/ 116644 h 212309"/>
              <a:gd name="connsiteX14" fmla="*/ 242273 w 250340"/>
              <a:gd name="connsiteY14" fmla="*/ 117912 h 212309"/>
              <a:gd name="connsiteX15" fmla="*/ 242042 w 250340"/>
              <a:gd name="connsiteY15" fmla="*/ 118372 h 212309"/>
              <a:gd name="connsiteX16" fmla="*/ 241466 w 250340"/>
              <a:gd name="connsiteY16" fmla="*/ 119640 h 212309"/>
              <a:gd name="connsiteX17" fmla="*/ 241236 w 250340"/>
              <a:gd name="connsiteY17" fmla="*/ 120101 h 212309"/>
              <a:gd name="connsiteX18" fmla="*/ 240659 w 250340"/>
              <a:gd name="connsiteY18" fmla="*/ 121254 h 212309"/>
              <a:gd name="connsiteX19" fmla="*/ 240429 w 250340"/>
              <a:gd name="connsiteY19" fmla="*/ 121830 h 212309"/>
              <a:gd name="connsiteX20" fmla="*/ 239852 w 250340"/>
              <a:gd name="connsiteY20" fmla="*/ 122983 h 212309"/>
              <a:gd name="connsiteX21" fmla="*/ 239507 w 250340"/>
              <a:gd name="connsiteY21" fmla="*/ 123559 h 212309"/>
              <a:gd name="connsiteX22" fmla="*/ 238815 w 250340"/>
              <a:gd name="connsiteY22" fmla="*/ 124712 h 212309"/>
              <a:gd name="connsiteX23" fmla="*/ 238469 w 250340"/>
              <a:gd name="connsiteY23" fmla="*/ 125288 h 212309"/>
              <a:gd name="connsiteX24" fmla="*/ 237778 w 250340"/>
              <a:gd name="connsiteY24" fmla="*/ 126326 h 212309"/>
              <a:gd name="connsiteX25" fmla="*/ 237432 w 250340"/>
              <a:gd name="connsiteY25" fmla="*/ 126902 h 212309"/>
              <a:gd name="connsiteX26" fmla="*/ 236741 w 250340"/>
              <a:gd name="connsiteY26" fmla="*/ 127939 h 212309"/>
              <a:gd name="connsiteX27" fmla="*/ 236395 w 250340"/>
              <a:gd name="connsiteY27" fmla="*/ 128515 h 212309"/>
              <a:gd name="connsiteX28" fmla="*/ 235703 w 250340"/>
              <a:gd name="connsiteY28" fmla="*/ 129553 h 212309"/>
              <a:gd name="connsiteX29" fmla="*/ 235242 w 250340"/>
              <a:gd name="connsiteY29" fmla="*/ 130129 h 212309"/>
              <a:gd name="connsiteX30" fmla="*/ 234550 w 250340"/>
              <a:gd name="connsiteY30" fmla="*/ 131051 h 212309"/>
              <a:gd name="connsiteX31" fmla="*/ 234090 w 250340"/>
              <a:gd name="connsiteY31" fmla="*/ 131627 h 212309"/>
              <a:gd name="connsiteX32" fmla="*/ 233398 w 250340"/>
              <a:gd name="connsiteY32" fmla="*/ 132550 h 212309"/>
              <a:gd name="connsiteX33" fmla="*/ 232937 w 250340"/>
              <a:gd name="connsiteY33" fmla="*/ 133126 h 212309"/>
              <a:gd name="connsiteX34" fmla="*/ 232245 w 250340"/>
              <a:gd name="connsiteY34" fmla="*/ 134048 h 212309"/>
              <a:gd name="connsiteX35" fmla="*/ 231784 w 250340"/>
              <a:gd name="connsiteY35" fmla="*/ 134624 h 212309"/>
              <a:gd name="connsiteX36" fmla="*/ 231093 w 250340"/>
              <a:gd name="connsiteY36" fmla="*/ 135546 h 212309"/>
              <a:gd name="connsiteX37" fmla="*/ 230632 w 250340"/>
              <a:gd name="connsiteY37" fmla="*/ 136123 h 212309"/>
              <a:gd name="connsiteX38" fmla="*/ 229940 w 250340"/>
              <a:gd name="connsiteY38" fmla="*/ 136930 h 212309"/>
              <a:gd name="connsiteX39" fmla="*/ 229364 w 250340"/>
              <a:gd name="connsiteY39" fmla="*/ 137506 h 212309"/>
              <a:gd name="connsiteX40" fmla="*/ 228672 w 250340"/>
              <a:gd name="connsiteY40" fmla="*/ 138313 h 212309"/>
              <a:gd name="connsiteX41" fmla="*/ 228096 w 250340"/>
              <a:gd name="connsiteY41" fmla="*/ 138889 h 212309"/>
              <a:gd name="connsiteX42" fmla="*/ 227289 w 250340"/>
              <a:gd name="connsiteY42" fmla="*/ 139696 h 212309"/>
              <a:gd name="connsiteX43" fmla="*/ 226713 w 250340"/>
              <a:gd name="connsiteY43" fmla="*/ 140272 h 212309"/>
              <a:gd name="connsiteX44" fmla="*/ 225906 w 250340"/>
              <a:gd name="connsiteY44" fmla="*/ 141079 h 212309"/>
              <a:gd name="connsiteX45" fmla="*/ 225330 w 250340"/>
              <a:gd name="connsiteY45" fmla="*/ 141655 h 212309"/>
              <a:gd name="connsiteX46" fmla="*/ 224523 w 250340"/>
              <a:gd name="connsiteY46" fmla="*/ 142462 h 212309"/>
              <a:gd name="connsiteX47" fmla="*/ 223947 w 250340"/>
              <a:gd name="connsiteY47" fmla="*/ 143038 h 212309"/>
              <a:gd name="connsiteX48" fmla="*/ 223140 w 250340"/>
              <a:gd name="connsiteY48" fmla="*/ 143730 h 212309"/>
              <a:gd name="connsiteX49" fmla="*/ 222564 w 250340"/>
              <a:gd name="connsiteY49" fmla="*/ 144306 h 212309"/>
              <a:gd name="connsiteX50" fmla="*/ 221757 w 250340"/>
              <a:gd name="connsiteY50" fmla="*/ 144998 h 212309"/>
              <a:gd name="connsiteX51" fmla="*/ 221065 w 250340"/>
              <a:gd name="connsiteY51" fmla="*/ 145574 h 212309"/>
              <a:gd name="connsiteX52" fmla="*/ 220259 w 250340"/>
              <a:gd name="connsiteY52" fmla="*/ 146266 h 212309"/>
              <a:gd name="connsiteX53" fmla="*/ 219567 w 250340"/>
              <a:gd name="connsiteY53" fmla="*/ 146842 h 212309"/>
              <a:gd name="connsiteX54" fmla="*/ 218760 w 250340"/>
              <a:gd name="connsiteY54" fmla="*/ 147533 h 212309"/>
              <a:gd name="connsiteX55" fmla="*/ 218069 w 250340"/>
              <a:gd name="connsiteY55" fmla="*/ 148110 h 212309"/>
              <a:gd name="connsiteX56" fmla="*/ 217262 w 250340"/>
              <a:gd name="connsiteY56" fmla="*/ 148801 h 212309"/>
              <a:gd name="connsiteX57" fmla="*/ 216570 w 250340"/>
              <a:gd name="connsiteY57" fmla="*/ 149378 h 212309"/>
              <a:gd name="connsiteX58" fmla="*/ 215763 w 250340"/>
              <a:gd name="connsiteY58" fmla="*/ 149954 h 212309"/>
              <a:gd name="connsiteX59" fmla="*/ 215072 w 250340"/>
              <a:gd name="connsiteY59" fmla="*/ 150530 h 212309"/>
              <a:gd name="connsiteX60" fmla="*/ 214265 w 250340"/>
              <a:gd name="connsiteY60" fmla="*/ 151107 h 212309"/>
              <a:gd name="connsiteX61" fmla="*/ 213458 w 250340"/>
              <a:gd name="connsiteY61" fmla="*/ 151568 h 212309"/>
              <a:gd name="connsiteX62" fmla="*/ 212651 w 250340"/>
              <a:gd name="connsiteY62" fmla="*/ 152144 h 212309"/>
              <a:gd name="connsiteX63" fmla="*/ 211845 w 250340"/>
              <a:gd name="connsiteY63" fmla="*/ 152605 h 212309"/>
              <a:gd name="connsiteX64" fmla="*/ 210923 w 250340"/>
              <a:gd name="connsiteY64" fmla="*/ 153181 h 212309"/>
              <a:gd name="connsiteX65" fmla="*/ 210116 w 250340"/>
              <a:gd name="connsiteY65" fmla="*/ 153642 h 212309"/>
              <a:gd name="connsiteX66" fmla="*/ 209194 w 250340"/>
              <a:gd name="connsiteY66" fmla="*/ 154219 h 212309"/>
              <a:gd name="connsiteX67" fmla="*/ 208387 w 250340"/>
              <a:gd name="connsiteY67" fmla="*/ 154680 h 212309"/>
              <a:gd name="connsiteX68" fmla="*/ 207465 w 250340"/>
              <a:gd name="connsiteY68" fmla="*/ 155141 h 212309"/>
              <a:gd name="connsiteX69" fmla="*/ 206658 w 250340"/>
              <a:gd name="connsiteY69" fmla="*/ 155602 h 212309"/>
              <a:gd name="connsiteX70" fmla="*/ 205736 w 250340"/>
              <a:gd name="connsiteY70" fmla="*/ 156063 h 212309"/>
              <a:gd name="connsiteX71" fmla="*/ 204929 w 250340"/>
              <a:gd name="connsiteY71" fmla="*/ 156524 h 212309"/>
              <a:gd name="connsiteX72" fmla="*/ 204007 w 250340"/>
              <a:gd name="connsiteY72" fmla="*/ 156985 h 212309"/>
              <a:gd name="connsiteX73" fmla="*/ 203200 w 250340"/>
              <a:gd name="connsiteY73" fmla="*/ 157446 h 212309"/>
              <a:gd name="connsiteX74" fmla="*/ 202278 w 250340"/>
              <a:gd name="connsiteY74" fmla="*/ 157907 h 212309"/>
              <a:gd name="connsiteX75" fmla="*/ 201356 w 250340"/>
              <a:gd name="connsiteY75" fmla="*/ 158253 h 212309"/>
              <a:gd name="connsiteX76" fmla="*/ 200434 w 250340"/>
              <a:gd name="connsiteY76" fmla="*/ 158714 h 212309"/>
              <a:gd name="connsiteX77" fmla="*/ 199512 w 250340"/>
              <a:gd name="connsiteY77" fmla="*/ 159060 h 212309"/>
              <a:gd name="connsiteX78" fmla="*/ 198590 w 250340"/>
              <a:gd name="connsiteY78" fmla="*/ 159405 h 212309"/>
              <a:gd name="connsiteX79" fmla="*/ 197668 w 250340"/>
              <a:gd name="connsiteY79" fmla="*/ 159751 h 212309"/>
              <a:gd name="connsiteX80" fmla="*/ 196746 w 250340"/>
              <a:gd name="connsiteY80" fmla="*/ 160097 h 212309"/>
              <a:gd name="connsiteX81" fmla="*/ 195824 w 250340"/>
              <a:gd name="connsiteY81" fmla="*/ 160443 h 212309"/>
              <a:gd name="connsiteX82" fmla="*/ 194902 w 250340"/>
              <a:gd name="connsiteY82" fmla="*/ 160788 h 212309"/>
              <a:gd name="connsiteX83" fmla="*/ 193980 w 250340"/>
              <a:gd name="connsiteY83" fmla="*/ 161134 h 212309"/>
              <a:gd name="connsiteX84" fmla="*/ 193058 w 250340"/>
              <a:gd name="connsiteY84" fmla="*/ 161480 h 212309"/>
              <a:gd name="connsiteX85" fmla="*/ 192135 w 250340"/>
              <a:gd name="connsiteY85" fmla="*/ 161826 h 212309"/>
              <a:gd name="connsiteX86" fmla="*/ 191214 w 250340"/>
              <a:gd name="connsiteY86" fmla="*/ 162171 h 212309"/>
              <a:gd name="connsiteX87" fmla="*/ 190291 w 250340"/>
              <a:gd name="connsiteY87" fmla="*/ 162402 h 212309"/>
              <a:gd name="connsiteX88" fmla="*/ 189369 w 250340"/>
              <a:gd name="connsiteY88" fmla="*/ 162633 h 212309"/>
              <a:gd name="connsiteX89" fmla="*/ 188332 w 250340"/>
              <a:gd name="connsiteY89" fmla="*/ 162863 h 212309"/>
              <a:gd name="connsiteX90" fmla="*/ 187410 w 250340"/>
              <a:gd name="connsiteY90" fmla="*/ 163094 h 212309"/>
              <a:gd name="connsiteX91" fmla="*/ 186373 w 250340"/>
              <a:gd name="connsiteY91" fmla="*/ 163324 h 212309"/>
              <a:gd name="connsiteX92" fmla="*/ 185451 w 250340"/>
              <a:gd name="connsiteY92" fmla="*/ 163555 h 212309"/>
              <a:gd name="connsiteX93" fmla="*/ 184413 w 250340"/>
              <a:gd name="connsiteY93" fmla="*/ 163785 h 212309"/>
              <a:gd name="connsiteX94" fmla="*/ 183491 w 250340"/>
              <a:gd name="connsiteY94" fmla="*/ 164016 h 212309"/>
              <a:gd name="connsiteX95" fmla="*/ 182454 w 250340"/>
              <a:gd name="connsiteY95" fmla="*/ 164246 h 212309"/>
              <a:gd name="connsiteX96" fmla="*/ 181532 w 250340"/>
              <a:gd name="connsiteY96" fmla="*/ 164362 h 212309"/>
              <a:gd name="connsiteX97" fmla="*/ 180495 w 250340"/>
              <a:gd name="connsiteY97" fmla="*/ 164592 h 212309"/>
              <a:gd name="connsiteX98" fmla="*/ 179572 w 250340"/>
              <a:gd name="connsiteY98" fmla="*/ 164707 h 212309"/>
              <a:gd name="connsiteX99" fmla="*/ 178535 w 250340"/>
              <a:gd name="connsiteY99" fmla="*/ 164823 h 212309"/>
              <a:gd name="connsiteX100" fmla="*/ 177613 w 250340"/>
              <a:gd name="connsiteY100" fmla="*/ 164938 h 212309"/>
              <a:gd name="connsiteX101" fmla="*/ 176460 w 250340"/>
              <a:gd name="connsiteY101" fmla="*/ 165053 h 212309"/>
              <a:gd name="connsiteX102" fmla="*/ 175538 w 250340"/>
              <a:gd name="connsiteY102" fmla="*/ 165053 h 212309"/>
              <a:gd name="connsiteX103" fmla="*/ 174386 w 250340"/>
              <a:gd name="connsiteY103" fmla="*/ 165053 h 212309"/>
              <a:gd name="connsiteX104" fmla="*/ 173464 w 250340"/>
              <a:gd name="connsiteY104" fmla="*/ 165053 h 212309"/>
              <a:gd name="connsiteX105" fmla="*/ 172196 w 250340"/>
              <a:gd name="connsiteY105" fmla="*/ 165053 h 212309"/>
              <a:gd name="connsiteX106" fmla="*/ 171389 w 250340"/>
              <a:gd name="connsiteY106" fmla="*/ 165053 h 212309"/>
              <a:gd name="connsiteX107" fmla="*/ 170006 w 250340"/>
              <a:gd name="connsiteY107" fmla="*/ 165053 h 212309"/>
              <a:gd name="connsiteX108" fmla="*/ 169315 w 250340"/>
              <a:gd name="connsiteY108" fmla="*/ 165053 h 212309"/>
              <a:gd name="connsiteX109" fmla="*/ 167240 w 250340"/>
              <a:gd name="connsiteY109" fmla="*/ 165053 h 212309"/>
              <a:gd name="connsiteX110" fmla="*/ 165165 w 250340"/>
              <a:gd name="connsiteY110" fmla="*/ 165053 h 212309"/>
              <a:gd name="connsiteX111" fmla="*/ 164473 w 250340"/>
              <a:gd name="connsiteY111" fmla="*/ 165053 h 212309"/>
              <a:gd name="connsiteX112" fmla="*/ 163090 w 250340"/>
              <a:gd name="connsiteY112" fmla="*/ 165053 h 212309"/>
              <a:gd name="connsiteX113" fmla="*/ 162284 w 250340"/>
              <a:gd name="connsiteY113" fmla="*/ 165053 h 212309"/>
              <a:gd name="connsiteX114" fmla="*/ 161016 w 250340"/>
              <a:gd name="connsiteY114" fmla="*/ 165053 h 212309"/>
              <a:gd name="connsiteX115" fmla="*/ 160094 w 250340"/>
              <a:gd name="connsiteY115" fmla="*/ 165053 h 212309"/>
              <a:gd name="connsiteX116" fmla="*/ 158941 w 250340"/>
              <a:gd name="connsiteY116" fmla="*/ 165053 h 212309"/>
              <a:gd name="connsiteX117" fmla="*/ 158019 w 250340"/>
              <a:gd name="connsiteY117" fmla="*/ 165053 h 212309"/>
              <a:gd name="connsiteX118" fmla="*/ 156867 w 250340"/>
              <a:gd name="connsiteY118" fmla="*/ 164938 h 212309"/>
              <a:gd name="connsiteX119" fmla="*/ 155944 w 250340"/>
              <a:gd name="connsiteY119" fmla="*/ 164823 h 212309"/>
              <a:gd name="connsiteX120" fmla="*/ 154792 w 250340"/>
              <a:gd name="connsiteY120" fmla="*/ 164707 h 212309"/>
              <a:gd name="connsiteX121" fmla="*/ 153870 w 250340"/>
              <a:gd name="connsiteY121" fmla="*/ 164592 h 212309"/>
              <a:gd name="connsiteX122" fmla="*/ 152833 w 250340"/>
              <a:gd name="connsiteY122" fmla="*/ 164362 h 212309"/>
              <a:gd name="connsiteX123" fmla="*/ 151910 w 250340"/>
              <a:gd name="connsiteY123" fmla="*/ 164131 h 212309"/>
              <a:gd name="connsiteX124" fmla="*/ 150873 w 250340"/>
              <a:gd name="connsiteY124" fmla="*/ 163900 h 212309"/>
              <a:gd name="connsiteX125" fmla="*/ 149951 w 250340"/>
              <a:gd name="connsiteY125" fmla="*/ 163670 h 212309"/>
              <a:gd name="connsiteX126" fmla="*/ 148914 w 250340"/>
              <a:gd name="connsiteY126" fmla="*/ 163439 h 212309"/>
              <a:gd name="connsiteX127" fmla="*/ 147992 w 250340"/>
              <a:gd name="connsiteY127" fmla="*/ 163209 h 212309"/>
              <a:gd name="connsiteX128" fmla="*/ 146954 w 250340"/>
              <a:gd name="connsiteY128" fmla="*/ 162979 h 212309"/>
              <a:gd name="connsiteX129" fmla="*/ 146032 w 250340"/>
              <a:gd name="connsiteY129" fmla="*/ 162748 h 212309"/>
              <a:gd name="connsiteX130" fmla="*/ 144995 w 250340"/>
              <a:gd name="connsiteY130" fmla="*/ 162517 h 212309"/>
              <a:gd name="connsiteX131" fmla="*/ 144073 w 250340"/>
              <a:gd name="connsiteY131" fmla="*/ 162287 h 212309"/>
              <a:gd name="connsiteX132" fmla="*/ 143036 w 250340"/>
              <a:gd name="connsiteY132" fmla="*/ 161941 h 212309"/>
              <a:gd name="connsiteX133" fmla="*/ 142113 w 250340"/>
              <a:gd name="connsiteY133" fmla="*/ 161595 h 212309"/>
              <a:gd name="connsiteX134" fmla="*/ 141191 w 250340"/>
              <a:gd name="connsiteY134" fmla="*/ 161250 h 212309"/>
              <a:gd name="connsiteX135" fmla="*/ 140269 w 250340"/>
              <a:gd name="connsiteY135" fmla="*/ 160904 h 212309"/>
              <a:gd name="connsiteX136" fmla="*/ 139347 w 250340"/>
              <a:gd name="connsiteY136" fmla="*/ 160558 h 212309"/>
              <a:gd name="connsiteX137" fmla="*/ 138425 w 250340"/>
              <a:gd name="connsiteY137" fmla="*/ 160212 h 212309"/>
              <a:gd name="connsiteX138" fmla="*/ 137503 w 250340"/>
              <a:gd name="connsiteY138" fmla="*/ 159866 h 212309"/>
              <a:gd name="connsiteX139" fmla="*/ 136581 w 250340"/>
              <a:gd name="connsiteY139" fmla="*/ 159521 h 212309"/>
              <a:gd name="connsiteX140" fmla="*/ 135659 w 250340"/>
              <a:gd name="connsiteY140" fmla="*/ 159175 h 212309"/>
              <a:gd name="connsiteX141" fmla="*/ 134737 w 250340"/>
              <a:gd name="connsiteY141" fmla="*/ 158829 h 212309"/>
              <a:gd name="connsiteX142" fmla="*/ 133815 w 250340"/>
              <a:gd name="connsiteY142" fmla="*/ 158483 h 212309"/>
              <a:gd name="connsiteX143" fmla="*/ 132893 w 250340"/>
              <a:gd name="connsiteY143" fmla="*/ 158022 h 212309"/>
              <a:gd name="connsiteX144" fmla="*/ 131971 w 250340"/>
              <a:gd name="connsiteY144" fmla="*/ 157561 h 212309"/>
              <a:gd name="connsiteX145" fmla="*/ 131049 w 250340"/>
              <a:gd name="connsiteY145" fmla="*/ 157100 h 212309"/>
              <a:gd name="connsiteX146" fmla="*/ 130242 w 250340"/>
              <a:gd name="connsiteY146" fmla="*/ 156639 h 212309"/>
              <a:gd name="connsiteX147" fmla="*/ 129320 w 250340"/>
              <a:gd name="connsiteY147" fmla="*/ 156178 h 212309"/>
              <a:gd name="connsiteX148" fmla="*/ 128513 w 250340"/>
              <a:gd name="connsiteY148" fmla="*/ 155717 h 212309"/>
              <a:gd name="connsiteX149" fmla="*/ 127591 w 250340"/>
              <a:gd name="connsiteY149" fmla="*/ 155256 h 212309"/>
              <a:gd name="connsiteX150" fmla="*/ 126784 w 250340"/>
              <a:gd name="connsiteY150" fmla="*/ 154795 h 212309"/>
              <a:gd name="connsiteX151" fmla="*/ 125862 w 250340"/>
              <a:gd name="connsiteY151" fmla="*/ 154334 h 212309"/>
              <a:gd name="connsiteX152" fmla="*/ 125055 w 250340"/>
              <a:gd name="connsiteY152" fmla="*/ 153873 h 212309"/>
              <a:gd name="connsiteX153" fmla="*/ 124133 w 250340"/>
              <a:gd name="connsiteY153" fmla="*/ 153296 h 212309"/>
              <a:gd name="connsiteX154" fmla="*/ 123326 w 250340"/>
              <a:gd name="connsiteY154" fmla="*/ 152836 h 212309"/>
              <a:gd name="connsiteX155" fmla="*/ 122404 w 250340"/>
              <a:gd name="connsiteY155" fmla="*/ 152259 h 212309"/>
              <a:gd name="connsiteX156" fmla="*/ 121713 w 250340"/>
              <a:gd name="connsiteY156" fmla="*/ 151798 h 212309"/>
              <a:gd name="connsiteX157" fmla="*/ 120791 w 250340"/>
              <a:gd name="connsiteY157" fmla="*/ 151222 h 212309"/>
              <a:gd name="connsiteX158" fmla="*/ 120099 w 250340"/>
              <a:gd name="connsiteY158" fmla="*/ 150761 h 212309"/>
              <a:gd name="connsiteX159" fmla="*/ 119177 w 250340"/>
              <a:gd name="connsiteY159" fmla="*/ 150069 h 212309"/>
              <a:gd name="connsiteX160" fmla="*/ 118601 w 250340"/>
              <a:gd name="connsiteY160" fmla="*/ 149608 h 212309"/>
              <a:gd name="connsiteX161" fmla="*/ 117679 w 250340"/>
              <a:gd name="connsiteY161" fmla="*/ 148917 h 212309"/>
              <a:gd name="connsiteX162" fmla="*/ 117218 w 250340"/>
              <a:gd name="connsiteY162" fmla="*/ 148571 h 212309"/>
              <a:gd name="connsiteX163" fmla="*/ 116180 w 250340"/>
              <a:gd name="connsiteY163" fmla="*/ 147764 h 212309"/>
              <a:gd name="connsiteX164" fmla="*/ 115835 w 250340"/>
              <a:gd name="connsiteY164" fmla="*/ 147533 h 212309"/>
              <a:gd name="connsiteX165" fmla="*/ 110417 w 250340"/>
              <a:gd name="connsiteY165" fmla="*/ 142808 h 212309"/>
              <a:gd name="connsiteX166" fmla="*/ 110417 w 250340"/>
              <a:gd name="connsiteY166" fmla="*/ 142808 h 212309"/>
              <a:gd name="connsiteX167" fmla="*/ 109265 w 250340"/>
              <a:gd name="connsiteY167" fmla="*/ 141770 h 212309"/>
              <a:gd name="connsiteX168" fmla="*/ 109034 w 250340"/>
              <a:gd name="connsiteY168" fmla="*/ 141540 h 212309"/>
              <a:gd name="connsiteX169" fmla="*/ 107997 w 250340"/>
              <a:gd name="connsiteY169" fmla="*/ 140503 h 212309"/>
              <a:gd name="connsiteX170" fmla="*/ 107651 w 250340"/>
              <a:gd name="connsiteY170" fmla="*/ 140157 h 212309"/>
              <a:gd name="connsiteX171" fmla="*/ 106729 w 250340"/>
              <a:gd name="connsiteY171" fmla="*/ 139119 h 212309"/>
              <a:gd name="connsiteX172" fmla="*/ 106383 w 250340"/>
              <a:gd name="connsiteY172" fmla="*/ 138658 h 212309"/>
              <a:gd name="connsiteX173" fmla="*/ 105461 w 250340"/>
              <a:gd name="connsiteY173" fmla="*/ 137621 h 212309"/>
              <a:gd name="connsiteX174" fmla="*/ 105115 w 250340"/>
              <a:gd name="connsiteY174" fmla="*/ 137160 h 212309"/>
              <a:gd name="connsiteX175" fmla="*/ 104309 w 250340"/>
              <a:gd name="connsiteY175" fmla="*/ 136123 h 212309"/>
              <a:gd name="connsiteX176" fmla="*/ 103848 w 250340"/>
              <a:gd name="connsiteY176" fmla="*/ 135662 h 212309"/>
              <a:gd name="connsiteX177" fmla="*/ 103041 w 250340"/>
              <a:gd name="connsiteY177" fmla="*/ 134624 h 212309"/>
              <a:gd name="connsiteX178" fmla="*/ 102695 w 250340"/>
              <a:gd name="connsiteY178" fmla="*/ 134163 h 212309"/>
              <a:gd name="connsiteX179" fmla="*/ 101888 w 250340"/>
              <a:gd name="connsiteY179" fmla="*/ 133126 h 212309"/>
              <a:gd name="connsiteX180" fmla="*/ 101543 w 250340"/>
              <a:gd name="connsiteY180" fmla="*/ 132665 h 212309"/>
              <a:gd name="connsiteX181" fmla="*/ 100736 w 250340"/>
              <a:gd name="connsiteY181" fmla="*/ 131627 h 212309"/>
              <a:gd name="connsiteX182" fmla="*/ 100390 w 250340"/>
              <a:gd name="connsiteY182" fmla="*/ 131051 h 212309"/>
              <a:gd name="connsiteX183" fmla="*/ 99698 w 250340"/>
              <a:gd name="connsiteY183" fmla="*/ 130014 h 212309"/>
              <a:gd name="connsiteX184" fmla="*/ 99353 w 250340"/>
              <a:gd name="connsiteY184" fmla="*/ 129438 h 212309"/>
              <a:gd name="connsiteX185" fmla="*/ 98661 w 250340"/>
              <a:gd name="connsiteY185" fmla="*/ 128400 h 212309"/>
              <a:gd name="connsiteX186" fmla="*/ 98315 w 250340"/>
              <a:gd name="connsiteY186" fmla="*/ 127824 h 212309"/>
              <a:gd name="connsiteX187" fmla="*/ 97624 w 250340"/>
              <a:gd name="connsiteY187" fmla="*/ 126671 h 212309"/>
              <a:gd name="connsiteX188" fmla="*/ 97278 w 250340"/>
              <a:gd name="connsiteY188" fmla="*/ 126095 h 212309"/>
              <a:gd name="connsiteX189" fmla="*/ 96586 w 250340"/>
              <a:gd name="connsiteY189" fmla="*/ 124943 h 212309"/>
              <a:gd name="connsiteX190" fmla="*/ 96241 w 250340"/>
              <a:gd name="connsiteY190" fmla="*/ 124366 h 212309"/>
              <a:gd name="connsiteX191" fmla="*/ 95549 w 250340"/>
              <a:gd name="connsiteY191" fmla="*/ 123214 h 212309"/>
              <a:gd name="connsiteX192" fmla="*/ 95203 w 250340"/>
              <a:gd name="connsiteY192" fmla="*/ 122637 h 212309"/>
              <a:gd name="connsiteX193" fmla="*/ 94512 w 250340"/>
              <a:gd name="connsiteY193" fmla="*/ 121485 h 212309"/>
              <a:gd name="connsiteX194" fmla="*/ 94166 w 250340"/>
              <a:gd name="connsiteY194" fmla="*/ 120908 h 212309"/>
              <a:gd name="connsiteX195" fmla="*/ 93590 w 250340"/>
              <a:gd name="connsiteY195" fmla="*/ 119756 h 212309"/>
              <a:gd name="connsiteX196" fmla="*/ 93359 w 250340"/>
              <a:gd name="connsiteY196" fmla="*/ 119180 h 212309"/>
              <a:gd name="connsiteX197" fmla="*/ 92783 w 250340"/>
              <a:gd name="connsiteY197" fmla="*/ 117912 h 212309"/>
              <a:gd name="connsiteX198" fmla="*/ 92552 w 250340"/>
              <a:gd name="connsiteY198" fmla="*/ 117335 h 212309"/>
              <a:gd name="connsiteX199" fmla="*/ 91976 w 250340"/>
              <a:gd name="connsiteY199" fmla="*/ 116067 h 212309"/>
              <a:gd name="connsiteX200" fmla="*/ 91746 w 250340"/>
              <a:gd name="connsiteY200" fmla="*/ 115606 h 212309"/>
              <a:gd name="connsiteX201" fmla="*/ 91169 w 250340"/>
              <a:gd name="connsiteY201" fmla="*/ 114338 h 212309"/>
              <a:gd name="connsiteX202" fmla="*/ 90939 w 250340"/>
              <a:gd name="connsiteY202" fmla="*/ 113877 h 212309"/>
              <a:gd name="connsiteX203" fmla="*/ 90363 w 250340"/>
              <a:gd name="connsiteY203" fmla="*/ 112494 h 212309"/>
              <a:gd name="connsiteX204" fmla="*/ 90132 w 250340"/>
              <a:gd name="connsiteY204" fmla="*/ 112033 h 212309"/>
              <a:gd name="connsiteX205" fmla="*/ 89671 w 250340"/>
              <a:gd name="connsiteY205" fmla="*/ 110650 h 212309"/>
              <a:gd name="connsiteX206" fmla="*/ 89556 w 250340"/>
              <a:gd name="connsiteY206" fmla="*/ 110189 h 212309"/>
              <a:gd name="connsiteX207" fmla="*/ 89095 w 250340"/>
              <a:gd name="connsiteY207" fmla="*/ 108691 h 212309"/>
              <a:gd name="connsiteX208" fmla="*/ 88979 w 250340"/>
              <a:gd name="connsiteY208" fmla="*/ 108345 h 212309"/>
              <a:gd name="connsiteX209" fmla="*/ 88518 w 250340"/>
              <a:gd name="connsiteY209" fmla="*/ 106846 h 212309"/>
              <a:gd name="connsiteX210" fmla="*/ 88518 w 250340"/>
              <a:gd name="connsiteY210" fmla="*/ 106501 h 212309"/>
              <a:gd name="connsiteX211" fmla="*/ 88057 w 250340"/>
              <a:gd name="connsiteY211" fmla="*/ 104887 h 212309"/>
              <a:gd name="connsiteX212" fmla="*/ 88057 w 250340"/>
              <a:gd name="connsiteY212" fmla="*/ 104657 h 212309"/>
              <a:gd name="connsiteX213" fmla="*/ 87596 w 250340"/>
              <a:gd name="connsiteY213" fmla="*/ 102928 h 212309"/>
              <a:gd name="connsiteX214" fmla="*/ 87596 w 250340"/>
              <a:gd name="connsiteY214" fmla="*/ 102928 h 212309"/>
              <a:gd name="connsiteX215" fmla="*/ 85176 w 250340"/>
              <a:gd name="connsiteY215" fmla="*/ 87137 h 212309"/>
              <a:gd name="connsiteX216" fmla="*/ 85176 w 250340"/>
              <a:gd name="connsiteY216" fmla="*/ 87137 h 212309"/>
              <a:gd name="connsiteX217" fmla="*/ 85061 w 250340"/>
              <a:gd name="connsiteY217" fmla="*/ 82642 h 212309"/>
              <a:gd name="connsiteX218" fmla="*/ 165857 w 250340"/>
              <a:gd name="connsiteY218" fmla="*/ 0 h 212309"/>
              <a:gd name="connsiteX219" fmla="*/ 163090 w 250340"/>
              <a:gd name="connsiteY219" fmla="*/ 0 h 212309"/>
              <a:gd name="connsiteX220" fmla="*/ 75955 w 250340"/>
              <a:gd name="connsiteY220" fmla="*/ 87137 h 212309"/>
              <a:gd name="connsiteX221" fmla="*/ 0 w 250340"/>
              <a:gd name="connsiteY221" fmla="*/ 87137 h 212309"/>
              <a:gd name="connsiteX222" fmla="*/ 125171 w 250340"/>
              <a:gd name="connsiteY222" fmla="*/ 212310 h 212309"/>
              <a:gd name="connsiteX223" fmla="*/ 250341 w 250340"/>
              <a:gd name="connsiteY223" fmla="*/ 87137 h 212309"/>
              <a:gd name="connsiteX224" fmla="*/ 250341 w 250340"/>
              <a:gd name="connsiteY224" fmla="*/ 84832 h 212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250340" h="212309">
                <a:moveTo>
                  <a:pt x="249649" y="85639"/>
                </a:moveTo>
                <a:cubicBezTo>
                  <a:pt x="249649" y="86445"/>
                  <a:pt x="249649" y="87368"/>
                  <a:pt x="249649" y="88174"/>
                </a:cubicBezTo>
                <a:cubicBezTo>
                  <a:pt x="249649" y="88751"/>
                  <a:pt x="249649" y="89442"/>
                  <a:pt x="249534" y="90019"/>
                </a:cubicBezTo>
                <a:cubicBezTo>
                  <a:pt x="249534" y="90019"/>
                  <a:pt x="249534" y="90019"/>
                  <a:pt x="249534" y="90019"/>
                </a:cubicBezTo>
                <a:cubicBezTo>
                  <a:pt x="248958" y="96704"/>
                  <a:pt x="247690" y="103274"/>
                  <a:pt x="245615" y="109382"/>
                </a:cubicBezTo>
                <a:cubicBezTo>
                  <a:pt x="245615" y="109382"/>
                  <a:pt x="245615" y="109382"/>
                  <a:pt x="245615" y="109382"/>
                </a:cubicBezTo>
                <a:cubicBezTo>
                  <a:pt x="245385" y="109959"/>
                  <a:pt x="245270" y="110535"/>
                  <a:pt x="245039" y="110996"/>
                </a:cubicBezTo>
                <a:cubicBezTo>
                  <a:pt x="245039" y="110996"/>
                  <a:pt x="245039" y="111111"/>
                  <a:pt x="245039" y="111226"/>
                </a:cubicBezTo>
                <a:cubicBezTo>
                  <a:pt x="244809" y="111688"/>
                  <a:pt x="244693" y="112264"/>
                  <a:pt x="244463" y="112725"/>
                </a:cubicBezTo>
                <a:cubicBezTo>
                  <a:pt x="244463" y="112725"/>
                  <a:pt x="244463" y="112955"/>
                  <a:pt x="244347" y="113071"/>
                </a:cubicBezTo>
                <a:cubicBezTo>
                  <a:pt x="244117" y="113532"/>
                  <a:pt x="244002" y="113993"/>
                  <a:pt x="243771" y="114454"/>
                </a:cubicBezTo>
                <a:cubicBezTo>
                  <a:pt x="243771" y="114569"/>
                  <a:pt x="243771" y="114684"/>
                  <a:pt x="243656" y="114800"/>
                </a:cubicBezTo>
                <a:cubicBezTo>
                  <a:pt x="243425" y="115261"/>
                  <a:pt x="243310" y="115722"/>
                  <a:pt x="243080" y="116183"/>
                </a:cubicBezTo>
                <a:cubicBezTo>
                  <a:pt x="243080" y="116298"/>
                  <a:pt x="242964" y="116528"/>
                  <a:pt x="242849" y="116644"/>
                </a:cubicBezTo>
                <a:cubicBezTo>
                  <a:pt x="242619" y="117105"/>
                  <a:pt x="242503" y="117566"/>
                  <a:pt x="242273" y="117912"/>
                </a:cubicBezTo>
                <a:cubicBezTo>
                  <a:pt x="242273" y="118027"/>
                  <a:pt x="242158" y="118257"/>
                  <a:pt x="242042" y="118372"/>
                </a:cubicBezTo>
                <a:cubicBezTo>
                  <a:pt x="241812" y="118834"/>
                  <a:pt x="241696" y="119180"/>
                  <a:pt x="241466" y="119640"/>
                </a:cubicBezTo>
                <a:cubicBezTo>
                  <a:pt x="241466" y="119756"/>
                  <a:pt x="241351" y="119986"/>
                  <a:pt x="241236" y="120101"/>
                </a:cubicBezTo>
                <a:cubicBezTo>
                  <a:pt x="241005" y="120447"/>
                  <a:pt x="240775" y="120908"/>
                  <a:pt x="240659" y="121254"/>
                </a:cubicBezTo>
                <a:cubicBezTo>
                  <a:pt x="240659" y="121485"/>
                  <a:pt x="240429" y="121600"/>
                  <a:pt x="240429" y="121830"/>
                </a:cubicBezTo>
                <a:cubicBezTo>
                  <a:pt x="240198" y="122176"/>
                  <a:pt x="239968" y="122637"/>
                  <a:pt x="239852" y="122983"/>
                </a:cubicBezTo>
                <a:cubicBezTo>
                  <a:pt x="239852" y="123214"/>
                  <a:pt x="239622" y="123329"/>
                  <a:pt x="239507" y="123559"/>
                </a:cubicBezTo>
                <a:cubicBezTo>
                  <a:pt x="239276" y="123905"/>
                  <a:pt x="239046" y="124251"/>
                  <a:pt x="238815" y="124712"/>
                </a:cubicBezTo>
                <a:cubicBezTo>
                  <a:pt x="238815" y="124943"/>
                  <a:pt x="238585" y="125058"/>
                  <a:pt x="238469" y="125288"/>
                </a:cubicBezTo>
                <a:cubicBezTo>
                  <a:pt x="238239" y="125634"/>
                  <a:pt x="238008" y="125980"/>
                  <a:pt x="237778" y="126326"/>
                </a:cubicBezTo>
                <a:cubicBezTo>
                  <a:pt x="237662" y="126556"/>
                  <a:pt x="237547" y="126671"/>
                  <a:pt x="237432" y="126902"/>
                </a:cubicBezTo>
                <a:cubicBezTo>
                  <a:pt x="237201" y="127248"/>
                  <a:pt x="236971" y="127593"/>
                  <a:pt x="236741" y="127939"/>
                </a:cubicBezTo>
                <a:cubicBezTo>
                  <a:pt x="236625" y="128170"/>
                  <a:pt x="236510" y="128285"/>
                  <a:pt x="236395" y="128515"/>
                </a:cubicBezTo>
                <a:cubicBezTo>
                  <a:pt x="236164" y="128861"/>
                  <a:pt x="235934" y="129207"/>
                  <a:pt x="235703" y="129553"/>
                </a:cubicBezTo>
                <a:cubicBezTo>
                  <a:pt x="235588" y="129783"/>
                  <a:pt x="235473" y="129899"/>
                  <a:pt x="235242" y="130129"/>
                </a:cubicBezTo>
                <a:cubicBezTo>
                  <a:pt x="235012" y="130475"/>
                  <a:pt x="234781" y="130821"/>
                  <a:pt x="234550" y="131051"/>
                </a:cubicBezTo>
                <a:cubicBezTo>
                  <a:pt x="234435" y="131282"/>
                  <a:pt x="234320" y="131397"/>
                  <a:pt x="234090" y="131627"/>
                </a:cubicBezTo>
                <a:cubicBezTo>
                  <a:pt x="233859" y="131973"/>
                  <a:pt x="233628" y="132319"/>
                  <a:pt x="233398" y="132550"/>
                </a:cubicBezTo>
                <a:cubicBezTo>
                  <a:pt x="233283" y="132780"/>
                  <a:pt x="233052" y="133011"/>
                  <a:pt x="232937" y="133126"/>
                </a:cubicBezTo>
                <a:cubicBezTo>
                  <a:pt x="232707" y="133472"/>
                  <a:pt x="232476" y="133702"/>
                  <a:pt x="232245" y="134048"/>
                </a:cubicBezTo>
                <a:cubicBezTo>
                  <a:pt x="232130" y="134278"/>
                  <a:pt x="231899" y="134509"/>
                  <a:pt x="231784" y="134624"/>
                </a:cubicBezTo>
                <a:cubicBezTo>
                  <a:pt x="231554" y="134970"/>
                  <a:pt x="231323" y="135201"/>
                  <a:pt x="231093" y="135546"/>
                </a:cubicBezTo>
                <a:cubicBezTo>
                  <a:pt x="230978" y="135777"/>
                  <a:pt x="230747" y="136007"/>
                  <a:pt x="230632" y="136123"/>
                </a:cubicBezTo>
                <a:cubicBezTo>
                  <a:pt x="230401" y="136469"/>
                  <a:pt x="230171" y="136699"/>
                  <a:pt x="229940" y="136930"/>
                </a:cubicBezTo>
                <a:cubicBezTo>
                  <a:pt x="229710" y="137160"/>
                  <a:pt x="229594" y="137390"/>
                  <a:pt x="229364" y="137506"/>
                </a:cubicBezTo>
                <a:cubicBezTo>
                  <a:pt x="229133" y="137736"/>
                  <a:pt x="228903" y="138082"/>
                  <a:pt x="228672" y="138313"/>
                </a:cubicBezTo>
                <a:cubicBezTo>
                  <a:pt x="228442" y="138543"/>
                  <a:pt x="228327" y="138658"/>
                  <a:pt x="228096" y="138889"/>
                </a:cubicBezTo>
                <a:cubicBezTo>
                  <a:pt x="227865" y="139119"/>
                  <a:pt x="227635" y="139465"/>
                  <a:pt x="227289" y="139696"/>
                </a:cubicBezTo>
                <a:cubicBezTo>
                  <a:pt x="227059" y="139926"/>
                  <a:pt x="226944" y="140042"/>
                  <a:pt x="226713" y="140272"/>
                </a:cubicBezTo>
                <a:cubicBezTo>
                  <a:pt x="226482" y="140503"/>
                  <a:pt x="226252" y="140848"/>
                  <a:pt x="225906" y="141079"/>
                </a:cubicBezTo>
                <a:cubicBezTo>
                  <a:pt x="225676" y="141309"/>
                  <a:pt x="225560" y="141425"/>
                  <a:pt x="225330" y="141655"/>
                </a:cubicBezTo>
                <a:cubicBezTo>
                  <a:pt x="225099" y="141886"/>
                  <a:pt x="224754" y="142116"/>
                  <a:pt x="224523" y="142462"/>
                </a:cubicBezTo>
                <a:cubicBezTo>
                  <a:pt x="224293" y="142693"/>
                  <a:pt x="224062" y="142808"/>
                  <a:pt x="223947" y="143038"/>
                </a:cubicBezTo>
                <a:cubicBezTo>
                  <a:pt x="223716" y="143269"/>
                  <a:pt x="223371" y="143499"/>
                  <a:pt x="223140" y="143730"/>
                </a:cubicBezTo>
                <a:cubicBezTo>
                  <a:pt x="222910" y="143961"/>
                  <a:pt x="222679" y="144076"/>
                  <a:pt x="222564" y="144306"/>
                </a:cubicBezTo>
                <a:cubicBezTo>
                  <a:pt x="222333" y="144537"/>
                  <a:pt x="221987" y="144767"/>
                  <a:pt x="221757" y="144998"/>
                </a:cubicBezTo>
                <a:cubicBezTo>
                  <a:pt x="221526" y="145228"/>
                  <a:pt x="221296" y="145344"/>
                  <a:pt x="221065" y="145574"/>
                </a:cubicBezTo>
                <a:cubicBezTo>
                  <a:pt x="220835" y="145805"/>
                  <a:pt x="220489" y="146035"/>
                  <a:pt x="220259" y="146266"/>
                </a:cubicBezTo>
                <a:cubicBezTo>
                  <a:pt x="220028" y="146496"/>
                  <a:pt x="219797" y="146611"/>
                  <a:pt x="219567" y="146842"/>
                </a:cubicBezTo>
                <a:cubicBezTo>
                  <a:pt x="219336" y="147073"/>
                  <a:pt x="218991" y="147303"/>
                  <a:pt x="218760" y="147533"/>
                </a:cubicBezTo>
                <a:cubicBezTo>
                  <a:pt x="218530" y="147764"/>
                  <a:pt x="218299" y="147879"/>
                  <a:pt x="218069" y="148110"/>
                </a:cubicBezTo>
                <a:cubicBezTo>
                  <a:pt x="217838" y="148340"/>
                  <a:pt x="217492" y="148571"/>
                  <a:pt x="217262" y="148801"/>
                </a:cubicBezTo>
                <a:cubicBezTo>
                  <a:pt x="217031" y="149032"/>
                  <a:pt x="216801" y="149147"/>
                  <a:pt x="216570" y="149378"/>
                </a:cubicBezTo>
                <a:cubicBezTo>
                  <a:pt x="216340" y="149608"/>
                  <a:pt x="215994" y="149839"/>
                  <a:pt x="215763" y="149954"/>
                </a:cubicBezTo>
                <a:cubicBezTo>
                  <a:pt x="215533" y="150185"/>
                  <a:pt x="215302" y="150300"/>
                  <a:pt x="215072" y="150530"/>
                </a:cubicBezTo>
                <a:cubicBezTo>
                  <a:pt x="214842" y="150761"/>
                  <a:pt x="214496" y="150876"/>
                  <a:pt x="214265" y="151107"/>
                </a:cubicBezTo>
                <a:cubicBezTo>
                  <a:pt x="214034" y="151222"/>
                  <a:pt x="213804" y="151452"/>
                  <a:pt x="213458" y="151568"/>
                </a:cubicBezTo>
                <a:cubicBezTo>
                  <a:pt x="213228" y="151798"/>
                  <a:pt x="212882" y="151913"/>
                  <a:pt x="212651" y="152144"/>
                </a:cubicBezTo>
                <a:cubicBezTo>
                  <a:pt x="212421" y="152259"/>
                  <a:pt x="212191" y="152490"/>
                  <a:pt x="211845" y="152605"/>
                </a:cubicBezTo>
                <a:cubicBezTo>
                  <a:pt x="211614" y="152836"/>
                  <a:pt x="211268" y="152951"/>
                  <a:pt x="210923" y="153181"/>
                </a:cubicBezTo>
                <a:cubicBezTo>
                  <a:pt x="210692" y="153296"/>
                  <a:pt x="210346" y="153527"/>
                  <a:pt x="210116" y="153642"/>
                </a:cubicBezTo>
                <a:cubicBezTo>
                  <a:pt x="209770" y="153873"/>
                  <a:pt x="209540" y="153988"/>
                  <a:pt x="209194" y="154219"/>
                </a:cubicBezTo>
                <a:cubicBezTo>
                  <a:pt x="208963" y="154334"/>
                  <a:pt x="208617" y="154564"/>
                  <a:pt x="208387" y="154680"/>
                </a:cubicBezTo>
                <a:cubicBezTo>
                  <a:pt x="208041" y="154795"/>
                  <a:pt x="207811" y="155025"/>
                  <a:pt x="207465" y="155141"/>
                </a:cubicBezTo>
                <a:cubicBezTo>
                  <a:pt x="207234" y="155256"/>
                  <a:pt x="206889" y="155487"/>
                  <a:pt x="206658" y="155602"/>
                </a:cubicBezTo>
                <a:cubicBezTo>
                  <a:pt x="206312" y="155717"/>
                  <a:pt x="206082" y="155948"/>
                  <a:pt x="205736" y="156063"/>
                </a:cubicBezTo>
                <a:cubicBezTo>
                  <a:pt x="205505" y="156178"/>
                  <a:pt x="205160" y="156408"/>
                  <a:pt x="204929" y="156524"/>
                </a:cubicBezTo>
                <a:cubicBezTo>
                  <a:pt x="204583" y="156639"/>
                  <a:pt x="204353" y="156870"/>
                  <a:pt x="204007" y="156985"/>
                </a:cubicBezTo>
                <a:cubicBezTo>
                  <a:pt x="203777" y="157100"/>
                  <a:pt x="203431" y="157216"/>
                  <a:pt x="203200" y="157446"/>
                </a:cubicBezTo>
                <a:cubicBezTo>
                  <a:pt x="202854" y="157561"/>
                  <a:pt x="202624" y="157792"/>
                  <a:pt x="202278" y="157907"/>
                </a:cubicBezTo>
                <a:cubicBezTo>
                  <a:pt x="201932" y="158022"/>
                  <a:pt x="201702" y="158137"/>
                  <a:pt x="201356" y="158253"/>
                </a:cubicBezTo>
                <a:cubicBezTo>
                  <a:pt x="201011" y="158368"/>
                  <a:pt x="200780" y="158483"/>
                  <a:pt x="200434" y="158714"/>
                </a:cubicBezTo>
                <a:cubicBezTo>
                  <a:pt x="200088" y="158829"/>
                  <a:pt x="199858" y="158944"/>
                  <a:pt x="199512" y="159060"/>
                </a:cubicBezTo>
                <a:cubicBezTo>
                  <a:pt x="199166" y="159175"/>
                  <a:pt x="198936" y="159290"/>
                  <a:pt x="198590" y="159405"/>
                </a:cubicBezTo>
                <a:cubicBezTo>
                  <a:pt x="198244" y="159521"/>
                  <a:pt x="198014" y="159636"/>
                  <a:pt x="197668" y="159751"/>
                </a:cubicBezTo>
                <a:cubicBezTo>
                  <a:pt x="197322" y="159866"/>
                  <a:pt x="197092" y="159982"/>
                  <a:pt x="196746" y="160097"/>
                </a:cubicBezTo>
                <a:cubicBezTo>
                  <a:pt x="196400" y="160212"/>
                  <a:pt x="196169" y="160327"/>
                  <a:pt x="195824" y="160443"/>
                </a:cubicBezTo>
                <a:cubicBezTo>
                  <a:pt x="195478" y="160443"/>
                  <a:pt x="195248" y="160673"/>
                  <a:pt x="194902" y="160788"/>
                </a:cubicBezTo>
                <a:cubicBezTo>
                  <a:pt x="194556" y="160788"/>
                  <a:pt x="194325" y="161019"/>
                  <a:pt x="193980" y="161134"/>
                </a:cubicBezTo>
                <a:cubicBezTo>
                  <a:pt x="193634" y="161134"/>
                  <a:pt x="193403" y="161365"/>
                  <a:pt x="193058" y="161480"/>
                </a:cubicBezTo>
                <a:cubicBezTo>
                  <a:pt x="192712" y="161480"/>
                  <a:pt x="192366" y="161711"/>
                  <a:pt x="192135" y="161826"/>
                </a:cubicBezTo>
                <a:cubicBezTo>
                  <a:pt x="191790" y="161826"/>
                  <a:pt x="191559" y="162056"/>
                  <a:pt x="191214" y="162171"/>
                </a:cubicBezTo>
                <a:cubicBezTo>
                  <a:pt x="190868" y="162171"/>
                  <a:pt x="190522" y="162402"/>
                  <a:pt x="190291" y="162402"/>
                </a:cubicBezTo>
                <a:cubicBezTo>
                  <a:pt x="189946" y="162402"/>
                  <a:pt x="189715" y="162633"/>
                  <a:pt x="189369" y="162633"/>
                </a:cubicBezTo>
                <a:cubicBezTo>
                  <a:pt x="189023" y="162633"/>
                  <a:pt x="188678" y="162863"/>
                  <a:pt x="188332" y="162863"/>
                </a:cubicBezTo>
                <a:cubicBezTo>
                  <a:pt x="187986" y="162863"/>
                  <a:pt x="187756" y="162979"/>
                  <a:pt x="187410" y="163094"/>
                </a:cubicBezTo>
                <a:cubicBezTo>
                  <a:pt x="187064" y="163094"/>
                  <a:pt x="186718" y="163209"/>
                  <a:pt x="186373" y="163324"/>
                </a:cubicBezTo>
                <a:cubicBezTo>
                  <a:pt x="186027" y="163324"/>
                  <a:pt x="185796" y="163439"/>
                  <a:pt x="185451" y="163555"/>
                </a:cubicBezTo>
                <a:cubicBezTo>
                  <a:pt x="185105" y="163555"/>
                  <a:pt x="184759" y="163670"/>
                  <a:pt x="184413" y="163785"/>
                </a:cubicBezTo>
                <a:cubicBezTo>
                  <a:pt x="184067" y="163785"/>
                  <a:pt x="183837" y="163900"/>
                  <a:pt x="183491" y="164016"/>
                </a:cubicBezTo>
                <a:cubicBezTo>
                  <a:pt x="183145" y="164016"/>
                  <a:pt x="182800" y="164131"/>
                  <a:pt x="182454" y="164246"/>
                </a:cubicBezTo>
                <a:cubicBezTo>
                  <a:pt x="182108" y="164246"/>
                  <a:pt x="181878" y="164362"/>
                  <a:pt x="181532" y="164362"/>
                </a:cubicBezTo>
                <a:cubicBezTo>
                  <a:pt x="181186" y="164362"/>
                  <a:pt x="180840" y="164477"/>
                  <a:pt x="180495" y="164592"/>
                </a:cubicBezTo>
                <a:cubicBezTo>
                  <a:pt x="180149" y="164592"/>
                  <a:pt x="179918" y="164592"/>
                  <a:pt x="179572" y="164707"/>
                </a:cubicBezTo>
                <a:cubicBezTo>
                  <a:pt x="179227" y="164707"/>
                  <a:pt x="178881" y="164707"/>
                  <a:pt x="178535" y="164823"/>
                </a:cubicBezTo>
                <a:cubicBezTo>
                  <a:pt x="178189" y="164823"/>
                  <a:pt x="177959" y="164823"/>
                  <a:pt x="177613" y="164938"/>
                </a:cubicBezTo>
                <a:cubicBezTo>
                  <a:pt x="177267" y="164938"/>
                  <a:pt x="176921" y="164938"/>
                  <a:pt x="176460" y="165053"/>
                </a:cubicBezTo>
                <a:cubicBezTo>
                  <a:pt x="176115" y="165053"/>
                  <a:pt x="175884" y="165053"/>
                  <a:pt x="175538" y="165053"/>
                </a:cubicBezTo>
                <a:cubicBezTo>
                  <a:pt x="175193" y="165053"/>
                  <a:pt x="174732" y="165053"/>
                  <a:pt x="174386" y="165053"/>
                </a:cubicBezTo>
                <a:cubicBezTo>
                  <a:pt x="174040" y="165053"/>
                  <a:pt x="173809" y="165053"/>
                  <a:pt x="173464" y="165053"/>
                </a:cubicBezTo>
                <a:cubicBezTo>
                  <a:pt x="173003" y="165053"/>
                  <a:pt x="172657" y="165053"/>
                  <a:pt x="172196" y="165053"/>
                </a:cubicBezTo>
                <a:cubicBezTo>
                  <a:pt x="171965" y="165053"/>
                  <a:pt x="171620" y="165053"/>
                  <a:pt x="171389" y="165053"/>
                </a:cubicBezTo>
                <a:cubicBezTo>
                  <a:pt x="170928" y="165053"/>
                  <a:pt x="170467" y="165053"/>
                  <a:pt x="170006" y="165053"/>
                </a:cubicBezTo>
                <a:cubicBezTo>
                  <a:pt x="169775" y="165053"/>
                  <a:pt x="169545" y="165053"/>
                  <a:pt x="169315" y="165053"/>
                </a:cubicBezTo>
                <a:cubicBezTo>
                  <a:pt x="168623" y="165053"/>
                  <a:pt x="167931" y="165053"/>
                  <a:pt x="167240" y="165053"/>
                </a:cubicBezTo>
                <a:cubicBezTo>
                  <a:pt x="166548" y="165053"/>
                  <a:pt x="165857" y="165053"/>
                  <a:pt x="165165" y="165053"/>
                </a:cubicBezTo>
                <a:cubicBezTo>
                  <a:pt x="164935" y="165053"/>
                  <a:pt x="164704" y="165053"/>
                  <a:pt x="164473" y="165053"/>
                </a:cubicBezTo>
                <a:cubicBezTo>
                  <a:pt x="164013" y="165053"/>
                  <a:pt x="163552" y="165053"/>
                  <a:pt x="163090" y="165053"/>
                </a:cubicBezTo>
                <a:cubicBezTo>
                  <a:pt x="162860" y="165053"/>
                  <a:pt x="162514" y="165053"/>
                  <a:pt x="162284" y="165053"/>
                </a:cubicBezTo>
                <a:cubicBezTo>
                  <a:pt x="161823" y="165053"/>
                  <a:pt x="161477" y="165053"/>
                  <a:pt x="161016" y="165053"/>
                </a:cubicBezTo>
                <a:cubicBezTo>
                  <a:pt x="160670" y="165053"/>
                  <a:pt x="160439" y="165053"/>
                  <a:pt x="160094" y="165053"/>
                </a:cubicBezTo>
                <a:cubicBezTo>
                  <a:pt x="159748" y="165053"/>
                  <a:pt x="159287" y="165053"/>
                  <a:pt x="158941" y="165053"/>
                </a:cubicBezTo>
                <a:cubicBezTo>
                  <a:pt x="158595" y="165053"/>
                  <a:pt x="158365" y="165053"/>
                  <a:pt x="158019" y="165053"/>
                </a:cubicBezTo>
                <a:cubicBezTo>
                  <a:pt x="157673" y="165053"/>
                  <a:pt x="157212" y="165053"/>
                  <a:pt x="156867" y="164938"/>
                </a:cubicBezTo>
                <a:cubicBezTo>
                  <a:pt x="156521" y="164938"/>
                  <a:pt x="156290" y="164938"/>
                  <a:pt x="155944" y="164823"/>
                </a:cubicBezTo>
                <a:cubicBezTo>
                  <a:pt x="155599" y="164823"/>
                  <a:pt x="155253" y="164823"/>
                  <a:pt x="154792" y="164707"/>
                </a:cubicBezTo>
                <a:cubicBezTo>
                  <a:pt x="154446" y="164707"/>
                  <a:pt x="154216" y="164707"/>
                  <a:pt x="153870" y="164592"/>
                </a:cubicBezTo>
                <a:cubicBezTo>
                  <a:pt x="153524" y="164592"/>
                  <a:pt x="153178" y="164477"/>
                  <a:pt x="152833" y="164362"/>
                </a:cubicBezTo>
                <a:cubicBezTo>
                  <a:pt x="152487" y="164362"/>
                  <a:pt x="152256" y="164362"/>
                  <a:pt x="151910" y="164131"/>
                </a:cubicBezTo>
                <a:cubicBezTo>
                  <a:pt x="151565" y="164131"/>
                  <a:pt x="151219" y="164016"/>
                  <a:pt x="150873" y="163900"/>
                </a:cubicBezTo>
                <a:cubicBezTo>
                  <a:pt x="150527" y="163900"/>
                  <a:pt x="150297" y="163785"/>
                  <a:pt x="149951" y="163670"/>
                </a:cubicBezTo>
                <a:cubicBezTo>
                  <a:pt x="149605" y="163670"/>
                  <a:pt x="149259" y="163555"/>
                  <a:pt x="148914" y="163439"/>
                </a:cubicBezTo>
                <a:cubicBezTo>
                  <a:pt x="148568" y="163439"/>
                  <a:pt x="148337" y="163324"/>
                  <a:pt x="147992" y="163209"/>
                </a:cubicBezTo>
                <a:cubicBezTo>
                  <a:pt x="147646" y="163209"/>
                  <a:pt x="147300" y="163094"/>
                  <a:pt x="146954" y="162979"/>
                </a:cubicBezTo>
                <a:cubicBezTo>
                  <a:pt x="146608" y="162979"/>
                  <a:pt x="146378" y="162863"/>
                  <a:pt x="146032" y="162748"/>
                </a:cubicBezTo>
                <a:cubicBezTo>
                  <a:pt x="145687" y="162748"/>
                  <a:pt x="145341" y="162517"/>
                  <a:pt x="144995" y="162517"/>
                </a:cubicBezTo>
                <a:cubicBezTo>
                  <a:pt x="144649" y="162517"/>
                  <a:pt x="144419" y="162287"/>
                  <a:pt x="144073" y="162287"/>
                </a:cubicBezTo>
                <a:cubicBezTo>
                  <a:pt x="143727" y="162287"/>
                  <a:pt x="143381" y="162056"/>
                  <a:pt x="143036" y="161941"/>
                </a:cubicBezTo>
                <a:cubicBezTo>
                  <a:pt x="142690" y="161941"/>
                  <a:pt x="142459" y="161711"/>
                  <a:pt x="142113" y="161595"/>
                </a:cubicBezTo>
                <a:cubicBezTo>
                  <a:pt x="141768" y="161595"/>
                  <a:pt x="141422" y="161365"/>
                  <a:pt x="141191" y="161250"/>
                </a:cubicBezTo>
                <a:cubicBezTo>
                  <a:pt x="140846" y="161250"/>
                  <a:pt x="140615" y="161019"/>
                  <a:pt x="140269" y="160904"/>
                </a:cubicBezTo>
                <a:cubicBezTo>
                  <a:pt x="139924" y="160904"/>
                  <a:pt x="139578" y="160673"/>
                  <a:pt x="139347" y="160558"/>
                </a:cubicBezTo>
                <a:cubicBezTo>
                  <a:pt x="139002" y="160558"/>
                  <a:pt x="138771" y="160327"/>
                  <a:pt x="138425" y="160212"/>
                </a:cubicBezTo>
                <a:cubicBezTo>
                  <a:pt x="138079" y="160097"/>
                  <a:pt x="137849" y="159982"/>
                  <a:pt x="137503" y="159866"/>
                </a:cubicBezTo>
                <a:cubicBezTo>
                  <a:pt x="137157" y="159751"/>
                  <a:pt x="136927" y="159636"/>
                  <a:pt x="136581" y="159521"/>
                </a:cubicBezTo>
                <a:cubicBezTo>
                  <a:pt x="136235" y="159405"/>
                  <a:pt x="136005" y="159290"/>
                  <a:pt x="135659" y="159175"/>
                </a:cubicBezTo>
                <a:cubicBezTo>
                  <a:pt x="135313" y="159060"/>
                  <a:pt x="135083" y="158944"/>
                  <a:pt x="134737" y="158829"/>
                </a:cubicBezTo>
                <a:cubicBezTo>
                  <a:pt x="134391" y="158714"/>
                  <a:pt x="134161" y="158599"/>
                  <a:pt x="133815" y="158483"/>
                </a:cubicBezTo>
                <a:cubicBezTo>
                  <a:pt x="133469" y="158368"/>
                  <a:pt x="133239" y="158253"/>
                  <a:pt x="132893" y="158022"/>
                </a:cubicBezTo>
                <a:cubicBezTo>
                  <a:pt x="132547" y="157907"/>
                  <a:pt x="132317" y="157792"/>
                  <a:pt x="131971" y="157561"/>
                </a:cubicBezTo>
                <a:cubicBezTo>
                  <a:pt x="131625" y="157446"/>
                  <a:pt x="131394" y="157331"/>
                  <a:pt x="131049" y="157100"/>
                </a:cubicBezTo>
                <a:cubicBezTo>
                  <a:pt x="130818" y="156985"/>
                  <a:pt x="130472" y="156870"/>
                  <a:pt x="130242" y="156639"/>
                </a:cubicBezTo>
                <a:cubicBezTo>
                  <a:pt x="129896" y="156524"/>
                  <a:pt x="129666" y="156293"/>
                  <a:pt x="129320" y="156178"/>
                </a:cubicBezTo>
                <a:cubicBezTo>
                  <a:pt x="129089" y="156063"/>
                  <a:pt x="128743" y="155832"/>
                  <a:pt x="128513" y="155717"/>
                </a:cubicBezTo>
                <a:cubicBezTo>
                  <a:pt x="128167" y="155602"/>
                  <a:pt x="127937" y="155371"/>
                  <a:pt x="127591" y="155256"/>
                </a:cubicBezTo>
                <a:cubicBezTo>
                  <a:pt x="127360" y="155141"/>
                  <a:pt x="127015" y="154910"/>
                  <a:pt x="126784" y="154795"/>
                </a:cubicBezTo>
                <a:cubicBezTo>
                  <a:pt x="126438" y="154680"/>
                  <a:pt x="126208" y="154449"/>
                  <a:pt x="125862" y="154334"/>
                </a:cubicBezTo>
                <a:cubicBezTo>
                  <a:pt x="125631" y="154219"/>
                  <a:pt x="125286" y="153988"/>
                  <a:pt x="125055" y="153873"/>
                </a:cubicBezTo>
                <a:cubicBezTo>
                  <a:pt x="124709" y="153642"/>
                  <a:pt x="124479" y="153527"/>
                  <a:pt x="124133" y="153296"/>
                </a:cubicBezTo>
                <a:cubicBezTo>
                  <a:pt x="123903" y="153181"/>
                  <a:pt x="123672" y="152951"/>
                  <a:pt x="123326" y="152836"/>
                </a:cubicBezTo>
                <a:cubicBezTo>
                  <a:pt x="122980" y="152605"/>
                  <a:pt x="122750" y="152490"/>
                  <a:pt x="122404" y="152259"/>
                </a:cubicBezTo>
                <a:cubicBezTo>
                  <a:pt x="122174" y="152144"/>
                  <a:pt x="121943" y="151913"/>
                  <a:pt x="121713" y="151798"/>
                </a:cubicBezTo>
                <a:cubicBezTo>
                  <a:pt x="121367" y="151568"/>
                  <a:pt x="121137" y="151452"/>
                  <a:pt x="120791" y="151222"/>
                </a:cubicBezTo>
                <a:cubicBezTo>
                  <a:pt x="120560" y="151107"/>
                  <a:pt x="120330" y="150876"/>
                  <a:pt x="120099" y="150761"/>
                </a:cubicBezTo>
                <a:cubicBezTo>
                  <a:pt x="119753" y="150530"/>
                  <a:pt x="119523" y="150300"/>
                  <a:pt x="119177" y="150069"/>
                </a:cubicBezTo>
                <a:cubicBezTo>
                  <a:pt x="118946" y="149954"/>
                  <a:pt x="118716" y="149724"/>
                  <a:pt x="118601" y="149608"/>
                </a:cubicBezTo>
                <a:cubicBezTo>
                  <a:pt x="118255" y="149378"/>
                  <a:pt x="117909" y="149147"/>
                  <a:pt x="117679" y="148917"/>
                </a:cubicBezTo>
                <a:cubicBezTo>
                  <a:pt x="117448" y="148801"/>
                  <a:pt x="117333" y="148686"/>
                  <a:pt x="117218" y="148571"/>
                </a:cubicBezTo>
                <a:cubicBezTo>
                  <a:pt x="116872" y="148340"/>
                  <a:pt x="116526" y="147995"/>
                  <a:pt x="116180" y="147764"/>
                </a:cubicBezTo>
                <a:cubicBezTo>
                  <a:pt x="116180" y="147764"/>
                  <a:pt x="115950" y="147533"/>
                  <a:pt x="115835" y="147533"/>
                </a:cubicBezTo>
                <a:cubicBezTo>
                  <a:pt x="113991" y="146035"/>
                  <a:pt x="112146" y="144421"/>
                  <a:pt x="110417" y="142808"/>
                </a:cubicBezTo>
                <a:cubicBezTo>
                  <a:pt x="110417" y="142808"/>
                  <a:pt x="110417" y="142808"/>
                  <a:pt x="110417" y="142808"/>
                </a:cubicBezTo>
                <a:cubicBezTo>
                  <a:pt x="110072" y="142462"/>
                  <a:pt x="109726" y="142116"/>
                  <a:pt x="109265" y="141770"/>
                </a:cubicBezTo>
                <a:cubicBezTo>
                  <a:pt x="109265" y="141770"/>
                  <a:pt x="109034" y="141540"/>
                  <a:pt x="109034" y="141540"/>
                </a:cubicBezTo>
                <a:cubicBezTo>
                  <a:pt x="108689" y="141194"/>
                  <a:pt x="108343" y="140848"/>
                  <a:pt x="107997" y="140503"/>
                </a:cubicBezTo>
                <a:cubicBezTo>
                  <a:pt x="107882" y="140387"/>
                  <a:pt x="107766" y="140272"/>
                  <a:pt x="107651" y="140157"/>
                </a:cubicBezTo>
                <a:cubicBezTo>
                  <a:pt x="107306" y="139811"/>
                  <a:pt x="107075" y="139465"/>
                  <a:pt x="106729" y="139119"/>
                </a:cubicBezTo>
                <a:cubicBezTo>
                  <a:pt x="106614" y="139004"/>
                  <a:pt x="106499" y="138889"/>
                  <a:pt x="106383" y="138658"/>
                </a:cubicBezTo>
                <a:cubicBezTo>
                  <a:pt x="106038" y="138313"/>
                  <a:pt x="105807" y="137967"/>
                  <a:pt x="105461" y="137621"/>
                </a:cubicBezTo>
                <a:cubicBezTo>
                  <a:pt x="105346" y="137506"/>
                  <a:pt x="105231" y="137275"/>
                  <a:pt x="105115" y="137160"/>
                </a:cubicBezTo>
                <a:cubicBezTo>
                  <a:pt x="104770" y="136814"/>
                  <a:pt x="104539" y="136469"/>
                  <a:pt x="104309" y="136123"/>
                </a:cubicBezTo>
                <a:cubicBezTo>
                  <a:pt x="104194" y="136007"/>
                  <a:pt x="104078" y="135777"/>
                  <a:pt x="103848" y="135662"/>
                </a:cubicBezTo>
                <a:cubicBezTo>
                  <a:pt x="103617" y="135316"/>
                  <a:pt x="103271" y="134970"/>
                  <a:pt x="103041" y="134624"/>
                </a:cubicBezTo>
                <a:cubicBezTo>
                  <a:pt x="102926" y="134509"/>
                  <a:pt x="102810" y="134278"/>
                  <a:pt x="102695" y="134163"/>
                </a:cubicBezTo>
                <a:cubicBezTo>
                  <a:pt x="102465" y="133818"/>
                  <a:pt x="102119" y="133472"/>
                  <a:pt x="101888" y="133126"/>
                </a:cubicBezTo>
                <a:cubicBezTo>
                  <a:pt x="101773" y="133011"/>
                  <a:pt x="101658" y="132780"/>
                  <a:pt x="101543" y="132665"/>
                </a:cubicBezTo>
                <a:cubicBezTo>
                  <a:pt x="101312" y="132319"/>
                  <a:pt x="101081" y="131973"/>
                  <a:pt x="100736" y="131627"/>
                </a:cubicBezTo>
                <a:cubicBezTo>
                  <a:pt x="100620" y="131397"/>
                  <a:pt x="100505" y="131282"/>
                  <a:pt x="100390" y="131051"/>
                </a:cubicBezTo>
                <a:cubicBezTo>
                  <a:pt x="100160" y="130706"/>
                  <a:pt x="99929" y="130360"/>
                  <a:pt x="99698" y="130014"/>
                </a:cubicBezTo>
                <a:cubicBezTo>
                  <a:pt x="99583" y="129783"/>
                  <a:pt x="99468" y="129668"/>
                  <a:pt x="99353" y="129438"/>
                </a:cubicBezTo>
                <a:cubicBezTo>
                  <a:pt x="99122" y="129092"/>
                  <a:pt x="98892" y="128746"/>
                  <a:pt x="98661" y="128400"/>
                </a:cubicBezTo>
                <a:cubicBezTo>
                  <a:pt x="98546" y="128170"/>
                  <a:pt x="98431" y="128055"/>
                  <a:pt x="98315" y="127824"/>
                </a:cubicBezTo>
                <a:cubicBezTo>
                  <a:pt x="98085" y="127478"/>
                  <a:pt x="97854" y="127132"/>
                  <a:pt x="97624" y="126671"/>
                </a:cubicBezTo>
                <a:cubicBezTo>
                  <a:pt x="97624" y="126441"/>
                  <a:pt x="97393" y="126326"/>
                  <a:pt x="97278" y="126095"/>
                </a:cubicBezTo>
                <a:cubicBezTo>
                  <a:pt x="97047" y="125749"/>
                  <a:pt x="96817" y="125403"/>
                  <a:pt x="96586" y="124943"/>
                </a:cubicBezTo>
                <a:cubicBezTo>
                  <a:pt x="96586" y="124712"/>
                  <a:pt x="96356" y="124597"/>
                  <a:pt x="96241" y="124366"/>
                </a:cubicBezTo>
                <a:cubicBezTo>
                  <a:pt x="96010" y="124020"/>
                  <a:pt x="95780" y="123559"/>
                  <a:pt x="95549" y="123214"/>
                </a:cubicBezTo>
                <a:cubicBezTo>
                  <a:pt x="95549" y="122983"/>
                  <a:pt x="95318" y="122868"/>
                  <a:pt x="95203" y="122637"/>
                </a:cubicBezTo>
                <a:cubicBezTo>
                  <a:pt x="94973" y="122292"/>
                  <a:pt x="94742" y="121830"/>
                  <a:pt x="94512" y="121485"/>
                </a:cubicBezTo>
                <a:cubicBezTo>
                  <a:pt x="94512" y="121254"/>
                  <a:pt x="94281" y="121139"/>
                  <a:pt x="94166" y="120908"/>
                </a:cubicBezTo>
                <a:cubicBezTo>
                  <a:pt x="93935" y="120563"/>
                  <a:pt x="93705" y="120101"/>
                  <a:pt x="93590" y="119756"/>
                </a:cubicBezTo>
                <a:cubicBezTo>
                  <a:pt x="93590" y="119525"/>
                  <a:pt x="93359" y="119410"/>
                  <a:pt x="93359" y="119180"/>
                </a:cubicBezTo>
                <a:cubicBezTo>
                  <a:pt x="93129" y="118718"/>
                  <a:pt x="93013" y="118372"/>
                  <a:pt x="92783" y="117912"/>
                </a:cubicBezTo>
                <a:cubicBezTo>
                  <a:pt x="92783" y="117681"/>
                  <a:pt x="92668" y="117566"/>
                  <a:pt x="92552" y="117335"/>
                </a:cubicBezTo>
                <a:cubicBezTo>
                  <a:pt x="92322" y="116874"/>
                  <a:pt x="92207" y="116528"/>
                  <a:pt x="91976" y="116067"/>
                </a:cubicBezTo>
                <a:cubicBezTo>
                  <a:pt x="91976" y="115952"/>
                  <a:pt x="91861" y="115722"/>
                  <a:pt x="91746" y="115606"/>
                </a:cubicBezTo>
                <a:cubicBezTo>
                  <a:pt x="91515" y="115145"/>
                  <a:pt x="91400" y="114800"/>
                  <a:pt x="91169" y="114338"/>
                </a:cubicBezTo>
                <a:cubicBezTo>
                  <a:pt x="91169" y="114223"/>
                  <a:pt x="91054" y="113993"/>
                  <a:pt x="90939" y="113877"/>
                </a:cubicBezTo>
                <a:cubicBezTo>
                  <a:pt x="90708" y="113417"/>
                  <a:pt x="90593" y="112955"/>
                  <a:pt x="90363" y="112494"/>
                </a:cubicBezTo>
                <a:cubicBezTo>
                  <a:pt x="90363" y="112379"/>
                  <a:pt x="90247" y="112149"/>
                  <a:pt x="90132" y="112033"/>
                </a:cubicBezTo>
                <a:cubicBezTo>
                  <a:pt x="89901" y="111572"/>
                  <a:pt x="89786" y="111111"/>
                  <a:pt x="89671" y="110650"/>
                </a:cubicBezTo>
                <a:cubicBezTo>
                  <a:pt x="89671" y="110535"/>
                  <a:pt x="89671" y="110304"/>
                  <a:pt x="89556" y="110189"/>
                </a:cubicBezTo>
                <a:cubicBezTo>
                  <a:pt x="89440" y="109728"/>
                  <a:pt x="89210" y="109267"/>
                  <a:pt x="89095" y="108691"/>
                </a:cubicBezTo>
                <a:cubicBezTo>
                  <a:pt x="89095" y="108575"/>
                  <a:pt x="89095" y="108460"/>
                  <a:pt x="88979" y="108345"/>
                </a:cubicBezTo>
                <a:cubicBezTo>
                  <a:pt x="88864" y="107884"/>
                  <a:pt x="88634" y="107308"/>
                  <a:pt x="88518" y="106846"/>
                </a:cubicBezTo>
                <a:cubicBezTo>
                  <a:pt x="88518" y="106846"/>
                  <a:pt x="88518" y="106616"/>
                  <a:pt x="88518" y="106501"/>
                </a:cubicBezTo>
                <a:cubicBezTo>
                  <a:pt x="88403" y="105925"/>
                  <a:pt x="88173" y="105463"/>
                  <a:pt x="88057" y="104887"/>
                </a:cubicBezTo>
                <a:cubicBezTo>
                  <a:pt x="88057" y="104887"/>
                  <a:pt x="88057" y="104772"/>
                  <a:pt x="88057" y="104657"/>
                </a:cubicBezTo>
                <a:cubicBezTo>
                  <a:pt x="87942" y="104080"/>
                  <a:pt x="87712" y="103504"/>
                  <a:pt x="87596" y="102928"/>
                </a:cubicBezTo>
                <a:cubicBezTo>
                  <a:pt x="87596" y="102928"/>
                  <a:pt x="87596" y="102928"/>
                  <a:pt x="87596" y="102928"/>
                </a:cubicBezTo>
                <a:cubicBezTo>
                  <a:pt x="86329" y="97856"/>
                  <a:pt x="85522" y="92554"/>
                  <a:pt x="85176" y="87137"/>
                </a:cubicBezTo>
                <a:lnTo>
                  <a:pt x="85176" y="87137"/>
                </a:lnTo>
                <a:cubicBezTo>
                  <a:pt x="85176" y="85639"/>
                  <a:pt x="85061" y="84140"/>
                  <a:pt x="85061" y="82642"/>
                </a:cubicBezTo>
                <a:cubicBezTo>
                  <a:pt x="85061" y="37575"/>
                  <a:pt x="121137" y="1038"/>
                  <a:pt x="165857" y="0"/>
                </a:cubicBezTo>
                <a:cubicBezTo>
                  <a:pt x="164935" y="0"/>
                  <a:pt x="164013" y="0"/>
                  <a:pt x="163090" y="0"/>
                </a:cubicBezTo>
                <a:cubicBezTo>
                  <a:pt x="114912" y="0"/>
                  <a:pt x="75955" y="39073"/>
                  <a:pt x="75955" y="87137"/>
                </a:cubicBezTo>
                <a:lnTo>
                  <a:pt x="0" y="87137"/>
                </a:lnTo>
                <a:cubicBezTo>
                  <a:pt x="0" y="156293"/>
                  <a:pt x="56016" y="212310"/>
                  <a:pt x="125171" y="212310"/>
                </a:cubicBezTo>
                <a:cubicBezTo>
                  <a:pt x="194325" y="212310"/>
                  <a:pt x="250341" y="156293"/>
                  <a:pt x="250341" y="87137"/>
                </a:cubicBezTo>
                <a:cubicBezTo>
                  <a:pt x="250341" y="17981"/>
                  <a:pt x="250341" y="85639"/>
                  <a:pt x="250341" y="84832"/>
                </a:cubicBezTo>
                <a:close/>
              </a:path>
            </a:pathLst>
          </a:custGeom>
          <a:solidFill>
            <a:schemeClr val="accent2"/>
          </a:solidFill>
          <a:ln w="11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DC24C77-2A40-F81B-A2AC-970FDF313411}"/>
              </a:ext>
            </a:extLst>
          </p:cNvPr>
          <p:cNvSpPr/>
          <p:nvPr/>
        </p:nvSpPr>
        <p:spPr>
          <a:xfrm>
            <a:off x="4182625" y="2478905"/>
            <a:ext cx="1913368" cy="1622694"/>
          </a:xfrm>
          <a:custGeom>
            <a:avLst/>
            <a:gdLst>
              <a:gd name="connsiteX0" fmla="*/ 249649 w 250340"/>
              <a:gd name="connsiteY0" fmla="*/ 126671 h 212309"/>
              <a:gd name="connsiteX1" fmla="*/ 249649 w 250340"/>
              <a:gd name="connsiteY1" fmla="*/ 124136 h 212309"/>
              <a:gd name="connsiteX2" fmla="*/ 249534 w 250340"/>
              <a:gd name="connsiteY2" fmla="*/ 122292 h 212309"/>
              <a:gd name="connsiteX3" fmla="*/ 249534 w 250340"/>
              <a:gd name="connsiteY3" fmla="*/ 122292 h 212309"/>
              <a:gd name="connsiteX4" fmla="*/ 245615 w 250340"/>
              <a:gd name="connsiteY4" fmla="*/ 102928 h 212309"/>
              <a:gd name="connsiteX5" fmla="*/ 245615 w 250340"/>
              <a:gd name="connsiteY5" fmla="*/ 102928 h 212309"/>
              <a:gd name="connsiteX6" fmla="*/ 245039 w 250340"/>
              <a:gd name="connsiteY6" fmla="*/ 101314 h 212309"/>
              <a:gd name="connsiteX7" fmla="*/ 245039 w 250340"/>
              <a:gd name="connsiteY7" fmla="*/ 101083 h 212309"/>
              <a:gd name="connsiteX8" fmla="*/ 244463 w 250340"/>
              <a:gd name="connsiteY8" fmla="*/ 99585 h 212309"/>
              <a:gd name="connsiteX9" fmla="*/ 244347 w 250340"/>
              <a:gd name="connsiteY9" fmla="*/ 99239 h 212309"/>
              <a:gd name="connsiteX10" fmla="*/ 243771 w 250340"/>
              <a:gd name="connsiteY10" fmla="*/ 97856 h 212309"/>
              <a:gd name="connsiteX11" fmla="*/ 243656 w 250340"/>
              <a:gd name="connsiteY11" fmla="*/ 97511 h 212309"/>
              <a:gd name="connsiteX12" fmla="*/ 243079 w 250340"/>
              <a:gd name="connsiteY12" fmla="*/ 96127 h 212309"/>
              <a:gd name="connsiteX13" fmla="*/ 242849 w 250340"/>
              <a:gd name="connsiteY13" fmla="*/ 95666 h 212309"/>
              <a:gd name="connsiteX14" fmla="*/ 242273 w 250340"/>
              <a:gd name="connsiteY14" fmla="*/ 94399 h 212309"/>
              <a:gd name="connsiteX15" fmla="*/ 242042 w 250340"/>
              <a:gd name="connsiteY15" fmla="*/ 93937 h 212309"/>
              <a:gd name="connsiteX16" fmla="*/ 241466 w 250340"/>
              <a:gd name="connsiteY16" fmla="*/ 92670 h 212309"/>
              <a:gd name="connsiteX17" fmla="*/ 241236 w 250340"/>
              <a:gd name="connsiteY17" fmla="*/ 92208 h 212309"/>
              <a:gd name="connsiteX18" fmla="*/ 240659 w 250340"/>
              <a:gd name="connsiteY18" fmla="*/ 91056 h 212309"/>
              <a:gd name="connsiteX19" fmla="*/ 240428 w 250340"/>
              <a:gd name="connsiteY19" fmla="*/ 90479 h 212309"/>
              <a:gd name="connsiteX20" fmla="*/ 239852 w 250340"/>
              <a:gd name="connsiteY20" fmla="*/ 89327 h 212309"/>
              <a:gd name="connsiteX21" fmla="*/ 239507 w 250340"/>
              <a:gd name="connsiteY21" fmla="*/ 88751 h 212309"/>
              <a:gd name="connsiteX22" fmla="*/ 238815 w 250340"/>
              <a:gd name="connsiteY22" fmla="*/ 87598 h 212309"/>
              <a:gd name="connsiteX23" fmla="*/ 238469 w 250340"/>
              <a:gd name="connsiteY23" fmla="*/ 87022 h 212309"/>
              <a:gd name="connsiteX24" fmla="*/ 237778 w 250340"/>
              <a:gd name="connsiteY24" fmla="*/ 85984 h 212309"/>
              <a:gd name="connsiteX25" fmla="*/ 237432 w 250340"/>
              <a:gd name="connsiteY25" fmla="*/ 85408 h 212309"/>
              <a:gd name="connsiteX26" fmla="*/ 236740 w 250340"/>
              <a:gd name="connsiteY26" fmla="*/ 84371 h 212309"/>
              <a:gd name="connsiteX27" fmla="*/ 236394 w 250340"/>
              <a:gd name="connsiteY27" fmla="*/ 83794 h 212309"/>
              <a:gd name="connsiteX28" fmla="*/ 235703 w 250340"/>
              <a:gd name="connsiteY28" fmla="*/ 82757 h 212309"/>
              <a:gd name="connsiteX29" fmla="*/ 235242 w 250340"/>
              <a:gd name="connsiteY29" fmla="*/ 82181 h 212309"/>
              <a:gd name="connsiteX30" fmla="*/ 234550 w 250340"/>
              <a:gd name="connsiteY30" fmla="*/ 81259 h 212309"/>
              <a:gd name="connsiteX31" fmla="*/ 234089 w 250340"/>
              <a:gd name="connsiteY31" fmla="*/ 80682 h 212309"/>
              <a:gd name="connsiteX32" fmla="*/ 233398 w 250340"/>
              <a:gd name="connsiteY32" fmla="*/ 79760 h 212309"/>
              <a:gd name="connsiteX33" fmla="*/ 232937 w 250340"/>
              <a:gd name="connsiteY33" fmla="*/ 79184 h 212309"/>
              <a:gd name="connsiteX34" fmla="*/ 232245 w 250340"/>
              <a:gd name="connsiteY34" fmla="*/ 78262 h 212309"/>
              <a:gd name="connsiteX35" fmla="*/ 231784 w 250340"/>
              <a:gd name="connsiteY35" fmla="*/ 77686 h 212309"/>
              <a:gd name="connsiteX36" fmla="*/ 231093 w 250340"/>
              <a:gd name="connsiteY36" fmla="*/ 76764 h 212309"/>
              <a:gd name="connsiteX37" fmla="*/ 230632 w 250340"/>
              <a:gd name="connsiteY37" fmla="*/ 76187 h 212309"/>
              <a:gd name="connsiteX38" fmla="*/ 229940 w 250340"/>
              <a:gd name="connsiteY38" fmla="*/ 75381 h 212309"/>
              <a:gd name="connsiteX39" fmla="*/ 229364 w 250340"/>
              <a:gd name="connsiteY39" fmla="*/ 74804 h 212309"/>
              <a:gd name="connsiteX40" fmla="*/ 228672 w 250340"/>
              <a:gd name="connsiteY40" fmla="*/ 73997 h 212309"/>
              <a:gd name="connsiteX41" fmla="*/ 228096 w 250340"/>
              <a:gd name="connsiteY41" fmla="*/ 73421 h 212309"/>
              <a:gd name="connsiteX42" fmla="*/ 227289 w 250340"/>
              <a:gd name="connsiteY42" fmla="*/ 72614 h 212309"/>
              <a:gd name="connsiteX43" fmla="*/ 226713 w 250340"/>
              <a:gd name="connsiteY43" fmla="*/ 72038 h 212309"/>
              <a:gd name="connsiteX44" fmla="*/ 225906 w 250340"/>
              <a:gd name="connsiteY44" fmla="*/ 71231 h 212309"/>
              <a:gd name="connsiteX45" fmla="*/ 225330 w 250340"/>
              <a:gd name="connsiteY45" fmla="*/ 70655 h 212309"/>
              <a:gd name="connsiteX46" fmla="*/ 224523 w 250340"/>
              <a:gd name="connsiteY46" fmla="*/ 69848 h 212309"/>
              <a:gd name="connsiteX47" fmla="*/ 223947 w 250340"/>
              <a:gd name="connsiteY47" fmla="*/ 69272 h 212309"/>
              <a:gd name="connsiteX48" fmla="*/ 223140 w 250340"/>
              <a:gd name="connsiteY48" fmla="*/ 68580 h 212309"/>
              <a:gd name="connsiteX49" fmla="*/ 222563 w 250340"/>
              <a:gd name="connsiteY49" fmla="*/ 68004 h 212309"/>
              <a:gd name="connsiteX50" fmla="*/ 221757 w 250340"/>
              <a:gd name="connsiteY50" fmla="*/ 67312 h 212309"/>
              <a:gd name="connsiteX51" fmla="*/ 221065 w 250340"/>
              <a:gd name="connsiteY51" fmla="*/ 66736 h 212309"/>
              <a:gd name="connsiteX52" fmla="*/ 220258 w 250340"/>
              <a:gd name="connsiteY52" fmla="*/ 66044 h 212309"/>
              <a:gd name="connsiteX53" fmla="*/ 219567 w 250340"/>
              <a:gd name="connsiteY53" fmla="*/ 65468 h 212309"/>
              <a:gd name="connsiteX54" fmla="*/ 218760 w 250340"/>
              <a:gd name="connsiteY54" fmla="*/ 64776 h 212309"/>
              <a:gd name="connsiteX55" fmla="*/ 218069 w 250340"/>
              <a:gd name="connsiteY55" fmla="*/ 64200 h 212309"/>
              <a:gd name="connsiteX56" fmla="*/ 217262 w 250340"/>
              <a:gd name="connsiteY56" fmla="*/ 63509 h 212309"/>
              <a:gd name="connsiteX57" fmla="*/ 216570 w 250340"/>
              <a:gd name="connsiteY57" fmla="*/ 62932 h 212309"/>
              <a:gd name="connsiteX58" fmla="*/ 215763 w 250340"/>
              <a:gd name="connsiteY58" fmla="*/ 62356 h 212309"/>
              <a:gd name="connsiteX59" fmla="*/ 215072 w 250340"/>
              <a:gd name="connsiteY59" fmla="*/ 61780 h 212309"/>
              <a:gd name="connsiteX60" fmla="*/ 214265 w 250340"/>
              <a:gd name="connsiteY60" fmla="*/ 61203 h 212309"/>
              <a:gd name="connsiteX61" fmla="*/ 213458 w 250340"/>
              <a:gd name="connsiteY61" fmla="*/ 60742 h 212309"/>
              <a:gd name="connsiteX62" fmla="*/ 212651 w 250340"/>
              <a:gd name="connsiteY62" fmla="*/ 60166 h 212309"/>
              <a:gd name="connsiteX63" fmla="*/ 211845 w 250340"/>
              <a:gd name="connsiteY63" fmla="*/ 59705 h 212309"/>
              <a:gd name="connsiteX64" fmla="*/ 210923 w 250340"/>
              <a:gd name="connsiteY64" fmla="*/ 59129 h 212309"/>
              <a:gd name="connsiteX65" fmla="*/ 210116 w 250340"/>
              <a:gd name="connsiteY65" fmla="*/ 58668 h 212309"/>
              <a:gd name="connsiteX66" fmla="*/ 209194 w 250340"/>
              <a:gd name="connsiteY66" fmla="*/ 58091 h 212309"/>
              <a:gd name="connsiteX67" fmla="*/ 208387 w 250340"/>
              <a:gd name="connsiteY67" fmla="*/ 57630 h 212309"/>
              <a:gd name="connsiteX68" fmla="*/ 207465 w 250340"/>
              <a:gd name="connsiteY68" fmla="*/ 57169 h 212309"/>
              <a:gd name="connsiteX69" fmla="*/ 206658 w 250340"/>
              <a:gd name="connsiteY69" fmla="*/ 56708 h 212309"/>
              <a:gd name="connsiteX70" fmla="*/ 205736 w 250340"/>
              <a:gd name="connsiteY70" fmla="*/ 56247 h 212309"/>
              <a:gd name="connsiteX71" fmla="*/ 204929 w 250340"/>
              <a:gd name="connsiteY71" fmla="*/ 55786 h 212309"/>
              <a:gd name="connsiteX72" fmla="*/ 204007 w 250340"/>
              <a:gd name="connsiteY72" fmla="*/ 55325 h 212309"/>
              <a:gd name="connsiteX73" fmla="*/ 203200 w 250340"/>
              <a:gd name="connsiteY73" fmla="*/ 54864 h 212309"/>
              <a:gd name="connsiteX74" fmla="*/ 202278 w 250340"/>
              <a:gd name="connsiteY74" fmla="*/ 54403 h 212309"/>
              <a:gd name="connsiteX75" fmla="*/ 201356 w 250340"/>
              <a:gd name="connsiteY75" fmla="*/ 54057 h 212309"/>
              <a:gd name="connsiteX76" fmla="*/ 200434 w 250340"/>
              <a:gd name="connsiteY76" fmla="*/ 53596 h 212309"/>
              <a:gd name="connsiteX77" fmla="*/ 199512 w 250340"/>
              <a:gd name="connsiteY77" fmla="*/ 53250 h 212309"/>
              <a:gd name="connsiteX78" fmla="*/ 198590 w 250340"/>
              <a:gd name="connsiteY78" fmla="*/ 52905 h 212309"/>
              <a:gd name="connsiteX79" fmla="*/ 197668 w 250340"/>
              <a:gd name="connsiteY79" fmla="*/ 52559 h 212309"/>
              <a:gd name="connsiteX80" fmla="*/ 196746 w 250340"/>
              <a:gd name="connsiteY80" fmla="*/ 52213 h 212309"/>
              <a:gd name="connsiteX81" fmla="*/ 195824 w 250340"/>
              <a:gd name="connsiteY81" fmla="*/ 51867 h 212309"/>
              <a:gd name="connsiteX82" fmla="*/ 194901 w 250340"/>
              <a:gd name="connsiteY82" fmla="*/ 51521 h 212309"/>
              <a:gd name="connsiteX83" fmla="*/ 193980 w 250340"/>
              <a:gd name="connsiteY83" fmla="*/ 51176 h 212309"/>
              <a:gd name="connsiteX84" fmla="*/ 193058 w 250340"/>
              <a:gd name="connsiteY84" fmla="*/ 50830 h 212309"/>
              <a:gd name="connsiteX85" fmla="*/ 192135 w 250340"/>
              <a:gd name="connsiteY85" fmla="*/ 50484 h 212309"/>
              <a:gd name="connsiteX86" fmla="*/ 191213 w 250340"/>
              <a:gd name="connsiteY86" fmla="*/ 50138 h 212309"/>
              <a:gd name="connsiteX87" fmla="*/ 190291 w 250340"/>
              <a:gd name="connsiteY87" fmla="*/ 49908 h 212309"/>
              <a:gd name="connsiteX88" fmla="*/ 189369 w 250340"/>
              <a:gd name="connsiteY88" fmla="*/ 49677 h 212309"/>
              <a:gd name="connsiteX89" fmla="*/ 188332 w 250340"/>
              <a:gd name="connsiteY89" fmla="*/ 49447 h 212309"/>
              <a:gd name="connsiteX90" fmla="*/ 187410 w 250340"/>
              <a:gd name="connsiteY90" fmla="*/ 49216 h 212309"/>
              <a:gd name="connsiteX91" fmla="*/ 186373 w 250340"/>
              <a:gd name="connsiteY91" fmla="*/ 48986 h 212309"/>
              <a:gd name="connsiteX92" fmla="*/ 185450 w 250340"/>
              <a:gd name="connsiteY92" fmla="*/ 48755 h 212309"/>
              <a:gd name="connsiteX93" fmla="*/ 184413 w 250340"/>
              <a:gd name="connsiteY93" fmla="*/ 48525 h 212309"/>
              <a:gd name="connsiteX94" fmla="*/ 183491 w 250340"/>
              <a:gd name="connsiteY94" fmla="*/ 48294 h 212309"/>
              <a:gd name="connsiteX95" fmla="*/ 182454 w 250340"/>
              <a:gd name="connsiteY95" fmla="*/ 48064 h 212309"/>
              <a:gd name="connsiteX96" fmla="*/ 181532 w 250340"/>
              <a:gd name="connsiteY96" fmla="*/ 47948 h 212309"/>
              <a:gd name="connsiteX97" fmla="*/ 180494 w 250340"/>
              <a:gd name="connsiteY97" fmla="*/ 47718 h 212309"/>
              <a:gd name="connsiteX98" fmla="*/ 179572 w 250340"/>
              <a:gd name="connsiteY98" fmla="*/ 47603 h 212309"/>
              <a:gd name="connsiteX99" fmla="*/ 178535 w 250340"/>
              <a:gd name="connsiteY99" fmla="*/ 47487 h 212309"/>
              <a:gd name="connsiteX100" fmla="*/ 177613 w 250340"/>
              <a:gd name="connsiteY100" fmla="*/ 47372 h 212309"/>
              <a:gd name="connsiteX101" fmla="*/ 176460 w 250340"/>
              <a:gd name="connsiteY101" fmla="*/ 47257 h 212309"/>
              <a:gd name="connsiteX102" fmla="*/ 175538 w 250340"/>
              <a:gd name="connsiteY102" fmla="*/ 47257 h 212309"/>
              <a:gd name="connsiteX103" fmla="*/ 174386 w 250340"/>
              <a:gd name="connsiteY103" fmla="*/ 47257 h 212309"/>
              <a:gd name="connsiteX104" fmla="*/ 173464 w 250340"/>
              <a:gd name="connsiteY104" fmla="*/ 47257 h 212309"/>
              <a:gd name="connsiteX105" fmla="*/ 172196 w 250340"/>
              <a:gd name="connsiteY105" fmla="*/ 47257 h 212309"/>
              <a:gd name="connsiteX106" fmla="*/ 171389 w 250340"/>
              <a:gd name="connsiteY106" fmla="*/ 47257 h 212309"/>
              <a:gd name="connsiteX107" fmla="*/ 170006 w 250340"/>
              <a:gd name="connsiteY107" fmla="*/ 47257 h 212309"/>
              <a:gd name="connsiteX108" fmla="*/ 169314 w 250340"/>
              <a:gd name="connsiteY108" fmla="*/ 47257 h 212309"/>
              <a:gd name="connsiteX109" fmla="*/ 167240 w 250340"/>
              <a:gd name="connsiteY109" fmla="*/ 47257 h 212309"/>
              <a:gd name="connsiteX110" fmla="*/ 165165 w 250340"/>
              <a:gd name="connsiteY110" fmla="*/ 47257 h 212309"/>
              <a:gd name="connsiteX111" fmla="*/ 164473 w 250340"/>
              <a:gd name="connsiteY111" fmla="*/ 47257 h 212309"/>
              <a:gd name="connsiteX112" fmla="*/ 163090 w 250340"/>
              <a:gd name="connsiteY112" fmla="*/ 47257 h 212309"/>
              <a:gd name="connsiteX113" fmla="*/ 162284 w 250340"/>
              <a:gd name="connsiteY113" fmla="*/ 47257 h 212309"/>
              <a:gd name="connsiteX114" fmla="*/ 161016 w 250340"/>
              <a:gd name="connsiteY114" fmla="*/ 47257 h 212309"/>
              <a:gd name="connsiteX115" fmla="*/ 160094 w 250340"/>
              <a:gd name="connsiteY115" fmla="*/ 47257 h 212309"/>
              <a:gd name="connsiteX116" fmla="*/ 158941 w 250340"/>
              <a:gd name="connsiteY116" fmla="*/ 47257 h 212309"/>
              <a:gd name="connsiteX117" fmla="*/ 158019 w 250340"/>
              <a:gd name="connsiteY117" fmla="*/ 47257 h 212309"/>
              <a:gd name="connsiteX118" fmla="*/ 156866 w 250340"/>
              <a:gd name="connsiteY118" fmla="*/ 47372 h 212309"/>
              <a:gd name="connsiteX119" fmla="*/ 155944 w 250340"/>
              <a:gd name="connsiteY119" fmla="*/ 47487 h 212309"/>
              <a:gd name="connsiteX120" fmla="*/ 154792 w 250340"/>
              <a:gd name="connsiteY120" fmla="*/ 47603 h 212309"/>
              <a:gd name="connsiteX121" fmla="*/ 153870 w 250340"/>
              <a:gd name="connsiteY121" fmla="*/ 47718 h 212309"/>
              <a:gd name="connsiteX122" fmla="*/ 152832 w 250340"/>
              <a:gd name="connsiteY122" fmla="*/ 47948 h 212309"/>
              <a:gd name="connsiteX123" fmla="*/ 151910 w 250340"/>
              <a:gd name="connsiteY123" fmla="*/ 48179 h 212309"/>
              <a:gd name="connsiteX124" fmla="*/ 150873 w 250340"/>
              <a:gd name="connsiteY124" fmla="*/ 48409 h 212309"/>
              <a:gd name="connsiteX125" fmla="*/ 149951 w 250340"/>
              <a:gd name="connsiteY125" fmla="*/ 48640 h 212309"/>
              <a:gd name="connsiteX126" fmla="*/ 148914 w 250340"/>
              <a:gd name="connsiteY126" fmla="*/ 48871 h 212309"/>
              <a:gd name="connsiteX127" fmla="*/ 147991 w 250340"/>
              <a:gd name="connsiteY127" fmla="*/ 49101 h 212309"/>
              <a:gd name="connsiteX128" fmla="*/ 146954 w 250340"/>
              <a:gd name="connsiteY128" fmla="*/ 49332 h 212309"/>
              <a:gd name="connsiteX129" fmla="*/ 146032 w 250340"/>
              <a:gd name="connsiteY129" fmla="*/ 49562 h 212309"/>
              <a:gd name="connsiteX130" fmla="*/ 144995 w 250340"/>
              <a:gd name="connsiteY130" fmla="*/ 49792 h 212309"/>
              <a:gd name="connsiteX131" fmla="*/ 144073 w 250340"/>
              <a:gd name="connsiteY131" fmla="*/ 50023 h 212309"/>
              <a:gd name="connsiteX132" fmla="*/ 143035 w 250340"/>
              <a:gd name="connsiteY132" fmla="*/ 50369 h 212309"/>
              <a:gd name="connsiteX133" fmla="*/ 142113 w 250340"/>
              <a:gd name="connsiteY133" fmla="*/ 50715 h 212309"/>
              <a:gd name="connsiteX134" fmla="*/ 141191 w 250340"/>
              <a:gd name="connsiteY134" fmla="*/ 51060 h 212309"/>
              <a:gd name="connsiteX135" fmla="*/ 140269 w 250340"/>
              <a:gd name="connsiteY135" fmla="*/ 51406 h 212309"/>
              <a:gd name="connsiteX136" fmla="*/ 139347 w 250340"/>
              <a:gd name="connsiteY136" fmla="*/ 51752 h 212309"/>
              <a:gd name="connsiteX137" fmla="*/ 138425 w 250340"/>
              <a:gd name="connsiteY137" fmla="*/ 52098 h 212309"/>
              <a:gd name="connsiteX138" fmla="*/ 137503 w 250340"/>
              <a:gd name="connsiteY138" fmla="*/ 52444 h 212309"/>
              <a:gd name="connsiteX139" fmla="*/ 136581 w 250340"/>
              <a:gd name="connsiteY139" fmla="*/ 52789 h 212309"/>
              <a:gd name="connsiteX140" fmla="*/ 135659 w 250340"/>
              <a:gd name="connsiteY140" fmla="*/ 53135 h 212309"/>
              <a:gd name="connsiteX141" fmla="*/ 134737 w 250340"/>
              <a:gd name="connsiteY141" fmla="*/ 53481 h 212309"/>
              <a:gd name="connsiteX142" fmla="*/ 133815 w 250340"/>
              <a:gd name="connsiteY142" fmla="*/ 53827 h 212309"/>
              <a:gd name="connsiteX143" fmla="*/ 132893 w 250340"/>
              <a:gd name="connsiteY143" fmla="*/ 54288 h 212309"/>
              <a:gd name="connsiteX144" fmla="*/ 131971 w 250340"/>
              <a:gd name="connsiteY144" fmla="*/ 54749 h 212309"/>
              <a:gd name="connsiteX145" fmla="*/ 131049 w 250340"/>
              <a:gd name="connsiteY145" fmla="*/ 55210 h 212309"/>
              <a:gd name="connsiteX146" fmla="*/ 130242 w 250340"/>
              <a:gd name="connsiteY146" fmla="*/ 55671 h 212309"/>
              <a:gd name="connsiteX147" fmla="*/ 129320 w 250340"/>
              <a:gd name="connsiteY147" fmla="*/ 56132 h 212309"/>
              <a:gd name="connsiteX148" fmla="*/ 128513 w 250340"/>
              <a:gd name="connsiteY148" fmla="*/ 56593 h 212309"/>
              <a:gd name="connsiteX149" fmla="*/ 127591 w 250340"/>
              <a:gd name="connsiteY149" fmla="*/ 57054 h 212309"/>
              <a:gd name="connsiteX150" fmla="*/ 126784 w 250340"/>
              <a:gd name="connsiteY150" fmla="*/ 57515 h 212309"/>
              <a:gd name="connsiteX151" fmla="*/ 125862 w 250340"/>
              <a:gd name="connsiteY151" fmla="*/ 57976 h 212309"/>
              <a:gd name="connsiteX152" fmla="*/ 125055 w 250340"/>
              <a:gd name="connsiteY152" fmla="*/ 58437 h 212309"/>
              <a:gd name="connsiteX153" fmla="*/ 124133 w 250340"/>
              <a:gd name="connsiteY153" fmla="*/ 59013 h 212309"/>
              <a:gd name="connsiteX154" fmla="*/ 123326 w 250340"/>
              <a:gd name="connsiteY154" fmla="*/ 59475 h 212309"/>
              <a:gd name="connsiteX155" fmla="*/ 122404 w 250340"/>
              <a:gd name="connsiteY155" fmla="*/ 60051 h 212309"/>
              <a:gd name="connsiteX156" fmla="*/ 121713 w 250340"/>
              <a:gd name="connsiteY156" fmla="*/ 60512 h 212309"/>
              <a:gd name="connsiteX157" fmla="*/ 120791 w 250340"/>
              <a:gd name="connsiteY157" fmla="*/ 61088 h 212309"/>
              <a:gd name="connsiteX158" fmla="*/ 120099 w 250340"/>
              <a:gd name="connsiteY158" fmla="*/ 61549 h 212309"/>
              <a:gd name="connsiteX159" fmla="*/ 119177 w 250340"/>
              <a:gd name="connsiteY159" fmla="*/ 62241 h 212309"/>
              <a:gd name="connsiteX160" fmla="*/ 118601 w 250340"/>
              <a:gd name="connsiteY160" fmla="*/ 62702 h 212309"/>
              <a:gd name="connsiteX161" fmla="*/ 117678 w 250340"/>
              <a:gd name="connsiteY161" fmla="*/ 63393 h 212309"/>
              <a:gd name="connsiteX162" fmla="*/ 117218 w 250340"/>
              <a:gd name="connsiteY162" fmla="*/ 63739 h 212309"/>
              <a:gd name="connsiteX163" fmla="*/ 116180 w 250340"/>
              <a:gd name="connsiteY163" fmla="*/ 64546 h 212309"/>
              <a:gd name="connsiteX164" fmla="*/ 115835 w 250340"/>
              <a:gd name="connsiteY164" fmla="*/ 64776 h 212309"/>
              <a:gd name="connsiteX165" fmla="*/ 110417 w 250340"/>
              <a:gd name="connsiteY165" fmla="*/ 69502 h 212309"/>
              <a:gd name="connsiteX166" fmla="*/ 110417 w 250340"/>
              <a:gd name="connsiteY166" fmla="*/ 69502 h 212309"/>
              <a:gd name="connsiteX167" fmla="*/ 109265 w 250340"/>
              <a:gd name="connsiteY167" fmla="*/ 70539 h 212309"/>
              <a:gd name="connsiteX168" fmla="*/ 109034 w 250340"/>
              <a:gd name="connsiteY168" fmla="*/ 70770 h 212309"/>
              <a:gd name="connsiteX169" fmla="*/ 107997 w 250340"/>
              <a:gd name="connsiteY169" fmla="*/ 71807 h 212309"/>
              <a:gd name="connsiteX170" fmla="*/ 107651 w 250340"/>
              <a:gd name="connsiteY170" fmla="*/ 72153 h 212309"/>
              <a:gd name="connsiteX171" fmla="*/ 106729 w 250340"/>
              <a:gd name="connsiteY171" fmla="*/ 73190 h 212309"/>
              <a:gd name="connsiteX172" fmla="*/ 106383 w 250340"/>
              <a:gd name="connsiteY172" fmla="*/ 73652 h 212309"/>
              <a:gd name="connsiteX173" fmla="*/ 105461 w 250340"/>
              <a:gd name="connsiteY173" fmla="*/ 74689 h 212309"/>
              <a:gd name="connsiteX174" fmla="*/ 105115 w 250340"/>
              <a:gd name="connsiteY174" fmla="*/ 75150 h 212309"/>
              <a:gd name="connsiteX175" fmla="*/ 104309 w 250340"/>
              <a:gd name="connsiteY175" fmla="*/ 76187 h 212309"/>
              <a:gd name="connsiteX176" fmla="*/ 103847 w 250340"/>
              <a:gd name="connsiteY176" fmla="*/ 76648 h 212309"/>
              <a:gd name="connsiteX177" fmla="*/ 103041 w 250340"/>
              <a:gd name="connsiteY177" fmla="*/ 77686 h 212309"/>
              <a:gd name="connsiteX178" fmla="*/ 102695 w 250340"/>
              <a:gd name="connsiteY178" fmla="*/ 78147 h 212309"/>
              <a:gd name="connsiteX179" fmla="*/ 101888 w 250340"/>
              <a:gd name="connsiteY179" fmla="*/ 79184 h 212309"/>
              <a:gd name="connsiteX180" fmla="*/ 101542 w 250340"/>
              <a:gd name="connsiteY180" fmla="*/ 79645 h 212309"/>
              <a:gd name="connsiteX181" fmla="*/ 100736 w 250340"/>
              <a:gd name="connsiteY181" fmla="*/ 80682 h 212309"/>
              <a:gd name="connsiteX182" fmla="*/ 100390 w 250340"/>
              <a:gd name="connsiteY182" fmla="*/ 81259 h 212309"/>
              <a:gd name="connsiteX183" fmla="*/ 99698 w 250340"/>
              <a:gd name="connsiteY183" fmla="*/ 82296 h 212309"/>
              <a:gd name="connsiteX184" fmla="*/ 99353 w 250340"/>
              <a:gd name="connsiteY184" fmla="*/ 82872 h 212309"/>
              <a:gd name="connsiteX185" fmla="*/ 98661 w 250340"/>
              <a:gd name="connsiteY185" fmla="*/ 83910 h 212309"/>
              <a:gd name="connsiteX186" fmla="*/ 98315 w 250340"/>
              <a:gd name="connsiteY186" fmla="*/ 84486 h 212309"/>
              <a:gd name="connsiteX187" fmla="*/ 97624 w 250340"/>
              <a:gd name="connsiteY187" fmla="*/ 85639 h 212309"/>
              <a:gd name="connsiteX188" fmla="*/ 97278 w 250340"/>
              <a:gd name="connsiteY188" fmla="*/ 86215 h 212309"/>
              <a:gd name="connsiteX189" fmla="*/ 96586 w 250340"/>
              <a:gd name="connsiteY189" fmla="*/ 87368 h 212309"/>
              <a:gd name="connsiteX190" fmla="*/ 96241 w 250340"/>
              <a:gd name="connsiteY190" fmla="*/ 87944 h 212309"/>
              <a:gd name="connsiteX191" fmla="*/ 95549 w 250340"/>
              <a:gd name="connsiteY191" fmla="*/ 89096 h 212309"/>
              <a:gd name="connsiteX192" fmla="*/ 95203 w 250340"/>
              <a:gd name="connsiteY192" fmla="*/ 89673 h 212309"/>
              <a:gd name="connsiteX193" fmla="*/ 94512 w 250340"/>
              <a:gd name="connsiteY193" fmla="*/ 90825 h 212309"/>
              <a:gd name="connsiteX194" fmla="*/ 94166 w 250340"/>
              <a:gd name="connsiteY194" fmla="*/ 91402 h 212309"/>
              <a:gd name="connsiteX195" fmla="*/ 93590 w 250340"/>
              <a:gd name="connsiteY195" fmla="*/ 92554 h 212309"/>
              <a:gd name="connsiteX196" fmla="*/ 93359 w 250340"/>
              <a:gd name="connsiteY196" fmla="*/ 93131 h 212309"/>
              <a:gd name="connsiteX197" fmla="*/ 92783 w 250340"/>
              <a:gd name="connsiteY197" fmla="*/ 94399 h 212309"/>
              <a:gd name="connsiteX198" fmla="*/ 92552 w 250340"/>
              <a:gd name="connsiteY198" fmla="*/ 94975 h 212309"/>
              <a:gd name="connsiteX199" fmla="*/ 91976 w 250340"/>
              <a:gd name="connsiteY199" fmla="*/ 96243 h 212309"/>
              <a:gd name="connsiteX200" fmla="*/ 91745 w 250340"/>
              <a:gd name="connsiteY200" fmla="*/ 96704 h 212309"/>
              <a:gd name="connsiteX201" fmla="*/ 91169 w 250340"/>
              <a:gd name="connsiteY201" fmla="*/ 97971 h 212309"/>
              <a:gd name="connsiteX202" fmla="*/ 90939 w 250340"/>
              <a:gd name="connsiteY202" fmla="*/ 98433 h 212309"/>
              <a:gd name="connsiteX203" fmla="*/ 90362 w 250340"/>
              <a:gd name="connsiteY203" fmla="*/ 99816 h 212309"/>
              <a:gd name="connsiteX204" fmla="*/ 90132 w 250340"/>
              <a:gd name="connsiteY204" fmla="*/ 100277 h 212309"/>
              <a:gd name="connsiteX205" fmla="*/ 89671 w 250340"/>
              <a:gd name="connsiteY205" fmla="*/ 101660 h 212309"/>
              <a:gd name="connsiteX206" fmla="*/ 89556 w 250340"/>
              <a:gd name="connsiteY206" fmla="*/ 102121 h 212309"/>
              <a:gd name="connsiteX207" fmla="*/ 89095 w 250340"/>
              <a:gd name="connsiteY207" fmla="*/ 103619 h 212309"/>
              <a:gd name="connsiteX208" fmla="*/ 88979 w 250340"/>
              <a:gd name="connsiteY208" fmla="*/ 103965 h 212309"/>
              <a:gd name="connsiteX209" fmla="*/ 88518 w 250340"/>
              <a:gd name="connsiteY209" fmla="*/ 105463 h 212309"/>
              <a:gd name="connsiteX210" fmla="*/ 88518 w 250340"/>
              <a:gd name="connsiteY210" fmla="*/ 105809 h 212309"/>
              <a:gd name="connsiteX211" fmla="*/ 88057 w 250340"/>
              <a:gd name="connsiteY211" fmla="*/ 107423 h 212309"/>
              <a:gd name="connsiteX212" fmla="*/ 88057 w 250340"/>
              <a:gd name="connsiteY212" fmla="*/ 107653 h 212309"/>
              <a:gd name="connsiteX213" fmla="*/ 87596 w 250340"/>
              <a:gd name="connsiteY213" fmla="*/ 109382 h 212309"/>
              <a:gd name="connsiteX214" fmla="*/ 87596 w 250340"/>
              <a:gd name="connsiteY214" fmla="*/ 109382 h 212309"/>
              <a:gd name="connsiteX215" fmla="*/ 85176 w 250340"/>
              <a:gd name="connsiteY215" fmla="*/ 125173 h 212309"/>
              <a:gd name="connsiteX216" fmla="*/ 85176 w 250340"/>
              <a:gd name="connsiteY216" fmla="*/ 125173 h 212309"/>
              <a:gd name="connsiteX217" fmla="*/ 85061 w 250340"/>
              <a:gd name="connsiteY217" fmla="*/ 129668 h 212309"/>
              <a:gd name="connsiteX218" fmla="*/ 165856 w 250340"/>
              <a:gd name="connsiteY218" fmla="*/ 212310 h 212309"/>
              <a:gd name="connsiteX219" fmla="*/ 163090 w 250340"/>
              <a:gd name="connsiteY219" fmla="*/ 212310 h 212309"/>
              <a:gd name="connsiteX220" fmla="*/ 75955 w 250340"/>
              <a:gd name="connsiteY220" fmla="*/ 125173 h 212309"/>
              <a:gd name="connsiteX221" fmla="*/ 0 w 250340"/>
              <a:gd name="connsiteY221" fmla="*/ 125173 h 212309"/>
              <a:gd name="connsiteX222" fmla="*/ 125170 w 250340"/>
              <a:gd name="connsiteY222" fmla="*/ 0 h 212309"/>
              <a:gd name="connsiteX223" fmla="*/ 250341 w 250340"/>
              <a:gd name="connsiteY223" fmla="*/ 125173 h 212309"/>
              <a:gd name="connsiteX224" fmla="*/ 250341 w 250340"/>
              <a:gd name="connsiteY224" fmla="*/ 127478 h 212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250340" h="212309">
                <a:moveTo>
                  <a:pt x="249649" y="126671"/>
                </a:moveTo>
                <a:cubicBezTo>
                  <a:pt x="249649" y="125864"/>
                  <a:pt x="249649" y="124943"/>
                  <a:pt x="249649" y="124136"/>
                </a:cubicBezTo>
                <a:cubicBezTo>
                  <a:pt x="249649" y="123559"/>
                  <a:pt x="249649" y="122868"/>
                  <a:pt x="249534" y="122292"/>
                </a:cubicBezTo>
                <a:cubicBezTo>
                  <a:pt x="249534" y="122292"/>
                  <a:pt x="249534" y="122292"/>
                  <a:pt x="249534" y="122292"/>
                </a:cubicBezTo>
                <a:cubicBezTo>
                  <a:pt x="248958" y="115606"/>
                  <a:pt x="247690" y="109037"/>
                  <a:pt x="245615" y="102928"/>
                </a:cubicBezTo>
                <a:cubicBezTo>
                  <a:pt x="245615" y="102928"/>
                  <a:pt x="245615" y="102928"/>
                  <a:pt x="245615" y="102928"/>
                </a:cubicBezTo>
                <a:cubicBezTo>
                  <a:pt x="245385" y="102351"/>
                  <a:pt x="245270" y="101775"/>
                  <a:pt x="245039" y="101314"/>
                </a:cubicBezTo>
                <a:cubicBezTo>
                  <a:pt x="245039" y="101314"/>
                  <a:pt x="245039" y="101199"/>
                  <a:pt x="245039" y="101083"/>
                </a:cubicBezTo>
                <a:cubicBezTo>
                  <a:pt x="244808" y="100622"/>
                  <a:pt x="244693" y="100046"/>
                  <a:pt x="244463" y="99585"/>
                </a:cubicBezTo>
                <a:cubicBezTo>
                  <a:pt x="244463" y="99585"/>
                  <a:pt x="244463" y="99355"/>
                  <a:pt x="244347" y="99239"/>
                </a:cubicBezTo>
                <a:cubicBezTo>
                  <a:pt x="244117" y="98778"/>
                  <a:pt x="244002" y="98317"/>
                  <a:pt x="243771" y="97856"/>
                </a:cubicBezTo>
                <a:cubicBezTo>
                  <a:pt x="243771" y="97741"/>
                  <a:pt x="243771" y="97626"/>
                  <a:pt x="243656" y="97511"/>
                </a:cubicBezTo>
                <a:cubicBezTo>
                  <a:pt x="243425" y="97049"/>
                  <a:pt x="243310" y="96588"/>
                  <a:pt x="243079" y="96127"/>
                </a:cubicBezTo>
                <a:cubicBezTo>
                  <a:pt x="243079" y="96012"/>
                  <a:pt x="242964" y="95782"/>
                  <a:pt x="242849" y="95666"/>
                </a:cubicBezTo>
                <a:cubicBezTo>
                  <a:pt x="242619" y="95205"/>
                  <a:pt x="242503" y="94744"/>
                  <a:pt x="242273" y="94399"/>
                </a:cubicBezTo>
                <a:cubicBezTo>
                  <a:pt x="242273" y="94283"/>
                  <a:pt x="242157" y="94053"/>
                  <a:pt x="242042" y="93937"/>
                </a:cubicBezTo>
                <a:cubicBezTo>
                  <a:pt x="241812" y="93476"/>
                  <a:pt x="241696" y="93131"/>
                  <a:pt x="241466" y="92670"/>
                </a:cubicBezTo>
                <a:cubicBezTo>
                  <a:pt x="241466" y="92554"/>
                  <a:pt x="241351" y="92324"/>
                  <a:pt x="241236" y="92208"/>
                </a:cubicBezTo>
                <a:cubicBezTo>
                  <a:pt x="241005" y="91863"/>
                  <a:pt x="240774" y="91402"/>
                  <a:pt x="240659" y="91056"/>
                </a:cubicBezTo>
                <a:cubicBezTo>
                  <a:pt x="240659" y="90825"/>
                  <a:pt x="240428" y="90710"/>
                  <a:pt x="240428" y="90479"/>
                </a:cubicBezTo>
                <a:cubicBezTo>
                  <a:pt x="240198" y="90134"/>
                  <a:pt x="239968" y="89673"/>
                  <a:pt x="239852" y="89327"/>
                </a:cubicBezTo>
                <a:cubicBezTo>
                  <a:pt x="239852" y="89096"/>
                  <a:pt x="239622" y="88981"/>
                  <a:pt x="239507" y="88751"/>
                </a:cubicBezTo>
                <a:cubicBezTo>
                  <a:pt x="239276" y="88405"/>
                  <a:pt x="239045" y="88059"/>
                  <a:pt x="238815" y="87598"/>
                </a:cubicBezTo>
                <a:cubicBezTo>
                  <a:pt x="238815" y="87368"/>
                  <a:pt x="238585" y="87252"/>
                  <a:pt x="238469" y="87022"/>
                </a:cubicBezTo>
                <a:cubicBezTo>
                  <a:pt x="238239" y="86676"/>
                  <a:pt x="238008" y="86330"/>
                  <a:pt x="237778" y="85984"/>
                </a:cubicBezTo>
                <a:cubicBezTo>
                  <a:pt x="237662" y="85754"/>
                  <a:pt x="237547" y="85639"/>
                  <a:pt x="237432" y="85408"/>
                </a:cubicBezTo>
                <a:cubicBezTo>
                  <a:pt x="237201" y="85062"/>
                  <a:pt x="236971" y="84716"/>
                  <a:pt x="236740" y="84371"/>
                </a:cubicBezTo>
                <a:cubicBezTo>
                  <a:pt x="236625" y="84140"/>
                  <a:pt x="236510" y="84025"/>
                  <a:pt x="236394" y="83794"/>
                </a:cubicBezTo>
                <a:cubicBezTo>
                  <a:pt x="236164" y="83449"/>
                  <a:pt x="235934" y="83103"/>
                  <a:pt x="235703" y="82757"/>
                </a:cubicBezTo>
                <a:cubicBezTo>
                  <a:pt x="235588" y="82527"/>
                  <a:pt x="235473" y="82411"/>
                  <a:pt x="235242" y="82181"/>
                </a:cubicBezTo>
                <a:cubicBezTo>
                  <a:pt x="235011" y="81835"/>
                  <a:pt x="234781" y="81489"/>
                  <a:pt x="234550" y="81259"/>
                </a:cubicBezTo>
                <a:cubicBezTo>
                  <a:pt x="234435" y="81028"/>
                  <a:pt x="234320" y="80913"/>
                  <a:pt x="234089" y="80682"/>
                </a:cubicBezTo>
                <a:cubicBezTo>
                  <a:pt x="233859" y="80337"/>
                  <a:pt x="233628" y="79991"/>
                  <a:pt x="233398" y="79760"/>
                </a:cubicBezTo>
                <a:cubicBezTo>
                  <a:pt x="233283" y="79530"/>
                  <a:pt x="233052" y="79299"/>
                  <a:pt x="232937" y="79184"/>
                </a:cubicBezTo>
                <a:cubicBezTo>
                  <a:pt x="232706" y="78838"/>
                  <a:pt x="232476" y="78608"/>
                  <a:pt x="232245" y="78262"/>
                </a:cubicBezTo>
                <a:cubicBezTo>
                  <a:pt x="232130" y="78031"/>
                  <a:pt x="231899" y="77801"/>
                  <a:pt x="231784" y="77686"/>
                </a:cubicBezTo>
                <a:cubicBezTo>
                  <a:pt x="231554" y="77340"/>
                  <a:pt x="231323" y="77109"/>
                  <a:pt x="231093" y="76764"/>
                </a:cubicBezTo>
                <a:cubicBezTo>
                  <a:pt x="230977" y="76533"/>
                  <a:pt x="230747" y="76302"/>
                  <a:pt x="230632" y="76187"/>
                </a:cubicBezTo>
                <a:cubicBezTo>
                  <a:pt x="230401" y="75841"/>
                  <a:pt x="230171" y="75611"/>
                  <a:pt x="229940" y="75381"/>
                </a:cubicBezTo>
                <a:cubicBezTo>
                  <a:pt x="229710" y="75150"/>
                  <a:pt x="229594" y="74919"/>
                  <a:pt x="229364" y="74804"/>
                </a:cubicBezTo>
                <a:cubicBezTo>
                  <a:pt x="229133" y="74573"/>
                  <a:pt x="228903" y="74228"/>
                  <a:pt x="228672" y="73997"/>
                </a:cubicBezTo>
                <a:cubicBezTo>
                  <a:pt x="228442" y="73767"/>
                  <a:pt x="228326" y="73652"/>
                  <a:pt x="228096" y="73421"/>
                </a:cubicBezTo>
                <a:cubicBezTo>
                  <a:pt x="227865" y="73190"/>
                  <a:pt x="227635" y="72845"/>
                  <a:pt x="227289" y="72614"/>
                </a:cubicBezTo>
                <a:cubicBezTo>
                  <a:pt x="227059" y="72384"/>
                  <a:pt x="226943" y="72268"/>
                  <a:pt x="226713" y="72038"/>
                </a:cubicBezTo>
                <a:cubicBezTo>
                  <a:pt x="226482" y="71807"/>
                  <a:pt x="226252" y="71462"/>
                  <a:pt x="225906" y="71231"/>
                </a:cubicBezTo>
                <a:cubicBezTo>
                  <a:pt x="225676" y="71001"/>
                  <a:pt x="225560" y="70885"/>
                  <a:pt x="225330" y="70655"/>
                </a:cubicBezTo>
                <a:cubicBezTo>
                  <a:pt x="225099" y="70424"/>
                  <a:pt x="224754" y="70194"/>
                  <a:pt x="224523" y="69848"/>
                </a:cubicBezTo>
                <a:cubicBezTo>
                  <a:pt x="224292" y="69618"/>
                  <a:pt x="224062" y="69502"/>
                  <a:pt x="223947" y="69272"/>
                </a:cubicBezTo>
                <a:cubicBezTo>
                  <a:pt x="223716" y="69041"/>
                  <a:pt x="223371" y="68810"/>
                  <a:pt x="223140" y="68580"/>
                </a:cubicBezTo>
                <a:cubicBezTo>
                  <a:pt x="222909" y="68350"/>
                  <a:pt x="222679" y="68234"/>
                  <a:pt x="222563" y="68004"/>
                </a:cubicBezTo>
                <a:cubicBezTo>
                  <a:pt x="222333" y="67773"/>
                  <a:pt x="221987" y="67543"/>
                  <a:pt x="221757" y="67312"/>
                </a:cubicBezTo>
                <a:cubicBezTo>
                  <a:pt x="221526" y="67082"/>
                  <a:pt x="221296" y="66966"/>
                  <a:pt x="221065" y="66736"/>
                </a:cubicBezTo>
                <a:cubicBezTo>
                  <a:pt x="220835" y="66505"/>
                  <a:pt x="220489" y="66275"/>
                  <a:pt x="220258" y="66044"/>
                </a:cubicBezTo>
                <a:cubicBezTo>
                  <a:pt x="220028" y="65814"/>
                  <a:pt x="219797" y="65698"/>
                  <a:pt x="219567" y="65468"/>
                </a:cubicBezTo>
                <a:cubicBezTo>
                  <a:pt x="219336" y="65238"/>
                  <a:pt x="218991" y="65007"/>
                  <a:pt x="218760" y="64776"/>
                </a:cubicBezTo>
                <a:cubicBezTo>
                  <a:pt x="218529" y="64546"/>
                  <a:pt x="218299" y="64431"/>
                  <a:pt x="218069" y="64200"/>
                </a:cubicBezTo>
                <a:cubicBezTo>
                  <a:pt x="217838" y="63970"/>
                  <a:pt x="217492" y="63739"/>
                  <a:pt x="217262" y="63509"/>
                </a:cubicBezTo>
                <a:cubicBezTo>
                  <a:pt x="217031" y="63278"/>
                  <a:pt x="216801" y="63163"/>
                  <a:pt x="216570" y="62932"/>
                </a:cubicBezTo>
                <a:cubicBezTo>
                  <a:pt x="216340" y="62702"/>
                  <a:pt x="215994" y="62471"/>
                  <a:pt x="215763" y="62356"/>
                </a:cubicBezTo>
                <a:cubicBezTo>
                  <a:pt x="215533" y="62126"/>
                  <a:pt x="215302" y="62010"/>
                  <a:pt x="215072" y="61780"/>
                </a:cubicBezTo>
                <a:cubicBezTo>
                  <a:pt x="214841" y="61549"/>
                  <a:pt x="214495" y="61434"/>
                  <a:pt x="214265" y="61203"/>
                </a:cubicBezTo>
                <a:cubicBezTo>
                  <a:pt x="214034" y="61088"/>
                  <a:pt x="213804" y="60858"/>
                  <a:pt x="213458" y="60742"/>
                </a:cubicBezTo>
                <a:cubicBezTo>
                  <a:pt x="213228" y="60512"/>
                  <a:pt x="212882" y="60397"/>
                  <a:pt x="212651" y="60166"/>
                </a:cubicBezTo>
                <a:cubicBezTo>
                  <a:pt x="212421" y="60051"/>
                  <a:pt x="212190" y="59820"/>
                  <a:pt x="211845" y="59705"/>
                </a:cubicBezTo>
                <a:cubicBezTo>
                  <a:pt x="211614" y="59475"/>
                  <a:pt x="211268" y="59359"/>
                  <a:pt x="210923" y="59129"/>
                </a:cubicBezTo>
                <a:cubicBezTo>
                  <a:pt x="210692" y="59013"/>
                  <a:pt x="210346" y="58783"/>
                  <a:pt x="210116" y="58668"/>
                </a:cubicBezTo>
                <a:cubicBezTo>
                  <a:pt x="209770" y="58437"/>
                  <a:pt x="209540" y="58322"/>
                  <a:pt x="209194" y="58091"/>
                </a:cubicBezTo>
                <a:cubicBezTo>
                  <a:pt x="208963" y="57976"/>
                  <a:pt x="208617" y="57746"/>
                  <a:pt x="208387" y="57630"/>
                </a:cubicBezTo>
                <a:cubicBezTo>
                  <a:pt x="208041" y="57515"/>
                  <a:pt x="207811" y="57284"/>
                  <a:pt x="207465" y="57169"/>
                </a:cubicBezTo>
                <a:cubicBezTo>
                  <a:pt x="207234" y="57054"/>
                  <a:pt x="206889" y="56823"/>
                  <a:pt x="206658" y="56708"/>
                </a:cubicBezTo>
                <a:cubicBezTo>
                  <a:pt x="206312" y="56593"/>
                  <a:pt x="206082" y="56363"/>
                  <a:pt x="205736" y="56247"/>
                </a:cubicBezTo>
                <a:cubicBezTo>
                  <a:pt x="205505" y="56132"/>
                  <a:pt x="205160" y="55901"/>
                  <a:pt x="204929" y="55786"/>
                </a:cubicBezTo>
                <a:cubicBezTo>
                  <a:pt x="204583" y="55671"/>
                  <a:pt x="204353" y="55440"/>
                  <a:pt x="204007" y="55325"/>
                </a:cubicBezTo>
                <a:cubicBezTo>
                  <a:pt x="203777" y="55210"/>
                  <a:pt x="203431" y="55095"/>
                  <a:pt x="203200" y="54864"/>
                </a:cubicBezTo>
                <a:cubicBezTo>
                  <a:pt x="202854" y="54749"/>
                  <a:pt x="202624" y="54518"/>
                  <a:pt x="202278" y="54403"/>
                </a:cubicBezTo>
                <a:cubicBezTo>
                  <a:pt x="201932" y="54288"/>
                  <a:pt x="201702" y="54172"/>
                  <a:pt x="201356" y="54057"/>
                </a:cubicBezTo>
                <a:cubicBezTo>
                  <a:pt x="201010" y="53942"/>
                  <a:pt x="200780" y="53827"/>
                  <a:pt x="200434" y="53596"/>
                </a:cubicBezTo>
                <a:cubicBezTo>
                  <a:pt x="200088" y="53481"/>
                  <a:pt x="199858" y="53366"/>
                  <a:pt x="199512" y="53250"/>
                </a:cubicBezTo>
                <a:cubicBezTo>
                  <a:pt x="199166" y="53135"/>
                  <a:pt x="198936" y="53020"/>
                  <a:pt x="198590" y="52905"/>
                </a:cubicBezTo>
                <a:cubicBezTo>
                  <a:pt x="198244" y="52789"/>
                  <a:pt x="198014" y="52674"/>
                  <a:pt x="197668" y="52559"/>
                </a:cubicBezTo>
                <a:cubicBezTo>
                  <a:pt x="197322" y="52444"/>
                  <a:pt x="197092" y="52328"/>
                  <a:pt x="196746" y="52213"/>
                </a:cubicBezTo>
                <a:cubicBezTo>
                  <a:pt x="196400" y="52098"/>
                  <a:pt x="196169" y="51983"/>
                  <a:pt x="195824" y="51867"/>
                </a:cubicBezTo>
                <a:cubicBezTo>
                  <a:pt x="195478" y="51867"/>
                  <a:pt x="195247" y="51637"/>
                  <a:pt x="194901" y="51521"/>
                </a:cubicBezTo>
                <a:cubicBezTo>
                  <a:pt x="194556" y="51521"/>
                  <a:pt x="194325" y="51291"/>
                  <a:pt x="193980" y="51176"/>
                </a:cubicBezTo>
                <a:cubicBezTo>
                  <a:pt x="193634" y="51176"/>
                  <a:pt x="193403" y="50945"/>
                  <a:pt x="193058" y="50830"/>
                </a:cubicBezTo>
                <a:cubicBezTo>
                  <a:pt x="192712" y="50830"/>
                  <a:pt x="192366" y="50600"/>
                  <a:pt x="192135" y="50484"/>
                </a:cubicBezTo>
                <a:cubicBezTo>
                  <a:pt x="191790" y="50484"/>
                  <a:pt x="191559" y="50254"/>
                  <a:pt x="191213" y="50138"/>
                </a:cubicBezTo>
                <a:cubicBezTo>
                  <a:pt x="190867" y="50138"/>
                  <a:pt x="190522" y="49908"/>
                  <a:pt x="190291" y="49908"/>
                </a:cubicBezTo>
                <a:cubicBezTo>
                  <a:pt x="189946" y="49908"/>
                  <a:pt x="189715" y="49677"/>
                  <a:pt x="189369" y="49677"/>
                </a:cubicBezTo>
                <a:cubicBezTo>
                  <a:pt x="189023" y="49677"/>
                  <a:pt x="188678" y="49447"/>
                  <a:pt x="188332" y="49447"/>
                </a:cubicBezTo>
                <a:cubicBezTo>
                  <a:pt x="187986" y="49447"/>
                  <a:pt x="187756" y="49332"/>
                  <a:pt x="187410" y="49216"/>
                </a:cubicBezTo>
                <a:cubicBezTo>
                  <a:pt x="187064" y="49216"/>
                  <a:pt x="186718" y="49101"/>
                  <a:pt x="186373" y="48986"/>
                </a:cubicBezTo>
                <a:cubicBezTo>
                  <a:pt x="186027" y="48986"/>
                  <a:pt x="185796" y="48871"/>
                  <a:pt x="185450" y="48755"/>
                </a:cubicBezTo>
                <a:cubicBezTo>
                  <a:pt x="185105" y="48755"/>
                  <a:pt x="184759" y="48640"/>
                  <a:pt x="184413" y="48525"/>
                </a:cubicBezTo>
                <a:cubicBezTo>
                  <a:pt x="184067" y="48525"/>
                  <a:pt x="183837" y="48409"/>
                  <a:pt x="183491" y="48294"/>
                </a:cubicBezTo>
                <a:cubicBezTo>
                  <a:pt x="183145" y="48294"/>
                  <a:pt x="182799" y="48179"/>
                  <a:pt x="182454" y="48064"/>
                </a:cubicBezTo>
                <a:cubicBezTo>
                  <a:pt x="182108" y="48064"/>
                  <a:pt x="181878" y="47948"/>
                  <a:pt x="181532" y="47948"/>
                </a:cubicBezTo>
                <a:cubicBezTo>
                  <a:pt x="181186" y="47948"/>
                  <a:pt x="180840" y="47833"/>
                  <a:pt x="180494" y="47718"/>
                </a:cubicBezTo>
                <a:cubicBezTo>
                  <a:pt x="180149" y="47718"/>
                  <a:pt x="179918" y="47718"/>
                  <a:pt x="179572" y="47603"/>
                </a:cubicBezTo>
                <a:cubicBezTo>
                  <a:pt x="179227" y="47603"/>
                  <a:pt x="178881" y="47603"/>
                  <a:pt x="178535" y="47487"/>
                </a:cubicBezTo>
                <a:cubicBezTo>
                  <a:pt x="178189" y="47487"/>
                  <a:pt x="177959" y="47487"/>
                  <a:pt x="177613" y="47372"/>
                </a:cubicBezTo>
                <a:cubicBezTo>
                  <a:pt x="177267" y="47372"/>
                  <a:pt x="176921" y="47372"/>
                  <a:pt x="176460" y="47257"/>
                </a:cubicBezTo>
                <a:cubicBezTo>
                  <a:pt x="176115" y="47257"/>
                  <a:pt x="175884" y="47257"/>
                  <a:pt x="175538" y="47257"/>
                </a:cubicBezTo>
                <a:cubicBezTo>
                  <a:pt x="175193" y="47257"/>
                  <a:pt x="174731" y="47257"/>
                  <a:pt x="174386" y="47257"/>
                </a:cubicBezTo>
                <a:cubicBezTo>
                  <a:pt x="174040" y="47257"/>
                  <a:pt x="173809" y="47257"/>
                  <a:pt x="173464" y="47257"/>
                </a:cubicBezTo>
                <a:cubicBezTo>
                  <a:pt x="173002" y="47257"/>
                  <a:pt x="172657" y="47257"/>
                  <a:pt x="172196" y="47257"/>
                </a:cubicBezTo>
                <a:cubicBezTo>
                  <a:pt x="171965" y="47257"/>
                  <a:pt x="171619" y="47257"/>
                  <a:pt x="171389" y="47257"/>
                </a:cubicBezTo>
                <a:cubicBezTo>
                  <a:pt x="170928" y="47257"/>
                  <a:pt x="170467" y="47257"/>
                  <a:pt x="170006" y="47257"/>
                </a:cubicBezTo>
                <a:cubicBezTo>
                  <a:pt x="169775" y="47257"/>
                  <a:pt x="169545" y="47257"/>
                  <a:pt x="169314" y="47257"/>
                </a:cubicBezTo>
                <a:cubicBezTo>
                  <a:pt x="168623" y="47257"/>
                  <a:pt x="167931" y="47257"/>
                  <a:pt x="167240" y="47257"/>
                </a:cubicBezTo>
                <a:cubicBezTo>
                  <a:pt x="166548" y="47257"/>
                  <a:pt x="165856" y="47257"/>
                  <a:pt x="165165" y="47257"/>
                </a:cubicBezTo>
                <a:cubicBezTo>
                  <a:pt x="164934" y="47257"/>
                  <a:pt x="164704" y="47257"/>
                  <a:pt x="164473" y="47257"/>
                </a:cubicBezTo>
                <a:cubicBezTo>
                  <a:pt x="164013" y="47257"/>
                  <a:pt x="163551" y="47257"/>
                  <a:pt x="163090" y="47257"/>
                </a:cubicBezTo>
                <a:cubicBezTo>
                  <a:pt x="162860" y="47257"/>
                  <a:pt x="162514" y="47257"/>
                  <a:pt x="162284" y="47257"/>
                </a:cubicBezTo>
                <a:cubicBezTo>
                  <a:pt x="161822" y="47257"/>
                  <a:pt x="161477" y="47257"/>
                  <a:pt x="161016" y="47257"/>
                </a:cubicBezTo>
                <a:cubicBezTo>
                  <a:pt x="160670" y="47257"/>
                  <a:pt x="160439" y="47257"/>
                  <a:pt x="160094" y="47257"/>
                </a:cubicBezTo>
                <a:cubicBezTo>
                  <a:pt x="159748" y="47257"/>
                  <a:pt x="159287" y="47257"/>
                  <a:pt x="158941" y="47257"/>
                </a:cubicBezTo>
                <a:cubicBezTo>
                  <a:pt x="158595" y="47257"/>
                  <a:pt x="158365" y="47257"/>
                  <a:pt x="158019" y="47257"/>
                </a:cubicBezTo>
                <a:cubicBezTo>
                  <a:pt x="157673" y="47257"/>
                  <a:pt x="157212" y="47257"/>
                  <a:pt x="156866" y="47372"/>
                </a:cubicBezTo>
                <a:cubicBezTo>
                  <a:pt x="156521" y="47372"/>
                  <a:pt x="156290" y="47372"/>
                  <a:pt x="155944" y="47487"/>
                </a:cubicBezTo>
                <a:cubicBezTo>
                  <a:pt x="155599" y="47487"/>
                  <a:pt x="155253" y="47487"/>
                  <a:pt x="154792" y="47603"/>
                </a:cubicBezTo>
                <a:cubicBezTo>
                  <a:pt x="154446" y="47603"/>
                  <a:pt x="154216" y="47603"/>
                  <a:pt x="153870" y="47718"/>
                </a:cubicBezTo>
                <a:cubicBezTo>
                  <a:pt x="153524" y="47718"/>
                  <a:pt x="153178" y="47833"/>
                  <a:pt x="152832" y="47948"/>
                </a:cubicBezTo>
                <a:cubicBezTo>
                  <a:pt x="152487" y="47948"/>
                  <a:pt x="152256" y="47948"/>
                  <a:pt x="151910" y="48179"/>
                </a:cubicBezTo>
                <a:cubicBezTo>
                  <a:pt x="151565" y="48179"/>
                  <a:pt x="151219" y="48294"/>
                  <a:pt x="150873" y="48409"/>
                </a:cubicBezTo>
                <a:cubicBezTo>
                  <a:pt x="150527" y="48409"/>
                  <a:pt x="150297" y="48525"/>
                  <a:pt x="149951" y="48640"/>
                </a:cubicBezTo>
                <a:cubicBezTo>
                  <a:pt x="149605" y="48640"/>
                  <a:pt x="149259" y="48755"/>
                  <a:pt x="148914" y="48871"/>
                </a:cubicBezTo>
                <a:cubicBezTo>
                  <a:pt x="148568" y="48871"/>
                  <a:pt x="148337" y="48986"/>
                  <a:pt x="147991" y="49101"/>
                </a:cubicBezTo>
                <a:cubicBezTo>
                  <a:pt x="147646" y="49101"/>
                  <a:pt x="147300" y="49216"/>
                  <a:pt x="146954" y="49332"/>
                </a:cubicBezTo>
                <a:cubicBezTo>
                  <a:pt x="146608" y="49332"/>
                  <a:pt x="146378" y="49447"/>
                  <a:pt x="146032" y="49562"/>
                </a:cubicBezTo>
                <a:cubicBezTo>
                  <a:pt x="145686" y="49562"/>
                  <a:pt x="145340" y="49792"/>
                  <a:pt x="144995" y="49792"/>
                </a:cubicBezTo>
                <a:cubicBezTo>
                  <a:pt x="144649" y="49792"/>
                  <a:pt x="144419" y="50023"/>
                  <a:pt x="144073" y="50023"/>
                </a:cubicBezTo>
                <a:cubicBezTo>
                  <a:pt x="143727" y="50023"/>
                  <a:pt x="143381" y="50254"/>
                  <a:pt x="143035" y="50369"/>
                </a:cubicBezTo>
                <a:cubicBezTo>
                  <a:pt x="142690" y="50369"/>
                  <a:pt x="142459" y="50600"/>
                  <a:pt x="142113" y="50715"/>
                </a:cubicBezTo>
                <a:cubicBezTo>
                  <a:pt x="141768" y="50715"/>
                  <a:pt x="141422" y="50945"/>
                  <a:pt x="141191" y="51060"/>
                </a:cubicBezTo>
                <a:cubicBezTo>
                  <a:pt x="140846" y="51060"/>
                  <a:pt x="140615" y="51291"/>
                  <a:pt x="140269" y="51406"/>
                </a:cubicBezTo>
                <a:cubicBezTo>
                  <a:pt x="139923" y="51406"/>
                  <a:pt x="139578" y="51637"/>
                  <a:pt x="139347" y="51752"/>
                </a:cubicBezTo>
                <a:cubicBezTo>
                  <a:pt x="139001" y="51752"/>
                  <a:pt x="138771" y="51983"/>
                  <a:pt x="138425" y="52098"/>
                </a:cubicBezTo>
                <a:cubicBezTo>
                  <a:pt x="138079" y="52213"/>
                  <a:pt x="137849" y="52328"/>
                  <a:pt x="137503" y="52444"/>
                </a:cubicBezTo>
                <a:cubicBezTo>
                  <a:pt x="137157" y="52559"/>
                  <a:pt x="136927" y="52674"/>
                  <a:pt x="136581" y="52789"/>
                </a:cubicBezTo>
                <a:cubicBezTo>
                  <a:pt x="136235" y="52905"/>
                  <a:pt x="136005" y="53020"/>
                  <a:pt x="135659" y="53135"/>
                </a:cubicBezTo>
                <a:cubicBezTo>
                  <a:pt x="135313" y="53250"/>
                  <a:pt x="135083" y="53366"/>
                  <a:pt x="134737" y="53481"/>
                </a:cubicBezTo>
                <a:cubicBezTo>
                  <a:pt x="134391" y="53596"/>
                  <a:pt x="134160" y="53712"/>
                  <a:pt x="133815" y="53827"/>
                </a:cubicBezTo>
                <a:cubicBezTo>
                  <a:pt x="133469" y="53942"/>
                  <a:pt x="133238" y="54057"/>
                  <a:pt x="132893" y="54288"/>
                </a:cubicBezTo>
                <a:cubicBezTo>
                  <a:pt x="132547" y="54403"/>
                  <a:pt x="132317" y="54518"/>
                  <a:pt x="131971" y="54749"/>
                </a:cubicBezTo>
                <a:cubicBezTo>
                  <a:pt x="131625" y="54864"/>
                  <a:pt x="131394" y="54979"/>
                  <a:pt x="131049" y="55210"/>
                </a:cubicBezTo>
                <a:cubicBezTo>
                  <a:pt x="130818" y="55325"/>
                  <a:pt x="130472" y="55440"/>
                  <a:pt x="130242" y="55671"/>
                </a:cubicBezTo>
                <a:cubicBezTo>
                  <a:pt x="129896" y="55786"/>
                  <a:pt x="129666" y="56017"/>
                  <a:pt x="129320" y="56132"/>
                </a:cubicBezTo>
                <a:cubicBezTo>
                  <a:pt x="129089" y="56247"/>
                  <a:pt x="128743" y="56478"/>
                  <a:pt x="128513" y="56593"/>
                </a:cubicBezTo>
                <a:cubicBezTo>
                  <a:pt x="128167" y="56708"/>
                  <a:pt x="127937" y="56939"/>
                  <a:pt x="127591" y="57054"/>
                </a:cubicBezTo>
                <a:cubicBezTo>
                  <a:pt x="127360" y="57169"/>
                  <a:pt x="127015" y="57400"/>
                  <a:pt x="126784" y="57515"/>
                </a:cubicBezTo>
                <a:cubicBezTo>
                  <a:pt x="126438" y="57630"/>
                  <a:pt x="126208" y="57861"/>
                  <a:pt x="125862" y="57976"/>
                </a:cubicBezTo>
                <a:cubicBezTo>
                  <a:pt x="125631" y="58091"/>
                  <a:pt x="125286" y="58322"/>
                  <a:pt x="125055" y="58437"/>
                </a:cubicBezTo>
                <a:cubicBezTo>
                  <a:pt x="124709" y="58668"/>
                  <a:pt x="124479" y="58783"/>
                  <a:pt x="124133" y="59013"/>
                </a:cubicBezTo>
                <a:cubicBezTo>
                  <a:pt x="123903" y="59129"/>
                  <a:pt x="123672" y="59359"/>
                  <a:pt x="123326" y="59475"/>
                </a:cubicBezTo>
                <a:cubicBezTo>
                  <a:pt x="122980" y="59705"/>
                  <a:pt x="122750" y="59820"/>
                  <a:pt x="122404" y="60051"/>
                </a:cubicBezTo>
                <a:cubicBezTo>
                  <a:pt x="122174" y="60166"/>
                  <a:pt x="121943" y="60397"/>
                  <a:pt x="121713" y="60512"/>
                </a:cubicBezTo>
                <a:cubicBezTo>
                  <a:pt x="121367" y="60742"/>
                  <a:pt x="121136" y="60858"/>
                  <a:pt x="120791" y="61088"/>
                </a:cubicBezTo>
                <a:cubicBezTo>
                  <a:pt x="120560" y="61203"/>
                  <a:pt x="120329" y="61434"/>
                  <a:pt x="120099" y="61549"/>
                </a:cubicBezTo>
                <a:cubicBezTo>
                  <a:pt x="119753" y="61780"/>
                  <a:pt x="119523" y="62010"/>
                  <a:pt x="119177" y="62241"/>
                </a:cubicBezTo>
                <a:cubicBezTo>
                  <a:pt x="118946" y="62356"/>
                  <a:pt x="118716" y="62587"/>
                  <a:pt x="118601" y="62702"/>
                </a:cubicBezTo>
                <a:cubicBezTo>
                  <a:pt x="118255" y="62932"/>
                  <a:pt x="117909" y="63163"/>
                  <a:pt x="117678" y="63393"/>
                </a:cubicBezTo>
                <a:cubicBezTo>
                  <a:pt x="117448" y="63509"/>
                  <a:pt x="117333" y="63624"/>
                  <a:pt x="117218" y="63739"/>
                </a:cubicBezTo>
                <a:cubicBezTo>
                  <a:pt x="116872" y="63970"/>
                  <a:pt x="116526" y="64315"/>
                  <a:pt x="116180" y="64546"/>
                </a:cubicBezTo>
                <a:cubicBezTo>
                  <a:pt x="116180" y="64546"/>
                  <a:pt x="115950" y="64776"/>
                  <a:pt x="115835" y="64776"/>
                </a:cubicBezTo>
                <a:cubicBezTo>
                  <a:pt x="113990" y="66275"/>
                  <a:pt x="112146" y="67889"/>
                  <a:pt x="110417" y="69502"/>
                </a:cubicBezTo>
                <a:cubicBezTo>
                  <a:pt x="110417" y="69502"/>
                  <a:pt x="110417" y="69502"/>
                  <a:pt x="110417" y="69502"/>
                </a:cubicBezTo>
                <a:cubicBezTo>
                  <a:pt x="110072" y="69848"/>
                  <a:pt x="109726" y="70194"/>
                  <a:pt x="109265" y="70539"/>
                </a:cubicBezTo>
                <a:cubicBezTo>
                  <a:pt x="109265" y="70539"/>
                  <a:pt x="109034" y="70770"/>
                  <a:pt x="109034" y="70770"/>
                </a:cubicBezTo>
                <a:cubicBezTo>
                  <a:pt x="108689" y="71116"/>
                  <a:pt x="108343" y="71462"/>
                  <a:pt x="107997" y="71807"/>
                </a:cubicBezTo>
                <a:cubicBezTo>
                  <a:pt x="107882" y="71923"/>
                  <a:pt x="107766" y="72038"/>
                  <a:pt x="107651" y="72153"/>
                </a:cubicBezTo>
                <a:cubicBezTo>
                  <a:pt x="107305" y="72499"/>
                  <a:pt x="107075" y="72845"/>
                  <a:pt x="106729" y="73190"/>
                </a:cubicBezTo>
                <a:cubicBezTo>
                  <a:pt x="106614" y="73306"/>
                  <a:pt x="106498" y="73421"/>
                  <a:pt x="106383" y="73652"/>
                </a:cubicBezTo>
                <a:cubicBezTo>
                  <a:pt x="106038" y="73997"/>
                  <a:pt x="105807" y="74343"/>
                  <a:pt x="105461" y="74689"/>
                </a:cubicBezTo>
                <a:cubicBezTo>
                  <a:pt x="105346" y="74804"/>
                  <a:pt x="105231" y="75035"/>
                  <a:pt x="105115" y="75150"/>
                </a:cubicBezTo>
                <a:cubicBezTo>
                  <a:pt x="104770" y="75496"/>
                  <a:pt x="104539" y="75841"/>
                  <a:pt x="104309" y="76187"/>
                </a:cubicBezTo>
                <a:cubicBezTo>
                  <a:pt x="104193" y="76302"/>
                  <a:pt x="104078" y="76533"/>
                  <a:pt x="103847" y="76648"/>
                </a:cubicBezTo>
                <a:cubicBezTo>
                  <a:pt x="103617" y="76994"/>
                  <a:pt x="103271" y="77340"/>
                  <a:pt x="103041" y="77686"/>
                </a:cubicBezTo>
                <a:cubicBezTo>
                  <a:pt x="102926" y="77801"/>
                  <a:pt x="102810" y="78031"/>
                  <a:pt x="102695" y="78147"/>
                </a:cubicBezTo>
                <a:cubicBezTo>
                  <a:pt x="102464" y="78493"/>
                  <a:pt x="102119" y="78838"/>
                  <a:pt x="101888" y="79184"/>
                </a:cubicBezTo>
                <a:cubicBezTo>
                  <a:pt x="101773" y="79299"/>
                  <a:pt x="101658" y="79530"/>
                  <a:pt x="101542" y="79645"/>
                </a:cubicBezTo>
                <a:cubicBezTo>
                  <a:pt x="101312" y="79991"/>
                  <a:pt x="101081" y="80337"/>
                  <a:pt x="100736" y="80682"/>
                </a:cubicBezTo>
                <a:cubicBezTo>
                  <a:pt x="100620" y="80913"/>
                  <a:pt x="100505" y="81028"/>
                  <a:pt x="100390" y="81259"/>
                </a:cubicBezTo>
                <a:cubicBezTo>
                  <a:pt x="100159" y="81604"/>
                  <a:pt x="99929" y="81950"/>
                  <a:pt x="99698" y="82296"/>
                </a:cubicBezTo>
                <a:cubicBezTo>
                  <a:pt x="99583" y="82527"/>
                  <a:pt x="99468" y="82642"/>
                  <a:pt x="99353" y="82872"/>
                </a:cubicBezTo>
                <a:cubicBezTo>
                  <a:pt x="99122" y="83218"/>
                  <a:pt x="98892" y="83564"/>
                  <a:pt x="98661" y="83910"/>
                </a:cubicBezTo>
                <a:cubicBezTo>
                  <a:pt x="98546" y="84140"/>
                  <a:pt x="98430" y="84256"/>
                  <a:pt x="98315" y="84486"/>
                </a:cubicBezTo>
                <a:cubicBezTo>
                  <a:pt x="98085" y="84832"/>
                  <a:pt x="97854" y="85178"/>
                  <a:pt x="97624" y="85639"/>
                </a:cubicBezTo>
                <a:cubicBezTo>
                  <a:pt x="97624" y="85869"/>
                  <a:pt x="97393" y="85984"/>
                  <a:pt x="97278" y="86215"/>
                </a:cubicBezTo>
                <a:cubicBezTo>
                  <a:pt x="97047" y="86561"/>
                  <a:pt x="96817" y="86907"/>
                  <a:pt x="96586" y="87368"/>
                </a:cubicBezTo>
                <a:cubicBezTo>
                  <a:pt x="96586" y="87598"/>
                  <a:pt x="96356" y="87713"/>
                  <a:pt x="96241" y="87944"/>
                </a:cubicBezTo>
                <a:cubicBezTo>
                  <a:pt x="96010" y="88290"/>
                  <a:pt x="95779" y="88751"/>
                  <a:pt x="95549" y="89096"/>
                </a:cubicBezTo>
                <a:cubicBezTo>
                  <a:pt x="95549" y="89327"/>
                  <a:pt x="95318" y="89442"/>
                  <a:pt x="95203" y="89673"/>
                </a:cubicBezTo>
                <a:cubicBezTo>
                  <a:pt x="94973" y="90019"/>
                  <a:pt x="94742" y="90479"/>
                  <a:pt x="94512" y="90825"/>
                </a:cubicBezTo>
                <a:cubicBezTo>
                  <a:pt x="94512" y="91056"/>
                  <a:pt x="94281" y="91171"/>
                  <a:pt x="94166" y="91402"/>
                </a:cubicBezTo>
                <a:cubicBezTo>
                  <a:pt x="93935" y="91747"/>
                  <a:pt x="93705" y="92208"/>
                  <a:pt x="93590" y="92554"/>
                </a:cubicBezTo>
                <a:cubicBezTo>
                  <a:pt x="93590" y="92785"/>
                  <a:pt x="93359" y="92900"/>
                  <a:pt x="93359" y="93131"/>
                </a:cubicBezTo>
                <a:cubicBezTo>
                  <a:pt x="93129" y="93591"/>
                  <a:pt x="93013" y="93937"/>
                  <a:pt x="92783" y="94399"/>
                </a:cubicBezTo>
                <a:cubicBezTo>
                  <a:pt x="92783" y="94629"/>
                  <a:pt x="92668" y="94744"/>
                  <a:pt x="92552" y="94975"/>
                </a:cubicBezTo>
                <a:cubicBezTo>
                  <a:pt x="92322" y="95436"/>
                  <a:pt x="92207" y="95782"/>
                  <a:pt x="91976" y="96243"/>
                </a:cubicBezTo>
                <a:cubicBezTo>
                  <a:pt x="91976" y="96358"/>
                  <a:pt x="91861" y="96588"/>
                  <a:pt x="91745" y="96704"/>
                </a:cubicBezTo>
                <a:cubicBezTo>
                  <a:pt x="91515" y="97165"/>
                  <a:pt x="91400" y="97511"/>
                  <a:pt x="91169" y="97971"/>
                </a:cubicBezTo>
                <a:cubicBezTo>
                  <a:pt x="91169" y="98087"/>
                  <a:pt x="91054" y="98317"/>
                  <a:pt x="90939" y="98433"/>
                </a:cubicBezTo>
                <a:cubicBezTo>
                  <a:pt x="90708" y="98894"/>
                  <a:pt x="90593" y="99355"/>
                  <a:pt x="90362" y="99816"/>
                </a:cubicBezTo>
                <a:cubicBezTo>
                  <a:pt x="90362" y="99931"/>
                  <a:pt x="90247" y="100162"/>
                  <a:pt x="90132" y="100277"/>
                </a:cubicBezTo>
                <a:cubicBezTo>
                  <a:pt x="89901" y="100738"/>
                  <a:pt x="89786" y="101199"/>
                  <a:pt x="89671" y="101660"/>
                </a:cubicBezTo>
                <a:cubicBezTo>
                  <a:pt x="89671" y="101775"/>
                  <a:pt x="89671" y="102006"/>
                  <a:pt x="89556" y="102121"/>
                </a:cubicBezTo>
                <a:cubicBezTo>
                  <a:pt x="89440" y="102582"/>
                  <a:pt x="89210" y="103043"/>
                  <a:pt x="89095" y="103619"/>
                </a:cubicBezTo>
                <a:cubicBezTo>
                  <a:pt x="89095" y="103734"/>
                  <a:pt x="89095" y="103850"/>
                  <a:pt x="88979" y="103965"/>
                </a:cubicBezTo>
                <a:cubicBezTo>
                  <a:pt x="88864" y="104426"/>
                  <a:pt x="88633" y="105002"/>
                  <a:pt x="88518" y="105463"/>
                </a:cubicBezTo>
                <a:cubicBezTo>
                  <a:pt x="88518" y="105463"/>
                  <a:pt x="88518" y="105694"/>
                  <a:pt x="88518" y="105809"/>
                </a:cubicBezTo>
                <a:cubicBezTo>
                  <a:pt x="88403" y="106386"/>
                  <a:pt x="88173" y="106846"/>
                  <a:pt x="88057" y="107423"/>
                </a:cubicBezTo>
                <a:cubicBezTo>
                  <a:pt x="88057" y="107423"/>
                  <a:pt x="88057" y="107538"/>
                  <a:pt x="88057" y="107653"/>
                </a:cubicBezTo>
                <a:cubicBezTo>
                  <a:pt x="87942" y="108230"/>
                  <a:pt x="87711" y="108806"/>
                  <a:pt x="87596" y="109382"/>
                </a:cubicBezTo>
                <a:cubicBezTo>
                  <a:pt x="87596" y="109382"/>
                  <a:pt x="87596" y="109382"/>
                  <a:pt x="87596" y="109382"/>
                </a:cubicBezTo>
                <a:cubicBezTo>
                  <a:pt x="86328" y="114454"/>
                  <a:pt x="85522" y="119756"/>
                  <a:pt x="85176" y="125173"/>
                </a:cubicBezTo>
                <a:lnTo>
                  <a:pt x="85176" y="125173"/>
                </a:lnTo>
                <a:cubicBezTo>
                  <a:pt x="85176" y="126671"/>
                  <a:pt x="85061" y="128170"/>
                  <a:pt x="85061" y="129668"/>
                </a:cubicBezTo>
                <a:cubicBezTo>
                  <a:pt x="85061" y="174735"/>
                  <a:pt x="121136" y="211273"/>
                  <a:pt x="165856" y="212310"/>
                </a:cubicBezTo>
                <a:cubicBezTo>
                  <a:pt x="164934" y="212310"/>
                  <a:pt x="164013" y="212310"/>
                  <a:pt x="163090" y="212310"/>
                </a:cubicBezTo>
                <a:cubicBezTo>
                  <a:pt x="114912" y="212310"/>
                  <a:pt x="75955" y="173237"/>
                  <a:pt x="75955" y="125173"/>
                </a:cubicBezTo>
                <a:lnTo>
                  <a:pt x="0" y="125173"/>
                </a:lnTo>
                <a:cubicBezTo>
                  <a:pt x="0" y="56017"/>
                  <a:pt x="56015" y="0"/>
                  <a:pt x="125170" y="0"/>
                </a:cubicBezTo>
                <a:cubicBezTo>
                  <a:pt x="194325" y="0"/>
                  <a:pt x="250341" y="56017"/>
                  <a:pt x="250341" y="125173"/>
                </a:cubicBezTo>
                <a:cubicBezTo>
                  <a:pt x="250341" y="194329"/>
                  <a:pt x="250341" y="126671"/>
                  <a:pt x="250341" y="127478"/>
                </a:cubicBezTo>
                <a:close/>
              </a:path>
            </a:pathLst>
          </a:custGeom>
          <a:solidFill>
            <a:schemeClr val="accent5"/>
          </a:solidFill>
          <a:ln w="11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F9EBFE3-1CF3-539F-1B9B-1128142933A3}"/>
              </a:ext>
            </a:extLst>
          </p:cNvPr>
          <p:cNvSpPr/>
          <p:nvPr/>
        </p:nvSpPr>
        <p:spPr>
          <a:xfrm>
            <a:off x="6095123" y="2756402"/>
            <a:ext cx="1913375" cy="1622694"/>
          </a:xfrm>
          <a:custGeom>
            <a:avLst/>
            <a:gdLst>
              <a:gd name="connsiteX0" fmla="*/ 249649 w 250341"/>
              <a:gd name="connsiteY0" fmla="*/ 85639 h 212309"/>
              <a:gd name="connsiteX1" fmla="*/ 249649 w 250341"/>
              <a:gd name="connsiteY1" fmla="*/ 88174 h 212309"/>
              <a:gd name="connsiteX2" fmla="*/ 249534 w 250341"/>
              <a:gd name="connsiteY2" fmla="*/ 90019 h 212309"/>
              <a:gd name="connsiteX3" fmla="*/ 249534 w 250341"/>
              <a:gd name="connsiteY3" fmla="*/ 90019 h 212309"/>
              <a:gd name="connsiteX4" fmla="*/ 245615 w 250341"/>
              <a:gd name="connsiteY4" fmla="*/ 109382 h 212309"/>
              <a:gd name="connsiteX5" fmla="*/ 245615 w 250341"/>
              <a:gd name="connsiteY5" fmla="*/ 109382 h 212309"/>
              <a:gd name="connsiteX6" fmla="*/ 245039 w 250341"/>
              <a:gd name="connsiteY6" fmla="*/ 110996 h 212309"/>
              <a:gd name="connsiteX7" fmla="*/ 245039 w 250341"/>
              <a:gd name="connsiteY7" fmla="*/ 111226 h 212309"/>
              <a:gd name="connsiteX8" fmla="*/ 244463 w 250341"/>
              <a:gd name="connsiteY8" fmla="*/ 112725 h 212309"/>
              <a:gd name="connsiteX9" fmla="*/ 244347 w 250341"/>
              <a:gd name="connsiteY9" fmla="*/ 113071 h 212309"/>
              <a:gd name="connsiteX10" fmla="*/ 243771 w 250341"/>
              <a:gd name="connsiteY10" fmla="*/ 114454 h 212309"/>
              <a:gd name="connsiteX11" fmla="*/ 243656 w 250341"/>
              <a:gd name="connsiteY11" fmla="*/ 114800 h 212309"/>
              <a:gd name="connsiteX12" fmla="*/ 243080 w 250341"/>
              <a:gd name="connsiteY12" fmla="*/ 116183 h 212309"/>
              <a:gd name="connsiteX13" fmla="*/ 242849 w 250341"/>
              <a:gd name="connsiteY13" fmla="*/ 116644 h 212309"/>
              <a:gd name="connsiteX14" fmla="*/ 242273 w 250341"/>
              <a:gd name="connsiteY14" fmla="*/ 117912 h 212309"/>
              <a:gd name="connsiteX15" fmla="*/ 242042 w 250341"/>
              <a:gd name="connsiteY15" fmla="*/ 118372 h 212309"/>
              <a:gd name="connsiteX16" fmla="*/ 241466 w 250341"/>
              <a:gd name="connsiteY16" fmla="*/ 119640 h 212309"/>
              <a:gd name="connsiteX17" fmla="*/ 241236 w 250341"/>
              <a:gd name="connsiteY17" fmla="*/ 120101 h 212309"/>
              <a:gd name="connsiteX18" fmla="*/ 240659 w 250341"/>
              <a:gd name="connsiteY18" fmla="*/ 121254 h 212309"/>
              <a:gd name="connsiteX19" fmla="*/ 240429 w 250341"/>
              <a:gd name="connsiteY19" fmla="*/ 121830 h 212309"/>
              <a:gd name="connsiteX20" fmla="*/ 239852 w 250341"/>
              <a:gd name="connsiteY20" fmla="*/ 122983 h 212309"/>
              <a:gd name="connsiteX21" fmla="*/ 239507 w 250341"/>
              <a:gd name="connsiteY21" fmla="*/ 123559 h 212309"/>
              <a:gd name="connsiteX22" fmla="*/ 238815 w 250341"/>
              <a:gd name="connsiteY22" fmla="*/ 124712 h 212309"/>
              <a:gd name="connsiteX23" fmla="*/ 238469 w 250341"/>
              <a:gd name="connsiteY23" fmla="*/ 125288 h 212309"/>
              <a:gd name="connsiteX24" fmla="*/ 237778 w 250341"/>
              <a:gd name="connsiteY24" fmla="*/ 126326 h 212309"/>
              <a:gd name="connsiteX25" fmla="*/ 237432 w 250341"/>
              <a:gd name="connsiteY25" fmla="*/ 126902 h 212309"/>
              <a:gd name="connsiteX26" fmla="*/ 236741 w 250341"/>
              <a:gd name="connsiteY26" fmla="*/ 127939 h 212309"/>
              <a:gd name="connsiteX27" fmla="*/ 236395 w 250341"/>
              <a:gd name="connsiteY27" fmla="*/ 128515 h 212309"/>
              <a:gd name="connsiteX28" fmla="*/ 235703 w 250341"/>
              <a:gd name="connsiteY28" fmla="*/ 129553 h 212309"/>
              <a:gd name="connsiteX29" fmla="*/ 235242 w 250341"/>
              <a:gd name="connsiteY29" fmla="*/ 130129 h 212309"/>
              <a:gd name="connsiteX30" fmla="*/ 234550 w 250341"/>
              <a:gd name="connsiteY30" fmla="*/ 131051 h 212309"/>
              <a:gd name="connsiteX31" fmla="*/ 234090 w 250341"/>
              <a:gd name="connsiteY31" fmla="*/ 131627 h 212309"/>
              <a:gd name="connsiteX32" fmla="*/ 233398 w 250341"/>
              <a:gd name="connsiteY32" fmla="*/ 132550 h 212309"/>
              <a:gd name="connsiteX33" fmla="*/ 232937 w 250341"/>
              <a:gd name="connsiteY33" fmla="*/ 133126 h 212309"/>
              <a:gd name="connsiteX34" fmla="*/ 232245 w 250341"/>
              <a:gd name="connsiteY34" fmla="*/ 134048 h 212309"/>
              <a:gd name="connsiteX35" fmla="*/ 231784 w 250341"/>
              <a:gd name="connsiteY35" fmla="*/ 134624 h 212309"/>
              <a:gd name="connsiteX36" fmla="*/ 231093 w 250341"/>
              <a:gd name="connsiteY36" fmla="*/ 135546 h 212309"/>
              <a:gd name="connsiteX37" fmla="*/ 230632 w 250341"/>
              <a:gd name="connsiteY37" fmla="*/ 136123 h 212309"/>
              <a:gd name="connsiteX38" fmla="*/ 229940 w 250341"/>
              <a:gd name="connsiteY38" fmla="*/ 136930 h 212309"/>
              <a:gd name="connsiteX39" fmla="*/ 229364 w 250341"/>
              <a:gd name="connsiteY39" fmla="*/ 137506 h 212309"/>
              <a:gd name="connsiteX40" fmla="*/ 228672 w 250341"/>
              <a:gd name="connsiteY40" fmla="*/ 138313 h 212309"/>
              <a:gd name="connsiteX41" fmla="*/ 228096 w 250341"/>
              <a:gd name="connsiteY41" fmla="*/ 138889 h 212309"/>
              <a:gd name="connsiteX42" fmla="*/ 227289 w 250341"/>
              <a:gd name="connsiteY42" fmla="*/ 139696 h 212309"/>
              <a:gd name="connsiteX43" fmla="*/ 226713 w 250341"/>
              <a:gd name="connsiteY43" fmla="*/ 140272 h 212309"/>
              <a:gd name="connsiteX44" fmla="*/ 225906 w 250341"/>
              <a:gd name="connsiteY44" fmla="*/ 141079 h 212309"/>
              <a:gd name="connsiteX45" fmla="*/ 225330 w 250341"/>
              <a:gd name="connsiteY45" fmla="*/ 141655 h 212309"/>
              <a:gd name="connsiteX46" fmla="*/ 224523 w 250341"/>
              <a:gd name="connsiteY46" fmla="*/ 142462 h 212309"/>
              <a:gd name="connsiteX47" fmla="*/ 223947 w 250341"/>
              <a:gd name="connsiteY47" fmla="*/ 143038 h 212309"/>
              <a:gd name="connsiteX48" fmla="*/ 223140 w 250341"/>
              <a:gd name="connsiteY48" fmla="*/ 143730 h 212309"/>
              <a:gd name="connsiteX49" fmla="*/ 222564 w 250341"/>
              <a:gd name="connsiteY49" fmla="*/ 144306 h 212309"/>
              <a:gd name="connsiteX50" fmla="*/ 221757 w 250341"/>
              <a:gd name="connsiteY50" fmla="*/ 144998 h 212309"/>
              <a:gd name="connsiteX51" fmla="*/ 221065 w 250341"/>
              <a:gd name="connsiteY51" fmla="*/ 145574 h 212309"/>
              <a:gd name="connsiteX52" fmla="*/ 220259 w 250341"/>
              <a:gd name="connsiteY52" fmla="*/ 146266 h 212309"/>
              <a:gd name="connsiteX53" fmla="*/ 219567 w 250341"/>
              <a:gd name="connsiteY53" fmla="*/ 146842 h 212309"/>
              <a:gd name="connsiteX54" fmla="*/ 218760 w 250341"/>
              <a:gd name="connsiteY54" fmla="*/ 147533 h 212309"/>
              <a:gd name="connsiteX55" fmla="*/ 218069 w 250341"/>
              <a:gd name="connsiteY55" fmla="*/ 148110 h 212309"/>
              <a:gd name="connsiteX56" fmla="*/ 217262 w 250341"/>
              <a:gd name="connsiteY56" fmla="*/ 148801 h 212309"/>
              <a:gd name="connsiteX57" fmla="*/ 216570 w 250341"/>
              <a:gd name="connsiteY57" fmla="*/ 149378 h 212309"/>
              <a:gd name="connsiteX58" fmla="*/ 215764 w 250341"/>
              <a:gd name="connsiteY58" fmla="*/ 149954 h 212309"/>
              <a:gd name="connsiteX59" fmla="*/ 215072 w 250341"/>
              <a:gd name="connsiteY59" fmla="*/ 150530 h 212309"/>
              <a:gd name="connsiteX60" fmla="*/ 214265 w 250341"/>
              <a:gd name="connsiteY60" fmla="*/ 151107 h 212309"/>
              <a:gd name="connsiteX61" fmla="*/ 213458 w 250341"/>
              <a:gd name="connsiteY61" fmla="*/ 151568 h 212309"/>
              <a:gd name="connsiteX62" fmla="*/ 212651 w 250341"/>
              <a:gd name="connsiteY62" fmla="*/ 152144 h 212309"/>
              <a:gd name="connsiteX63" fmla="*/ 211845 w 250341"/>
              <a:gd name="connsiteY63" fmla="*/ 152605 h 212309"/>
              <a:gd name="connsiteX64" fmla="*/ 210923 w 250341"/>
              <a:gd name="connsiteY64" fmla="*/ 153181 h 212309"/>
              <a:gd name="connsiteX65" fmla="*/ 210116 w 250341"/>
              <a:gd name="connsiteY65" fmla="*/ 153642 h 212309"/>
              <a:gd name="connsiteX66" fmla="*/ 209194 w 250341"/>
              <a:gd name="connsiteY66" fmla="*/ 154219 h 212309"/>
              <a:gd name="connsiteX67" fmla="*/ 208387 w 250341"/>
              <a:gd name="connsiteY67" fmla="*/ 154680 h 212309"/>
              <a:gd name="connsiteX68" fmla="*/ 207465 w 250341"/>
              <a:gd name="connsiteY68" fmla="*/ 155141 h 212309"/>
              <a:gd name="connsiteX69" fmla="*/ 206658 w 250341"/>
              <a:gd name="connsiteY69" fmla="*/ 155602 h 212309"/>
              <a:gd name="connsiteX70" fmla="*/ 205736 w 250341"/>
              <a:gd name="connsiteY70" fmla="*/ 156063 h 212309"/>
              <a:gd name="connsiteX71" fmla="*/ 204929 w 250341"/>
              <a:gd name="connsiteY71" fmla="*/ 156524 h 212309"/>
              <a:gd name="connsiteX72" fmla="*/ 204007 w 250341"/>
              <a:gd name="connsiteY72" fmla="*/ 156985 h 212309"/>
              <a:gd name="connsiteX73" fmla="*/ 203200 w 250341"/>
              <a:gd name="connsiteY73" fmla="*/ 157446 h 212309"/>
              <a:gd name="connsiteX74" fmla="*/ 202278 w 250341"/>
              <a:gd name="connsiteY74" fmla="*/ 157907 h 212309"/>
              <a:gd name="connsiteX75" fmla="*/ 201356 w 250341"/>
              <a:gd name="connsiteY75" fmla="*/ 158253 h 212309"/>
              <a:gd name="connsiteX76" fmla="*/ 200434 w 250341"/>
              <a:gd name="connsiteY76" fmla="*/ 158714 h 212309"/>
              <a:gd name="connsiteX77" fmla="*/ 199512 w 250341"/>
              <a:gd name="connsiteY77" fmla="*/ 159060 h 212309"/>
              <a:gd name="connsiteX78" fmla="*/ 198590 w 250341"/>
              <a:gd name="connsiteY78" fmla="*/ 159405 h 212309"/>
              <a:gd name="connsiteX79" fmla="*/ 197668 w 250341"/>
              <a:gd name="connsiteY79" fmla="*/ 159751 h 212309"/>
              <a:gd name="connsiteX80" fmla="*/ 196746 w 250341"/>
              <a:gd name="connsiteY80" fmla="*/ 160097 h 212309"/>
              <a:gd name="connsiteX81" fmla="*/ 195824 w 250341"/>
              <a:gd name="connsiteY81" fmla="*/ 160443 h 212309"/>
              <a:gd name="connsiteX82" fmla="*/ 194902 w 250341"/>
              <a:gd name="connsiteY82" fmla="*/ 160788 h 212309"/>
              <a:gd name="connsiteX83" fmla="*/ 193980 w 250341"/>
              <a:gd name="connsiteY83" fmla="*/ 161134 h 212309"/>
              <a:gd name="connsiteX84" fmla="*/ 193058 w 250341"/>
              <a:gd name="connsiteY84" fmla="*/ 161480 h 212309"/>
              <a:gd name="connsiteX85" fmla="*/ 192136 w 250341"/>
              <a:gd name="connsiteY85" fmla="*/ 161826 h 212309"/>
              <a:gd name="connsiteX86" fmla="*/ 191214 w 250341"/>
              <a:gd name="connsiteY86" fmla="*/ 162171 h 212309"/>
              <a:gd name="connsiteX87" fmla="*/ 190291 w 250341"/>
              <a:gd name="connsiteY87" fmla="*/ 162402 h 212309"/>
              <a:gd name="connsiteX88" fmla="*/ 189369 w 250341"/>
              <a:gd name="connsiteY88" fmla="*/ 162633 h 212309"/>
              <a:gd name="connsiteX89" fmla="*/ 188332 w 250341"/>
              <a:gd name="connsiteY89" fmla="*/ 162863 h 212309"/>
              <a:gd name="connsiteX90" fmla="*/ 187410 w 250341"/>
              <a:gd name="connsiteY90" fmla="*/ 163094 h 212309"/>
              <a:gd name="connsiteX91" fmla="*/ 186373 w 250341"/>
              <a:gd name="connsiteY91" fmla="*/ 163324 h 212309"/>
              <a:gd name="connsiteX92" fmla="*/ 185451 w 250341"/>
              <a:gd name="connsiteY92" fmla="*/ 163555 h 212309"/>
              <a:gd name="connsiteX93" fmla="*/ 184413 w 250341"/>
              <a:gd name="connsiteY93" fmla="*/ 163785 h 212309"/>
              <a:gd name="connsiteX94" fmla="*/ 183491 w 250341"/>
              <a:gd name="connsiteY94" fmla="*/ 164016 h 212309"/>
              <a:gd name="connsiteX95" fmla="*/ 182454 w 250341"/>
              <a:gd name="connsiteY95" fmla="*/ 164246 h 212309"/>
              <a:gd name="connsiteX96" fmla="*/ 181532 w 250341"/>
              <a:gd name="connsiteY96" fmla="*/ 164362 h 212309"/>
              <a:gd name="connsiteX97" fmla="*/ 180495 w 250341"/>
              <a:gd name="connsiteY97" fmla="*/ 164592 h 212309"/>
              <a:gd name="connsiteX98" fmla="*/ 179572 w 250341"/>
              <a:gd name="connsiteY98" fmla="*/ 164707 h 212309"/>
              <a:gd name="connsiteX99" fmla="*/ 178535 w 250341"/>
              <a:gd name="connsiteY99" fmla="*/ 164823 h 212309"/>
              <a:gd name="connsiteX100" fmla="*/ 177613 w 250341"/>
              <a:gd name="connsiteY100" fmla="*/ 164938 h 212309"/>
              <a:gd name="connsiteX101" fmla="*/ 176460 w 250341"/>
              <a:gd name="connsiteY101" fmla="*/ 165053 h 212309"/>
              <a:gd name="connsiteX102" fmla="*/ 175538 w 250341"/>
              <a:gd name="connsiteY102" fmla="*/ 165053 h 212309"/>
              <a:gd name="connsiteX103" fmla="*/ 174386 w 250341"/>
              <a:gd name="connsiteY103" fmla="*/ 165053 h 212309"/>
              <a:gd name="connsiteX104" fmla="*/ 173464 w 250341"/>
              <a:gd name="connsiteY104" fmla="*/ 165053 h 212309"/>
              <a:gd name="connsiteX105" fmla="*/ 172196 w 250341"/>
              <a:gd name="connsiteY105" fmla="*/ 165053 h 212309"/>
              <a:gd name="connsiteX106" fmla="*/ 171389 w 250341"/>
              <a:gd name="connsiteY106" fmla="*/ 165053 h 212309"/>
              <a:gd name="connsiteX107" fmla="*/ 170006 w 250341"/>
              <a:gd name="connsiteY107" fmla="*/ 165053 h 212309"/>
              <a:gd name="connsiteX108" fmla="*/ 169315 w 250341"/>
              <a:gd name="connsiteY108" fmla="*/ 165053 h 212309"/>
              <a:gd name="connsiteX109" fmla="*/ 167240 w 250341"/>
              <a:gd name="connsiteY109" fmla="*/ 165053 h 212309"/>
              <a:gd name="connsiteX110" fmla="*/ 165165 w 250341"/>
              <a:gd name="connsiteY110" fmla="*/ 165053 h 212309"/>
              <a:gd name="connsiteX111" fmla="*/ 164474 w 250341"/>
              <a:gd name="connsiteY111" fmla="*/ 165053 h 212309"/>
              <a:gd name="connsiteX112" fmla="*/ 163090 w 250341"/>
              <a:gd name="connsiteY112" fmla="*/ 165053 h 212309"/>
              <a:gd name="connsiteX113" fmla="*/ 162284 w 250341"/>
              <a:gd name="connsiteY113" fmla="*/ 165053 h 212309"/>
              <a:gd name="connsiteX114" fmla="*/ 161016 w 250341"/>
              <a:gd name="connsiteY114" fmla="*/ 165053 h 212309"/>
              <a:gd name="connsiteX115" fmla="*/ 160094 w 250341"/>
              <a:gd name="connsiteY115" fmla="*/ 165053 h 212309"/>
              <a:gd name="connsiteX116" fmla="*/ 158941 w 250341"/>
              <a:gd name="connsiteY116" fmla="*/ 165053 h 212309"/>
              <a:gd name="connsiteX117" fmla="*/ 158019 w 250341"/>
              <a:gd name="connsiteY117" fmla="*/ 165053 h 212309"/>
              <a:gd name="connsiteX118" fmla="*/ 156867 w 250341"/>
              <a:gd name="connsiteY118" fmla="*/ 164938 h 212309"/>
              <a:gd name="connsiteX119" fmla="*/ 155944 w 250341"/>
              <a:gd name="connsiteY119" fmla="*/ 164823 h 212309"/>
              <a:gd name="connsiteX120" fmla="*/ 154792 w 250341"/>
              <a:gd name="connsiteY120" fmla="*/ 164707 h 212309"/>
              <a:gd name="connsiteX121" fmla="*/ 153870 w 250341"/>
              <a:gd name="connsiteY121" fmla="*/ 164592 h 212309"/>
              <a:gd name="connsiteX122" fmla="*/ 152833 w 250341"/>
              <a:gd name="connsiteY122" fmla="*/ 164362 h 212309"/>
              <a:gd name="connsiteX123" fmla="*/ 151910 w 250341"/>
              <a:gd name="connsiteY123" fmla="*/ 164131 h 212309"/>
              <a:gd name="connsiteX124" fmla="*/ 150873 w 250341"/>
              <a:gd name="connsiteY124" fmla="*/ 163900 h 212309"/>
              <a:gd name="connsiteX125" fmla="*/ 149951 w 250341"/>
              <a:gd name="connsiteY125" fmla="*/ 163670 h 212309"/>
              <a:gd name="connsiteX126" fmla="*/ 148914 w 250341"/>
              <a:gd name="connsiteY126" fmla="*/ 163439 h 212309"/>
              <a:gd name="connsiteX127" fmla="*/ 147992 w 250341"/>
              <a:gd name="connsiteY127" fmla="*/ 163209 h 212309"/>
              <a:gd name="connsiteX128" fmla="*/ 146954 w 250341"/>
              <a:gd name="connsiteY128" fmla="*/ 162979 h 212309"/>
              <a:gd name="connsiteX129" fmla="*/ 146032 w 250341"/>
              <a:gd name="connsiteY129" fmla="*/ 162748 h 212309"/>
              <a:gd name="connsiteX130" fmla="*/ 144995 w 250341"/>
              <a:gd name="connsiteY130" fmla="*/ 162517 h 212309"/>
              <a:gd name="connsiteX131" fmla="*/ 144073 w 250341"/>
              <a:gd name="connsiteY131" fmla="*/ 162287 h 212309"/>
              <a:gd name="connsiteX132" fmla="*/ 143036 w 250341"/>
              <a:gd name="connsiteY132" fmla="*/ 161941 h 212309"/>
              <a:gd name="connsiteX133" fmla="*/ 142113 w 250341"/>
              <a:gd name="connsiteY133" fmla="*/ 161595 h 212309"/>
              <a:gd name="connsiteX134" fmla="*/ 141191 w 250341"/>
              <a:gd name="connsiteY134" fmla="*/ 161250 h 212309"/>
              <a:gd name="connsiteX135" fmla="*/ 140269 w 250341"/>
              <a:gd name="connsiteY135" fmla="*/ 160904 h 212309"/>
              <a:gd name="connsiteX136" fmla="*/ 139347 w 250341"/>
              <a:gd name="connsiteY136" fmla="*/ 160558 h 212309"/>
              <a:gd name="connsiteX137" fmla="*/ 138425 w 250341"/>
              <a:gd name="connsiteY137" fmla="*/ 160212 h 212309"/>
              <a:gd name="connsiteX138" fmla="*/ 137503 w 250341"/>
              <a:gd name="connsiteY138" fmla="*/ 159866 h 212309"/>
              <a:gd name="connsiteX139" fmla="*/ 136581 w 250341"/>
              <a:gd name="connsiteY139" fmla="*/ 159521 h 212309"/>
              <a:gd name="connsiteX140" fmla="*/ 135659 w 250341"/>
              <a:gd name="connsiteY140" fmla="*/ 159175 h 212309"/>
              <a:gd name="connsiteX141" fmla="*/ 134737 w 250341"/>
              <a:gd name="connsiteY141" fmla="*/ 158829 h 212309"/>
              <a:gd name="connsiteX142" fmla="*/ 133815 w 250341"/>
              <a:gd name="connsiteY142" fmla="*/ 158483 h 212309"/>
              <a:gd name="connsiteX143" fmla="*/ 132893 w 250341"/>
              <a:gd name="connsiteY143" fmla="*/ 158022 h 212309"/>
              <a:gd name="connsiteX144" fmla="*/ 131971 w 250341"/>
              <a:gd name="connsiteY144" fmla="*/ 157561 h 212309"/>
              <a:gd name="connsiteX145" fmla="*/ 131049 w 250341"/>
              <a:gd name="connsiteY145" fmla="*/ 157100 h 212309"/>
              <a:gd name="connsiteX146" fmla="*/ 130242 w 250341"/>
              <a:gd name="connsiteY146" fmla="*/ 156639 h 212309"/>
              <a:gd name="connsiteX147" fmla="*/ 129320 w 250341"/>
              <a:gd name="connsiteY147" fmla="*/ 156178 h 212309"/>
              <a:gd name="connsiteX148" fmla="*/ 128513 w 250341"/>
              <a:gd name="connsiteY148" fmla="*/ 155717 h 212309"/>
              <a:gd name="connsiteX149" fmla="*/ 127591 w 250341"/>
              <a:gd name="connsiteY149" fmla="*/ 155256 h 212309"/>
              <a:gd name="connsiteX150" fmla="*/ 126784 w 250341"/>
              <a:gd name="connsiteY150" fmla="*/ 154795 h 212309"/>
              <a:gd name="connsiteX151" fmla="*/ 125862 w 250341"/>
              <a:gd name="connsiteY151" fmla="*/ 154334 h 212309"/>
              <a:gd name="connsiteX152" fmla="*/ 125055 w 250341"/>
              <a:gd name="connsiteY152" fmla="*/ 153873 h 212309"/>
              <a:gd name="connsiteX153" fmla="*/ 124133 w 250341"/>
              <a:gd name="connsiteY153" fmla="*/ 153296 h 212309"/>
              <a:gd name="connsiteX154" fmla="*/ 123326 w 250341"/>
              <a:gd name="connsiteY154" fmla="*/ 152836 h 212309"/>
              <a:gd name="connsiteX155" fmla="*/ 122404 w 250341"/>
              <a:gd name="connsiteY155" fmla="*/ 152259 h 212309"/>
              <a:gd name="connsiteX156" fmla="*/ 121713 w 250341"/>
              <a:gd name="connsiteY156" fmla="*/ 151798 h 212309"/>
              <a:gd name="connsiteX157" fmla="*/ 120791 w 250341"/>
              <a:gd name="connsiteY157" fmla="*/ 151222 h 212309"/>
              <a:gd name="connsiteX158" fmla="*/ 120099 w 250341"/>
              <a:gd name="connsiteY158" fmla="*/ 150761 h 212309"/>
              <a:gd name="connsiteX159" fmla="*/ 119177 w 250341"/>
              <a:gd name="connsiteY159" fmla="*/ 150069 h 212309"/>
              <a:gd name="connsiteX160" fmla="*/ 118601 w 250341"/>
              <a:gd name="connsiteY160" fmla="*/ 149608 h 212309"/>
              <a:gd name="connsiteX161" fmla="*/ 117679 w 250341"/>
              <a:gd name="connsiteY161" fmla="*/ 148917 h 212309"/>
              <a:gd name="connsiteX162" fmla="*/ 117218 w 250341"/>
              <a:gd name="connsiteY162" fmla="*/ 148571 h 212309"/>
              <a:gd name="connsiteX163" fmla="*/ 116180 w 250341"/>
              <a:gd name="connsiteY163" fmla="*/ 147764 h 212309"/>
              <a:gd name="connsiteX164" fmla="*/ 115835 w 250341"/>
              <a:gd name="connsiteY164" fmla="*/ 147533 h 212309"/>
              <a:gd name="connsiteX165" fmla="*/ 110417 w 250341"/>
              <a:gd name="connsiteY165" fmla="*/ 142808 h 212309"/>
              <a:gd name="connsiteX166" fmla="*/ 110417 w 250341"/>
              <a:gd name="connsiteY166" fmla="*/ 142808 h 212309"/>
              <a:gd name="connsiteX167" fmla="*/ 109265 w 250341"/>
              <a:gd name="connsiteY167" fmla="*/ 141770 h 212309"/>
              <a:gd name="connsiteX168" fmla="*/ 109034 w 250341"/>
              <a:gd name="connsiteY168" fmla="*/ 141540 h 212309"/>
              <a:gd name="connsiteX169" fmla="*/ 107997 w 250341"/>
              <a:gd name="connsiteY169" fmla="*/ 140503 h 212309"/>
              <a:gd name="connsiteX170" fmla="*/ 107651 w 250341"/>
              <a:gd name="connsiteY170" fmla="*/ 140157 h 212309"/>
              <a:gd name="connsiteX171" fmla="*/ 106729 w 250341"/>
              <a:gd name="connsiteY171" fmla="*/ 139119 h 212309"/>
              <a:gd name="connsiteX172" fmla="*/ 106383 w 250341"/>
              <a:gd name="connsiteY172" fmla="*/ 138658 h 212309"/>
              <a:gd name="connsiteX173" fmla="*/ 105461 w 250341"/>
              <a:gd name="connsiteY173" fmla="*/ 137621 h 212309"/>
              <a:gd name="connsiteX174" fmla="*/ 105116 w 250341"/>
              <a:gd name="connsiteY174" fmla="*/ 137160 h 212309"/>
              <a:gd name="connsiteX175" fmla="*/ 104309 w 250341"/>
              <a:gd name="connsiteY175" fmla="*/ 136123 h 212309"/>
              <a:gd name="connsiteX176" fmla="*/ 103848 w 250341"/>
              <a:gd name="connsiteY176" fmla="*/ 135662 h 212309"/>
              <a:gd name="connsiteX177" fmla="*/ 103041 w 250341"/>
              <a:gd name="connsiteY177" fmla="*/ 134624 h 212309"/>
              <a:gd name="connsiteX178" fmla="*/ 102695 w 250341"/>
              <a:gd name="connsiteY178" fmla="*/ 134163 h 212309"/>
              <a:gd name="connsiteX179" fmla="*/ 101888 w 250341"/>
              <a:gd name="connsiteY179" fmla="*/ 133126 h 212309"/>
              <a:gd name="connsiteX180" fmla="*/ 101543 w 250341"/>
              <a:gd name="connsiteY180" fmla="*/ 132665 h 212309"/>
              <a:gd name="connsiteX181" fmla="*/ 100736 w 250341"/>
              <a:gd name="connsiteY181" fmla="*/ 131627 h 212309"/>
              <a:gd name="connsiteX182" fmla="*/ 100390 w 250341"/>
              <a:gd name="connsiteY182" fmla="*/ 131051 h 212309"/>
              <a:gd name="connsiteX183" fmla="*/ 99698 w 250341"/>
              <a:gd name="connsiteY183" fmla="*/ 130014 h 212309"/>
              <a:gd name="connsiteX184" fmla="*/ 99353 w 250341"/>
              <a:gd name="connsiteY184" fmla="*/ 129438 h 212309"/>
              <a:gd name="connsiteX185" fmla="*/ 98661 w 250341"/>
              <a:gd name="connsiteY185" fmla="*/ 128400 h 212309"/>
              <a:gd name="connsiteX186" fmla="*/ 98315 w 250341"/>
              <a:gd name="connsiteY186" fmla="*/ 127824 h 212309"/>
              <a:gd name="connsiteX187" fmla="*/ 97624 w 250341"/>
              <a:gd name="connsiteY187" fmla="*/ 126671 h 212309"/>
              <a:gd name="connsiteX188" fmla="*/ 97278 w 250341"/>
              <a:gd name="connsiteY188" fmla="*/ 126095 h 212309"/>
              <a:gd name="connsiteX189" fmla="*/ 96586 w 250341"/>
              <a:gd name="connsiteY189" fmla="*/ 124943 h 212309"/>
              <a:gd name="connsiteX190" fmla="*/ 96241 w 250341"/>
              <a:gd name="connsiteY190" fmla="*/ 124366 h 212309"/>
              <a:gd name="connsiteX191" fmla="*/ 95549 w 250341"/>
              <a:gd name="connsiteY191" fmla="*/ 123214 h 212309"/>
              <a:gd name="connsiteX192" fmla="*/ 95203 w 250341"/>
              <a:gd name="connsiteY192" fmla="*/ 122637 h 212309"/>
              <a:gd name="connsiteX193" fmla="*/ 94512 w 250341"/>
              <a:gd name="connsiteY193" fmla="*/ 121485 h 212309"/>
              <a:gd name="connsiteX194" fmla="*/ 94166 w 250341"/>
              <a:gd name="connsiteY194" fmla="*/ 120908 h 212309"/>
              <a:gd name="connsiteX195" fmla="*/ 93590 w 250341"/>
              <a:gd name="connsiteY195" fmla="*/ 119756 h 212309"/>
              <a:gd name="connsiteX196" fmla="*/ 93359 w 250341"/>
              <a:gd name="connsiteY196" fmla="*/ 119180 h 212309"/>
              <a:gd name="connsiteX197" fmla="*/ 92783 w 250341"/>
              <a:gd name="connsiteY197" fmla="*/ 117912 h 212309"/>
              <a:gd name="connsiteX198" fmla="*/ 92552 w 250341"/>
              <a:gd name="connsiteY198" fmla="*/ 117335 h 212309"/>
              <a:gd name="connsiteX199" fmla="*/ 91976 w 250341"/>
              <a:gd name="connsiteY199" fmla="*/ 116067 h 212309"/>
              <a:gd name="connsiteX200" fmla="*/ 91746 w 250341"/>
              <a:gd name="connsiteY200" fmla="*/ 115606 h 212309"/>
              <a:gd name="connsiteX201" fmla="*/ 91169 w 250341"/>
              <a:gd name="connsiteY201" fmla="*/ 114338 h 212309"/>
              <a:gd name="connsiteX202" fmla="*/ 90939 w 250341"/>
              <a:gd name="connsiteY202" fmla="*/ 113877 h 212309"/>
              <a:gd name="connsiteX203" fmla="*/ 90363 w 250341"/>
              <a:gd name="connsiteY203" fmla="*/ 112494 h 212309"/>
              <a:gd name="connsiteX204" fmla="*/ 90132 w 250341"/>
              <a:gd name="connsiteY204" fmla="*/ 112033 h 212309"/>
              <a:gd name="connsiteX205" fmla="*/ 89671 w 250341"/>
              <a:gd name="connsiteY205" fmla="*/ 110650 h 212309"/>
              <a:gd name="connsiteX206" fmla="*/ 89556 w 250341"/>
              <a:gd name="connsiteY206" fmla="*/ 110189 h 212309"/>
              <a:gd name="connsiteX207" fmla="*/ 89095 w 250341"/>
              <a:gd name="connsiteY207" fmla="*/ 108691 h 212309"/>
              <a:gd name="connsiteX208" fmla="*/ 88980 w 250341"/>
              <a:gd name="connsiteY208" fmla="*/ 108345 h 212309"/>
              <a:gd name="connsiteX209" fmla="*/ 88518 w 250341"/>
              <a:gd name="connsiteY209" fmla="*/ 106846 h 212309"/>
              <a:gd name="connsiteX210" fmla="*/ 88518 w 250341"/>
              <a:gd name="connsiteY210" fmla="*/ 106501 h 212309"/>
              <a:gd name="connsiteX211" fmla="*/ 88057 w 250341"/>
              <a:gd name="connsiteY211" fmla="*/ 104887 h 212309"/>
              <a:gd name="connsiteX212" fmla="*/ 88057 w 250341"/>
              <a:gd name="connsiteY212" fmla="*/ 104657 h 212309"/>
              <a:gd name="connsiteX213" fmla="*/ 87596 w 250341"/>
              <a:gd name="connsiteY213" fmla="*/ 102928 h 212309"/>
              <a:gd name="connsiteX214" fmla="*/ 87596 w 250341"/>
              <a:gd name="connsiteY214" fmla="*/ 102928 h 212309"/>
              <a:gd name="connsiteX215" fmla="*/ 85176 w 250341"/>
              <a:gd name="connsiteY215" fmla="*/ 87137 h 212309"/>
              <a:gd name="connsiteX216" fmla="*/ 85176 w 250341"/>
              <a:gd name="connsiteY216" fmla="*/ 87137 h 212309"/>
              <a:gd name="connsiteX217" fmla="*/ 85061 w 250341"/>
              <a:gd name="connsiteY217" fmla="*/ 82642 h 212309"/>
              <a:gd name="connsiteX218" fmla="*/ 165857 w 250341"/>
              <a:gd name="connsiteY218" fmla="*/ 0 h 212309"/>
              <a:gd name="connsiteX219" fmla="*/ 163090 w 250341"/>
              <a:gd name="connsiteY219" fmla="*/ 0 h 212309"/>
              <a:gd name="connsiteX220" fmla="*/ 75955 w 250341"/>
              <a:gd name="connsiteY220" fmla="*/ 87137 h 212309"/>
              <a:gd name="connsiteX221" fmla="*/ 0 w 250341"/>
              <a:gd name="connsiteY221" fmla="*/ 87137 h 212309"/>
              <a:gd name="connsiteX222" fmla="*/ 125171 w 250341"/>
              <a:gd name="connsiteY222" fmla="*/ 212310 h 212309"/>
              <a:gd name="connsiteX223" fmla="*/ 250341 w 250341"/>
              <a:gd name="connsiteY223" fmla="*/ 87137 h 212309"/>
              <a:gd name="connsiteX224" fmla="*/ 250341 w 250341"/>
              <a:gd name="connsiteY224" fmla="*/ 84832 h 212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250341" h="212309">
                <a:moveTo>
                  <a:pt x="249649" y="85639"/>
                </a:moveTo>
                <a:cubicBezTo>
                  <a:pt x="249649" y="86445"/>
                  <a:pt x="249649" y="87368"/>
                  <a:pt x="249649" y="88174"/>
                </a:cubicBezTo>
                <a:cubicBezTo>
                  <a:pt x="249649" y="88751"/>
                  <a:pt x="249649" y="89442"/>
                  <a:pt x="249534" y="90019"/>
                </a:cubicBezTo>
                <a:cubicBezTo>
                  <a:pt x="249534" y="90019"/>
                  <a:pt x="249534" y="90019"/>
                  <a:pt x="249534" y="90019"/>
                </a:cubicBezTo>
                <a:cubicBezTo>
                  <a:pt x="248958" y="96704"/>
                  <a:pt x="247690" y="103274"/>
                  <a:pt x="245615" y="109382"/>
                </a:cubicBezTo>
                <a:cubicBezTo>
                  <a:pt x="245615" y="109382"/>
                  <a:pt x="245615" y="109382"/>
                  <a:pt x="245615" y="109382"/>
                </a:cubicBezTo>
                <a:cubicBezTo>
                  <a:pt x="245385" y="109959"/>
                  <a:pt x="245270" y="110535"/>
                  <a:pt x="245039" y="110996"/>
                </a:cubicBezTo>
                <a:cubicBezTo>
                  <a:pt x="245039" y="110996"/>
                  <a:pt x="245039" y="111111"/>
                  <a:pt x="245039" y="111226"/>
                </a:cubicBezTo>
                <a:cubicBezTo>
                  <a:pt x="244809" y="111688"/>
                  <a:pt x="244693" y="112264"/>
                  <a:pt x="244463" y="112725"/>
                </a:cubicBezTo>
                <a:cubicBezTo>
                  <a:pt x="244463" y="112725"/>
                  <a:pt x="244463" y="112955"/>
                  <a:pt x="244347" y="113071"/>
                </a:cubicBezTo>
                <a:cubicBezTo>
                  <a:pt x="244117" y="113532"/>
                  <a:pt x="244002" y="113993"/>
                  <a:pt x="243771" y="114454"/>
                </a:cubicBezTo>
                <a:cubicBezTo>
                  <a:pt x="243771" y="114569"/>
                  <a:pt x="243771" y="114684"/>
                  <a:pt x="243656" y="114800"/>
                </a:cubicBezTo>
                <a:cubicBezTo>
                  <a:pt x="243426" y="115261"/>
                  <a:pt x="243310" y="115722"/>
                  <a:pt x="243080" y="116183"/>
                </a:cubicBezTo>
                <a:cubicBezTo>
                  <a:pt x="243080" y="116298"/>
                  <a:pt x="242964" y="116528"/>
                  <a:pt x="242849" y="116644"/>
                </a:cubicBezTo>
                <a:cubicBezTo>
                  <a:pt x="242619" y="117105"/>
                  <a:pt x="242503" y="117566"/>
                  <a:pt x="242273" y="117912"/>
                </a:cubicBezTo>
                <a:cubicBezTo>
                  <a:pt x="242273" y="118027"/>
                  <a:pt x="242158" y="118257"/>
                  <a:pt x="242042" y="118372"/>
                </a:cubicBezTo>
                <a:cubicBezTo>
                  <a:pt x="241812" y="118834"/>
                  <a:pt x="241697" y="119180"/>
                  <a:pt x="241466" y="119640"/>
                </a:cubicBezTo>
                <a:cubicBezTo>
                  <a:pt x="241466" y="119756"/>
                  <a:pt x="241351" y="119986"/>
                  <a:pt x="241236" y="120101"/>
                </a:cubicBezTo>
                <a:cubicBezTo>
                  <a:pt x="241005" y="120447"/>
                  <a:pt x="240775" y="120908"/>
                  <a:pt x="240659" y="121254"/>
                </a:cubicBezTo>
                <a:cubicBezTo>
                  <a:pt x="240659" y="121485"/>
                  <a:pt x="240429" y="121600"/>
                  <a:pt x="240429" y="121830"/>
                </a:cubicBezTo>
                <a:cubicBezTo>
                  <a:pt x="240198" y="122176"/>
                  <a:pt x="239968" y="122637"/>
                  <a:pt x="239852" y="122983"/>
                </a:cubicBezTo>
                <a:cubicBezTo>
                  <a:pt x="239852" y="123214"/>
                  <a:pt x="239622" y="123329"/>
                  <a:pt x="239507" y="123559"/>
                </a:cubicBezTo>
                <a:cubicBezTo>
                  <a:pt x="239276" y="123905"/>
                  <a:pt x="239046" y="124251"/>
                  <a:pt x="238815" y="124712"/>
                </a:cubicBezTo>
                <a:cubicBezTo>
                  <a:pt x="238815" y="124943"/>
                  <a:pt x="238585" y="125058"/>
                  <a:pt x="238469" y="125288"/>
                </a:cubicBezTo>
                <a:cubicBezTo>
                  <a:pt x="238239" y="125634"/>
                  <a:pt x="238008" y="125980"/>
                  <a:pt x="237778" y="126326"/>
                </a:cubicBezTo>
                <a:cubicBezTo>
                  <a:pt x="237663" y="126556"/>
                  <a:pt x="237547" y="126671"/>
                  <a:pt x="237432" y="126902"/>
                </a:cubicBezTo>
                <a:cubicBezTo>
                  <a:pt x="237201" y="127248"/>
                  <a:pt x="236971" y="127593"/>
                  <a:pt x="236741" y="127939"/>
                </a:cubicBezTo>
                <a:cubicBezTo>
                  <a:pt x="236625" y="128170"/>
                  <a:pt x="236510" y="128285"/>
                  <a:pt x="236395" y="128515"/>
                </a:cubicBezTo>
                <a:cubicBezTo>
                  <a:pt x="236164" y="128861"/>
                  <a:pt x="235934" y="129207"/>
                  <a:pt x="235703" y="129553"/>
                </a:cubicBezTo>
                <a:cubicBezTo>
                  <a:pt x="235588" y="129783"/>
                  <a:pt x="235473" y="129899"/>
                  <a:pt x="235242" y="130129"/>
                </a:cubicBezTo>
                <a:cubicBezTo>
                  <a:pt x="235012" y="130475"/>
                  <a:pt x="234781" y="130821"/>
                  <a:pt x="234550" y="131051"/>
                </a:cubicBezTo>
                <a:cubicBezTo>
                  <a:pt x="234435" y="131282"/>
                  <a:pt x="234320" y="131397"/>
                  <a:pt x="234090" y="131627"/>
                </a:cubicBezTo>
                <a:cubicBezTo>
                  <a:pt x="233859" y="131973"/>
                  <a:pt x="233629" y="132319"/>
                  <a:pt x="233398" y="132550"/>
                </a:cubicBezTo>
                <a:cubicBezTo>
                  <a:pt x="233283" y="132780"/>
                  <a:pt x="233052" y="133011"/>
                  <a:pt x="232937" y="133126"/>
                </a:cubicBezTo>
                <a:cubicBezTo>
                  <a:pt x="232707" y="133472"/>
                  <a:pt x="232476" y="133702"/>
                  <a:pt x="232245" y="134048"/>
                </a:cubicBezTo>
                <a:cubicBezTo>
                  <a:pt x="232130" y="134278"/>
                  <a:pt x="231900" y="134509"/>
                  <a:pt x="231784" y="134624"/>
                </a:cubicBezTo>
                <a:cubicBezTo>
                  <a:pt x="231554" y="134970"/>
                  <a:pt x="231323" y="135201"/>
                  <a:pt x="231093" y="135546"/>
                </a:cubicBezTo>
                <a:cubicBezTo>
                  <a:pt x="230978" y="135777"/>
                  <a:pt x="230747" y="136007"/>
                  <a:pt x="230632" y="136123"/>
                </a:cubicBezTo>
                <a:cubicBezTo>
                  <a:pt x="230401" y="136469"/>
                  <a:pt x="230171" y="136699"/>
                  <a:pt x="229940" y="136930"/>
                </a:cubicBezTo>
                <a:cubicBezTo>
                  <a:pt x="229710" y="137160"/>
                  <a:pt x="229595" y="137390"/>
                  <a:pt x="229364" y="137506"/>
                </a:cubicBezTo>
                <a:cubicBezTo>
                  <a:pt x="229133" y="137736"/>
                  <a:pt x="228903" y="138082"/>
                  <a:pt x="228672" y="138313"/>
                </a:cubicBezTo>
                <a:cubicBezTo>
                  <a:pt x="228442" y="138543"/>
                  <a:pt x="228327" y="138658"/>
                  <a:pt x="228096" y="138889"/>
                </a:cubicBezTo>
                <a:cubicBezTo>
                  <a:pt x="227866" y="139119"/>
                  <a:pt x="227635" y="139465"/>
                  <a:pt x="227289" y="139696"/>
                </a:cubicBezTo>
                <a:cubicBezTo>
                  <a:pt x="227059" y="139926"/>
                  <a:pt x="226944" y="140042"/>
                  <a:pt x="226713" y="140272"/>
                </a:cubicBezTo>
                <a:cubicBezTo>
                  <a:pt x="226482" y="140503"/>
                  <a:pt x="226252" y="140848"/>
                  <a:pt x="225906" y="141079"/>
                </a:cubicBezTo>
                <a:cubicBezTo>
                  <a:pt x="225676" y="141309"/>
                  <a:pt x="225561" y="141425"/>
                  <a:pt x="225330" y="141655"/>
                </a:cubicBezTo>
                <a:cubicBezTo>
                  <a:pt x="225099" y="141886"/>
                  <a:pt x="224754" y="142116"/>
                  <a:pt x="224523" y="142462"/>
                </a:cubicBezTo>
                <a:cubicBezTo>
                  <a:pt x="224293" y="142693"/>
                  <a:pt x="224062" y="142808"/>
                  <a:pt x="223947" y="143038"/>
                </a:cubicBezTo>
                <a:cubicBezTo>
                  <a:pt x="223716" y="143269"/>
                  <a:pt x="223371" y="143499"/>
                  <a:pt x="223140" y="143730"/>
                </a:cubicBezTo>
                <a:cubicBezTo>
                  <a:pt x="222910" y="143961"/>
                  <a:pt x="222679" y="144076"/>
                  <a:pt x="222564" y="144306"/>
                </a:cubicBezTo>
                <a:cubicBezTo>
                  <a:pt x="222333" y="144537"/>
                  <a:pt x="221987" y="144767"/>
                  <a:pt x="221757" y="144998"/>
                </a:cubicBezTo>
                <a:cubicBezTo>
                  <a:pt x="221527" y="145228"/>
                  <a:pt x="221296" y="145344"/>
                  <a:pt x="221065" y="145574"/>
                </a:cubicBezTo>
                <a:cubicBezTo>
                  <a:pt x="220835" y="145805"/>
                  <a:pt x="220489" y="146035"/>
                  <a:pt x="220259" y="146266"/>
                </a:cubicBezTo>
                <a:cubicBezTo>
                  <a:pt x="220028" y="146496"/>
                  <a:pt x="219798" y="146611"/>
                  <a:pt x="219567" y="146842"/>
                </a:cubicBezTo>
                <a:cubicBezTo>
                  <a:pt x="219336" y="147073"/>
                  <a:pt x="218991" y="147303"/>
                  <a:pt x="218760" y="147533"/>
                </a:cubicBezTo>
                <a:cubicBezTo>
                  <a:pt x="218530" y="147764"/>
                  <a:pt x="218299" y="147879"/>
                  <a:pt x="218069" y="148110"/>
                </a:cubicBezTo>
                <a:cubicBezTo>
                  <a:pt x="217838" y="148340"/>
                  <a:pt x="217493" y="148571"/>
                  <a:pt x="217262" y="148801"/>
                </a:cubicBezTo>
                <a:cubicBezTo>
                  <a:pt x="217031" y="149032"/>
                  <a:pt x="216801" y="149147"/>
                  <a:pt x="216570" y="149378"/>
                </a:cubicBezTo>
                <a:cubicBezTo>
                  <a:pt x="216340" y="149608"/>
                  <a:pt x="215994" y="149839"/>
                  <a:pt x="215764" y="149954"/>
                </a:cubicBezTo>
                <a:cubicBezTo>
                  <a:pt x="215533" y="150185"/>
                  <a:pt x="215302" y="150300"/>
                  <a:pt x="215072" y="150530"/>
                </a:cubicBezTo>
                <a:cubicBezTo>
                  <a:pt x="214842" y="150761"/>
                  <a:pt x="214496" y="150876"/>
                  <a:pt x="214265" y="151107"/>
                </a:cubicBezTo>
                <a:cubicBezTo>
                  <a:pt x="214035" y="151222"/>
                  <a:pt x="213804" y="151452"/>
                  <a:pt x="213458" y="151568"/>
                </a:cubicBezTo>
                <a:cubicBezTo>
                  <a:pt x="213228" y="151798"/>
                  <a:pt x="212882" y="151913"/>
                  <a:pt x="212651" y="152144"/>
                </a:cubicBezTo>
                <a:cubicBezTo>
                  <a:pt x="212421" y="152259"/>
                  <a:pt x="212191" y="152490"/>
                  <a:pt x="211845" y="152605"/>
                </a:cubicBezTo>
                <a:cubicBezTo>
                  <a:pt x="211614" y="152836"/>
                  <a:pt x="211268" y="152951"/>
                  <a:pt x="210923" y="153181"/>
                </a:cubicBezTo>
                <a:cubicBezTo>
                  <a:pt x="210692" y="153296"/>
                  <a:pt x="210346" y="153527"/>
                  <a:pt x="210116" y="153642"/>
                </a:cubicBezTo>
                <a:cubicBezTo>
                  <a:pt x="209770" y="153873"/>
                  <a:pt x="209540" y="153988"/>
                  <a:pt x="209194" y="154219"/>
                </a:cubicBezTo>
                <a:cubicBezTo>
                  <a:pt x="208963" y="154334"/>
                  <a:pt x="208617" y="154564"/>
                  <a:pt x="208387" y="154680"/>
                </a:cubicBezTo>
                <a:cubicBezTo>
                  <a:pt x="208041" y="154795"/>
                  <a:pt x="207811" y="155025"/>
                  <a:pt x="207465" y="155141"/>
                </a:cubicBezTo>
                <a:cubicBezTo>
                  <a:pt x="207234" y="155256"/>
                  <a:pt x="206889" y="155487"/>
                  <a:pt x="206658" y="155602"/>
                </a:cubicBezTo>
                <a:cubicBezTo>
                  <a:pt x="206312" y="155717"/>
                  <a:pt x="206082" y="155948"/>
                  <a:pt x="205736" y="156063"/>
                </a:cubicBezTo>
                <a:cubicBezTo>
                  <a:pt x="205505" y="156178"/>
                  <a:pt x="205160" y="156408"/>
                  <a:pt x="204929" y="156524"/>
                </a:cubicBezTo>
                <a:cubicBezTo>
                  <a:pt x="204583" y="156639"/>
                  <a:pt x="204353" y="156870"/>
                  <a:pt x="204007" y="156985"/>
                </a:cubicBezTo>
                <a:cubicBezTo>
                  <a:pt x="203777" y="157100"/>
                  <a:pt x="203431" y="157216"/>
                  <a:pt x="203200" y="157446"/>
                </a:cubicBezTo>
                <a:cubicBezTo>
                  <a:pt x="202854" y="157561"/>
                  <a:pt x="202624" y="157792"/>
                  <a:pt x="202278" y="157907"/>
                </a:cubicBezTo>
                <a:cubicBezTo>
                  <a:pt x="201933" y="158022"/>
                  <a:pt x="201702" y="158137"/>
                  <a:pt x="201356" y="158253"/>
                </a:cubicBezTo>
                <a:cubicBezTo>
                  <a:pt x="201011" y="158368"/>
                  <a:pt x="200780" y="158483"/>
                  <a:pt x="200434" y="158714"/>
                </a:cubicBezTo>
                <a:cubicBezTo>
                  <a:pt x="200088" y="158829"/>
                  <a:pt x="199858" y="158944"/>
                  <a:pt x="199512" y="159060"/>
                </a:cubicBezTo>
                <a:cubicBezTo>
                  <a:pt x="199166" y="159175"/>
                  <a:pt x="198936" y="159290"/>
                  <a:pt x="198590" y="159405"/>
                </a:cubicBezTo>
                <a:cubicBezTo>
                  <a:pt x="198244" y="159521"/>
                  <a:pt x="198014" y="159636"/>
                  <a:pt x="197668" y="159751"/>
                </a:cubicBezTo>
                <a:cubicBezTo>
                  <a:pt x="197322" y="159866"/>
                  <a:pt x="197092" y="159982"/>
                  <a:pt x="196746" y="160097"/>
                </a:cubicBezTo>
                <a:cubicBezTo>
                  <a:pt x="196400" y="160212"/>
                  <a:pt x="196170" y="160327"/>
                  <a:pt x="195824" y="160443"/>
                </a:cubicBezTo>
                <a:cubicBezTo>
                  <a:pt x="195478" y="160443"/>
                  <a:pt x="195248" y="160673"/>
                  <a:pt x="194902" y="160788"/>
                </a:cubicBezTo>
                <a:cubicBezTo>
                  <a:pt x="194556" y="160788"/>
                  <a:pt x="194325" y="161019"/>
                  <a:pt x="193980" y="161134"/>
                </a:cubicBezTo>
                <a:cubicBezTo>
                  <a:pt x="193634" y="161134"/>
                  <a:pt x="193403" y="161365"/>
                  <a:pt x="193058" y="161480"/>
                </a:cubicBezTo>
                <a:cubicBezTo>
                  <a:pt x="192712" y="161480"/>
                  <a:pt x="192366" y="161711"/>
                  <a:pt x="192136" y="161826"/>
                </a:cubicBezTo>
                <a:cubicBezTo>
                  <a:pt x="191790" y="161826"/>
                  <a:pt x="191559" y="162056"/>
                  <a:pt x="191214" y="162171"/>
                </a:cubicBezTo>
                <a:cubicBezTo>
                  <a:pt x="190868" y="162171"/>
                  <a:pt x="190522" y="162402"/>
                  <a:pt x="190291" y="162402"/>
                </a:cubicBezTo>
                <a:cubicBezTo>
                  <a:pt x="189946" y="162402"/>
                  <a:pt x="189715" y="162633"/>
                  <a:pt x="189369" y="162633"/>
                </a:cubicBezTo>
                <a:cubicBezTo>
                  <a:pt x="189023" y="162633"/>
                  <a:pt x="188678" y="162863"/>
                  <a:pt x="188332" y="162863"/>
                </a:cubicBezTo>
                <a:cubicBezTo>
                  <a:pt x="187986" y="162863"/>
                  <a:pt x="187756" y="162979"/>
                  <a:pt x="187410" y="163094"/>
                </a:cubicBezTo>
                <a:cubicBezTo>
                  <a:pt x="187064" y="163094"/>
                  <a:pt x="186718" y="163209"/>
                  <a:pt x="186373" y="163324"/>
                </a:cubicBezTo>
                <a:cubicBezTo>
                  <a:pt x="186027" y="163324"/>
                  <a:pt x="185796" y="163439"/>
                  <a:pt x="185451" y="163555"/>
                </a:cubicBezTo>
                <a:cubicBezTo>
                  <a:pt x="185105" y="163555"/>
                  <a:pt x="184759" y="163670"/>
                  <a:pt x="184413" y="163785"/>
                </a:cubicBezTo>
                <a:cubicBezTo>
                  <a:pt x="184068" y="163785"/>
                  <a:pt x="183837" y="163900"/>
                  <a:pt x="183491" y="164016"/>
                </a:cubicBezTo>
                <a:cubicBezTo>
                  <a:pt x="183145" y="164016"/>
                  <a:pt x="182800" y="164131"/>
                  <a:pt x="182454" y="164246"/>
                </a:cubicBezTo>
                <a:cubicBezTo>
                  <a:pt x="182108" y="164246"/>
                  <a:pt x="181878" y="164362"/>
                  <a:pt x="181532" y="164362"/>
                </a:cubicBezTo>
                <a:cubicBezTo>
                  <a:pt x="181186" y="164362"/>
                  <a:pt x="180840" y="164477"/>
                  <a:pt x="180495" y="164592"/>
                </a:cubicBezTo>
                <a:cubicBezTo>
                  <a:pt x="180149" y="164592"/>
                  <a:pt x="179918" y="164592"/>
                  <a:pt x="179572" y="164707"/>
                </a:cubicBezTo>
                <a:cubicBezTo>
                  <a:pt x="179227" y="164707"/>
                  <a:pt x="178881" y="164707"/>
                  <a:pt x="178535" y="164823"/>
                </a:cubicBezTo>
                <a:cubicBezTo>
                  <a:pt x="178189" y="164823"/>
                  <a:pt x="177959" y="164823"/>
                  <a:pt x="177613" y="164938"/>
                </a:cubicBezTo>
                <a:cubicBezTo>
                  <a:pt x="177267" y="164938"/>
                  <a:pt x="176921" y="164938"/>
                  <a:pt x="176460" y="165053"/>
                </a:cubicBezTo>
                <a:cubicBezTo>
                  <a:pt x="176115" y="165053"/>
                  <a:pt x="175884" y="165053"/>
                  <a:pt x="175538" y="165053"/>
                </a:cubicBezTo>
                <a:cubicBezTo>
                  <a:pt x="175193" y="165053"/>
                  <a:pt x="174732" y="165053"/>
                  <a:pt x="174386" y="165053"/>
                </a:cubicBezTo>
                <a:cubicBezTo>
                  <a:pt x="174040" y="165053"/>
                  <a:pt x="173809" y="165053"/>
                  <a:pt x="173464" y="165053"/>
                </a:cubicBezTo>
                <a:cubicBezTo>
                  <a:pt x="173003" y="165053"/>
                  <a:pt x="172657" y="165053"/>
                  <a:pt x="172196" y="165053"/>
                </a:cubicBezTo>
                <a:cubicBezTo>
                  <a:pt x="171966" y="165053"/>
                  <a:pt x="171620" y="165053"/>
                  <a:pt x="171389" y="165053"/>
                </a:cubicBezTo>
                <a:cubicBezTo>
                  <a:pt x="170928" y="165053"/>
                  <a:pt x="170467" y="165053"/>
                  <a:pt x="170006" y="165053"/>
                </a:cubicBezTo>
                <a:cubicBezTo>
                  <a:pt x="169775" y="165053"/>
                  <a:pt x="169545" y="165053"/>
                  <a:pt x="169315" y="165053"/>
                </a:cubicBezTo>
                <a:cubicBezTo>
                  <a:pt x="168623" y="165053"/>
                  <a:pt x="167931" y="165053"/>
                  <a:pt x="167240" y="165053"/>
                </a:cubicBezTo>
                <a:cubicBezTo>
                  <a:pt x="166548" y="165053"/>
                  <a:pt x="165857" y="165053"/>
                  <a:pt x="165165" y="165053"/>
                </a:cubicBezTo>
                <a:cubicBezTo>
                  <a:pt x="164935" y="165053"/>
                  <a:pt x="164704" y="165053"/>
                  <a:pt x="164474" y="165053"/>
                </a:cubicBezTo>
                <a:cubicBezTo>
                  <a:pt x="164013" y="165053"/>
                  <a:pt x="163552" y="165053"/>
                  <a:pt x="163090" y="165053"/>
                </a:cubicBezTo>
                <a:cubicBezTo>
                  <a:pt x="162860" y="165053"/>
                  <a:pt x="162514" y="165053"/>
                  <a:pt x="162284" y="165053"/>
                </a:cubicBezTo>
                <a:cubicBezTo>
                  <a:pt x="161823" y="165053"/>
                  <a:pt x="161477" y="165053"/>
                  <a:pt x="161016" y="165053"/>
                </a:cubicBezTo>
                <a:cubicBezTo>
                  <a:pt x="160670" y="165053"/>
                  <a:pt x="160440" y="165053"/>
                  <a:pt x="160094" y="165053"/>
                </a:cubicBezTo>
                <a:cubicBezTo>
                  <a:pt x="159748" y="165053"/>
                  <a:pt x="159287" y="165053"/>
                  <a:pt x="158941" y="165053"/>
                </a:cubicBezTo>
                <a:cubicBezTo>
                  <a:pt x="158595" y="165053"/>
                  <a:pt x="158365" y="165053"/>
                  <a:pt x="158019" y="165053"/>
                </a:cubicBezTo>
                <a:cubicBezTo>
                  <a:pt x="157673" y="165053"/>
                  <a:pt x="157212" y="165053"/>
                  <a:pt x="156867" y="164938"/>
                </a:cubicBezTo>
                <a:cubicBezTo>
                  <a:pt x="156521" y="164938"/>
                  <a:pt x="156290" y="164938"/>
                  <a:pt x="155944" y="164823"/>
                </a:cubicBezTo>
                <a:cubicBezTo>
                  <a:pt x="155599" y="164823"/>
                  <a:pt x="155253" y="164823"/>
                  <a:pt x="154792" y="164707"/>
                </a:cubicBezTo>
                <a:cubicBezTo>
                  <a:pt x="154446" y="164707"/>
                  <a:pt x="154216" y="164707"/>
                  <a:pt x="153870" y="164592"/>
                </a:cubicBezTo>
                <a:cubicBezTo>
                  <a:pt x="153524" y="164592"/>
                  <a:pt x="153178" y="164477"/>
                  <a:pt x="152833" y="164362"/>
                </a:cubicBezTo>
                <a:cubicBezTo>
                  <a:pt x="152487" y="164362"/>
                  <a:pt x="152256" y="164362"/>
                  <a:pt x="151910" y="164131"/>
                </a:cubicBezTo>
                <a:cubicBezTo>
                  <a:pt x="151565" y="164131"/>
                  <a:pt x="151219" y="164016"/>
                  <a:pt x="150873" y="163900"/>
                </a:cubicBezTo>
                <a:cubicBezTo>
                  <a:pt x="150527" y="163900"/>
                  <a:pt x="150297" y="163785"/>
                  <a:pt x="149951" y="163670"/>
                </a:cubicBezTo>
                <a:cubicBezTo>
                  <a:pt x="149605" y="163670"/>
                  <a:pt x="149259" y="163555"/>
                  <a:pt x="148914" y="163439"/>
                </a:cubicBezTo>
                <a:cubicBezTo>
                  <a:pt x="148568" y="163439"/>
                  <a:pt x="148338" y="163324"/>
                  <a:pt x="147992" y="163209"/>
                </a:cubicBezTo>
                <a:cubicBezTo>
                  <a:pt x="147646" y="163209"/>
                  <a:pt x="147300" y="163094"/>
                  <a:pt x="146954" y="162979"/>
                </a:cubicBezTo>
                <a:cubicBezTo>
                  <a:pt x="146609" y="162979"/>
                  <a:pt x="146378" y="162863"/>
                  <a:pt x="146032" y="162748"/>
                </a:cubicBezTo>
                <a:cubicBezTo>
                  <a:pt x="145687" y="162748"/>
                  <a:pt x="145341" y="162517"/>
                  <a:pt x="144995" y="162517"/>
                </a:cubicBezTo>
                <a:cubicBezTo>
                  <a:pt x="144649" y="162517"/>
                  <a:pt x="144419" y="162287"/>
                  <a:pt x="144073" y="162287"/>
                </a:cubicBezTo>
                <a:cubicBezTo>
                  <a:pt x="143727" y="162287"/>
                  <a:pt x="143381" y="162056"/>
                  <a:pt x="143036" y="161941"/>
                </a:cubicBezTo>
                <a:cubicBezTo>
                  <a:pt x="142690" y="161941"/>
                  <a:pt x="142459" y="161711"/>
                  <a:pt x="142113" y="161595"/>
                </a:cubicBezTo>
                <a:cubicBezTo>
                  <a:pt x="141768" y="161595"/>
                  <a:pt x="141422" y="161365"/>
                  <a:pt x="141191" y="161250"/>
                </a:cubicBezTo>
                <a:cubicBezTo>
                  <a:pt x="140846" y="161250"/>
                  <a:pt x="140615" y="161019"/>
                  <a:pt x="140269" y="160904"/>
                </a:cubicBezTo>
                <a:cubicBezTo>
                  <a:pt x="139924" y="160904"/>
                  <a:pt x="139578" y="160673"/>
                  <a:pt x="139347" y="160558"/>
                </a:cubicBezTo>
                <a:cubicBezTo>
                  <a:pt x="139002" y="160558"/>
                  <a:pt x="138771" y="160327"/>
                  <a:pt x="138425" y="160212"/>
                </a:cubicBezTo>
                <a:cubicBezTo>
                  <a:pt x="138079" y="160097"/>
                  <a:pt x="137849" y="159982"/>
                  <a:pt x="137503" y="159866"/>
                </a:cubicBezTo>
                <a:cubicBezTo>
                  <a:pt x="137157" y="159751"/>
                  <a:pt x="136927" y="159636"/>
                  <a:pt x="136581" y="159521"/>
                </a:cubicBezTo>
                <a:cubicBezTo>
                  <a:pt x="136235" y="159405"/>
                  <a:pt x="136005" y="159290"/>
                  <a:pt x="135659" y="159175"/>
                </a:cubicBezTo>
                <a:cubicBezTo>
                  <a:pt x="135313" y="159060"/>
                  <a:pt x="135083" y="158944"/>
                  <a:pt x="134737" y="158829"/>
                </a:cubicBezTo>
                <a:cubicBezTo>
                  <a:pt x="134391" y="158714"/>
                  <a:pt x="134161" y="158599"/>
                  <a:pt x="133815" y="158483"/>
                </a:cubicBezTo>
                <a:cubicBezTo>
                  <a:pt x="133469" y="158368"/>
                  <a:pt x="133239" y="158253"/>
                  <a:pt x="132893" y="158022"/>
                </a:cubicBezTo>
                <a:cubicBezTo>
                  <a:pt x="132547" y="157907"/>
                  <a:pt x="132317" y="157792"/>
                  <a:pt x="131971" y="157561"/>
                </a:cubicBezTo>
                <a:cubicBezTo>
                  <a:pt x="131625" y="157446"/>
                  <a:pt x="131394" y="157331"/>
                  <a:pt x="131049" y="157100"/>
                </a:cubicBezTo>
                <a:cubicBezTo>
                  <a:pt x="130818" y="156985"/>
                  <a:pt x="130473" y="156870"/>
                  <a:pt x="130242" y="156639"/>
                </a:cubicBezTo>
                <a:cubicBezTo>
                  <a:pt x="129896" y="156524"/>
                  <a:pt x="129666" y="156293"/>
                  <a:pt x="129320" y="156178"/>
                </a:cubicBezTo>
                <a:cubicBezTo>
                  <a:pt x="129089" y="156063"/>
                  <a:pt x="128744" y="155832"/>
                  <a:pt x="128513" y="155717"/>
                </a:cubicBezTo>
                <a:cubicBezTo>
                  <a:pt x="128167" y="155602"/>
                  <a:pt x="127937" y="155371"/>
                  <a:pt x="127591" y="155256"/>
                </a:cubicBezTo>
                <a:cubicBezTo>
                  <a:pt x="127360" y="155141"/>
                  <a:pt x="127015" y="154910"/>
                  <a:pt x="126784" y="154795"/>
                </a:cubicBezTo>
                <a:cubicBezTo>
                  <a:pt x="126439" y="154680"/>
                  <a:pt x="126208" y="154449"/>
                  <a:pt x="125862" y="154334"/>
                </a:cubicBezTo>
                <a:cubicBezTo>
                  <a:pt x="125631" y="154219"/>
                  <a:pt x="125286" y="153988"/>
                  <a:pt x="125055" y="153873"/>
                </a:cubicBezTo>
                <a:cubicBezTo>
                  <a:pt x="124710" y="153642"/>
                  <a:pt x="124479" y="153527"/>
                  <a:pt x="124133" y="153296"/>
                </a:cubicBezTo>
                <a:cubicBezTo>
                  <a:pt x="123903" y="153181"/>
                  <a:pt x="123672" y="152951"/>
                  <a:pt x="123326" y="152836"/>
                </a:cubicBezTo>
                <a:cubicBezTo>
                  <a:pt x="122981" y="152605"/>
                  <a:pt x="122750" y="152490"/>
                  <a:pt x="122404" y="152259"/>
                </a:cubicBezTo>
                <a:cubicBezTo>
                  <a:pt x="122174" y="152144"/>
                  <a:pt x="121943" y="151913"/>
                  <a:pt x="121713" y="151798"/>
                </a:cubicBezTo>
                <a:cubicBezTo>
                  <a:pt x="121367" y="151568"/>
                  <a:pt x="121137" y="151452"/>
                  <a:pt x="120791" y="151222"/>
                </a:cubicBezTo>
                <a:cubicBezTo>
                  <a:pt x="120560" y="151107"/>
                  <a:pt x="120330" y="150876"/>
                  <a:pt x="120099" y="150761"/>
                </a:cubicBezTo>
                <a:cubicBezTo>
                  <a:pt x="119753" y="150530"/>
                  <a:pt x="119523" y="150300"/>
                  <a:pt x="119177" y="150069"/>
                </a:cubicBezTo>
                <a:cubicBezTo>
                  <a:pt x="118947" y="149954"/>
                  <a:pt x="118716" y="149724"/>
                  <a:pt x="118601" y="149608"/>
                </a:cubicBezTo>
                <a:cubicBezTo>
                  <a:pt x="118255" y="149378"/>
                  <a:pt x="117909" y="149147"/>
                  <a:pt x="117679" y="148917"/>
                </a:cubicBezTo>
                <a:cubicBezTo>
                  <a:pt x="117448" y="148801"/>
                  <a:pt x="117333" y="148686"/>
                  <a:pt x="117218" y="148571"/>
                </a:cubicBezTo>
                <a:cubicBezTo>
                  <a:pt x="116872" y="148340"/>
                  <a:pt x="116526" y="147995"/>
                  <a:pt x="116180" y="147764"/>
                </a:cubicBezTo>
                <a:cubicBezTo>
                  <a:pt x="116180" y="147764"/>
                  <a:pt x="115950" y="147533"/>
                  <a:pt x="115835" y="147533"/>
                </a:cubicBezTo>
                <a:cubicBezTo>
                  <a:pt x="113991" y="146035"/>
                  <a:pt x="112146" y="144421"/>
                  <a:pt x="110417" y="142808"/>
                </a:cubicBezTo>
                <a:cubicBezTo>
                  <a:pt x="110417" y="142808"/>
                  <a:pt x="110417" y="142808"/>
                  <a:pt x="110417" y="142808"/>
                </a:cubicBezTo>
                <a:cubicBezTo>
                  <a:pt x="110072" y="142462"/>
                  <a:pt x="109726" y="142116"/>
                  <a:pt x="109265" y="141770"/>
                </a:cubicBezTo>
                <a:cubicBezTo>
                  <a:pt x="109265" y="141770"/>
                  <a:pt x="109034" y="141540"/>
                  <a:pt x="109034" y="141540"/>
                </a:cubicBezTo>
                <a:cubicBezTo>
                  <a:pt x="108689" y="141194"/>
                  <a:pt x="108343" y="140848"/>
                  <a:pt x="107997" y="140503"/>
                </a:cubicBezTo>
                <a:cubicBezTo>
                  <a:pt x="107882" y="140387"/>
                  <a:pt x="107766" y="140272"/>
                  <a:pt x="107651" y="140157"/>
                </a:cubicBezTo>
                <a:cubicBezTo>
                  <a:pt x="107306" y="139811"/>
                  <a:pt x="107075" y="139465"/>
                  <a:pt x="106729" y="139119"/>
                </a:cubicBezTo>
                <a:cubicBezTo>
                  <a:pt x="106614" y="139004"/>
                  <a:pt x="106499" y="138889"/>
                  <a:pt x="106383" y="138658"/>
                </a:cubicBezTo>
                <a:cubicBezTo>
                  <a:pt x="106038" y="138313"/>
                  <a:pt x="105807" y="137967"/>
                  <a:pt x="105461" y="137621"/>
                </a:cubicBezTo>
                <a:cubicBezTo>
                  <a:pt x="105346" y="137506"/>
                  <a:pt x="105231" y="137275"/>
                  <a:pt x="105116" y="137160"/>
                </a:cubicBezTo>
                <a:cubicBezTo>
                  <a:pt x="104770" y="136814"/>
                  <a:pt x="104539" y="136469"/>
                  <a:pt x="104309" y="136123"/>
                </a:cubicBezTo>
                <a:cubicBezTo>
                  <a:pt x="104194" y="136007"/>
                  <a:pt x="104078" y="135777"/>
                  <a:pt x="103848" y="135662"/>
                </a:cubicBezTo>
                <a:cubicBezTo>
                  <a:pt x="103617" y="135316"/>
                  <a:pt x="103271" y="134970"/>
                  <a:pt x="103041" y="134624"/>
                </a:cubicBezTo>
                <a:cubicBezTo>
                  <a:pt x="102926" y="134509"/>
                  <a:pt x="102811" y="134278"/>
                  <a:pt x="102695" y="134163"/>
                </a:cubicBezTo>
                <a:cubicBezTo>
                  <a:pt x="102465" y="133818"/>
                  <a:pt x="102119" y="133472"/>
                  <a:pt x="101888" y="133126"/>
                </a:cubicBezTo>
                <a:cubicBezTo>
                  <a:pt x="101773" y="133011"/>
                  <a:pt x="101658" y="132780"/>
                  <a:pt x="101543" y="132665"/>
                </a:cubicBezTo>
                <a:cubicBezTo>
                  <a:pt x="101312" y="132319"/>
                  <a:pt x="101082" y="131973"/>
                  <a:pt x="100736" y="131627"/>
                </a:cubicBezTo>
                <a:cubicBezTo>
                  <a:pt x="100620" y="131397"/>
                  <a:pt x="100505" y="131282"/>
                  <a:pt x="100390" y="131051"/>
                </a:cubicBezTo>
                <a:cubicBezTo>
                  <a:pt x="100160" y="130706"/>
                  <a:pt x="99929" y="130360"/>
                  <a:pt x="99698" y="130014"/>
                </a:cubicBezTo>
                <a:cubicBezTo>
                  <a:pt x="99583" y="129783"/>
                  <a:pt x="99468" y="129668"/>
                  <a:pt x="99353" y="129438"/>
                </a:cubicBezTo>
                <a:cubicBezTo>
                  <a:pt x="99122" y="129092"/>
                  <a:pt x="98892" y="128746"/>
                  <a:pt x="98661" y="128400"/>
                </a:cubicBezTo>
                <a:cubicBezTo>
                  <a:pt x="98546" y="128170"/>
                  <a:pt x="98431" y="128055"/>
                  <a:pt x="98315" y="127824"/>
                </a:cubicBezTo>
                <a:cubicBezTo>
                  <a:pt x="98085" y="127478"/>
                  <a:pt x="97854" y="127132"/>
                  <a:pt x="97624" y="126671"/>
                </a:cubicBezTo>
                <a:cubicBezTo>
                  <a:pt x="97624" y="126441"/>
                  <a:pt x="97393" y="126326"/>
                  <a:pt x="97278" y="126095"/>
                </a:cubicBezTo>
                <a:cubicBezTo>
                  <a:pt x="97048" y="125749"/>
                  <a:pt x="96817" y="125403"/>
                  <a:pt x="96586" y="124943"/>
                </a:cubicBezTo>
                <a:cubicBezTo>
                  <a:pt x="96586" y="124712"/>
                  <a:pt x="96356" y="124597"/>
                  <a:pt x="96241" y="124366"/>
                </a:cubicBezTo>
                <a:cubicBezTo>
                  <a:pt x="96010" y="124020"/>
                  <a:pt x="95780" y="123559"/>
                  <a:pt x="95549" y="123214"/>
                </a:cubicBezTo>
                <a:cubicBezTo>
                  <a:pt x="95549" y="122983"/>
                  <a:pt x="95319" y="122868"/>
                  <a:pt x="95203" y="122637"/>
                </a:cubicBezTo>
                <a:cubicBezTo>
                  <a:pt x="94973" y="122292"/>
                  <a:pt x="94742" y="121830"/>
                  <a:pt x="94512" y="121485"/>
                </a:cubicBezTo>
                <a:cubicBezTo>
                  <a:pt x="94512" y="121254"/>
                  <a:pt x="94281" y="121139"/>
                  <a:pt x="94166" y="120908"/>
                </a:cubicBezTo>
                <a:cubicBezTo>
                  <a:pt x="93935" y="120563"/>
                  <a:pt x="93705" y="120101"/>
                  <a:pt x="93590" y="119756"/>
                </a:cubicBezTo>
                <a:cubicBezTo>
                  <a:pt x="93590" y="119525"/>
                  <a:pt x="93359" y="119410"/>
                  <a:pt x="93359" y="119180"/>
                </a:cubicBezTo>
                <a:cubicBezTo>
                  <a:pt x="93129" y="118718"/>
                  <a:pt x="93014" y="118372"/>
                  <a:pt x="92783" y="117912"/>
                </a:cubicBezTo>
                <a:cubicBezTo>
                  <a:pt x="92783" y="117681"/>
                  <a:pt x="92668" y="117566"/>
                  <a:pt x="92552" y="117335"/>
                </a:cubicBezTo>
                <a:cubicBezTo>
                  <a:pt x="92322" y="116874"/>
                  <a:pt x="92207" y="116528"/>
                  <a:pt x="91976" y="116067"/>
                </a:cubicBezTo>
                <a:cubicBezTo>
                  <a:pt x="91976" y="115952"/>
                  <a:pt x="91861" y="115722"/>
                  <a:pt x="91746" y="115606"/>
                </a:cubicBezTo>
                <a:cubicBezTo>
                  <a:pt x="91515" y="115145"/>
                  <a:pt x="91400" y="114800"/>
                  <a:pt x="91169" y="114338"/>
                </a:cubicBezTo>
                <a:cubicBezTo>
                  <a:pt x="91169" y="114223"/>
                  <a:pt x="91054" y="113993"/>
                  <a:pt x="90939" y="113877"/>
                </a:cubicBezTo>
                <a:cubicBezTo>
                  <a:pt x="90708" y="113417"/>
                  <a:pt x="90593" y="112955"/>
                  <a:pt x="90363" y="112494"/>
                </a:cubicBezTo>
                <a:cubicBezTo>
                  <a:pt x="90363" y="112379"/>
                  <a:pt x="90247" y="112149"/>
                  <a:pt x="90132" y="112033"/>
                </a:cubicBezTo>
                <a:cubicBezTo>
                  <a:pt x="89901" y="111572"/>
                  <a:pt x="89786" y="111111"/>
                  <a:pt x="89671" y="110650"/>
                </a:cubicBezTo>
                <a:cubicBezTo>
                  <a:pt x="89671" y="110535"/>
                  <a:pt x="89671" y="110304"/>
                  <a:pt x="89556" y="110189"/>
                </a:cubicBezTo>
                <a:cubicBezTo>
                  <a:pt x="89440" y="109728"/>
                  <a:pt x="89210" y="109267"/>
                  <a:pt x="89095" y="108691"/>
                </a:cubicBezTo>
                <a:cubicBezTo>
                  <a:pt x="89095" y="108575"/>
                  <a:pt x="89095" y="108460"/>
                  <a:pt x="88980" y="108345"/>
                </a:cubicBezTo>
                <a:cubicBezTo>
                  <a:pt x="88864" y="107884"/>
                  <a:pt x="88634" y="107308"/>
                  <a:pt x="88518" y="106846"/>
                </a:cubicBezTo>
                <a:cubicBezTo>
                  <a:pt x="88518" y="106846"/>
                  <a:pt x="88518" y="106616"/>
                  <a:pt x="88518" y="106501"/>
                </a:cubicBezTo>
                <a:cubicBezTo>
                  <a:pt x="88403" y="105925"/>
                  <a:pt x="88173" y="105463"/>
                  <a:pt x="88057" y="104887"/>
                </a:cubicBezTo>
                <a:cubicBezTo>
                  <a:pt x="88057" y="104887"/>
                  <a:pt x="88057" y="104772"/>
                  <a:pt x="88057" y="104657"/>
                </a:cubicBezTo>
                <a:cubicBezTo>
                  <a:pt x="87942" y="104080"/>
                  <a:pt x="87712" y="103504"/>
                  <a:pt x="87596" y="102928"/>
                </a:cubicBezTo>
                <a:cubicBezTo>
                  <a:pt x="87596" y="102928"/>
                  <a:pt x="87596" y="102928"/>
                  <a:pt x="87596" y="102928"/>
                </a:cubicBezTo>
                <a:cubicBezTo>
                  <a:pt x="86329" y="97856"/>
                  <a:pt x="85522" y="92554"/>
                  <a:pt x="85176" y="87137"/>
                </a:cubicBezTo>
                <a:lnTo>
                  <a:pt x="85176" y="87137"/>
                </a:lnTo>
                <a:cubicBezTo>
                  <a:pt x="85176" y="85639"/>
                  <a:pt x="85061" y="84140"/>
                  <a:pt x="85061" y="82642"/>
                </a:cubicBezTo>
                <a:cubicBezTo>
                  <a:pt x="85061" y="37575"/>
                  <a:pt x="121137" y="1038"/>
                  <a:pt x="165857" y="0"/>
                </a:cubicBezTo>
                <a:cubicBezTo>
                  <a:pt x="164935" y="0"/>
                  <a:pt x="164013" y="0"/>
                  <a:pt x="163090" y="0"/>
                </a:cubicBezTo>
                <a:cubicBezTo>
                  <a:pt x="114913" y="0"/>
                  <a:pt x="75955" y="39073"/>
                  <a:pt x="75955" y="87137"/>
                </a:cubicBezTo>
                <a:lnTo>
                  <a:pt x="0" y="87137"/>
                </a:lnTo>
                <a:cubicBezTo>
                  <a:pt x="0" y="156293"/>
                  <a:pt x="56016" y="212310"/>
                  <a:pt x="125171" y="212310"/>
                </a:cubicBezTo>
                <a:cubicBezTo>
                  <a:pt x="194325" y="212310"/>
                  <a:pt x="250341" y="156293"/>
                  <a:pt x="250341" y="87137"/>
                </a:cubicBezTo>
                <a:cubicBezTo>
                  <a:pt x="250341" y="17981"/>
                  <a:pt x="250341" y="85639"/>
                  <a:pt x="250341" y="84832"/>
                </a:cubicBezTo>
                <a:close/>
              </a:path>
            </a:pathLst>
          </a:custGeom>
          <a:solidFill>
            <a:schemeClr val="accent4"/>
          </a:solidFill>
          <a:ln w="11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737CCE-D3D8-9A09-AE57-79F9C6208CCD}"/>
              </a:ext>
            </a:extLst>
          </p:cNvPr>
          <p:cNvSpPr/>
          <p:nvPr/>
        </p:nvSpPr>
        <p:spPr>
          <a:xfrm>
            <a:off x="8008497" y="2478905"/>
            <a:ext cx="1913368" cy="1622694"/>
          </a:xfrm>
          <a:custGeom>
            <a:avLst/>
            <a:gdLst>
              <a:gd name="connsiteX0" fmla="*/ 249649 w 250340"/>
              <a:gd name="connsiteY0" fmla="*/ 126671 h 212309"/>
              <a:gd name="connsiteX1" fmla="*/ 249649 w 250340"/>
              <a:gd name="connsiteY1" fmla="*/ 124136 h 212309"/>
              <a:gd name="connsiteX2" fmla="*/ 249534 w 250340"/>
              <a:gd name="connsiteY2" fmla="*/ 122292 h 212309"/>
              <a:gd name="connsiteX3" fmla="*/ 249534 w 250340"/>
              <a:gd name="connsiteY3" fmla="*/ 122292 h 212309"/>
              <a:gd name="connsiteX4" fmla="*/ 245615 w 250340"/>
              <a:gd name="connsiteY4" fmla="*/ 102928 h 212309"/>
              <a:gd name="connsiteX5" fmla="*/ 245615 w 250340"/>
              <a:gd name="connsiteY5" fmla="*/ 102928 h 212309"/>
              <a:gd name="connsiteX6" fmla="*/ 245039 w 250340"/>
              <a:gd name="connsiteY6" fmla="*/ 101314 h 212309"/>
              <a:gd name="connsiteX7" fmla="*/ 245039 w 250340"/>
              <a:gd name="connsiteY7" fmla="*/ 101083 h 212309"/>
              <a:gd name="connsiteX8" fmla="*/ 244463 w 250340"/>
              <a:gd name="connsiteY8" fmla="*/ 99585 h 212309"/>
              <a:gd name="connsiteX9" fmla="*/ 244347 w 250340"/>
              <a:gd name="connsiteY9" fmla="*/ 99239 h 212309"/>
              <a:gd name="connsiteX10" fmla="*/ 243771 w 250340"/>
              <a:gd name="connsiteY10" fmla="*/ 97856 h 212309"/>
              <a:gd name="connsiteX11" fmla="*/ 243656 w 250340"/>
              <a:gd name="connsiteY11" fmla="*/ 97511 h 212309"/>
              <a:gd name="connsiteX12" fmla="*/ 243079 w 250340"/>
              <a:gd name="connsiteY12" fmla="*/ 96127 h 212309"/>
              <a:gd name="connsiteX13" fmla="*/ 242849 w 250340"/>
              <a:gd name="connsiteY13" fmla="*/ 95666 h 212309"/>
              <a:gd name="connsiteX14" fmla="*/ 242273 w 250340"/>
              <a:gd name="connsiteY14" fmla="*/ 94399 h 212309"/>
              <a:gd name="connsiteX15" fmla="*/ 242042 w 250340"/>
              <a:gd name="connsiteY15" fmla="*/ 93937 h 212309"/>
              <a:gd name="connsiteX16" fmla="*/ 241466 w 250340"/>
              <a:gd name="connsiteY16" fmla="*/ 92670 h 212309"/>
              <a:gd name="connsiteX17" fmla="*/ 241235 w 250340"/>
              <a:gd name="connsiteY17" fmla="*/ 92208 h 212309"/>
              <a:gd name="connsiteX18" fmla="*/ 240659 w 250340"/>
              <a:gd name="connsiteY18" fmla="*/ 91056 h 212309"/>
              <a:gd name="connsiteX19" fmla="*/ 240428 w 250340"/>
              <a:gd name="connsiteY19" fmla="*/ 90479 h 212309"/>
              <a:gd name="connsiteX20" fmla="*/ 239852 w 250340"/>
              <a:gd name="connsiteY20" fmla="*/ 89327 h 212309"/>
              <a:gd name="connsiteX21" fmla="*/ 239506 w 250340"/>
              <a:gd name="connsiteY21" fmla="*/ 88751 h 212309"/>
              <a:gd name="connsiteX22" fmla="*/ 238815 w 250340"/>
              <a:gd name="connsiteY22" fmla="*/ 87598 h 212309"/>
              <a:gd name="connsiteX23" fmla="*/ 238469 w 250340"/>
              <a:gd name="connsiteY23" fmla="*/ 87022 h 212309"/>
              <a:gd name="connsiteX24" fmla="*/ 237778 w 250340"/>
              <a:gd name="connsiteY24" fmla="*/ 85984 h 212309"/>
              <a:gd name="connsiteX25" fmla="*/ 237432 w 250340"/>
              <a:gd name="connsiteY25" fmla="*/ 85408 h 212309"/>
              <a:gd name="connsiteX26" fmla="*/ 236740 w 250340"/>
              <a:gd name="connsiteY26" fmla="*/ 84371 h 212309"/>
              <a:gd name="connsiteX27" fmla="*/ 236394 w 250340"/>
              <a:gd name="connsiteY27" fmla="*/ 83794 h 212309"/>
              <a:gd name="connsiteX28" fmla="*/ 235703 w 250340"/>
              <a:gd name="connsiteY28" fmla="*/ 82757 h 212309"/>
              <a:gd name="connsiteX29" fmla="*/ 235242 w 250340"/>
              <a:gd name="connsiteY29" fmla="*/ 82181 h 212309"/>
              <a:gd name="connsiteX30" fmla="*/ 234550 w 250340"/>
              <a:gd name="connsiteY30" fmla="*/ 81259 h 212309"/>
              <a:gd name="connsiteX31" fmla="*/ 234089 w 250340"/>
              <a:gd name="connsiteY31" fmla="*/ 80682 h 212309"/>
              <a:gd name="connsiteX32" fmla="*/ 233398 w 250340"/>
              <a:gd name="connsiteY32" fmla="*/ 79760 h 212309"/>
              <a:gd name="connsiteX33" fmla="*/ 232937 w 250340"/>
              <a:gd name="connsiteY33" fmla="*/ 79184 h 212309"/>
              <a:gd name="connsiteX34" fmla="*/ 232245 w 250340"/>
              <a:gd name="connsiteY34" fmla="*/ 78262 h 212309"/>
              <a:gd name="connsiteX35" fmla="*/ 231784 w 250340"/>
              <a:gd name="connsiteY35" fmla="*/ 77686 h 212309"/>
              <a:gd name="connsiteX36" fmla="*/ 231093 w 250340"/>
              <a:gd name="connsiteY36" fmla="*/ 76764 h 212309"/>
              <a:gd name="connsiteX37" fmla="*/ 230632 w 250340"/>
              <a:gd name="connsiteY37" fmla="*/ 76187 h 212309"/>
              <a:gd name="connsiteX38" fmla="*/ 229940 w 250340"/>
              <a:gd name="connsiteY38" fmla="*/ 75381 h 212309"/>
              <a:gd name="connsiteX39" fmla="*/ 229364 w 250340"/>
              <a:gd name="connsiteY39" fmla="*/ 74804 h 212309"/>
              <a:gd name="connsiteX40" fmla="*/ 228672 w 250340"/>
              <a:gd name="connsiteY40" fmla="*/ 73997 h 212309"/>
              <a:gd name="connsiteX41" fmla="*/ 228096 w 250340"/>
              <a:gd name="connsiteY41" fmla="*/ 73421 h 212309"/>
              <a:gd name="connsiteX42" fmla="*/ 227289 w 250340"/>
              <a:gd name="connsiteY42" fmla="*/ 72614 h 212309"/>
              <a:gd name="connsiteX43" fmla="*/ 226713 w 250340"/>
              <a:gd name="connsiteY43" fmla="*/ 72038 h 212309"/>
              <a:gd name="connsiteX44" fmla="*/ 225906 w 250340"/>
              <a:gd name="connsiteY44" fmla="*/ 71231 h 212309"/>
              <a:gd name="connsiteX45" fmla="*/ 225330 w 250340"/>
              <a:gd name="connsiteY45" fmla="*/ 70655 h 212309"/>
              <a:gd name="connsiteX46" fmla="*/ 224523 w 250340"/>
              <a:gd name="connsiteY46" fmla="*/ 69848 h 212309"/>
              <a:gd name="connsiteX47" fmla="*/ 223947 w 250340"/>
              <a:gd name="connsiteY47" fmla="*/ 69272 h 212309"/>
              <a:gd name="connsiteX48" fmla="*/ 223140 w 250340"/>
              <a:gd name="connsiteY48" fmla="*/ 68580 h 212309"/>
              <a:gd name="connsiteX49" fmla="*/ 222563 w 250340"/>
              <a:gd name="connsiteY49" fmla="*/ 68004 h 212309"/>
              <a:gd name="connsiteX50" fmla="*/ 221757 w 250340"/>
              <a:gd name="connsiteY50" fmla="*/ 67312 h 212309"/>
              <a:gd name="connsiteX51" fmla="*/ 221065 w 250340"/>
              <a:gd name="connsiteY51" fmla="*/ 66736 h 212309"/>
              <a:gd name="connsiteX52" fmla="*/ 220258 w 250340"/>
              <a:gd name="connsiteY52" fmla="*/ 66044 h 212309"/>
              <a:gd name="connsiteX53" fmla="*/ 219567 w 250340"/>
              <a:gd name="connsiteY53" fmla="*/ 65468 h 212309"/>
              <a:gd name="connsiteX54" fmla="*/ 218760 w 250340"/>
              <a:gd name="connsiteY54" fmla="*/ 64776 h 212309"/>
              <a:gd name="connsiteX55" fmla="*/ 218069 w 250340"/>
              <a:gd name="connsiteY55" fmla="*/ 64200 h 212309"/>
              <a:gd name="connsiteX56" fmla="*/ 217262 w 250340"/>
              <a:gd name="connsiteY56" fmla="*/ 63509 h 212309"/>
              <a:gd name="connsiteX57" fmla="*/ 216570 w 250340"/>
              <a:gd name="connsiteY57" fmla="*/ 62932 h 212309"/>
              <a:gd name="connsiteX58" fmla="*/ 215763 w 250340"/>
              <a:gd name="connsiteY58" fmla="*/ 62356 h 212309"/>
              <a:gd name="connsiteX59" fmla="*/ 215072 w 250340"/>
              <a:gd name="connsiteY59" fmla="*/ 61780 h 212309"/>
              <a:gd name="connsiteX60" fmla="*/ 214265 w 250340"/>
              <a:gd name="connsiteY60" fmla="*/ 61203 h 212309"/>
              <a:gd name="connsiteX61" fmla="*/ 213458 w 250340"/>
              <a:gd name="connsiteY61" fmla="*/ 60742 h 212309"/>
              <a:gd name="connsiteX62" fmla="*/ 212651 w 250340"/>
              <a:gd name="connsiteY62" fmla="*/ 60166 h 212309"/>
              <a:gd name="connsiteX63" fmla="*/ 211844 w 250340"/>
              <a:gd name="connsiteY63" fmla="*/ 59705 h 212309"/>
              <a:gd name="connsiteX64" fmla="*/ 210923 w 250340"/>
              <a:gd name="connsiteY64" fmla="*/ 59129 h 212309"/>
              <a:gd name="connsiteX65" fmla="*/ 210116 w 250340"/>
              <a:gd name="connsiteY65" fmla="*/ 58668 h 212309"/>
              <a:gd name="connsiteX66" fmla="*/ 209194 w 250340"/>
              <a:gd name="connsiteY66" fmla="*/ 58091 h 212309"/>
              <a:gd name="connsiteX67" fmla="*/ 208387 w 250340"/>
              <a:gd name="connsiteY67" fmla="*/ 57630 h 212309"/>
              <a:gd name="connsiteX68" fmla="*/ 207465 w 250340"/>
              <a:gd name="connsiteY68" fmla="*/ 57169 h 212309"/>
              <a:gd name="connsiteX69" fmla="*/ 206658 w 250340"/>
              <a:gd name="connsiteY69" fmla="*/ 56708 h 212309"/>
              <a:gd name="connsiteX70" fmla="*/ 205736 w 250340"/>
              <a:gd name="connsiteY70" fmla="*/ 56247 h 212309"/>
              <a:gd name="connsiteX71" fmla="*/ 204929 w 250340"/>
              <a:gd name="connsiteY71" fmla="*/ 55786 h 212309"/>
              <a:gd name="connsiteX72" fmla="*/ 204007 w 250340"/>
              <a:gd name="connsiteY72" fmla="*/ 55325 h 212309"/>
              <a:gd name="connsiteX73" fmla="*/ 203200 w 250340"/>
              <a:gd name="connsiteY73" fmla="*/ 54864 h 212309"/>
              <a:gd name="connsiteX74" fmla="*/ 202278 w 250340"/>
              <a:gd name="connsiteY74" fmla="*/ 54403 h 212309"/>
              <a:gd name="connsiteX75" fmla="*/ 201356 w 250340"/>
              <a:gd name="connsiteY75" fmla="*/ 54057 h 212309"/>
              <a:gd name="connsiteX76" fmla="*/ 200434 w 250340"/>
              <a:gd name="connsiteY76" fmla="*/ 53596 h 212309"/>
              <a:gd name="connsiteX77" fmla="*/ 199512 w 250340"/>
              <a:gd name="connsiteY77" fmla="*/ 53250 h 212309"/>
              <a:gd name="connsiteX78" fmla="*/ 198590 w 250340"/>
              <a:gd name="connsiteY78" fmla="*/ 52905 h 212309"/>
              <a:gd name="connsiteX79" fmla="*/ 197668 w 250340"/>
              <a:gd name="connsiteY79" fmla="*/ 52559 h 212309"/>
              <a:gd name="connsiteX80" fmla="*/ 196746 w 250340"/>
              <a:gd name="connsiteY80" fmla="*/ 52213 h 212309"/>
              <a:gd name="connsiteX81" fmla="*/ 195824 w 250340"/>
              <a:gd name="connsiteY81" fmla="*/ 51867 h 212309"/>
              <a:gd name="connsiteX82" fmla="*/ 194901 w 250340"/>
              <a:gd name="connsiteY82" fmla="*/ 51521 h 212309"/>
              <a:gd name="connsiteX83" fmla="*/ 193979 w 250340"/>
              <a:gd name="connsiteY83" fmla="*/ 51176 h 212309"/>
              <a:gd name="connsiteX84" fmla="*/ 193058 w 250340"/>
              <a:gd name="connsiteY84" fmla="*/ 50830 h 212309"/>
              <a:gd name="connsiteX85" fmla="*/ 192135 w 250340"/>
              <a:gd name="connsiteY85" fmla="*/ 50484 h 212309"/>
              <a:gd name="connsiteX86" fmla="*/ 191213 w 250340"/>
              <a:gd name="connsiteY86" fmla="*/ 50138 h 212309"/>
              <a:gd name="connsiteX87" fmla="*/ 190291 w 250340"/>
              <a:gd name="connsiteY87" fmla="*/ 49908 h 212309"/>
              <a:gd name="connsiteX88" fmla="*/ 189369 w 250340"/>
              <a:gd name="connsiteY88" fmla="*/ 49677 h 212309"/>
              <a:gd name="connsiteX89" fmla="*/ 188332 w 250340"/>
              <a:gd name="connsiteY89" fmla="*/ 49447 h 212309"/>
              <a:gd name="connsiteX90" fmla="*/ 187410 w 250340"/>
              <a:gd name="connsiteY90" fmla="*/ 49216 h 212309"/>
              <a:gd name="connsiteX91" fmla="*/ 186373 w 250340"/>
              <a:gd name="connsiteY91" fmla="*/ 48986 h 212309"/>
              <a:gd name="connsiteX92" fmla="*/ 185450 w 250340"/>
              <a:gd name="connsiteY92" fmla="*/ 48755 h 212309"/>
              <a:gd name="connsiteX93" fmla="*/ 184413 w 250340"/>
              <a:gd name="connsiteY93" fmla="*/ 48525 h 212309"/>
              <a:gd name="connsiteX94" fmla="*/ 183491 w 250340"/>
              <a:gd name="connsiteY94" fmla="*/ 48294 h 212309"/>
              <a:gd name="connsiteX95" fmla="*/ 182454 w 250340"/>
              <a:gd name="connsiteY95" fmla="*/ 48064 h 212309"/>
              <a:gd name="connsiteX96" fmla="*/ 181532 w 250340"/>
              <a:gd name="connsiteY96" fmla="*/ 47948 h 212309"/>
              <a:gd name="connsiteX97" fmla="*/ 180494 w 250340"/>
              <a:gd name="connsiteY97" fmla="*/ 47718 h 212309"/>
              <a:gd name="connsiteX98" fmla="*/ 179572 w 250340"/>
              <a:gd name="connsiteY98" fmla="*/ 47603 h 212309"/>
              <a:gd name="connsiteX99" fmla="*/ 178535 w 250340"/>
              <a:gd name="connsiteY99" fmla="*/ 47487 h 212309"/>
              <a:gd name="connsiteX100" fmla="*/ 177613 w 250340"/>
              <a:gd name="connsiteY100" fmla="*/ 47372 h 212309"/>
              <a:gd name="connsiteX101" fmla="*/ 176460 w 250340"/>
              <a:gd name="connsiteY101" fmla="*/ 47257 h 212309"/>
              <a:gd name="connsiteX102" fmla="*/ 175538 w 250340"/>
              <a:gd name="connsiteY102" fmla="*/ 47257 h 212309"/>
              <a:gd name="connsiteX103" fmla="*/ 174385 w 250340"/>
              <a:gd name="connsiteY103" fmla="*/ 47257 h 212309"/>
              <a:gd name="connsiteX104" fmla="*/ 173464 w 250340"/>
              <a:gd name="connsiteY104" fmla="*/ 47257 h 212309"/>
              <a:gd name="connsiteX105" fmla="*/ 172196 w 250340"/>
              <a:gd name="connsiteY105" fmla="*/ 47257 h 212309"/>
              <a:gd name="connsiteX106" fmla="*/ 171389 w 250340"/>
              <a:gd name="connsiteY106" fmla="*/ 47257 h 212309"/>
              <a:gd name="connsiteX107" fmla="*/ 170006 w 250340"/>
              <a:gd name="connsiteY107" fmla="*/ 47257 h 212309"/>
              <a:gd name="connsiteX108" fmla="*/ 169314 w 250340"/>
              <a:gd name="connsiteY108" fmla="*/ 47257 h 212309"/>
              <a:gd name="connsiteX109" fmla="*/ 167240 w 250340"/>
              <a:gd name="connsiteY109" fmla="*/ 47257 h 212309"/>
              <a:gd name="connsiteX110" fmla="*/ 165165 w 250340"/>
              <a:gd name="connsiteY110" fmla="*/ 47257 h 212309"/>
              <a:gd name="connsiteX111" fmla="*/ 164473 w 250340"/>
              <a:gd name="connsiteY111" fmla="*/ 47257 h 212309"/>
              <a:gd name="connsiteX112" fmla="*/ 163090 w 250340"/>
              <a:gd name="connsiteY112" fmla="*/ 47257 h 212309"/>
              <a:gd name="connsiteX113" fmla="*/ 162283 w 250340"/>
              <a:gd name="connsiteY113" fmla="*/ 47257 h 212309"/>
              <a:gd name="connsiteX114" fmla="*/ 161016 w 250340"/>
              <a:gd name="connsiteY114" fmla="*/ 47257 h 212309"/>
              <a:gd name="connsiteX115" fmla="*/ 160094 w 250340"/>
              <a:gd name="connsiteY115" fmla="*/ 47257 h 212309"/>
              <a:gd name="connsiteX116" fmla="*/ 158941 w 250340"/>
              <a:gd name="connsiteY116" fmla="*/ 47257 h 212309"/>
              <a:gd name="connsiteX117" fmla="*/ 158019 w 250340"/>
              <a:gd name="connsiteY117" fmla="*/ 47257 h 212309"/>
              <a:gd name="connsiteX118" fmla="*/ 156866 w 250340"/>
              <a:gd name="connsiteY118" fmla="*/ 47372 h 212309"/>
              <a:gd name="connsiteX119" fmla="*/ 155944 w 250340"/>
              <a:gd name="connsiteY119" fmla="*/ 47487 h 212309"/>
              <a:gd name="connsiteX120" fmla="*/ 154792 w 250340"/>
              <a:gd name="connsiteY120" fmla="*/ 47603 h 212309"/>
              <a:gd name="connsiteX121" fmla="*/ 153870 w 250340"/>
              <a:gd name="connsiteY121" fmla="*/ 47718 h 212309"/>
              <a:gd name="connsiteX122" fmla="*/ 152832 w 250340"/>
              <a:gd name="connsiteY122" fmla="*/ 47948 h 212309"/>
              <a:gd name="connsiteX123" fmla="*/ 151910 w 250340"/>
              <a:gd name="connsiteY123" fmla="*/ 48179 h 212309"/>
              <a:gd name="connsiteX124" fmla="*/ 150873 w 250340"/>
              <a:gd name="connsiteY124" fmla="*/ 48409 h 212309"/>
              <a:gd name="connsiteX125" fmla="*/ 149951 w 250340"/>
              <a:gd name="connsiteY125" fmla="*/ 48640 h 212309"/>
              <a:gd name="connsiteX126" fmla="*/ 148914 w 250340"/>
              <a:gd name="connsiteY126" fmla="*/ 48871 h 212309"/>
              <a:gd name="connsiteX127" fmla="*/ 147991 w 250340"/>
              <a:gd name="connsiteY127" fmla="*/ 49101 h 212309"/>
              <a:gd name="connsiteX128" fmla="*/ 146954 w 250340"/>
              <a:gd name="connsiteY128" fmla="*/ 49332 h 212309"/>
              <a:gd name="connsiteX129" fmla="*/ 146032 w 250340"/>
              <a:gd name="connsiteY129" fmla="*/ 49562 h 212309"/>
              <a:gd name="connsiteX130" fmla="*/ 144995 w 250340"/>
              <a:gd name="connsiteY130" fmla="*/ 49792 h 212309"/>
              <a:gd name="connsiteX131" fmla="*/ 144073 w 250340"/>
              <a:gd name="connsiteY131" fmla="*/ 50023 h 212309"/>
              <a:gd name="connsiteX132" fmla="*/ 143035 w 250340"/>
              <a:gd name="connsiteY132" fmla="*/ 50369 h 212309"/>
              <a:gd name="connsiteX133" fmla="*/ 142113 w 250340"/>
              <a:gd name="connsiteY133" fmla="*/ 50715 h 212309"/>
              <a:gd name="connsiteX134" fmla="*/ 141191 w 250340"/>
              <a:gd name="connsiteY134" fmla="*/ 51060 h 212309"/>
              <a:gd name="connsiteX135" fmla="*/ 140269 w 250340"/>
              <a:gd name="connsiteY135" fmla="*/ 51406 h 212309"/>
              <a:gd name="connsiteX136" fmla="*/ 139347 w 250340"/>
              <a:gd name="connsiteY136" fmla="*/ 51752 h 212309"/>
              <a:gd name="connsiteX137" fmla="*/ 138425 w 250340"/>
              <a:gd name="connsiteY137" fmla="*/ 52098 h 212309"/>
              <a:gd name="connsiteX138" fmla="*/ 137503 w 250340"/>
              <a:gd name="connsiteY138" fmla="*/ 52444 h 212309"/>
              <a:gd name="connsiteX139" fmla="*/ 136581 w 250340"/>
              <a:gd name="connsiteY139" fmla="*/ 52789 h 212309"/>
              <a:gd name="connsiteX140" fmla="*/ 135659 w 250340"/>
              <a:gd name="connsiteY140" fmla="*/ 53135 h 212309"/>
              <a:gd name="connsiteX141" fmla="*/ 134737 w 250340"/>
              <a:gd name="connsiteY141" fmla="*/ 53481 h 212309"/>
              <a:gd name="connsiteX142" fmla="*/ 133815 w 250340"/>
              <a:gd name="connsiteY142" fmla="*/ 53827 h 212309"/>
              <a:gd name="connsiteX143" fmla="*/ 132893 w 250340"/>
              <a:gd name="connsiteY143" fmla="*/ 54288 h 212309"/>
              <a:gd name="connsiteX144" fmla="*/ 131971 w 250340"/>
              <a:gd name="connsiteY144" fmla="*/ 54749 h 212309"/>
              <a:gd name="connsiteX145" fmla="*/ 131049 w 250340"/>
              <a:gd name="connsiteY145" fmla="*/ 55210 h 212309"/>
              <a:gd name="connsiteX146" fmla="*/ 130242 w 250340"/>
              <a:gd name="connsiteY146" fmla="*/ 55671 h 212309"/>
              <a:gd name="connsiteX147" fmla="*/ 129320 w 250340"/>
              <a:gd name="connsiteY147" fmla="*/ 56132 h 212309"/>
              <a:gd name="connsiteX148" fmla="*/ 128513 w 250340"/>
              <a:gd name="connsiteY148" fmla="*/ 56593 h 212309"/>
              <a:gd name="connsiteX149" fmla="*/ 127591 w 250340"/>
              <a:gd name="connsiteY149" fmla="*/ 57054 h 212309"/>
              <a:gd name="connsiteX150" fmla="*/ 126784 w 250340"/>
              <a:gd name="connsiteY150" fmla="*/ 57515 h 212309"/>
              <a:gd name="connsiteX151" fmla="*/ 125862 w 250340"/>
              <a:gd name="connsiteY151" fmla="*/ 57976 h 212309"/>
              <a:gd name="connsiteX152" fmla="*/ 125055 w 250340"/>
              <a:gd name="connsiteY152" fmla="*/ 58437 h 212309"/>
              <a:gd name="connsiteX153" fmla="*/ 124133 w 250340"/>
              <a:gd name="connsiteY153" fmla="*/ 59013 h 212309"/>
              <a:gd name="connsiteX154" fmla="*/ 123326 w 250340"/>
              <a:gd name="connsiteY154" fmla="*/ 59475 h 212309"/>
              <a:gd name="connsiteX155" fmla="*/ 122404 w 250340"/>
              <a:gd name="connsiteY155" fmla="*/ 60051 h 212309"/>
              <a:gd name="connsiteX156" fmla="*/ 121713 w 250340"/>
              <a:gd name="connsiteY156" fmla="*/ 60512 h 212309"/>
              <a:gd name="connsiteX157" fmla="*/ 120790 w 250340"/>
              <a:gd name="connsiteY157" fmla="*/ 61088 h 212309"/>
              <a:gd name="connsiteX158" fmla="*/ 120099 w 250340"/>
              <a:gd name="connsiteY158" fmla="*/ 61549 h 212309"/>
              <a:gd name="connsiteX159" fmla="*/ 119177 w 250340"/>
              <a:gd name="connsiteY159" fmla="*/ 62241 h 212309"/>
              <a:gd name="connsiteX160" fmla="*/ 118601 w 250340"/>
              <a:gd name="connsiteY160" fmla="*/ 62702 h 212309"/>
              <a:gd name="connsiteX161" fmla="*/ 117678 w 250340"/>
              <a:gd name="connsiteY161" fmla="*/ 63393 h 212309"/>
              <a:gd name="connsiteX162" fmla="*/ 117218 w 250340"/>
              <a:gd name="connsiteY162" fmla="*/ 63739 h 212309"/>
              <a:gd name="connsiteX163" fmla="*/ 116180 w 250340"/>
              <a:gd name="connsiteY163" fmla="*/ 64546 h 212309"/>
              <a:gd name="connsiteX164" fmla="*/ 115835 w 250340"/>
              <a:gd name="connsiteY164" fmla="*/ 64776 h 212309"/>
              <a:gd name="connsiteX165" fmla="*/ 110417 w 250340"/>
              <a:gd name="connsiteY165" fmla="*/ 69502 h 212309"/>
              <a:gd name="connsiteX166" fmla="*/ 110417 w 250340"/>
              <a:gd name="connsiteY166" fmla="*/ 69502 h 212309"/>
              <a:gd name="connsiteX167" fmla="*/ 109265 w 250340"/>
              <a:gd name="connsiteY167" fmla="*/ 70539 h 212309"/>
              <a:gd name="connsiteX168" fmla="*/ 109034 w 250340"/>
              <a:gd name="connsiteY168" fmla="*/ 70770 h 212309"/>
              <a:gd name="connsiteX169" fmla="*/ 107997 w 250340"/>
              <a:gd name="connsiteY169" fmla="*/ 71807 h 212309"/>
              <a:gd name="connsiteX170" fmla="*/ 107651 w 250340"/>
              <a:gd name="connsiteY170" fmla="*/ 72153 h 212309"/>
              <a:gd name="connsiteX171" fmla="*/ 106729 w 250340"/>
              <a:gd name="connsiteY171" fmla="*/ 73190 h 212309"/>
              <a:gd name="connsiteX172" fmla="*/ 106383 w 250340"/>
              <a:gd name="connsiteY172" fmla="*/ 73652 h 212309"/>
              <a:gd name="connsiteX173" fmla="*/ 105461 w 250340"/>
              <a:gd name="connsiteY173" fmla="*/ 74689 h 212309"/>
              <a:gd name="connsiteX174" fmla="*/ 105115 w 250340"/>
              <a:gd name="connsiteY174" fmla="*/ 75150 h 212309"/>
              <a:gd name="connsiteX175" fmla="*/ 104309 w 250340"/>
              <a:gd name="connsiteY175" fmla="*/ 76187 h 212309"/>
              <a:gd name="connsiteX176" fmla="*/ 103847 w 250340"/>
              <a:gd name="connsiteY176" fmla="*/ 76648 h 212309"/>
              <a:gd name="connsiteX177" fmla="*/ 103041 w 250340"/>
              <a:gd name="connsiteY177" fmla="*/ 77686 h 212309"/>
              <a:gd name="connsiteX178" fmla="*/ 102695 w 250340"/>
              <a:gd name="connsiteY178" fmla="*/ 78147 h 212309"/>
              <a:gd name="connsiteX179" fmla="*/ 101888 w 250340"/>
              <a:gd name="connsiteY179" fmla="*/ 79184 h 212309"/>
              <a:gd name="connsiteX180" fmla="*/ 101542 w 250340"/>
              <a:gd name="connsiteY180" fmla="*/ 79645 h 212309"/>
              <a:gd name="connsiteX181" fmla="*/ 100736 w 250340"/>
              <a:gd name="connsiteY181" fmla="*/ 80682 h 212309"/>
              <a:gd name="connsiteX182" fmla="*/ 100390 w 250340"/>
              <a:gd name="connsiteY182" fmla="*/ 81259 h 212309"/>
              <a:gd name="connsiteX183" fmla="*/ 99698 w 250340"/>
              <a:gd name="connsiteY183" fmla="*/ 82296 h 212309"/>
              <a:gd name="connsiteX184" fmla="*/ 99353 w 250340"/>
              <a:gd name="connsiteY184" fmla="*/ 82872 h 212309"/>
              <a:gd name="connsiteX185" fmla="*/ 98661 w 250340"/>
              <a:gd name="connsiteY185" fmla="*/ 83910 h 212309"/>
              <a:gd name="connsiteX186" fmla="*/ 98315 w 250340"/>
              <a:gd name="connsiteY186" fmla="*/ 84486 h 212309"/>
              <a:gd name="connsiteX187" fmla="*/ 97624 w 250340"/>
              <a:gd name="connsiteY187" fmla="*/ 85639 h 212309"/>
              <a:gd name="connsiteX188" fmla="*/ 97278 w 250340"/>
              <a:gd name="connsiteY188" fmla="*/ 86215 h 212309"/>
              <a:gd name="connsiteX189" fmla="*/ 96586 w 250340"/>
              <a:gd name="connsiteY189" fmla="*/ 87368 h 212309"/>
              <a:gd name="connsiteX190" fmla="*/ 96241 w 250340"/>
              <a:gd name="connsiteY190" fmla="*/ 87944 h 212309"/>
              <a:gd name="connsiteX191" fmla="*/ 95549 w 250340"/>
              <a:gd name="connsiteY191" fmla="*/ 89096 h 212309"/>
              <a:gd name="connsiteX192" fmla="*/ 95203 w 250340"/>
              <a:gd name="connsiteY192" fmla="*/ 89673 h 212309"/>
              <a:gd name="connsiteX193" fmla="*/ 94512 w 250340"/>
              <a:gd name="connsiteY193" fmla="*/ 90825 h 212309"/>
              <a:gd name="connsiteX194" fmla="*/ 94166 w 250340"/>
              <a:gd name="connsiteY194" fmla="*/ 91402 h 212309"/>
              <a:gd name="connsiteX195" fmla="*/ 93590 w 250340"/>
              <a:gd name="connsiteY195" fmla="*/ 92554 h 212309"/>
              <a:gd name="connsiteX196" fmla="*/ 93359 w 250340"/>
              <a:gd name="connsiteY196" fmla="*/ 93131 h 212309"/>
              <a:gd name="connsiteX197" fmla="*/ 92783 w 250340"/>
              <a:gd name="connsiteY197" fmla="*/ 94399 h 212309"/>
              <a:gd name="connsiteX198" fmla="*/ 92552 w 250340"/>
              <a:gd name="connsiteY198" fmla="*/ 94975 h 212309"/>
              <a:gd name="connsiteX199" fmla="*/ 91976 w 250340"/>
              <a:gd name="connsiteY199" fmla="*/ 96243 h 212309"/>
              <a:gd name="connsiteX200" fmla="*/ 91745 w 250340"/>
              <a:gd name="connsiteY200" fmla="*/ 96704 h 212309"/>
              <a:gd name="connsiteX201" fmla="*/ 91169 w 250340"/>
              <a:gd name="connsiteY201" fmla="*/ 97971 h 212309"/>
              <a:gd name="connsiteX202" fmla="*/ 90939 w 250340"/>
              <a:gd name="connsiteY202" fmla="*/ 98433 h 212309"/>
              <a:gd name="connsiteX203" fmla="*/ 90362 w 250340"/>
              <a:gd name="connsiteY203" fmla="*/ 99816 h 212309"/>
              <a:gd name="connsiteX204" fmla="*/ 90132 w 250340"/>
              <a:gd name="connsiteY204" fmla="*/ 100277 h 212309"/>
              <a:gd name="connsiteX205" fmla="*/ 89671 w 250340"/>
              <a:gd name="connsiteY205" fmla="*/ 101660 h 212309"/>
              <a:gd name="connsiteX206" fmla="*/ 89556 w 250340"/>
              <a:gd name="connsiteY206" fmla="*/ 102121 h 212309"/>
              <a:gd name="connsiteX207" fmla="*/ 89094 w 250340"/>
              <a:gd name="connsiteY207" fmla="*/ 103619 h 212309"/>
              <a:gd name="connsiteX208" fmla="*/ 88979 w 250340"/>
              <a:gd name="connsiteY208" fmla="*/ 103965 h 212309"/>
              <a:gd name="connsiteX209" fmla="*/ 88518 w 250340"/>
              <a:gd name="connsiteY209" fmla="*/ 105463 h 212309"/>
              <a:gd name="connsiteX210" fmla="*/ 88518 w 250340"/>
              <a:gd name="connsiteY210" fmla="*/ 105809 h 212309"/>
              <a:gd name="connsiteX211" fmla="*/ 88057 w 250340"/>
              <a:gd name="connsiteY211" fmla="*/ 107423 h 212309"/>
              <a:gd name="connsiteX212" fmla="*/ 88057 w 250340"/>
              <a:gd name="connsiteY212" fmla="*/ 107653 h 212309"/>
              <a:gd name="connsiteX213" fmla="*/ 87596 w 250340"/>
              <a:gd name="connsiteY213" fmla="*/ 109382 h 212309"/>
              <a:gd name="connsiteX214" fmla="*/ 87596 w 250340"/>
              <a:gd name="connsiteY214" fmla="*/ 109382 h 212309"/>
              <a:gd name="connsiteX215" fmla="*/ 85176 w 250340"/>
              <a:gd name="connsiteY215" fmla="*/ 125173 h 212309"/>
              <a:gd name="connsiteX216" fmla="*/ 85176 w 250340"/>
              <a:gd name="connsiteY216" fmla="*/ 125173 h 212309"/>
              <a:gd name="connsiteX217" fmla="*/ 85060 w 250340"/>
              <a:gd name="connsiteY217" fmla="*/ 129668 h 212309"/>
              <a:gd name="connsiteX218" fmla="*/ 165856 w 250340"/>
              <a:gd name="connsiteY218" fmla="*/ 212310 h 212309"/>
              <a:gd name="connsiteX219" fmla="*/ 163090 w 250340"/>
              <a:gd name="connsiteY219" fmla="*/ 212310 h 212309"/>
              <a:gd name="connsiteX220" fmla="*/ 75955 w 250340"/>
              <a:gd name="connsiteY220" fmla="*/ 125173 h 212309"/>
              <a:gd name="connsiteX221" fmla="*/ 0 w 250340"/>
              <a:gd name="connsiteY221" fmla="*/ 125173 h 212309"/>
              <a:gd name="connsiteX222" fmla="*/ 125170 w 250340"/>
              <a:gd name="connsiteY222" fmla="*/ 0 h 212309"/>
              <a:gd name="connsiteX223" fmla="*/ 250341 w 250340"/>
              <a:gd name="connsiteY223" fmla="*/ 125173 h 212309"/>
              <a:gd name="connsiteX224" fmla="*/ 250341 w 250340"/>
              <a:gd name="connsiteY224" fmla="*/ 127478 h 212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250340" h="212309">
                <a:moveTo>
                  <a:pt x="249649" y="126671"/>
                </a:moveTo>
                <a:cubicBezTo>
                  <a:pt x="249649" y="125864"/>
                  <a:pt x="249649" y="124943"/>
                  <a:pt x="249649" y="124136"/>
                </a:cubicBezTo>
                <a:cubicBezTo>
                  <a:pt x="249649" y="123559"/>
                  <a:pt x="249649" y="122868"/>
                  <a:pt x="249534" y="122292"/>
                </a:cubicBezTo>
                <a:cubicBezTo>
                  <a:pt x="249534" y="122292"/>
                  <a:pt x="249534" y="122292"/>
                  <a:pt x="249534" y="122292"/>
                </a:cubicBezTo>
                <a:cubicBezTo>
                  <a:pt x="248958" y="115606"/>
                  <a:pt x="247690" y="109037"/>
                  <a:pt x="245615" y="102928"/>
                </a:cubicBezTo>
                <a:cubicBezTo>
                  <a:pt x="245615" y="102928"/>
                  <a:pt x="245615" y="102928"/>
                  <a:pt x="245615" y="102928"/>
                </a:cubicBezTo>
                <a:cubicBezTo>
                  <a:pt x="245385" y="102351"/>
                  <a:pt x="245269" y="101775"/>
                  <a:pt x="245039" y="101314"/>
                </a:cubicBezTo>
                <a:cubicBezTo>
                  <a:pt x="245039" y="101314"/>
                  <a:pt x="245039" y="101199"/>
                  <a:pt x="245039" y="101083"/>
                </a:cubicBezTo>
                <a:cubicBezTo>
                  <a:pt x="244808" y="100622"/>
                  <a:pt x="244693" y="100046"/>
                  <a:pt x="244463" y="99585"/>
                </a:cubicBezTo>
                <a:cubicBezTo>
                  <a:pt x="244463" y="99585"/>
                  <a:pt x="244463" y="99355"/>
                  <a:pt x="244347" y="99239"/>
                </a:cubicBezTo>
                <a:cubicBezTo>
                  <a:pt x="244117" y="98778"/>
                  <a:pt x="244002" y="98317"/>
                  <a:pt x="243771" y="97856"/>
                </a:cubicBezTo>
                <a:cubicBezTo>
                  <a:pt x="243771" y="97741"/>
                  <a:pt x="243771" y="97626"/>
                  <a:pt x="243656" y="97511"/>
                </a:cubicBezTo>
                <a:cubicBezTo>
                  <a:pt x="243425" y="97049"/>
                  <a:pt x="243310" y="96588"/>
                  <a:pt x="243079" y="96127"/>
                </a:cubicBezTo>
                <a:cubicBezTo>
                  <a:pt x="243079" y="96012"/>
                  <a:pt x="242964" y="95782"/>
                  <a:pt x="242849" y="95666"/>
                </a:cubicBezTo>
                <a:cubicBezTo>
                  <a:pt x="242619" y="95205"/>
                  <a:pt x="242503" y="94744"/>
                  <a:pt x="242273" y="94399"/>
                </a:cubicBezTo>
                <a:cubicBezTo>
                  <a:pt x="242273" y="94283"/>
                  <a:pt x="242157" y="94053"/>
                  <a:pt x="242042" y="93937"/>
                </a:cubicBezTo>
                <a:cubicBezTo>
                  <a:pt x="241812" y="93476"/>
                  <a:pt x="241696" y="93131"/>
                  <a:pt x="241466" y="92670"/>
                </a:cubicBezTo>
                <a:cubicBezTo>
                  <a:pt x="241466" y="92554"/>
                  <a:pt x="241351" y="92324"/>
                  <a:pt x="241235" y="92208"/>
                </a:cubicBezTo>
                <a:cubicBezTo>
                  <a:pt x="241005" y="91863"/>
                  <a:pt x="240774" y="91402"/>
                  <a:pt x="240659" y="91056"/>
                </a:cubicBezTo>
                <a:cubicBezTo>
                  <a:pt x="240659" y="90825"/>
                  <a:pt x="240428" y="90710"/>
                  <a:pt x="240428" y="90479"/>
                </a:cubicBezTo>
                <a:cubicBezTo>
                  <a:pt x="240198" y="90134"/>
                  <a:pt x="239968" y="89673"/>
                  <a:pt x="239852" y="89327"/>
                </a:cubicBezTo>
                <a:cubicBezTo>
                  <a:pt x="239852" y="89096"/>
                  <a:pt x="239622" y="88981"/>
                  <a:pt x="239506" y="88751"/>
                </a:cubicBezTo>
                <a:cubicBezTo>
                  <a:pt x="239276" y="88405"/>
                  <a:pt x="239045" y="88059"/>
                  <a:pt x="238815" y="87598"/>
                </a:cubicBezTo>
                <a:cubicBezTo>
                  <a:pt x="238815" y="87368"/>
                  <a:pt x="238585" y="87252"/>
                  <a:pt x="238469" y="87022"/>
                </a:cubicBezTo>
                <a:cubicBezTo>
                  <a:pt x="238239" y="86676"/>
                  <a:pt x="238008" y="86330"/>
                  <a:pt x="237778" y="85984"/>
                </a:cubicBezTo>
                <a:cubicBezTo>
                  <a:pt x="237662" y="85754"/>
                  <a:pt x="237547" y="85639"/>
                  <a:pt x="237432" y="85408"/>
                </a:cubicBezTo>
                <a:cubicBezTo>
                  <a:pt x="237201" y="85062"/>
                  <a:pt x="236971" y="84716"/>
                  <a:pt x="236740" y="84371"/>
                </a:cubicBezTo>
                <a:cubicBezTo>
                  <a:pt x="236625" y="84140"/>
                  <a:pt x="236510" y="84025"/>
                  <a:pt x="236394" y="83794"/>
                </a:cubicBezTo>
                <a:cubicBezTo>
                  <a:pt x="236164" y="83449"/>
                  <a:pt x="235934" y="83103"/>
                  <a:pt x="235703" y="82757"/>
                </a:cubicBezTo>
                <a:cubicBezTo>
                  <a:pt x="235588" y="82527"/>
                  <a:pt x="235472" y="82411"/>
                  <a:pt x="235242" y="82181"/>
                </a:cubicBezTo>
                <a:cubicBezTo>
                  <a:pt x="235011" y="81835"/>
                  <a:pt x="234781" y="81489"/>
                  <a:pt x="234550" y="81259"/>
                </a:cubicBezTo>
                <a:cubicBezTo>
                  <a:pt x="234435" y="81028"/>
                  <a:pt x="234320" y="80913"/>
                  <a:pt x="234089" y="80682"/>
                </a:cubicBezTo>
                <a:cubicBezTo>
                  <a:pt x="233859" y="80337"/>
                  <a:pt x="233628" y="79991"/>
                  <a:pt x="233398" y="79760"/>
                </a:cubicBezTo>
                <a:cubicBezTo>
                  <a:pt x="233283" y="79530"/>
                  <a:pt x="233052" y="79299"/>
                  <a:pt x="232937" y="79184"/>
                </a:cubicBezTo>
                <a:cubicBezTo>
                  <a:pt x="232706" y="78838"/>
                  <a:pt x="232476" y="78608"/>
                  <a:pt x="232245" y="78262"/>
                </a:cubicBezTo>
                <a:cubicBezTo>
                  <a:pt x="232130" y="78031"/>
                  <a:pt x="231899" y="77801"/>
                  <a:pt x="231784" y="77686"/>
                </a:cubicBezTo>
                <a:cubicBezTo>
                  <a:pt x="231554" y="77340"/>
                  <a:pt x="231323" y="77109"/>
                  <a:pt x="231093" y="76764"/>
                </a:cubicBezTo>
                <a:cubicBezTo>
                  <a:pt x="230977" y="76533"/>
                  <a:pt x="230747" y="76302"/>
                  <a:pt x="230632" y="76187"/>
                </a:cubicBezTo>
                <a:cubicBezTo>
                  <a:pt x="230401" y="75841"/>
                  <a:pt x="230171" y="75611"/>
                  <a:pt x="229940" y="75381"/>
                </a:cubicBezTo>
                <a:cubicBezTo>
                  <a:pt x="229709" y="75150"/>
                  <a:pt x="229594" y="74919"/>
                  <a:pt x="229364" y="74804"/>
                </a:cubicBezTo>
                <a:cubicBezTo>
                  <a:pt x="229133" y="74573"/>
                  <a:pt x="228903" y="74228"/>
                  <a:pt x="228672" y="73997"/>
                </a:cubicBezTo>
                <a:cubicBezTo>
                  <a:pt x="228442" y="73767"/>
                  <a:pt x="228326" y="73652"/>
                  <a:pt x="228096" y="73421"/>
                </a:cubicBezTo>
                <a:cubicBezTo>
                  <a:pt x="227865" y="73190"/>
                  <a:pt x="227635" y="72845"/>
                  <a:pt x="227289" y="72614"/>
                </a:cubicBezTo>
                <a:cubicBezTo>
                  <a:pt x="227059" y="72384"/>
                  <a:pt x="226943" y="72268"/>
                  <a:pt x="226713" y="72038"/>
                </a:cubicBezTo>
                <a:cubicBezTo>
                  <a:pt x="226482" y="71807"/>
                  <a:pt x="226252" y="71462"/>
                  <a:pt x="225906" y="71231"/>
                </a:cubicBezTo>
                <a:cubicBezTo>
                  <a:pt x="225675" y="71001"/>
                  <a:pt x="225560" y="70885"/>
                  <a:pt x="225330" y="70655"/>
                </a:cubicBezTo>
                <a:cubicBezTo>
                  <a:pt x="225099" y="70424"/>
                  <a:pt x="224754" y="70194"/>
                  <a:pt x="224523" y="69848"/>
                </a:cubicBezTo>
                <a:cubicBezTo>
                  <a:pt x="224292" y="69618"/>
                  <a:pt x="224062" y="69502"/>
                  <a:pt x="223947" y="69272"/>
                </a:cubicBezTo>
                <a:cubicBezTo>
                  <a:pt x="223716" y="69041"/>
                  <a:pt x="223370" y="68810"/>
                  <a:pt x="223140" y="68580"/>
                </a:cubicBezTo>
                <a:cubicBezTo>
                  <a:pt x="222909" y="68350"/>
                  <a:pt x="222679" y="68234"/>
                  <a:pt x="222563" y="68004"/>
                </a:cubicBezTo>
                <a:cubicBezTo>
                  <a:pt x="222333" y="67773"/>
                  <a:pt x="221987" y="67543"/>
                  <a:pt x="221757" y="67312"/>
                </a:cubicBezTo>
                <a:cubicBezTo>
                  <a:pt x="221526" y="67082"/>
                  <a:pt x="221296" y="66966"/>
                  <a:pt x="221065" y="66736"/>
                </a:cubicBezTo>
                <a:cubicBezTo>
                  <a:pt x="220835" y="66505"/>
                  <a:pt x="220489" y="66275"/>
                  <a:pt x="220258" y="66044"/>
                </a:cubicBezTo>
                <a:cubicBezTo>
                  <a:pt x="220028" y="65814"/>
                  <a:pt x="219797" y="65698"/>
                  <a:pt x="219567" y="65468"/>
                </a:cubicBezTo>
                <a:cubicBezTo>
                  <a:pt x="219336" y="65238"/>
                  <a:pt x="218991" y="65007"/>
                  <a:pt x="218760" y="64776"/>
                </a:cubicBezTo>
                <a:cubicBezTo>
                  <a:pt x="218529" y="64546"/>
                  <a:pt x="218299" y="64431"/>
                  <a:pt x="218069" y="64200"/>
                </a:cubicBezTo>
                <a:cubicBezTo>
                  <a:pt x="217838" y="63970"/>
                  <a:pt x="217492" y="63739"/>
                  <a:pt x="217262" y="63509"/>
                </a:cubicBezTo>
                <a:cubicBezTo>
                  <a:pt x="217031" y="63278"/>
                  <a:pt x="216801" y="63163"/>
                  <a:pt x="216570" y="62932"/>
                </a:cubicBezTo>
                <a:cubicBezTo>
                  <a:pt x="216340" y="62702"/>
                  <a:pt x="215994" y="62471"/>
                  <a:pt x="215763" y="62356"/>
                </a:cubicBezTo>
                <a:cubicBezTo>
                  <a:pt x="215533" y="62126"/>
                  <a:pt x="215302" y="62010"/>
                  <a:pt x="215072" y="61780"/>
                </a:cubicBezTo>
                <a:cubicBezTo>
                  <a:pt x="214841" y="61549"/>
                  <a:pt x="214495" y="61434"/>
                  <a:pt x="214265" y="61203"/>
                </a:cubicBezTo>
                <a:cubicBezTo>
                  <a:pt x="214034" y="61088"/>
                  <a:pt x="213804" y="60858"/>
                  <a:pt x="213458" y="60742"/>
                </a:cubicBezTo>
                <a:cubicBezTo>
                  <a:pt x="213228" y="60512"/>
                  <a:pt x="212882" y="60397"/>
                  <a:pt x="212651" y="60166"/>
                </a:cubicBezTo>
                <a:cubicBezTo>
                  <a:pt x="212421" y="60051"/>
                  <a:pt x="212190" y="59820"/>
                  <a:pt x="211844" y="59705"/>
                </a:cubicBezTo>
                <a:cubicBezTo>
                  <a:pt x="211614" y="59475"/>
                  <a:pt x="211268" y="59359"/>
                  <a:pt x="210923" y="59129"/>
                </a:cubicBezTo>
                <a:cubicBezTo>
                  <a:pt x="210692" y="59013"/>
                  <a:pt x="210346" y="58783"/>
                  <a:pt x="210116" y="58668"/>
                </a:cubicBezTo>
                <a:cubicBezTo>
                  <a:pt x="209770" y="58437"/>
                  <a:pt x="209539" y="58322"/>
                  <a:pt x="209194" y="58091"/>
                </a:cubicBezTo>
                <a:cubicBezTo>
                  <a:pt x="208963" y="57976"/>
                  <a:pt x="208617" y="57746"/>
                  <a:pt x="208387" y="57630"/>
                </a:cubicBezTo>
                <a:cubicBezTo>
                  <a:pt x="208041" y="57515"/>
                  <a:pt x="207810" y="57284"/>
                  <a:pt x="207465" y="57169"/>
                </a:cubicBezTo>
                <a:cubicBezTo>
                  <a:pt x="207234" y="57054"/>
                  <a:pt x="206889" y="56823"/>
                  <a:pt x="206658" y="56708"/>
                </a:cubicBezTo>
                <a:cubicBezTo>
                  <a:pt x="206312" y="56593"/>
                  <a:pt x="206081" y="56363"/>
                  <a:pt x="205736" y="56247"/>
                </a:cubicBezTo>
                <a:cubicBezTo>
                  <a:pt x="205505" y="56132"/>
                  <a:pt x="205160" y="55901"/>
                  <a:pt x="204929" y="55786"/>
                </a:cubicBezTo>
                <a:cubicBezTo>
                  <a:pt x="204583" y="55671"/>
                  <a:pt x="204353" y="55440"/>
                  <a:pt x="204007" y="55325"/>
                </a:cubicBezTo>
                <a:cubicBezTo>
                  <a:pt x="203776" y="55210"/>
                  <a:pt x="203431" y="55095"/>
                  <a:pt x="203200" y="54864"/>
                </a:cubicBezTo>
                <a:cubicBezTo>
                  <a:pt x="202854" y="54749"/>
                  <a:pt x="202624" y="54518"/>
                  <a:pt x="202278" y="54403"/>
                </a:cubicBezTo>
                <a:cubicBezTo>
                  <a:pt x="201932" y="54288"/>
                  <a:pt x="201702" y="54172"/>
                  <a:pt x="201356" y="54057"/>
                </a:cubicBezTo>
                <a:cubicBezTo>
                  <a:pt x="201010" y="53942"/>
                  <a:pt x="200780" y="53827"/>
                  <a:pt x="200434" y="53596"/>
                </a:cubicBezTo>
                <a:cubicBezTo>
                  <a:pt x="200088" y="53481"/>
                  <a:pt x="199858" y="53366"/>
                  <a:pt x="199512" y="53250"/>
                </a:cubicBezTo>
                <a:cubicBezTo>
                  <a:pt x="199166" y="53135"/>
                  <a:pt x="198936" y="53020"/>
                  <a:pt x="198590" y="52905"/>
                </a:cubicBezTo>
                <a:cubicBezTo>
                  <a:pt x="198244" y="52789"/>
                  <a:pt x="198013" y="52674"/>
                  <a:pt x="197668" y="52559"/>
                </a:cubicBezTo>
                <a:cubicBezTo>
                  <a:pt x="197322" y="52444"/>
                  <a:pt x="197092" y="52328"/>
                  <a:pt x="196746" y="52213"/>
                </a:cubicBezTo>
                <a:cubicBezTo>
                  <a:pt x="196400" y="52098"/>
                  <a:pt x="196169" y="51983"/>
                  <a:pt x="195824" y="51867"/>
                </a:cubicBezTo>
                <a:cubicBezTo>
                  <a:pt x="195478" y="51867"/>
                  <a:pt x="195247" y="51637"/>
                  <a:pt x="194901" y="51521"/>
                </a:cubicBezTo>
                <a:cubicBezTo>
                  <a:pt x="194556" y="51521"/>
                  <a:pt x="194325" y="51291"/>
                  <a:pt x="193979" y="51176"/>
                </a:cubicBezTo>
                <a:cubicBezTo>
                  <a:pt x="193634" y="51176"/>
                  <a:pt x="193403" y="50945"/>
                  <a:pt x="193058" y="50830"/>
                </a:cubicBezTo>
                <a:cubicBezTo>
                  <a:pt x="192712" y="50830"/>
                  <a:pt x="192366" y="50600"/>
                  <a:pt x="192135" y="50484"/>
                </a:cubicBezTo>
                <a:cubicBezTo>
                  <a:pt x="191790" y="50484"/>
                  <a:pt x="191559" y="50254"/>
                  <a:pt x="191213" y="50138"/>
                </a:cubicBezTo>
                <a:cubicBezTo>
                  <a:pt x="190867" y="50138"/>
                  <a:pt x="190522" y="49908"/>
                  <a:pt x="190291" y="49908"/>
                </a:cubicBezTo>
                <a:cubicBezTo>
                  <a:pt x="189945" y="49908"/>
                  <a:pt x="189715" y="49677"/>
                  <a:pt x="189369" y="49677"/>
                </a:cubicBezTo>
                <a:cubicBezTo>
                  <a:pt x="189023" y="49677"/>
                  <a:pt x="188678" y="49447"/>
                  <a:pt x="188332" y="49447"/>
                </a:cubicBezTo>
                <a:cubicBezTo>
                  <a:pt x="187986" y="49447"/>
                  <a:pt x="187756" y="49332"/>
                  <a:pt x="187410" y="49216"/>
                </a:cubicBezTo>
                <a:cubicBezTo>
                  <a:pt x="187064" y="49216"/>
                  <a:pt x="186718" y="49101"/>
                  <a:pt x="186373" y="48986"/>
                </a:cubicBezTo>
                <a:cubicBezTo>
                  <a:pt x="186027" y="48986"/>
                  <a:pt x="185796" y="48871"/>
                  <a:pt x="185450" y="48755"/>
                </a:cubicBezTo>
                <a:cubicBezTo>
                  <a:pt x="185105" y="48755"/>
                  <a:pt x="184759" y="48640"/>
                  <a:pt x="184413" y="48525"/>
                </a:cubicBezTo>
                <a:cubicBezTo>
                  <a:pt x="184067" y="48525"/>
                  <a:pt x="183837" y="48409"/>
                  <a:pt x="183491" y="48294"/>
                </a:cubicBezTo>
                <a:cubicBezTo>
                  <a:pt x="183145" y="48294"/>
                  <a:pt x="182799" y="48179"/>
                  <a:pt x="182454" y="48064"/>
                </a:cubicBezTo>
                <a:cubicBezTo>
                  <a:pt x="182108" y="48064"/>
                  <a:pt x="181877" y="47948"/>
                  <a:pt x="181532" y="47948"/>
                </a:cubicBezTo>
                <a:cubicBezTo>
                  <a:pt x="181186" y="47948"/>
                  <a:pt x="180840" y="47833"/>
                  <a:pt x="180494" y="47718"/>
                </a:cubicBezTo>
                <a:cubicBezTo>
                  <a:pt x="180148" y="47718"/>
                  <a:pt x="179918" y="47718"/>
                  <a:pt x="179572" y="47603"/>
                </a:cubicBezTo>
                <a:cubicBezTo>
                  <a:pt x="179227" y="47603"/>
                  <a:pt x="178881" y="47603"/>
                  <a:pt x="178535" y="47487"/>
                </a:cubicBezTo>
                <a:cubicBezTo>
                  <a:pt x="178189" y="47487"/>
                  <a:pt x="177959" y="47487"/>
                  <a:pt x="177613" y="47372"/>
                </a:cubicBezTo>
                <a:cubicBezTo>
                  <a:pt x="177267" y="47372"/>
                  <a:pt x="176921" y="47372"/>
                  <a:pt x="176460" y="47257"/>
                </a:cubicBezTo>
                <a:cubicBezTo>
                  <a:pt x="176114" y="47257"/>
                  <a:pt x="175884" y="47257"/>
                  <a:pt x="175538" y="47257"/>
                </a:cubicBezTo>
                <a:cubicBezTo>
                  <a:pt x="175193" y="47257"/>
                  <a:pt x="174731" y="47257"/>
                  <a:pt x="174385" y="47257"/>
                </a:cubicBezTo>
                <a:cubicBezTo>
                  <a:pt x="174040" y="47257"/>
                  <a:pt x="173809" y="47257"/>
                  <a:pt x="173464" y="47257"/>
                </a:cubicBezTo>
                <a:cubicBezTo>
                  <a:pt x="173002" y="47257"/>
                  <a:pt x="172657" y="47257"/>
                  <a:pt x="172196" y="47257"/>
                </a:cubicBezTo>
                <a:cubicBezTo>
                  <a:pt x="171965" y="47257"/>
                  <a:pt x="171619" y="47257"/>
                  <a:pt x="171389" y="47257"/>
                </a:cubicBezTo>
                <a:cubicBezTo>
                  <a:pt x="170928" y="47257"/>
                  <a:pt x="170467" y="47257"/>
                  <a:pt x="170006" y="47257"/>
                </a:cubicBezTo>
                <a:cubicBezTo>
                  <a:pt x="169775" y="47257"/>
                  <a:pt x="169545" y="47257"/>
                  <a:pt x="169314" y="47257"/>
                </a:cubicBezTo>
                <a:cubicBezTo>
                  <a:pt x="168623" y="47257"/>
                  <a:pt x="167931" y="47257"/>
                  <a:pt x="167240" y="47257"/>
                </a:cubicBezTo>
                <a:cubicBezTo>
                  <a:pt x="166548" y="47257"/>
                  <a:pt x="165856" y="47257"/>
                  <a:pt x="165165" y="47257"/>
                </a:cubicBezTo>
                <a:cubicBezTo>
                  <a:pt x="164934" y="47257"/>
                  <a:pt x="164704" y="47257"/>
                  <a:pt x="164473" y="47257"/>
                </a:cubicBezTo>
                <a:cubicBezTo>
                  <a:pt x="164012" y="47257"/>
                  <a:pt x="163551" y="47257"/>
                  <a:pt x="163090" y="47257"/>
                </a:cubicBezTo>
                <a:cubicBezTo>
                  <a:pt x="162860" y="47257"/>
                  <a:pt x="162514" y="47257"/>
                  <a:pt x="162283" y="47257"/>
                </a:cubicBezTo>
                <a:cubicBezTo>
                  <a:pt x="161822" y="47257"/>
                  <a:pt x="161477" y="47257"/>
                  <a:pt x="161016" y="47257"/>
                </a:cubicBezTo>
                <a:cubicBezTo>
                  <a:pt x="160670" y="47257"/>
                  <a:pt x="160439" y="47257"/>
                  <a:pt x="160094" y="47257"/>
                </a:cubicBezTo>
                <a:cubicBezTo>
                  <a:pt x="159748" y="47257"/>
                  <a:pt x="159287" y="47257"/>
                  <a:pt x="158941" y="47257"/>
                </a:cubicBezTo>
                <a:cubicBezTo>
                  <a:pt x="158595" y="47257"/>
                  <a:pt x="158365" y="47257"/>
                  <a:pt x="158019" y="47257"/>
                </a:cubicBezTo>
                <a:cubicBezTo>
                  <a:pt x="157673" y="47257"/>
                  <a:pt x="157212" y="47257"/>
                  <a:pt x="156866" y="47372"/>
                </a:cubicBezTo>
                <a:cubicBezTo>
                  <a:pt x="156520" y="47372"/>
                  <a:pt x="156290" y="47372"/>
                  <a:pt x="155944" y="47487"/>
                </a:cubicBezTo>
                <a:cubicBezTo>
                  <a:pt x="155599" y="47487"/>
                  <a:pt x="155253" y="47487"/>
                  <a:pt x="154792" y="47603"/>
                </a:cubicBezTo>
                <a:cubicBezTo>
                  <a:pt x="154446" y="47603"/>
                  <a:pt x="154215" y="47603"/>
                  <a:pt x="153870" y="47718"/>
                </a:cubicBezTo>
                <a:cubicBezTo>
                  <a:pt x="153524" y="47718"/>
                  <a:pt x="153178" y="47833"/>
                  <a:pt x="152832" y="47948"/>
                </a:cubicBezTo>
                <a:cubicBezTo>
                  <a:pt x="152486" y="47948"/>
                  <a:pt x="152256" y="47948"/>
                  <a:pt x="151910" y="48179"/>
                </a:cubicBezTo>
                <a:cubicBezTo>
                  <a:pt x="151565" y="48179"/>
                  <a:pt x="151219" y="48294"/>
                  <a:pt x="150873" y="48409"/>
                </a:cubicBezTo>
                <a:cubicBezTo>
                  <a:pt x="150527" y="48409"/>
                  <a:pt x="150297" y="48525"/>
                  <a:pt x="149951" y="48640"/>
                </a:cubicBezTo>
                <a:cubicBezTo>
                  <a:pt x="149605" y="48640"/>
                  <a:pt x="149259" y="48755"/>
                  <a:pt x="148914" y="48871"/>
                </a:cubicBezTo>
                <a:cubicBezTo>
                  <a:pt x="148568" y="48871"/>
                  <a:pt x="148337" y="48986"/>
                  <a:pt x="147991" y="49101"/>
                </a:cubicBezTo>
                <a:cubicBezTo>
                  <a:pt x="147646" y="49101"/>
                  <a:pt x="147300" y="49216"/>
                  <a:pt x="146954" y="49332"/>
                </a:cubicBezTo>
                <a:cubicBezTo>
                  <a:pt x="146608" y="49332"/>
                  <a:pt x="146378" y="49447"/>
                  <a:pt x="146032" y="49562"/>
                </a:cubicBezTo>
                <a:cubicBezTo>
                  <a:pt x="145686" y="49562"/>
                  <a:pt x="145340" y="49792"/>
                  <a:pt x="144995" y="49792"/>
                </a:cubicBezTo>
                <a:cubicBezTo>
                  <a:pt x="144649" y="49792"/>
                  <a:pt x="144418" y="50023"/>
                  <a:pt x="144073" y="50023"/>
                </a:cubicBezTo>
                <a:cubicBezTo>
                  <a:pt x="143727" y="50023"/>
                  <a:pt x="143381" y="50254"/>
                  <a:pt x="143035" y="50369"/>
                </a:cubicBezTo>
                <a:cubicBezTo>
                  <a:pt x="142689" y="50369"/>
                  <a:pt x="142459" y="50600"/>
                  <a:pt x="142113" y="50715"/>
                </a:cubicBezTo>
                <a:cubicBezTo>
                  <a:pt x="141768" y="50715"/>
                  <a:pt x="141422" y="50945"/>
                  <a:pt x="141191" y="51060"/>
                </a:cubicBezTo>
                <a:cubicBezTo>
                  <a:pt x="140846" y="51060"/>
                  <a:pt x="140615" y="51291"/>
                  <a:pt x="140269" y="51406"/>
                </a:cubicBezTo>
                <a:cubicBezTo>
                  <a:pt x="139923" y="51406"/>
                  <a:pt x="139578" y="51637"/>
                  <a:pt x="139347" y="51752"/>
                </a:cubicBezTo>
                <a:cubicBezTo>
                  <a:pt x="139001" y="51752"/>
                  <a:pt x="138771" y="51983"/>
                  <a:pt x="138425" y="52098"/>
                </a:cubicBezTo>
                <a:cubicBezTo>
                  <a:pt x="138079" y="52213"/>
                  <a:pt x="137849" y="52328"/>
                  <a:pt x="137503" y="52444"/>
                </a:cubicBezTo>
                <a:cubicBezTo>
                  <a:pt x="137157" y="52559"/>
                  <a:pt x="136927" y="52674"/>
                  <a:pt x="136581" y="52789"/>
                </a:cubicBezTo>
                <a:cubicBezTo>
                  <a:pt x="136235" y="52905"/>
                  <a:pt x="136005" y="53020"/>
                  <a:pt x="135659" y="53135"/>
                </a:cubicBezTo>
                <a:cubicBezTo>
                  <a:pt x="135313" y="53250"/>
                  <a:pt x="135083" y="53366"/>
                  <a:pt x="134737" y="53481"/>
                </a:cubicBezTo>
                <a:cubicBezTo>
                  <a:pt x="134391" y="53596"/>
                  <a:pt x="134160" y="53712"/>
                  <a:pt x="133815" y="53827"/>
                </a:cubicBezTo>
                <a:cubicBezTo>
                  <a:pt x="133469" y="53942"/>
                  <a:pt x="133238" y="54057"/>
                  <a:pt x="132893" y="54288"/>
                </a:cubicBezTo>
                <a:cubicBezTo>
                  <a:pt x="132547" y="54403"/>
                  <a:pt x="132316" y="54518"/>
                  <a:pt x="131971" y="54749"/>
                </a:cubicBezTo>
                <a:cubicBezTo>
                  <a:pt x="131625" y="54864"/>
                  <a:pt x="131394" y="54979"/>
                  <a:pt x="131049" y="55210"/>
                </a:cubicBezTo>
                <a:cubicBezTo>
                  <a:pt x="130818" y="55325"/>
                  <a:pt x="130472" y="55440"/>
                  <a:pt x="130242" y="55671"/>
                </a:cubicBezTo>
                <a:cubicBezTo>
                  <a:pt x="129896" y="55786"/>
                  <a:pt x="129666" y="56017"/>
                  <a:pt x="129320" y="56132"/>
                </a:cubicBezTo>
                <a:cubicBezTo>
                  <a:pt x="129089" y="56247"/>
                  <a:pt x="128743" y="56478"/>
                  <a:pt x="128513" y="56593"/>
                </a:cubicBezTo>
                <a:cubicBezTo>
                  <a:pt x="128167" y="56708"/>
                  <a:pt x="127937" y="56939"/>
                  <a:pt x="127591" y="57054"/>
                </a:cubicBezTo>
                <a:cubicBezTo>
                  <a:pt x="127360" y="57169"/>
                  <a:pt x="127015" y="57400"/>
                  <a:pt x="126784" y="57515"/>
                </a:cubicBezTo>
                <a:cubicBezTo>
                  <a:pt x="126438" y="57630"/>
                  <a:pt x="126208" y="57861"/>
                  <a:pt x="125862" y="57976"/>
                </a:cubicBezTo>
                <a:cubicBezTo>
                  <a:pt x="125631" y="58091"/>
                  <a:pt x="125286" y="58322"/>
                  <a:pt x="125055" y="58437"/>
                </a:cubicBezTo>
                <a:cubicBezTo>
                  <a:pt x="124709" y="58668"/>
                  <a:pt x="124479" y="58783"/>
                  <a:pt x="124133" y="59013"/>
                </a:cubicBezTo>
                <a:cubicBezTo>
                  <a:pt x="123903" y="59129"/>
                  <a:pt x="123672" y="59359"/>
                  <a:pt x="123326" y="59475"/>
                </a:cubicBezTo>
                <a:cubicBezTo>
                  <a:pt x="122980" y="59705"/>
                  <a:pt x="122750" y="59820"/>
                  <a:pt x="122404" y="60051"/>
                </a:cubicBezTo>
                <a:cubicBezTo>
                  <a:pt x="122174" y="60166"/>
                  <a:pt x="121943" y="60397"/>
                  <a:pt x="121713" y="60512"/>
                </a:cubicBezTo>
                <a:cubicBezTo>
                  <a:pt x="121367" y="60742"/>
                  <a:pt x="121136" y="60858"/>
                  <a:pt x="120790" y="61088"/>
                </a:cubicBezTo>
                <a:cubicBezTo>
                  <a:pt x="120560" y="61203"/>
                  <a:pt x="120329" y="61434"/>
                  <a:pt x="120099" y="61549"/>
                </a:cubicBezTo>
                <a:cubicBezTo>
                  <a:pt x="119753" y="61780"/>
                  <a:pt x="119523" y="62010"/>
                  <a:pt x="119177" y="62241"/>
                </a:cubicBezTo>
                <a:cubicBezTo>
                  <a:pt x="118946" y="62356"/>
                  <a:pt x="118716" y="62587"/>
                  <a:pt x="118601" y="62702"/>
                </a:cubicBezTo>
                <a:cubicBezTo>
                  <a:pt x="118255" y="62932"/>
                  <a:pt x="117909" y="63163"/>
                  <a:pt x="117678" y="63393"/>
                </a:cubicBezTo>
                <a:cubicBezTo>
                  <a:pt x="117448" y="63509"/>
                  <a:pt x="117333" y="63624"/>
                  <a:pt x="117218" y="63739"/>
                </a:cubicBezTo>
                <a:cubicBezTo>
                  <a:pt x="116872" y="63970"/>
                  <a:pt x="116526" y="64315"/>
                  <a:pt x="116180" y="64546"/>
                </a:cubicBezTo>
                <a:cubicBezTo>
                  <a:pt x="116180" y="64546"/>
                  <a:pt x="115950" y="64776"/>
                  <a:pt x="115835" y="64776"/>
                </a:cubicBezTo>
                <a:cubicBezTo>
                  <a:pt x="113990" y="66275"/>
                  <a:pt x="112146" y="67889"/>
                  <a:pt x="110417" y="69502"/>
                </a:cubicBezTo>
                <a:cubicBezTo>
                  <a:pt x="110417" y="69502"/>
                  <a:pt x="110417" y="69502"/>
                  <a:pt x="110417" y="69502"/>
                </a:cubicBezTo>
                <a:cubicBezTo>
                  <a:pt x="110072" y="69848"/>
                  <a:pt x="109726" y="70194"/>
                  <a:pt x="109265" y="70539"/>
                </a:cubicBezTo>
                <a:cubicBezTo>
                  <a:pt x="109265" y="70539"/>
                  <a:pt x="109034" y="70770"/>
                  <a:pt x="109034" y="70770"/>
                </a:cubicBezTo>
                <a:cubicBezTo>
                  <a:pt x="108688" y="71116"/>
                  <a:pt x="108343" y="71462"/>
                  <a:pt x="107997" y="71807"/>
                </a:cubicBezTo>
                <a:cubicBezTo>
                  <a:pt x="107882" y="71923"/>
                  <a:pt x="107766" y="72038"/>
                  <a:pt x="107651" y="72153"/>
                </a:cubicBezTo>
                <a:cubicBezTo>
                  <a:pt x="107305" y="72499"/>
                  <a:pt x="107075" y="72845"/>
                  <a:pt x="106729" y="73190"/>
                </a:cubicBezTo>
                <a:cubicBezTo>
                  <a:pt x="106614" y="73306"/>
                  <a:pt x="106498" y="73421"/>
                  <a:pt x="106383" y="73652"/>
                </a:cubicBezTo>
                <a:cubicBezTo>
                  <a:pt x="106038" y="73997"/>
                  <a:pt x="105807" y="74343"/>
                  <a:pt x="105461" y="74689"/>
                </a:cubicBezTo>
                <a:cubicBezTo>
                  <a:pt x="105346" y="74804"/>
                  <a:pt x="105231" y="75035"/>
                  <a:pt x="105115" y="75150"/>
                </a:cubicBezTo>
                <a:cubicBezTo>
                  <a:pt x="104770" y="75496"/>
                  <a:pt x="104539" y="75841"/>
                  <a:pt x="104309" y="76187"/>
                </a:cubicBezTo>
                <a:cubicBezTo>
                  <a:pt x="104193" y="76302"/>
                  <a:pt x="104078" y="76533"/>
                  <a:pt x="103847" y="76648"/>
                </a:cubicBezTo>
                <a:cubicBezTo>
                  <a:pt x="103617" y="76994"/>
                  <a:pt x="103271" y="77340"/>
                  <a:pt x="103041" y="77686"/>
                </a:cubicBezTo>
                <a:cubicBezTo>
                  <a:pt x="102925" y="77801"/>
                  <a:pt x="102810" y="78031"/>
                  <a:pt x="102695" y="78147"/>
                </a:cubicBezTo>
                <a:cubicBezTo>
                  <a:pt x="102464" y="78493"/>
                  <a:pt x="102119" y="78838"/>
                  <a:pt x="101888" y="79184"/>
                </a:cubicBezTo>
                <a:cubicBezTo>
                  <a:pt x="101773" y="79299"/>
                  <a:pt x="101658" y="79530"/>
                  <a:pt x="101542" y="79645"/>
                </a:cubicBezTo>
                <a:cubicBezTo>
                  <a:pt x="101312" y="79991"/>
                  <a:pt x="101081" y="80337"/>
                  <a:pt x="100736" y="80682"/>
                </a:cubicBezTo>
                <a:cubicBezTo>
                  <a:pt x="100620" y="80913"/>
                  <a:pt x="100505" y="81028"/>
                  <a:pt x="100390" y="81259"/>
                </a:cubicBezTo>
                <a:cubicBezTo>
                  <a:pt x="100159" y="81604"/>
                  <a:pt x="99929" y="81950"/>
                  <a:pt x="99698" y="82296"/>
                </a:cubicBezTo>
                <a:cubicBezTo>
                  <a:pt x="99583" y="82527"/>
                  <a:pt x="99468" y="82642"/>
                  <a:pt x="99353" y="82872"/>
                </a:cubicBezTo>
                <a:cubicBezTo>
                  <a:pt x="99122" y="83218"/>
                  <a:pt x="98891" y="83564"/>
                  <a:pt x="98661" y="83910"/>
                </a:cubicBezTo>
                <a:cubicBezTo>
                  <a:pt x="98546" y="84140"/>
                  <a:pt x="98430" y="84256"/>
                  <a:pt x="98315" y="84486"/>
                </a:cubicBezTo>
                <a:cubicBezTo>
                  <a:pt x="98085" y="84832"/>
                  <a:pt x="97854" y="85178"/>
                  <a:pt x="97624" y="85639"/>
                </a:cubicBezTo>
                <a:cubicBezTo>
                  <a:pt x="97624" y="85869"/>
                  <a:pt x="97393" y="85984"/>
                  <a:pt x="97278" y="86215"/>
                </a:cubicBezTo>
                <a:cubicBezTo>
                  <a:pt x="97047" y="86561"/>
                  <a:pt x="96817" y="86907"/>
                  <a:pt x="96586" y="87368"/>
                </a:cubicBezTo>
                <a:cubicBezTo>
                  <a:pt x="96586" y="87598"/>
                  <a:pt x="96356" y="87713"/>
                  <a:pt x="96241" y="87944"/>
                </a:cubicBezTo>
                <a:cubicBezTo>
                  <a:pt x="96010" y="88290"/>
                  <a:pt x="95779" y="88751"/>
                  <a:pt x="95549" y="89096"/>
                </a:cubicBezTo>
                <a:cubicBezTo>
                  <a:pt x="95549" y="89327"/>
                  <a:pt x="95318" y="89442"/>
                  <a:pt x="95203" y="89673"/>
                </a:cubicBezTo>
                <a:cubicBezTo>
                  <a:pt x="94973" y="90019"/>
                  <a:pt x="94742" y="90479"/>
                  <a:pt x="94512" y="90825"/>
                </a:cubicBezTo>
                <a:cubicBezTo>
                  <a:pt x="94512" y="91056"/>
                  <a:pt x="94281" y="91171"/>
                  <a:pt x="94166" y="91402"/>
                </a:cubicBezTo>
                <a:cubicBezTo>
                  <a:pt x="93935" y="91747"/>
                  <a:pt x="93705" y="92208"/>
                  <a:pt x="93590" y="92554"/>
                </a:cubicBezTo>
                <a:cubicBezTo>
                  <a:pt x="93590" y="92785"/>
                  <a:pt x="93359" y="92900"/>
                  <a:pt x="93359" y="93131"/>
                </a:cubicBezTo>
                <a:cubicBezTo>
                  <a:pt x="93128" y="93591"/>
                  <a:pt x="93013" y="93937"/>
                  <a:pt x="92783" y="94399"/>
                </a:cubicBezTo>
                <a:cubicBezTo>
                  <a:pt x="92783" y="94629"/>
                  <a:pt x="92668" y="94744"/>
                  <a:pt x="92552" y="94975"/>
                </a:cubicBezTo>
                <a:cubicBezTo>
                  <a:pt x="92322" y="95436"/>
                  <a:pt x="92207" y="95782"/>
                  <a:pt x="91976" y="96243"/>
                </a:cubicBezTo>
                <a:cubicBezTo>
                  <a:pt x="91976" y="96358"/>
                  <a:pt x="91861" y="96588"/>
                  <a:pt x="91745" y="96704"/>
                </a:cubicBezTo>
                <a:cubicBezTo>
                  <a:pt x="91515" y="97165"/>
                  <a:pt x="91400" y="97511"/>
                  <a:pt x="91169" y="97971"/>
                </a:cubicBezTo>
                <a:cubicBezTo>
                  <a:pt x="91169" y="98087"/>
                  <a:pt x="91054" y="98317"/>
                  <a:pt x="90939" y="98433"/>
                </a:cubicBezTo>
                <a:cubicBezTo>
                  <a:pt x="90708" y="98894"/>
                  <a:pt x="90593" y="99355"/>
                  <a:pt x="90362" y="99816"/>
                </a:cubicBezTo>
                <a:cubicBezTo>
                  <a:pt x="90362" y="99931"/>
                  <a:pt x="90247" y="100162"/>
                  <a:pt x="90132" y="100277"/>
                </a:cubicBezTo>
                <a:cubicBezTo>
                  <a:pt x="89901" y="100738"/>
                  <a:pt x="89786" y="101199"/>
                  <a:pt x="89671" y="101660"/>
                </a:cubicBezTo>
                <a:cubicBezTo>
                  <a:pt x="89671" y="101775"/>
                  <a:pt x="89671" y="102006"/>
                  <a:pt x="89556" y="102121"/>
                </a:cubicBezTo>
                <a:cubicBezTo>
                  <a:pt x="89440" y="102582"/>
                  <a:pt x="89210" y="103043"/>
                  <a:pt x="89094" y="103619"/>
                </a:cubicBezTo>
                <a:cubicBezTo>
                  <a:pt x="89094" y="103734"/>
                  <a:pt x="89094" y="103850"/>
                  <a:pt x="88979" y="103965"/>
                </a:cubicBezTo>
                <a:cubicBezTo>
                  <a:pt x="88864" y="104426"/>
                  <a:pt x="88633" y="105002"/>
                  <a:pt x="88518" y="105463"/>
                </a:cubicBezTo>
                <a:cubicBezTo>
                  <a:pt x="88518" y="105463"/>
                  <a:pt x="88518" y="105694"/>
                  <a:pt x="88518" y="105809"/>
                </a:cubicBezTo>
                <a:cubicBezTo>
                  <a:pt x="88403" y="106386"/>
                  <a:pt x="88173" y="106846"/>
                  <a:pt x="88057" y="107423"/>
                </a:cubicBezTo>
                <a:cubicBezTo>
                  <a:pt x="88057" y="107423"/>
                  <a:pt x="88057" y="107538"/>
                  <a:pt x="88057" y="107653"/>
                </a:cubicBezTo>
                <a:cubicBezTo>
                  <a:pt x="87942" y="108230"/>
                  <a:pt x="87711" y="108806"/>
                  <a:pt x="87596" y="109382"/>
                </a:cubicBezTo>
                <a:cubicBezTo>
                  <a:pt x="87596" y="109382"/>
                  <a:pt x="87596" y="109382"/>
                  <a:pt x="87596" y="109382"/>
                </a:cubicBezTo>
                <a:cubicBezTo>
                  <a:pt x="86328" y="114454"/>
                  <a:pt x="85522" y="119756"/>
                  <a:pt x="85176" y="125173"/>
                </a:cubicBezTo>
                <a:lnTo>
                  <a:pt x="85176" y="125173"/>
                </a:lnTo>
                <a:cubicBezTo>
                  <a:pt x="85176" y="126671"/>
                  <a:pt x="85060" y="128170"/>
                  <a:pt x="85060" y="129668"/>
                </a:cubicBezTo>
                <a:cubicBezTo>
                  <a:pt x="85060" y="174735"/>
                  <a:pt x="121136" y="211273"/>
                  <a:pt x="165856" y="212310"/>
                </a:cubicBezTo>
                <a:cubicBezTo>
                  <a:pt x="164934" y="212310"/>
                  <a:pt x="164012" y="212310"/>
                  <a:pt x="163090" y="212310"/>
                </a:cubicBezTo>
                <a:cubicBezTo>
                  <a:pt x="114912" y="212310"/>
                  <a:pt x="75955" y="173237"/>
                  <a:pt x="75955" y="125173"/>
                </a:cubicBezTo>
                <a:lnTo>
                  <a:pt x="0" y="125173"/>
                </a:lnTo>
                <a:cubicBezTo>
                  <a:pt x="0" y="56017"/>
                  <a:pt x="56015" y="0"/>
                  <a:pt x="125170" y="0"/>
                </a:cubicBezTo>
                <a:cubicBezTo>
                  <a:pt x="194325" y="0"/>
                  <a:pt x="250341" y="56017"/>
                  <a:pt x="250341" y="125173"/>
                </a:cubicBezTo>
                <a:cubicBezTo>
                  <a:pt x="250341" y="194329"/>
                  <a:pt x="250341" y="126671"/>
                  <a:pt x="250341" y="127478"/>
                </a:cubicBezTo>
                <a:close/>
              </a:path>
            </a:pathLst>
          </a:custGeom>
          <a:solidFill>
            <a:schemeClr val="accent1"/>
          </a:solidFill>
          <a:ln w="115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C7A528A-D5D8-2FEB-7C60-0643D081C125}"/>
              </a:ext>
            </a:extLst>
          </p:cNvPr>
          <p:cNvGrpSpPr/>
          <p:nvPr/>
        </p:nvGrpSpPr>
        <p:grpSpPr>
          <a:xfrm>
            <a:off x="4179665" y="4382120"/>
            <a:ext cx="1919887" cy="1254484"/>
            <a:chOff x="8921977" y="1453429"/>
            <a:chExt cx="2737677" cy="42542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F92858-7A4B-9BF6-31D6-037378E2D417}"/>
                </a:ext>
              </a:extLst>
            </p:cNvPr>
            <p:cNvSpPr txBox="1"/>
            <p:nvPr/>
          </p:nvSpPr>
          <p:spPr>
            <a:xfrm>
              <a:off x="8921977" y="1453429"/>
              <a:ext cx="2737677" cy="13568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000" b="1" noProof="1">
                  <a:solidFill>
                    <a:schemeClr val="accent5">
                      <a:lumMod val="75000"/>
                    </a:schemeClr>
                  </a:solidFill>
                </a:rPr>
                <a:t>Lorem Ipsum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46FB6C-B393-C860-CE6F-AC2E61DA4AA6}"/>
                </a:ext>
              </a:extLst>
            </p:cNvPr>
            <p:cNvSpPr txBox="1"/>
            <p:nvPr/>
          </p:nvSpPr>
          <p:spPr>
            <a:xfrm>
              <a:off x="8921977" y="1586607"/>
              <a:ext cx="2737677" cy="29224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000" noProof="1">
                  <a:solidFill>
                    <a:schemeClr val="tx2"/>
                  </a:solidFill>
                </a:rPr>
                <a:t>Lorem ipsum dolor sit amet, consectetur adipiscing elit. Sed tempus, lacus in dictum efficitur, dolor nisl dapibus turpis.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98DC99-4D0F-EF92-4037-1D6ADE4F65DE}"/>
              </a:ext>
            </a:extLst>
          </p:cNvPr>
          <p:cNvGrpSpPr/>
          <p:nvPr/>
        </p:nvGrpSpPr>
        <p:grpSpPr>
          <a:xfrm>
            <a:off x="8006134" y="4382120"/>
            <a:ext cx="1919887" cy="1254484"/>
            <a:chOff x="8921977" y="1453429"/>
            <a:chExt cx="2737677" cy="42542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A49B26-780F-43B2-E179-047F01A0DB22}"/>
                </a:ext>
              </a:extLst>
            </p:cNvPr>
            <p:cNvSpPr txBox="1"/>
            <p:nvPr/>
          </p:nvSpPr>
          <p:spPr>
            <a:xfrm>
              <a:off x="8921977" y="1453429"/>
              <a:ext cx="2737677" cy="13568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000" b="1" noProof="1">
                  <a:solidFill>
                    <a:schemeClr val="accent1">
                      <a:lumMod val="75000"/>
                    </a:schemeClr>
                  </a:solidFill>
                </a:rPr>
                <a:t>Lorem Ipsum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536FE9-AE70-C4B7-A8E0-C85375A72463}"/>
                </a:ext>
              </a:extLst>
            </p:cNvPr>
            <p:cNvSpPr txBox="1"/>
            <p:nvPr/>
          </p:nvSpPr>
          <p:spPr>
            <a:xfrm>
              <a:off x="8921977" y="1586607"/>
              <a:ext cx="2737677" cy="29224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000" noProof="1">
                  <a:solidFill>
                    <a:schemeClr val="tx2"/>
                  </a:solidFill>
                </a:rPr>
                <a:t>Lorem ipsum dolor sit amet, consectetur adipiscing elit. Sed tempus, lacus in dictum efficitur, dolor nisl dapibus turpis.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BD2F0EE-EFAF-FA94-ABC8-3AB166846ABB}"/>
              </a:ext>
            </a:extLst>
          </p:cNvPr>
          <p:cNvGrpSpPr/>
          <p:nvPr/>
        </p:nvGrpSpPr>
        <p:grpSpPr>
          <a:xfrm>
            <a:off x="2266431" y="1366944"/>
            <a:ext cx="1919887" cy="1254484"/>
            <a:chOff x="8921977" y="1453429"/>
            <a:chExt cx="2737677" cy="42542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A3A89D9-E890-DF31-5F91-841376C7B4FC}"/>
                </a:ext>
              </a:extLst>
            </p:cNvPr>
            <p:cNvSpPr txBox="1"/>
            <p:nvPr/>
          </p:nvSpPr>
          <p:spPr>
            <a:xfrm>
              <a:off x="8921977" y="1453429"/>
              <a:ext cx="2737677" cy="13568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000" b="1" noProof="1">
                  <a:solidFill>
                    <a:schemeClr val="accent2">
                      <a:lumMod val="75000"/>
                    </a:schemeClr>
                  </a:solidFill>
                </a:rPr>
                <a:t>Lorem Ipsum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499E65-5996-3DFC-1F7B-4B880E9C90D3}"/>
                </a:ext>
              </a:extLst>
            </p:cNvPr>
            <p:cNvSpPr txBox="1"/>
            <p:nvPr/>
          </p:nvSpPr>
          <p:spPr>
            <a:xfrm>
              <a:off x="8921977" y="1586607"/>
              <a:ext cx="2737677" cy="29224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000" noProof="1">
                  <a:solidFill>
                    <a:schemeClr val="tx2"/>
                  </a:solidFill>
                </a:rPr>
                <a:t>Lorem ipsum dolor sit amet, consectetur adipiscing elit. Sed tempus, lacus in dictum efficitur, dolor nisl dapibus turpis.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C5E4D9-7662-72BA-4055-72BCE544D3FB}"/>
              </a:ext>
            </a:extLst>
          </p:cNvPr>
          <p:cNvGrpSpPr/>
          <p:nvPr/>
        </p:nvGrpSpPr>
        <p:grpSpPr>
          <a:xfrm>
            <a:off x="6092899" y="1366944"/>
            <a:ext cx="1919887" cy="1254484"/>
            <a:chOff x="8921977" y="1453429"/>
            <a:chExt cx="2737677" cy="42542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0CA8E93-1AE3-6C4F-B068-521D404C0F11}"/>
                </a:ext>
              </a:extLst>
            </p:cNvPr>
            <p:cNvSpPr txBox="1"/>
            <p:nvPr/>
          </p:nvSpPr>
          <p:spPr>
            <a:xfrm>
              <a:off x="8921977" y="1453429"/>
              <a:ext cx="2737677" cy="135687"/>
            </a:xfrm>
            <a:prstGeom prst="rect">
              <a:avLst/>
            </a:prstGeom>
            <a:noFill/>
          </p:spPr>
          <p:txBody>
            <a:bodyPr wrap="square" lIns="0" rIns="0" rtlCol="0" anchor="b">
              <a:spAutoFit/>
            </a:bodyPr>
            <a:lstStyle/>
            <a:p>
              <a:pPr algn="ctr"/>
              <a:r>
                <a:rPr lang="en-US" sz="2000" b="1" noProof="1">
                  <a:solidFill>
                    <a:schemeClr val="accent4">
                      <a:lumMod val="75000"/>
                    </a:schemeClr>
                  </a:solidFill>
                </a:rPr>
                <a:t>Lorem Ipsum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19F3823-105E-040C-36AA-F0254382A7A2}"/>
                </a:ext>
              </a:extLst>
            </p:cNvPr>
            <p:cNvSpPr txBox="1"/>
            <p:nvPr/>
          </p:nvSpPr>
          <p:spPr>
            <a:xfrm>
              <a:off x="8921977" y="1586607"/>
              <a:ext cx="2737677" cy="292249"/>
            </a:xfrm>
            <a:prstGeom prst="rect">
              <a:avLst/>
            </a:prstGeom>
            <a:noFill/>
          </p:spPr>
          <p:txBody>
            <a:bodyPr wrap="square" lIns="0" rIns="0" rtlCol="0" anchor="t">
              <a:spAutoFit/>
            </a:bodyPr>
            <a:lstStyle/>
            <a:p>
              <a:pPr algn="ctr"/>
              <a:r>
                <a:rPr lang="en-US" sz="1000" noProof="1">
                  <a:solidFill>
                    <a:schemeClr val="tx2"/>
                  </a:solidFill>
                </a:rPr>
                <a:t>Lorem ipsum dolor sit amet, consectetur adipiscing elit. Sed tempus, lacus in dictum efficitur, dolor nisl dapibus turpis.</a:t>
              </a:r>
            </a:p>
          </p:txBody>
        </p:sp>
      </p:grpSp>
      <p:pic>
        <p:nvPicPr>
          <p:cNvPr id="19" name="Graphic 18" descr="Hourglass 30% with solid fill">
            <a:extLst>
              <a:ext uri="{FF2B5EF4-FFF2-40B4-BE49-F238E27FC236}">
                <a16:creationId xmlns:a16="http://schemas.microsoft.com/office/drawing/2014/main" id="{3AA7BFBC-4FFB-0DA0-CA95-8AA4F4D996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6366" y="2934215"/>
            <a:ext cx="452155" cy="452155"/>
          </a:xfrm>
          <a:prstGeom prst="rect">
            <a:avLst/>
          </a:prstGeom>
        </p:spPr>
      </p:pic>
      <p:pic>
        <p:nvPicPr>
          <p:cNvPr id="20" name="Graphic 19" descr="Lightbulb with solid fill">
            <a:extLst>
              <a:ext uri="{FF2B5EF4-FFF2-40B4-BE49-F238E27FC236}">
                <a16:creationId xmlns:a16="http://schemas.microsoft.com/office/drawing/2014/main" id="{1AA3F6BE-69DC-961C-40B1-F78918CAD8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72227" y="3489003"/>
            <a:ext cx="452155" cy="452155"/>
          </a:xfrm>
          <a:prstGeom prst="rect">
            <a:avLst/>
          </a:prstGeom>
        </p:spPr>
      </p:pic>
      <p:pic>
        <p:nvPicPr>
          <p:cNvPr id="21" name="Graphic 20" descr="Research with solid fill">
            <a:extLst>
              <a:ext uri="{FF2B5EF4-FFF2-40B4-BE49-F238E27FC236}">
                <a16:creationId xmlns:a16="http://schemas.microsoft.com/office/drawing/2014/main" id="{2CEC978B-A84E-7971-FB26-DDB70487C3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5614" y="3465550"/>
            <a:ext cx="452155" cy="452155"/>
          </a:xfrm>
          <a:prstGeom prst="rect">
            <a:avLst/>
          </a:prstGeom>
        </p:spPr>
      </p:pic>
      <p:pic>
        <p:nvPicPr>
          <p:cNvPr id="22" name="Graphic 21" descr="Bar graph with upward trend with solid fill">
            <a:extLst>
              <a:ext uri="{FF2B5EF4-FFF2-40B4-BE49-F238E27FC236}">
                <a16:creationId xmlns:a16="http://schemas.microsoft.com/office/drawing/2014/main" id="{93AA855B-A021-AE36-3579-E07A7546D9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9161" y="2965123"/>
            <a:ext cx="452155" cy="45215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F965B57-83EE-5103-A386-12065813D51C}"/>
              </a:ext>
            </a:extLst>
          </p:cNvPr>
          <p:cNvSpPr txBox="1"/>
          <p:nvPr/>
        </p:nvSpPr>
        <p:spPr>
          <a:xfrm>
            <a:off x="2869989" y="3032229"/>
            <a:ext cx="1344545" cy="784830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sz="4500" b="1" noProof="1">
                <a:solidFill>
                  <a:schemeClr val="accent2">
                    <a:lumMod val="75000"/>
                  </a:schemeClr>
                </a:solidFill>
              </a:rPr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5B67F4-056C-5F4A-5DB7-C5C52E675FEF}"/>
              </a:ext>
            </a:extLst>
          </p:cNvPr>
          <p:cNvSpPr txBox="1"/>
          <p:nvPr/>
        </p:nvSpPr>
        <p:spPr>
          <a:xfrm>
            <a:off x="4783371" y="3032229"/>
            <a:ext cx="1344545" cy="784830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sz="4500" b="1" noProof="1">
                <a:solidFill>
                  <a:schemeClr val="accent5">
                    <a:lumMod val="75000"/>
                  </a:schemeClr>
                </a:solidFill>
              </a:rPr>
              <a:t>02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981E2D-37B0-DFCC-3630-751BD9A0085A}"/>
              </a:ext>
            </a:extLst>
          </p:cNvPr>
          <p:cNvSpPr txBox="1"/>
          <p:nvPr/>
        </p:nvSpPr>
        <p:spPr>
          <a:xfrm>
            <a:off x="6696753" y="3032229"/>
            <a:ext cx="1344545" cy="784830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sz="4500" b="1" noProof="1">
                <a:solidFill>
                  <a:schemeClr val="accent4">
                    <a:lumMod val="75000"/>
                  </a:schemeClr>
                </a:solidFill>
              </a:rPr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C00EF4-8565-4F38-6942-D18A95E51F15}"/>
              </a:ext>
            </a:extLst>
          </p:cNvPr>
          <p:cNvSpPr txBox="1"/>
          <p:nvPr/>
        </p:nvSpPr>
        <p:spPr>
          <a:xfrm>
            <a:off x="8610135" y="3032229"/>
            <a:ext cx="1344545" cy="784830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lang="en-US" sz="4500" b="1" noProof="1">
                <a:solidFill>
                  <a:schemeClr val="accent1">
                    <a:lumMod val="75000"/>
                  </a:schemeClr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8489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62D4C-9EED-24E3-E334-138F3ADF5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L"/>
              <a:t>Analysis Plan and Methodology</a:t>
            </a:r>
            <a:endParaRPr lang="en-IL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6B60E3-6E24-B81A-850E-0F1C7AB6A5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3480329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0680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F8A75-3D0E-FBA7-C9A9-52E29C13E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IL" dirty="0"/>
              <a:t>Hypothesis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371DA-6225-3ED0-31FB-0CFC1E1B1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Patients with TP53 mutations that have the lowest experimental function scores (EFS) will show the highest Fraction Genome Altered (FGA)</a:t>
            </a:r>
            <a:endParaRPr lang="en-IL" sz="2400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7FBC3-2453-3653-A154-2877713DE8F1}"/>
              </a:ext>
            </a:extLst>
          </p:cNvPr>
          <p:cNvSpPr txBox="1"/>
          <p:nvPr/>
        </p:nvSpPr>
        <p:spPr>
          <a:xfrm>
            <a:off x="242084" y="6223861"/>
            <a:ext cx="117078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Giacomelli, A.O., Yang, X., Lintner, R.E. </a:t>
            </a:r>
            <a:r>
              <a:rPr lang="en-US" sz="1600" i="1" dirty="0"/>
              <a:t>et al.</a:t>
            </a:r>
            <a:r>
              <a:rPr lang="en-US" sz="1600" dirty="0"/>
              <a:t> Mutational processes shape the landscape of </a:t>
            </a:r>
            <a:r>
              <a:rPr lang="en-US" sz="1600" i="1" dirty="0"/>
              <a:t>TP53</a:t>
            </a:r>
            <a:r>
              <a:rPr lang="en-US" sz="1600" dirty="0"/>
              <a:t> mutations in human cancer. </a:t>
            </a:r>
            <a:r>
              <a:rPr lang="en-US" sz="1600" i="1" dirty="0"/>
              <a:t>Nat Genet</a:t>
            </a:r>
            <a:r>
              <a:rPr lang="en-US" sz="1600" dirty="0"/>
              <a:t> 50, 1381–1387 (2018).</a:t>
            </a:r>
            <a:endParaRPr lang="en-IL" sz="1600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63438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23E3D-3081-6279-96AE-306C13DFF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DB3BD-D1C6-E2CF-8283-E2C584FD5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464799" cy="1320800"/>
          </a:xfrm>
        </p:spPr>
        <p:txBody>
          <a:bodyPr/>
          <a:lstStyle/>
          <a:p>
            <a:r>
              <a:rPr lang="en-US" dirty="0"/>
              <a:t>Data Sources:</a:t>
            </a:r>
            <a:br>
              <a:rPr lang="en-US" dirty="0"/>
            </a:br>
            <a:r>
              <a:rPr lang="en-US" dirty="0"/>
              <a:t>Integrating Phenotype &amp; Genotype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A0A3D-8BE3-0B9A-CB05-49515B9F5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1624" y="2111840"/>
            <a:ext cx="3981164" cy="3880773"/>
          </a:xfrm>
        </p:spPr>
        <p:txBody>
          <a:bodyPr>
            <a:normAutofit/>
          </a:bodyPr>
          <a:lstStyle/>
          <a:p>
            <a:r>
              <a:rPr lang="en-US" dirty="0"/>
              <a:t>Giacomelli et al., Nature Genetics, 2018 (25,217 variants)</a:t>
            </a:r>
          </a:p>
          <a:p>
            <a:r>
              <a:rPr lang="en-US" dirty="0"/>
              <a:t>Role: Experimental "fitness" scores for every possible TP53 mutation, </a:t>
            </a:r>
            <a:r>
              <a:rPr lang="en-US" u="sng" dirty="0"/>
              <a:t>the genotype</a:t>
            </a:r>
          </a:p>
          <a:p>
            <a:r>
              <a:rPr lang="en-US" dirty="0"/>
              <a:t>Metric: Experimental Functional Score (derived from cell line fitness screens) quantifies exactly how well each specific TP53 mutant can suppress tumor growth in a controlled lab setting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705883-5B8C-C2EF-4572-7F0261B08839}"/>
              </a:ext>
            </a:extLst>
          </p:cNvPr>
          <p:cNvSpPr txBox="1">
            <a:spLocks/>
          </p:cNvSpPr>
          <p:nvPr/>
        </p:nvSpPr>
        <p:spPr>
          <a:xfrm>
            <a:off x="677333" y="2662612"/>
            <a:ext cx="382128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AACR GENIE v19.0 (~271,000 samples, 100,418 with FGA).</a:t>
            </a:r>
          </a:p>
          <a:p>
            <a:r>
              <a:rPr lang="en-US" dirty="0"/>
              <a:t>Role: Real-world patient data – </a:t>
            </a:r>
            <a:r>
              <a:rPr lang="en-US" u="sng" dirty="0"/>
              <a:t>the phenotype</a:t>
            </a:r>
          </a:p>
          <a:p>
            <a:r>
              <a:rPr lang="en-US" dirty="0"/>
              <a:t>Metric: FRACTION_GENOME_ALTERED (FGA), a quantitative measure of chromosomal instability</a:t>
            </a:r>
          </a:p>
          <a:p>
            <a:r>
              <a:rPr lang="en-US" dirty="0"/>
              <a:t>35,357 TP53-mutant</a:t>
            </a:r>
          </a:p>
          <a:p>
            <a:r>
              <a:rPr lang="en-US" dirty="0"/>
              <a:t>65,061 TP53-WT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DF2B16-6F47-3D24-4C4D-F99346EBABA1}"/>
              </a:ext>
            </a:extLst>
          </p:cNvPr>
          <p:cNvSpPr txBox="1"/>
          <p:nvPr/>
        </p:nvSpPr>
        <p:spPr>
          <a:xfrm>
            <a:off x="677333" y="2111840"/>
            <a:ext cx="1954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b="1" dirty="0"/>
              <a:t>Primary Analysis</a:t>
            </a:r>
          </a:p>
        </p:txBody>
      </p:sp>
    </p:spTree>
    <p:extLst>
      <p:ext uri="{BB962C8B-B14F-4D97-AF65-F5344CB8AC3E}">
        <p14:creationId xmlns:p14="http://schemas.microsoft.com/office/powerpoint/2010/main" val="308267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058A4-57BA-A749-DF2C-A825D38E4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DE122-7CBA-DB38-60AE-8DC39D99F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464799" cy="1320800"/>
          </a:xfrm>
        </p:spPr>
        <p:txBody>
          <a:bodyPr/>
          <a:lstStyle/>
          <a:p>
            <a:r>
              <a:rPr lang="en-US" dirty="0"/>
              <a:t>Data Sources:</a:t>
            </a:r>
            <a:br>
              <a:rPr lang="en-US" dirty="0"/>
            </a:br>
            <a:r>
              <a:rPr lang="en-US" dirty="0"/>
              <a:t>Integrating Phenotype &amp; Genotype</a:t>
            </a:r>
            <a:endParaRPr lang="en-IL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276440-F483-71DF-A071-F88FD52C4130}"/>
              </a:ext>
            </a:extLst>
          </p:cNvPr>
          <p:cNvSpPr txBox="1">
            <a:spLocks/>
          </p:cNvSpPr>
          <p:nvPr/>
        </p:nvSpPr>
        <p:spPr>
          <a:xfrm>
            <a:off x="677332" y="2662613"/>
            <a:ext cx="8583045" cy="2025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MSK-IMPACT 50K (53,292 samples, 505 cancer genes).</a:t>
            </a:r>
          </a:p>
          <a:p>
            <a:r>
              <a:rPr lang="en-US" dirty="0"/>
              <a:t>Role: Genome-wide CNA data to identify which pathways are altered when TP53 breaks</a:t>
            </a:r>
          </a:p>
          <a:p>
            <a:r>
              <a:rPr lang="en-US" dirty="0"/>
              <a:t>Compared 800 high-FGA TP53-mutant vs 800 low-FGA TP53-WT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444B93-A15C-1CB2-2E6C-9C3050449F23}"/>
              </a:ext>
            </a:extLst>
          </p:cNvPr>
          <p:cNvSpPr txBox="1"/>
          <p:nvPr/>
        </p:nvSpPr>
        <p:spPr>
          <a:xfrm>
            <a:off x="677333" y="2111840"/>
            <a:ext cx="222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b="1" dirty="0"/>
              <a:t>Secondary Analysis</a:t>
            </a:r>
          </a:p>
        </p:txBody>
      </p:sp>
    </p:spTree>
    <p:extLst>
      <p:ext uri="{BB962C8B-B14F-4D97-AF65-F5344CB8AC3E}">
        <p14:creationId xmlns:p14="http://schemas.microsoft.com/office/powerpoint/2010/main" val="738907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C0EC-70F3-B456-B4F2-CBEC1247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&amp; The Gap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8906F-69D8-F455-7C7C-8E739EA2A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know TP53 mutations generally lead to higher CNV burden.</a:t>
            </a:r>
          </a:p>
          <a:p>
            <a:r>
              <a:rPr lang="en-US" dirty="0"/>
              <a:t>The Missing Link: Not all TP53 mutations are the same.</a:t>
            </a:r>
          </a:p>
          <a:p>
            <a:pPr lvl="1"/>
            <a:r>
              <a:rPr lang="en-US" dirty="0"/>
              <a:t>Some are null (total loss).</a:t>
            </a:r>
          </a:p>
          <a:p>
            <a:pPr lvl="1"/>
            <a:r>
              <a:rPr lang="en-US" dirty="0"/>
              <a:t>Some are hypo-morphic (partial loss).</a:t>
            </a:r>
          </a:p>
          <a:p>
            <a:pPr lvl="1"/>
            <a:r>
              <a:rPr lang="en-US" dirty="0"/>
              <a:t>Some are gain-of-function (new, negative behavior).</a:t>
            </a:r>
          </a:p>
          <a:p>
            <a:r>
              <a:rPr lang="en-US" dirty="0"/>
              <a:t>The Question: Does the specific severity of the TP53 mutation (determined experimentally) correlate with the amount of genomic instability seen in actual patients?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5611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66A38-9537-573E-74A5-563F0127B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L" dirty="0"/>
              <a:t>Expected Results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694082-09B8-4C11-8ECB-872C6A169A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8182357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0361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35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36" name="Isosceles Triangle 12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37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39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40" name="Isosceles Triangle 16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4F57DB1C-6494-4CC4-A5E8-93195756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20">
            <a:extLst>
              <a:ext uri="{FF2B5EF4-FFF2-40B4-BE49-F238E27FC236}">
                <a16:creationId xmlns:a16="http://schemas.microsoft.com/office/drawing/2014/main" id="{FFFB778B-5206-4BB0-A468-327E71367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6C0471D-BE03-4D81-BDB5-D510BC0D8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3379" y="0"/>
            <a:ext cx="5438621" cy="6857999"/>
          </a:xfrm>
          <a:custGeom>
            <a:avLst/>
            <a:gdLst>
              <a:gd name="connsiteX0" fmla="*/ 0 w 5438621"/>
              <a:gd name="connsiteY0" fmla="*/ 0 h 6857999"/>
              <a:gd name="connsiteX1" fmla="*/ 573774 w 5438621"/>
              <a:gd name="connsiteY1" fmla="*/ 0 h 6857999"/>
              <a:gd name="connsiteX2" fmla="*/ 1182808 w 5438621"/>
              <a:gd name="connsiteY2" fmla="*/ 0 h 6857999"/>
              <a:gd name="connsiteX3" fmla="*/ 4537195 w 5438621"/>
              <a:gd name="connsiteY3" fmla="*/ 0 h 6857999"/>
              <a:gd name="connsiteX4" fmla="*/ 5187609 w 5438621"/>
              <a:gd name="connsiteY4" fmla="*/ 0 h 6857999"/>
              <a:gd name="connsiteX5" fmla="*/ 5438621 w 5438621"/>
              <a:gd name="connsiteY5" fmla="*/ 0 h 6857999"/>
              <a:gd name="connsiteX6" fmla="*/ 5438621 w 5438621"/>
              <a:gd name="connsiteY6" fmla="*/ 6857999 h 6857999"/>
              <a:gd name="connsiteX7" fmla="*/ 4802807 w 5438621"/>
              <a:gd name="connsiteY7" fmla="*/ 6857999 h 6857999"/>
              <a:gd name="connsiteX8" fmla="*/ 4537195 w 5438621"/>
              <a:gd name="connsiteY8" fmla="*/ 6857999 h 6857999"/>
              <a:gd name="connsiteX9" fmla="*/ 1182808 w 5438621"/>
              <a:gd name="connsiteY9" fmla="*/ 6857999 h 6857999"/>
              <a:gd name="connsiteX10" fmla="*/ 1049897 w 5438621"/>
              <a:gd name="connsiteY1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38621" h="6857999">
                <a:moveTo>
                  <a:pt x="0" y="0"/>
                </a:moveTo>
                <a:lnTo>
                  <a:pt x="573774" y="0"/>
                </a:lnTo>
                <a:lnTo>
                  <a:pt x="1182808" y="0"/>
                </a:lnTo>
                <a:lnTo>
                  <a:pt x="4537195" y="0"/>
                </a:lnTo>
                <a:lnTo>
                  <a:pt x="5187609" y="0"/>
                </a:lnTo>
                <a:lnTo>
                  <a:pt x="5438621" y="0"/>
                </a:lnTo>
                <a:lnTo>
                  <a:pt x="5438621" y="6857999"/>
                </a:lnTo>
                <a:lnTo>
                  <a:pt x="4802807" y="6857999"/>
                </a:lnTo>
                <a:lnTo>
                  <a:pt x="4537195" y="6857999"/>
                </a:lnTo>
                <a:lnTo>
                  <a:pt x="1182808" y="6857999"/>
                </a:lnTo>
                <a:lnTo>
                  <a:pt x="1049897" y="685799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2721A85-1EA4-4D87-97AB-0BB4AB78F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78143" y="0"/>
            <a:ext cx="860630" cy="6857999"/>
          </a:xfrm>
          <a:prstGeom prst="line">
            <a:avLst/>
          </a:prstGeom>
          <a:ln w="15875" cap="sq">
            <a:solidFill>
              <a:schemeClr val="accent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5E836EB-03CD-4BA5-A751-21D2ACC2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53743" y="3483429"/>
            <a:ext cx="6738258" cy="337457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27691EB-14CF-4237-B5EB-C94B92677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4940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2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04F75-1A81-46B1-1A3C-E7A3D4FB7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133" y="1466092"/>
            <a:ext cx="4372239" cy="39258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119092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5379</TotalTime>
  <Words>1697</Words>
  <Application>Microsoft Macintosh PowerPoint</Application>
  <PresentationFormat>Widescreen</PresentationFormat>
  <Paragraphs>130</Paragraphs>
  <Slides>13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Trebuchet MS</vt:lpstr>
      <vt:lpstr>Wingdings 3</vt:lpstr>
      <vt:lpstr>Facet</vt:lpstr>
      <vt:lpstr>TP53 mutations that are associated with an increased Copy Number Variation</vt:lpstr>
      <vt:lpstr>TP53</vt:lpstr>
      <vt:lpstr>Copy Number Variation</vt:lpstr>
      <vt:lpstr>Experimental Functional Score</vt:lpstr>
      <vt:lpstr>Research Questions</vt:lpstr>
      <vt:lpstr>Crescent Step Flow – Slide Template</vt:lpstr>
      <vt:lpstr>Analysis Plan and Methodology</vt:lpstr>
      <vt:lpstr>Hypothesis</vt:lpstr>
      <vt:lpstr>Data Sources: Integrating Phenotype &amp; Genotype</vt:lpstr>
      <vt:lpstr>Data Sources: Integrating Phenotype &amp; Genotype</vt:lpstr>
      <vt:lpstr>The Problem &amp; The Gap</vt:lpstr>
      <vt:lpstr>Expected Results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Ornit Bhonkar</dc:creator>
  <cp:lastModifiedBy>Ornit Bhonkar</cp:lastModifiedBy>
  <cp:revision>211</cp:revision>
  <dcterms:created xsi:type="dcterms:W3CDTF">2026-01-27T21:31:11Z</dcterms:created>
  <dcterms:modified xsi:type="dcterms:W3CDTF">2026-03-14T18:55:49Z</dcterms:modified>
</cp:coreProperties>
</file>