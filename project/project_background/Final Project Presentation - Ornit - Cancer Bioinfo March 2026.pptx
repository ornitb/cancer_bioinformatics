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297" r:id="rId1"/>
  </p:sldMasterIdLst>
  <p:notesMasterIdLst>
    <p:notesMasterId r:id="rId18"/>
  </p:notesMasterIdLst>
  <p:sldIdLst>
    <p:sldId id="256" r:id="rId2"/>
    <p:sldId id="359" r:id="rId3"/>
    <p:sldId id="358" r:id="rId4"/>
    <p:sldId id="360" r:id="rId5"/>
    <p:sldId id="363" r:id="rId6"/>
    <p:sldId id="364" r:id="rId7"/>
    <p:sldId id="265" r:id="rId8"/>
    <p:sldId id="259" r:id="rId9"/>
    <p:sldId id="272" r:id="rId10"/>
    <p:sldId id="273" r:id="rId11"/>
    <p:sldId id="271" r:id="rId12"/>
    <p:sldId id="366" r:id="rId13"/>
    <p:sldId id="367" r:id="rId14"/>
    <p:sldId id="368" r:id="rId15"/>
    <p:sldId id="369" r:id="rId16"/>
    <p:sldId id="365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6A0A7"/>
    <a:srgbClr val="903063"/>
    <a:srgbClr val="4D143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897"/>
    <p:restoredTop sz="86935"/>
  </p:normalViewPr>
  <p:slideViewPr>
    <p:cSldViewPr snapToGrid="0">
      <p:cViewPr varScale="1">
        <p:scale>
          <a:sx n="187" d="100"/>
          <a:sy n="187" d="100"/>
        </p:scale>
        <p:origin x="106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image" Target="../media/image4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image" Target="../media/image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3F21B75-5146-4195-9459-51C622777FCC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9BBC8A45-8DB2-4A0C-82DF-AAFEED00AC93}">
      <dgm:prSet/>
      <dgm:spPr/>
      <dgm:t>
        <a:bodyPr/>
        <a:lstStyle/>
        <a:p>
          <a:r>
            <a:rPr lang="en-US" dirty="0"/>
            <a:t>Is there a correlation between the experimental TP53 EFS</a:t>
          </a:r>
          <a:r>
            <a:rPr lang="he-IL" dirty="0"/>
            <a:t> </a:t>
          </a:r>
          <a:r>
            <a:rPr lang="en-US" dirty="0"/>
            <a:t>(Giacomelli et al.) and patient FGA (GENIE)?</a:t>
          </a:r>
        </a:p>
      </dgm:t>
    </dgm:pt>
    <dgm:pt modelId="{EBB82DBD-5FA3-40DD-9047-DB7B10450E9D}" type="parTrans" cxnId="{4A8B65DD-CC61-47F9-AEED-E83FDB2C97AE}">
      <dgm:prSet/>
      <dgm:spPr/>
      <dgm:t>
        <a:bodyPr/>
        <a:lstStyle/>
        <a:p>
          <a:endParaRPr lang="en-US"/>
        </a:p>
      </dgm:t>
    </dgm:pt>
    <dgm:pt modelId="{641914C6-6F3E-4C04-B6C1-45E8B6E8A99A}" type="sibTrans" cxnId="{4A8B65DD-CC61-47F9-AEED-E83FDB2C97AE}">
      <dgm:prSet/>
      <dgm:spPr/>
      <dgm:t>
        <a:bodyPr/>
        <a:lstStyle/>
        <a:p>
          <a:endParaRPr lang="en-US"/>
        </a:p>
      </dgm:t>
    </dgm:pt>
    <dgm:pt modelId="{D509BDE4-52F2-4A30-93B1-9C4AA34B8A00}">
      <dgm:prSet/>
      <dgm:spPr/>
      <dgm:t>
        <a:bodyPr/>
        <a:lstStyle/>
        <a:p>
          <a:r>
            <a:rPr lang="en-US" dirty="0"/>
            <a:t>Do "Hotspot" mutations drive higher genomic instability than rare mutations?</a:t>
          </a:r>
        </a:p>
      </dgm:t>
    </dgm:pt>
    <dgm:pt modelId="{146E563D-AE1B-4CA0-A906-6F857769FE4C}" type="parTrans" cxnId="{83FA26EB-E73B-4F0E-A208-0D1ECAEDB441}">
      <dgm:prSet/>
      <dgm:spPr/>
      <dgm:t>
        <a:bodyPr/>
        <a:lstStyle/>
        <a:p>
          <a:endParaRPr lang="en-US"/>
        </a:p>
      </dgm:t>
    </dgm:pt>
    <dgm:pt modelId="{19ACE51A-69C9-45BA-BAF3-5F83594449F4}" type="sibTrans" cxnId="{83FA26EB-E73B-4F0E-A208-0D1ECAEDB441}">
      <dgm:prSet/>
      <dgm:spPr/>
      <dgm:t>
        <a:bodyPr/>
        <a:lstStyle/>
        <a:p>
          <a:endParaRPr lang="en-US"/>
        </a:p>
      </dgm:t>
    </dgm:pt>
    <dgm:pt modelId="{6125D1FD-2174-41C1-B9E9-8AB8CFA1E045}">
      <dgm:prSet/>
      <dgm:spPr/>
      <dgm:t>
        <a:bodyPr/>
        <a:lstStyle/>
        <a:p>
          <a:r>
            <a:rPr lang="en-US" dirty="0"/>
            <a:t>Does this correlation hold true across all cancer types or is it specific to certain tissues?</a:t>
          </a:r>
        </a:p>
      </dgm:t>
    </dgm:pt>
    <dgm:pt modelId="{550F4277-5D36-4853-8A58-BD8E286667AF}" type="parTrans" cxnId="{CE9CEED5-4342-4458-BA70-9F798966922A}">
      <dgm:prSet/>
      <dgm:spPr/>
      <dgm:t>
        <a:bodyPr/>
        <a:lstStyle/>
        <a:p>
          <a:endParaRPr lang="en-US"/>
        </a:p>
      </dgm:t>
    </dgm:pt>
    <dgm:pt modelId="{D1B9CC37-8B92-456D-B2DA-C95951955C33}" type="sibTrans" cxnId="{CE9CEED5-4342-4458-BA70-9F798966922A}">
      <dgm:prSet/>
      <dgm:spPr/>
      <dgm:t>
        <a:bodyPr/>
        <a:lstStyle/>
        <a:p>
          <a:endParaRPr lang="en-US"/>
        </a:p>
      </dgm:t>
    </dgm:pt>
    <dgm:pt modelId="{4858335A-3207-4F5D-B354-CDF132D24DF1}" type="pres">
      <dgm:prSet presAssocID="{83F21B75-5146-4195-9459-51C622777FCC}" presName="root" presStyleCnt="0">
        <dgm:presLayoutVars>
          <dgm:dir/>
          <dgm:resizeHandles val="exact"/>
        </dgm:presLayoutVars>
      </dgm:prSet>
      <dgm:spPr/>
    </dgm:pt>
    <dgm:pt modelId="{BF5EE8C4-A69D-40C5-B324-5843A2199C84}" type="pres">
      <dgm:prSet presAssocID="{9BBC8A45-8DB2-4A0C-82DF-AAFEED00AC93}" presName="compNode" presStyleCnt="0"/>
      <dgm:spPr/>
    </dgm:pt>
    <dgm:pt modelId="{BCB2B71C-9545-43F4-8376-864E42A022A4}" type="pres">
      <dgm:prSet presAssocID="{9BBC8A45-8DB2-4A0C-82DF-AAFEED00AC93}" presName="bgRect" presStyleLbl="bgShp" presStyleIdx="0" presStyleCnt="3"/>
      <dgm:spPr/>
    </dgm:pt>
    <dgm:pt modelId="{18DC14EC-2901-496F-8FEF-55A978EC6F84}" type="pres">
      <dgm:prSet presAssocID="{9BBC8A45-8DB2-4A0C-82DF-AAFEED00AC93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71C848F9-D8F8-449B-A15E-C906710CAEC8}" type="pres">
      <dgm:prSet presAssocID="{9BBC8A45-8DB2-4A0C-82DF-AAFEED00AC93}" presName="spaceRect" presStyleCnt="0"/>
      <dgm:spPr/>
    </dgm:pt>
    <dgm:pt modelId="{C3BC3749-F12B-44EA-AEDB-69785241ABF0}" type="pres">
      <dgm:prSet presAssocID="{9BBC8A45-8DB2-4A0C-82DF-AAFEED00AC93}" presName="parTx" presStyleLbl="revTx" presStyleIdx="0" presStyleCnt="3">
        <dgm:presLayoutVars>
          <dgm:chMax val="0"/>
          <dgm:chPref val="0"/>
        </dgm:presLayoutVars>
      </dgm:prSet>
      <dgm:spPr/>
    </dgm:pt>
    <dgm:pt modelId="{7BA49996-218C-49BC-B8C0-1607C020769C}" type="pres">
      <dgm:prSet presAssocID="{641914C6-6F3E-4C04-B6C1-45E8B6E8A99A}" presName="sibTrans" presStyleCnt="0"/>
      <dgm:spPr/>
    </dgm:pt>
    <dgm:pt modelId="{857074C8-4BA0-4AC9-9F60-83E79CC4E54B}" type="pres">
      <dgm:prSet presAssocID="{D509BDE4-52F2-4A30-93B1-9C4AA34B8A00}" presName="compNode" presStyleCnt="0"/>
      <dgm:spPr/>
    </dgm:pt>
    <dgm:pt modelId="{38BBD7EB-99E3-4E91-A381-FFD8E899A99E}" type="pres">
      <dgm:prSet presAssocID="{D509BDE4-52F2-4A30-93B1-9C4AA34B8A00}" presName="bgRect" presStyleLbl="bgShp" presStyleIdx="1" presStyleCnt="3"/>
      <dgm:spPr/>
    </dgm:pt>
    <dgm:pt modelId="{2A21B101-9457-4CF6-BE8A-092C8EDB98A3}" type="pres">
      <dgm:prSet presAssocID="{D509BDE4-52F2-4A30-93B1-9C4AA34B8A00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NA"/>
        </a:ext>
      </dgm:extLst>
    </dgm:pt>
    <dgm:pt modelId="{89489B1A-8A70-4907-957A-690FE7B6A587}" type="pres">
      <dgm:prSet presAssocID="{D509BDE4-52F2-4A30-93B1-9C4AA34B8A00}" presName="spaceRect" presStyleCnt="0"/>
      <dgm:spPr/>
    </dgm:pt>
    <dgm:pt modelId="{3D8B549A-F582-407A-8FBE-1DEC81D362E6}" type="pres">
      <dgm:prSet presAssocID="{D509BDE4-52F2-4A30-93B1-9C4AA34B8A00}" presName="parTx" presStyleLbl="revTx" presStyleIdx="1" presStyleCnt="3">
        <dgm:presLayoutVars>
          <dgm:chMax val="0"/>
          <dgm:chPref val="0"/>
        </dgm:presLayoutVars>
      </dgm:prSet>
      <dgm:spPr/>
    </dgm:pt>
    <dgm:pt modelId="{B354B10A-3B39-4AA5-AECC-94BB07B49574}" type="pres">
      <dgm:prSet presAssocID="{19ACE51A-69C9-45BA-BAF3-5F83594449F4}" presName="sibTrans" presStyleCnt="0"/>
      <dgm:spPr/>
    </dgm:pt>
    <dgm:pt modelId="{78B6154E-574F-47A1-9101-EDAE68E3F70F}" type="pres">
      <dgm:prSet presAssocID="{6125D1FD-2174-41C1-B9E9-8AB8CFA1E045}" presName="compNode" presStyleCnt="0"/>
      <dgm:spPr/>
    </dgm:pt>
    <dgm:pt modelId="{4D29B9D9-CAA4-4473-AC64-F3635AD81E37}" type="pres">
      <dgm:prSet presAssocID="{6125D1FD-2174-41C1-B9E9-8AB8CFA1E045}" presName="bgRect" presStyleLbl="bgShp" presStyleIdx="2" presStyleCnt="3"/>
      <dgm:spPr/>
    </dgm:pt>
    <dgm:pt modelId="{008FA23B-86AA-437F-8BC3-11F23665006F}" type="pres">
      <dgm:prSet presAssocID="{6125D1FD-2174-41C1-B9E9-8AB8CFA1E045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Kidney"/>
        </a:ext>
      </dgm:extLst>
    </dgm:pt>
    <dgm:pt modelId="{D8258EA5-3BDF-4701-8056-5F8449A081E1}" type="pres">
      <dgm:prSet presAssocID="{6125D1FD-2174-41C1-B9E9-8AB8CFA1E045}" presName="spaceRect" presStyleCnt="0"/>
      <dgm:spPr/>
    </dgm:pt>
    <dgm:pt modelId="{EAB5C3A8-791F-442C-A264-0491E2C1EBEF}" type="pres">
      <dgm:prSet presAssocID="{6125D1FD-2174-41C1-B9E9-8AB8CFA1E045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506A3531-DFD8-4F62-AE1A-5F4A38ECDFC8}" type="presOf" srcId="{6125D1FD-2174-41C1-B9E9-8AB8CFA1E045}" destId="{EAB5C3A8-791F-442C-A264-0491E2C1EBEF}" srcOrd="0" destOrd="0" presId="urn:microsoft.com/office/officeart/2018/2/layout/IconVerticalSolidList"/>
    <dgm:cxn modelId="{427E1CA8-135A-4618-9B43-0DC1200E10B2}" type="presOf" srcId="{83F21B75-5146-4195-9459-51C622777FCC}" destId="{4858335A-3207-4F5D-B354-CDF132D24DF1}" srcOrd="0" destOrd="0" presId="urn:microsoft.com/office/officeart/2018/2/layout/IconVerticalSolidList"/>
    <dgm:cxn modelId="{4EA579C1-ED55-4726-9271-0AFB9BEE1F3A}" type="presOf" srcId="{9BBC8A45-8DB2-4A0C-82DF-AAFEED00AC93}" destId="{C3BC3749-F12B-44EA-AEDB-69785241ABF0}" srcOrd="0" destOrd="0" presId="urn:microsoft.com/office/officeart/2018/2/layout/IconVerticalSolidList"/>
    <dgm:cxn modelId="{CE9CEED5-4342-4458-BA70-9F798966922A}" srcId="{83F21B75-5146-4195-9459-51C622777FCC}" destId="{6125D1FD-2174-41C1-B9E9-8AB8CFA1E045}" srcOrd="2" destOrd="0" parTransId="{550F4277-5D36-4853-8A58-BD8E286667AF}" sibTransId="{D1B9CC37-8B92-456D-B2DA-C95951955C33}"/>
    <dgm:cxn modelId="{4A8B65DD-CC61-47F9-AEED-E83FDB2C97AE}" srcId="{83F21B75-5146-4195-9459-51C622777FCC}" destId="{9BBC8A45-8DB2-4A0C-82DF-AAFEED00AC93}" srcOrd="0" destOrd="0" parTransId="{EBB82DBD-5FA3-40DD-9047-DB7B10450E9D}" sibTransId="{641914C6-6F3E-4C04-B6C1-45E8B6E8A99A}"/>
    <dgm:cxn modelId="{A19F6FE4-A2C2-4350-BD61-7F906E66F3C0}" type="presOf" srcId="{D509BDE4-52F2-4A30-93B1-9C4AA34B8A00}" destId="{3D8B549A-F582-407A-8FBE-1DEC81D362E6}" srcOrd="0" destOrd="0" presId="urn:microsoft.com/office/officeart/2018/2/layout/IconVerticalSolidList"/>
    <dgm:cxn modelId="{83FA26EB-E73B-4F0E-A208-0D1ECAEDB441}" srcId="{83F21B75-5146-4195-9459-51C622777FCC}" destId="{D509BDE4-52F2-4A30-93B1-9C4AA34B8A00}" srcOrd="1" destOrd="0" parTransId="{146E563D-AE1B-4CA0-A906-6F857769FE4C}" sibTransId="{19ACE51A-69C9-45BA-BAF3-5F83594449F4}"/>
    <dgm:cxn modelId="{D6C12E9F-8FCD-4B34-9F59-034795BB93AB}" type="presParOf" srcId="{4858335A-3207-4F5D-B354-CDF132D24DF1}" destId="{BF5EE8C4-A69D-40C5-B324-5843A2199C84}" srcOrd="0" destOrd="0" presId="urn:microsoft.com/office/officeart/2018/2/layout/IconVerticalSolidList"/>
    <dgm:cxn modelId="{50B6D364-B026-49E7-8701-37489D4C61A2}" type="presParOf" srcId="{BF5EE8C4-A69D-40C5-B324-5843A2199C84}" destId="{BCB2B71C-9545-43F4-8376-864E42A022A4}" srcOrd="0" destOrd="0" presId="urn:microsoft.com/office/officeart/2018/2/layout/IconVerticalSolidList"/>
    <dgm:cxn modelId="{EC22320A-B812-4EE9-AF60-611C61958AC3}" type="presParOf" srcId="{BF5EE8C4-A69D-40C5-B324-5843A2199C84}" destId="{18DC14EC-2901-496F-8FEF-55A978EC6F84}" srcOrd="1" destOrd="0" presId="urn:microsoft.com/office/officeart/2018/2/layout/IconVerticalSolidList"/>
    <dgm:cxn modelId="{96472E57-0D73-41E6-9B15-5652F711D86B}" type="presParOf" srcId="{BF5EE8C4-A69D-40C5-B324-5843A2199C84}" destId="{71C848F9-D8F8-449B-A15E-C906710CAEC8}" srcOrd="2" destOrd="0" presId="urn:microsoft.com/office/officeart/2018/2/layout/IconVerticalSolidList"/>
    <dgm:cxn modelId="{DA917739-AF6B-46B0-9425-003400FAABCE}" type="presParOf" srcId="{BF5EE8C4-A69D-40C5-B324-5843A2199C84}" destId="{C3BC3749-F12B-44EA-AEDB-69785241ABF0}" srcOrd="3" destOrd="0" presId="urn:microsoft.com/office/officeart/2018/2/layout/IconVerticalSolidList"/>
    <dgm:cxn modelId="{C508F955-9A64-4E52-9C99-C8CCA80EF64D}" type="presParOf" srcId="{4858335A-3207-4F5D-B354-CDF132D24DF1}" destId="{7BA49996-218C-49BC-B8C0-1607C020769C}" srcOrd="1" destOrd="0" presId="urn:microsoft.com/office/officeart/2018/2/layout/IconVerticalSolidList"/>
    <dgm:cxn modelId="{89705C6C-0AE9-4113-BD8B-8481B7CE0751}" type="presParOf" srcId="{4858335A-3207-4F5D-B354-CDF132D24DF1}" destId="{857074C8-4BA0-4AC9-9F60-83E79CC4E54B}" srcOrd="2" destOrd="0" presId="urn:microsoft.com/office/officeart/2018/2/layout/IconVerticalSolidList"/>
    <dgm:cxn modelId="{C0EF9417-EFBD-4339-A411-07726A306FDE}" type="presParOf" srcId="{857074C8-4BA0-4AC9-9F60-83E79CC4E54B}" destId="{38BBD7EB-99E3-4E91-A381-FFD8E899A99E}" srcOrd="0" destOrd="0" presId="urn:microsoft.com/office/officeart/2018/2/layout/IconVerticalSolidList"/>
    <dgm:cxn modelId="{E93AA1DB-587C-4804-8801-010FB8E8A172}" type="presParOf" srcId="{857074C8-4BA0-4AC9-9F60-83E79CC4E54B}" destId="{2A21B101-9457-4CF6-BE8A-092C8EDB98A3}" srcOrd="1" destOrd="0" presId="urn:microsoft.com/office/officeart/2018/2/layout/IconVerticalSolidList"/>
    <dgm:cxn modelId="{1BEA3888-CF5E-46D0-9DC7-B99CC99C47BB}" type="presParOf" srcId="{857074C8-4BA0-4AC9-9F60-83E79CC4E54B}" destId="{89489B1A-8A70-4907-957A-690FE7B6A587}" srcOrd="2" destOrd="0" presId="urn:microsoft.com/office/officeart/2018/2/layout/IconVerticalSolidList"/>
    <dgm:cxn modelId="{80CF7DC1-3C40-4BF3-9AEC-8101FC0F8035}" type="presParOf" srcId="{857074C8-4BA0-4AC9-9F60-83E79CC4E54B}" destId="{3D8B549A-F582-407A-8FBE-1DEC81D362E6}" srcOrd="3" destOrd="0" presId="urn:microsoft.com/office/officeart/2018/2/layout/IconVerticalSolidList"/>
    <dgm:cxn modelId="{3DC40669-E113-48D3-B35C-585056D38AA5}" type="presParOf" srcId="{4858335A-3207-4F5D-B354-CDF132D24DF1}" destId="{B354B10A-3B39-4AA5-AECC-94BB07B49574}" srcOrd="3" destOrd="0" presId="urn:microsoft.com/office/officeart/2018/2/layout/IconVerticalSolidList"/>
    <dgm:cxn modelId="{A974A118-34DD-48F4-9695-3D177F25A6FE}" type="presParOf" srcId="{4858335A-3207-4F5D-B354-CDF132D24DF1}" destId="{78B6154E-574F-47A1-9101-EDAE68E3F70F}" srcOrd="4" destOrd="0" presId="urn:microsoft.com/office/officeart/2018/2/layout/IconVerticalSolidList"/>
    <dgm:cxn modelId="{8010456C-559C-4F12-A1F7-AF3BC5B557DE}" type="presParOf" srcId="{78B6154E-574F-47A1-9101-EDAE68E3F70F}" destId="{4D29B9D9-CAA4-4473-AC64-F3635AD81E37}" srcOrd="0" destOrd="0" presId="urn:microsoft.com/office/officeart/2018/2/layout/IconVerticalSolidList"/>
    <dgm:cxn modelId="{3A1063E4-E858-487C-B16F-F006C6DEF955}" type="presParOf" srcId="{78B6154E-574F-47A1-9101-EDAE68E3F70F}" destId="{008FA23B-86AA-437F-8BC3-11F23665006F}" srcOrd="1" destOrd="0" presId="urn:microsoft.com/office/officeart/2018/2/layout/IconVerticalSolidList"/>
    <dgm:cxn modelId="{0CA57DEB-FDB4-4BF8-9A00-8FEEC221F52E}" type="presParOf" srcId="{78B6154E-574F-47A1-9101-EDAE68E3F70F}" destId="{D8258EA5-3BDF-4701-8056-5F8449A081E1}" srcOrd="2" destOrd="0" presId="urn:microsoft.com/office/officeart/2018/2/layout/IconVerticalSolidList"/>
    <dgm:cxn modelId="{F209B170-6C57-4BC7-8AF7-91B4F04446A1}" type="presParOf" srcId="{78B6154E-574F-47A1-9101-EDAE68E3F70F}" destId="{EAB5C3A8-791F-442C-A264-0491E2C1EBEF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CB2B71C-9545-43F4-8376-864E42A022A4}">
      <dsp:nvSpPr>
        <dsp:cNvPr id="0" name=""/>
        <dsp:cNvSpPr/>
      </dsp:nvSpPr>
      <dsp:spPr>
        <a:xfrm>
          <a:off x="0" y="499"/>
          <a:ext cx="9618133" cy="116928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DC14EC-2901-496F-8FEF-55A978EC6F84}">
      <dsp:nvSpPr>
        <dsp:cNvPr id="0" name=""/>
        <dsp:cNvSpPr/>
      </dsp:nvSpPr>
      <dsp:spPr>
        <a:xfrm>
          <a:off x="353707" y="263587"/>
          <a:ext cx="643104" cy="64310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222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3BC3749-F12B-44EA-AEDB-69785241ABF0}">
      <dsp:nvSpPr>
        <dsp:cNvPr id="0" name=""/>
        <dsp:cNvSpPr/>
      </dsp:nvSpPr>
      <dsp:spPr>
        <a:xfrm>
          <a:off x="1350519" y="499"/>
          <a:ext cx="8267613" cy="11692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749" tIns="123749" rIns="123749" bIns="123749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Is there a correlation between the experimental TP53 EFS</a:t>
          </a:r>
          <a:r>
            <a:rPr lang="he-IL" sz="2500" kern="1200" dirty="0"/>
            <a:t> </a:t>
          </a:r>
          <a:r>
            <a:rPr lang="en-US" sz="2500" kern="1200" dirty="0"/>
            <a:t>(Giacomelli et al.) and patient FGA (GENIE)?</a:t>
          </a:r>
        </a:p>
      </dsp:txBody>
      <dsp:txXfrm>
        <a:off x="1350519" y="499"/>
        <a:ext cx="8267613" cy="1169280"/>
      </dsp:txXfrm>
    </dsp:sp>
    <dsp:sp modelId="{38BBD7EB-99E3-4E91-A381-FFD8E899A99E}">
      <dsp:nvSpPr>
        <dsp:cNvPr id="0" name=""/>
        <dsp:cNvSpPr/>
      </dsp:nvSpPr>
      <dsp:spPr>
        <a:xfrm>
          <a:off x="0" y="1462100"/>
          <a:ext cx="9618133" cy="1169280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A21B101-9457-4CF6-BE8A-092C8EDB98A3}">
      <dsp:nvSpPr>
        <dsp:cNvPr id="0" name=""/>
        <dsp:cNvSpPr/>
      </dsp:nvSpPr>
      <dsp:spPr>
        <a:xfrm>
          <a:off x="353707" y="1725188"/>
          <a:ext cx="643104" cy="64310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222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8B549A-F582-407A-8FBE-1DEC81D362E6}">
      <dsp:nvSpPr>
        <dsp:cNvPr id="0" name=""/>
        <dsp:cNvSpPr/>
      </dsp:nvSpPr>
      <dsp:spPr>
        <a:xfrm>
          <a:off x="1350519" y="1462100"/>
          <a:ext cx="8267613" cy="11692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749" tIns="123749" rIns="123749" bIns="123749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Do "Hotspot" mutations drive higher genomic instability than rare mutations?</a:t>
          </a:r>
        </a:p>
      </dsp:txBody>
      <dsp:txXfrm>
        <a:off x="1350519" y="1462100"/>
        <a:ext cx="8267613" cy="1169280"/>
      </dsp:txXfrm>
    </dsp:sp>
    <dsp:sp modelId="{4D29B9D9-CAA4-4473-AC64-F3635AD81E37}">
      <dsp:nvSpPr>
        <dsp:cNvPr id="0" name=""/>
        <dsp:cNvSpPr/>
      </dsp:nvSpPr>
      <dsp:spPr>
        <a:xfrm>
          <a:off x="0" y="2923701"/>
          <a:ext cx="9618133" cy="1169280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08FA23B-86AA-437F-8BC3-11F23665006F}">
      <dsp:nvSpPr>
        <dsp:cNvPr id="0" name=""/>
        <dsp:cNvSpPr/>
      </dsp:nvSpPr>
      <dsp:spPr>
        <a:xfrm>
          <a:off x="353707" y="3186789"/>
          <a:ext cx="643104" cy="64310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222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AB5C3A8-791F-442C-A264-0491E2C1EBEF}">
      <dsp:nvSpPr>
        <dsp:cNvPr id="0" name=""/>
        <dsp:cNvSpPr/>
      </dsp:nvSpPr>
      <dsp:spPr>
        <a:xfrm>
          <a:off x="1350519" y="2923701"/>
          <a:ext cx="8267613" cy="11692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749" tIns="123749" rIns="123749" bIns="123749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Does this correlation hold true across all cancer types or is it specific to certain tissues?</a:t>
          </a:r>
        </a:p>
      </dsp:txBody>
      <dsp:txXfrm>
        <a:off x="1350519" y="2923701"/>
        <a:ext cx="8267613" cy="116928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CD6A08-F84D-254F-876D-619DDBFD23F2}" type="datetimeFigureOut">
              <a:rPr lang="en-IL" smtClean="0"/>
              <a:t>12/03/2026</a:t>
            </a:fld>
            <a:endParaRPr lang="en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42DB82-1DC1-9846-88D7-11B53915794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6431756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r" defTabSz="914400" rtl="1" eaLnBrk="1" latinLnBrk="0" hangingPunct="1"/>
            <a:r>
              <a:rPr lang="he-IL" dirty="0"/>
              <a:t>שלום לכולם אני </a:t>
            </a:r>
            <a:r>
              <a:rPr lang="he-IL" dirty="0" err="1"/>
              <a:t>אורנית</a:t>
            </a:r>
            <a:r>
              <a:rPr lang="he-IL" dirty="0"/>
              <a:t>, ואני הולכת לדבר על הפרויקט שלי שנקרא ... </a:t>
            </a:r>
          </a:p>
          <a:p>
            <a:pPr marL="0" algn="r" defTabSz="914400" rtl="1" eaLnBrk="1" latinLnBrk="0" hangingPunct="1"/>
            <a:r>
              <a:rPr lang="he-IL" dirty="0"/>
              <a:t>כדי להבין מה הפרויקט הזה אומר, אני צריכה להסביר מה זה </a:t>
            </a:r>
            <a:r>
              <a:rPr lang="en-US" dirty="0"/>
              <a:t>TP53</a:t>
            </a:r>
            <a:r>
              <a:rPr lang="he-IL" dirty="0"/>
              <a:t> ו-</a:t>
            </a:r>
            <a:r>
              <a:rPr lang="en-US" dirty="0"/>
              <a:t>CNV</a:t>
            </a:r>
            <a:r>
              <a:rPr lang="he-IL" dirty="0"/>
              <a:t>.</a:t>
            </a:r>
          </a:p>
          <a:p>
            <a:pPr marL="0" algn="r" defTabSz="914400" rtl="1" eaLnBrk="1" latinLnBrk="0" hangingPunct="1"/>
            <a:r>
              <a:rPr lang="he-IL" dirty="0"/>
              <a:t>אלה שני נושאים שמוזכרים לפעמים יחד בהקשר לסרטן ותכף אסביר למה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42DB82-1DC1-9846-88D7-11B539157949}" type="slidenum">
              <a:rPr lang="en-IL" smtClean="0"/>
              <a:t>1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8897745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33720-E357-4473-84FE-312A1097C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454E84-A083-1426-FDAA-AB88ECAF20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FBF795-B903-D79B-1F1B-80C5E254F9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r" defTabSz="914400" rtl="1" eaLnBrk="1" latinLnBrk="0" hangingPunct="1"/>
            <a:endParaRPr lang="he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76F355-EE9F-75DD-C84B-4B74F2DED9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42DB82-1DC1-9846-88D7-11B539157949}" type="slidenum">
              <a:rPr lang="en-IL" smtClean="0"/>
              <a:t>2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301723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750740-E186-E036-D921-6A2E97D1BD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67774F-386B-21E1-CF58-2F4795DBCD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D3DB58-41AD-15E6-40CE-DABAB2F065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r" defTabSz="914400" rtl="1" eaLnBrk="1" latinLnBrk="0" hangingPunct="1"/>
            <a:endParaRPr lang="he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AAB3B9-BBFC-BA2A-C686-BE5145D6DC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42DB82-1DC1-9846-88D7-11B539157949}" type="slidenum">
              <a:rPr lang="en-IL" smtClean="0"/>
              <a:t>3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7816995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1DA42-1EEB-4506-B293-FE2AAFBC1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C63708-603B-C5AD-3075-351E8BDEEA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9B3DFA-AA74-B6FE-F70D-5115595732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e-IL" dirty="0"/>
              <a:t>ההיפותזה שלי מבוססת על מאמר שפורסם </a:t>
            </a:r>
            <a:r>
              <a:rPr lang="he-IL" dirty="0" err="1"/>
              <a:t>בנייצ׳ר</a:t>
            </a:r>
            <a:r>
              <a:rPr lang="he-IL" dirty="0"/>
              <a:t> לפני כמה שנים שהם עשו דבר מאוד מעניין שם, הם יצרו ספרייה ענקית שכוללת כמעט את כל המוטציות האפשריות ב-</a:t>
            </a:r>
            <a:r>
              <a:rPr lang="en-US" dirty="0"/>
              <a:t>TP53</a:t>
            </a:r>
            <a:r>
              <a:rPr lang="he-IL" dirty="0"/>
              <a:t>, בעיקר </a:t>
            </a:r>
            <a:r>
              <a:rPr lang="he-IL" dirty="0" err="1"/>
              <a:t>מיסנס</a:t>
            </a:r>
            <a:r>
              <a:rPr lang="he-IL" dirty="0"/>
              <a:t> אבל גם נונסנס. כל מוטציה הוכנסה לתאים אנושיים וסומנה בברקוד כדי לעקוב אחריה בריצוף. הם הכניסו לתאים עותק מוטנטי של </a:t>
            </a:r>
            <a:r>
              <a:rPr lang="en-US" dirty="0"/>
              <a:t>TP53</a:t>
            </a:r>
            <a:r>
              <a:rPr lang="he-IL" dirty="0"/>
              <a:t> ובדקו מה ההשפעה של זה בתא.</a:t>
            </a:r>
            <a:endParaRPr lang="he-IL" b="0" dirty="0"/>
          </a:p>
          <a:p>
            <a:pPr marL="0" algn="r" defTabSz="914400" rtl="1" eaLnBrk="1" latinLnBrk="0" hangingPunct="1"/>
            <a:endParaRPr lang="en-US" dirty="0"/>
          </a:p>
          <a:p>
            <a:pPr marL="0" algn="r" defTabSz="914400" rtl="1" eaLnBrk="1" latinLnBrk="0" hangingPunct="1"/>
            <a:r>
              <a:rPr lang="he-IL" dirty="0"/>
              <a:t>במאמר של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Giacomelli et al.</a:t>
            </a:r>
            <a:r>
              <a:rPr lang="he-IL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הם לקחו את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p53</a:t>
            </a:r>
            <a:r>
              <a:rPr lang="he-IL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החליפו כל חומצה אמינית אחת והחליפו באחרת, בעצם יצרו מפה של כל המוטציות האפשריות ב-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p53</a:t>
            </a:r>
            <a:r>
              <a:rPr lang="he-IL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כדי לראות את האפקט של כל מוטציה וכמה היא משפיעה על התפקוד של התא מבחינת קצב הגידול של התאים הסרטניים.</a:t>
            </a:r>
          </a:p>
          <a:p>
            <a:pPr marL="0" algn="r" defTabSz="914400" rtl="1" eaLnBrk="1" latinLnBrk="0" hangingPunct="1"/>
            <a:endParaRPr lang="he-IL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algn="r" defTabSz="914400" rtl="1" eaLnBrk="1" latinLnBrk="0" hangingPunct="1"/>
            <a:r>
              <a:rPr lang="he-IL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בשלב הראשון הם סרקו 8,258 וריאנטים של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TP53</a:t>
            </a:r>
            <a:r>
              <a:rPr lang="he-IL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ע״י הכנסתם לשני קווי תאים </a:t>
            </a:r>
            <a:r>
              <a:rPr lang="he-IL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איזוגניים</a:t>
            </a:r>
            <a:r>
              <a:rPr lang="he-IL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אחד עם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p53</a:t>
            </a:r>
            <a:r>
              <a:rPr lang="he-IL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תקין ואחד בלי, וטיפלו בהם ב-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nultlin-3</a:t>
            </a:r>
            <a:r>
              <a:rPr lang="he-IL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או ב-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etoposide</a:t>
            </a:r>
            <a:r>
              <a:rPr lang="he-IL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אחרי 12 ימים הם ריצפו את התאים  ששרדו כדי לראות אילו אללים נשארו בחיים.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97F769-C1AA-8583-0A4A-E95E0B0BB9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42DB82-1DC1-9846-88D7-11B539157949}" type="slidenum">
              <a:rPr lang="en-IL" smtClean="0"/>
              <a:t>4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7921066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01B1C-55E6-A11B-E36B-3157AA225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6B2018-8DFA-B1A5-F386-B01D8AB15E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35F96B-8633-4823-4F20-5263FEC789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e-IL" dirty="0"/>
              <a:t>ההיפותזה שלי מבוססת על מאמר שפורסם </a:t>
            </a:r>
            <a:r>
              <a:rPr lang="he-IL" dirty="0" err="1"/>
              <a:t>בנייצ׳ר</a:t>
            </a:r>
            <a:r>
              <a:rPr lang="he-IL" dirty="0"/>
              <a:t> לפני כמה שנים שהם עשו דבר מאוד מעניין שם, הם יצרו ספרייה ענקית שכוללת כמעט את כל המוטציות האפשריות ב-</a:t>
            </a:r>
            <a:r>
              <a:rPr lang="en-US" dirty="0"/>
              <a:t>TP53</a:t>
            </a:r>
            <a:r>
              <a:rPr lang="he-IL" dirty="0"/>
              <a:t>, בעיקר </a:t>
            </a:r>
            <a:r>
              <a:rPr lang="he-IL" dirty="0" err="1"/>
              <a:t>מיסנס</a:t>
            </a:r>
            <a:r>
              <a:rPr lang="he-IL" dirty="0"/>
              <a:t> אבל גם נונסנס. כל מוטציה הוכנסה לתאים אנושיים וסומנה בברקוד כדי לעקוב אחריה בריצוף. הם הכניסו לתאים עותק מוטנטי של </a:t>
            </a:r>
            <a:r>
              <a:rPr lang="en-US" dirty="0"/>
              <a:t>TP53</a:t>
            </a:r>
            <a:r>
              <a:rPr lang="he-IL" dirty="0"/>
              <a:t> ובדקו מה ההשפעה של זה בתא.</a:t>
            </a:r>
            <a:endParaRPr lang="he-IL" b="0" dirty="0"/>
          </a:p>
          <a:p>
            <a:pPr marL="0" algn="r" defTabSz="914400" rtl="1" eaLnBrk="1" latinLnBrk="0" hangingPunct="1"/>
            <a:endParaRPr lang="en-US" dirty="0"/>
          </a:p>
          <a:p>
            <a:pPr marL="0" algn="r" defTabSz="914400" rtl="1" eaLnBrk="1" latinLnBrk="0" hangingPunct="1"/>
            <a:r>
              <a:rPr lang="he-IL" dirty="0"/>
              <a:t>במאמר של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Giacomelli et al.</a:t>
            </a:r>
            <a:r>
              <a:rPr lang="he-IL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הם לקחו את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p53</a:t>
            </a:r>
            <a:r>
              <a:rPr lang="he-IL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החליפו כל חומצה אמינית אחת והחליפו באחרת, בעצם יצרו מפה של כל המוטציות האפשריות ב-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p53</a:t>
            </a:r>
            <a:r>
              <a:rPr lang="he-IL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כדי לראות את האפקט של כל מוטציה וכמה היא משפיעה על התפקוד של התא מבחינת קצב הגידול של התאים הסרטניים.</a:t>
            </a:r>
          </a:p>
          <a:p>
            <a:pPr marL="0" algn="r" defTabSz="914400" rtl="1" eaLnBrk="1" latinLnBrk="0" hangingPunct="1"/>
            <a:endParaRPr lang="he-IL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algn="r" defTabSz="914400" rtl="1" eaLnBrk="1" latinLnBrk="0" hangingPunct="1"/>
            <a:r>
              <a:rPr lang="he-IL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בשלב הראשון הם סרקו 8,258 וריאנטים של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TP53</a:t>
            </a:r>
            <a:r>
              <a:rPr lang="he-IL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ע״י הכנסתם לשני קווי תאים </a:t>
            </a:r>
            <a:r>
              <a:rPr lang="he-IL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איזוגניים</a:t>
            </a:r>
            <a:r>
              <a:rPr lang="he-IL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אחד עם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p53</a:t>
            </a:r>
            <a:r>
              <a:rPr lang="he-IL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תקין ואחד בלי, וטיפלו בהם ב-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nultlin-3</a:t>
            </a:r>
            <a:r>
              <a:rPr lang="he-IL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או ב-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etoposide</a:t>
            </a:r>
            <a:r>
              <a:rPr lang="he-IL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אחרי 12 ימים הם ריצפו את התאים  ששרדו כדי לראות אילו אללים נשארו בחיים.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9B97A1-414D-6222-D42A-1B1E4498AD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42DB82-1DC1-9846-88D7-11B539157949}" type="slidenum">
              <a:rPr lang="en-IL" smtClean="0"/>
              <a:t>5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4315123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1214BB-CEE1-A2B5-D70C-B793620C4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373BF7-DC50-71DC-7C1D-7B6D98E2E8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F752FC-FD98-813F-4A81-48D876566D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e-IL" dirty="0"/>
              <a:t>ההיפותזה שלי מבוססת על מאמר שפורסם </a:t>
            </a:r>
            <a:r>
              <a:rPr lang="he-IL" dirty="0" err="1"/>
              <a:t>בנייצ׳ר</a:t>
            </a:r>
            <a:r>
              <a:rPr lang="he-IL" dirty="0"/>
              <a:t> לפני כמה שנים שהם עשו דבר מאוד מעניין שם, הם יצרו ספרייה ענקית שכוללת כמעט את כל המוטציות האפשריות ב-</a:t>
            </a:r>
            <a:r>
              <a:rPr lang="en-US" dirty="0"/>
              <a:t>TP53</a:t>
            </a:r>
            <a:r>
              <a:rPr lang="he-IL" dirty="0"/>
              <a:t>, בעיקר </a:t>
            </a:r>
            <a:r>
              <a:rPr lang="he-IL" dirty="0" err="1"/>
              <a:t>מיסנס</a:t>
            </a:r>
            <a:r>
              <a:rPr lang="he-IL" dirty="0"/>
              <a:t> אבל גם נונסנס. כל מוטציה הוכנסה לתאים אנושיים וסומנה בברקוד כדי לעקוב אחריה בריצוף. הם הכניסו לתאים עותק מוטנטי של </a:t>
            </a:r>
            <a:r>
              <a:rPr lang="en-US" dirty="0"/>
              <a:t>TP53</a:t>
            </a:r>
            <a:r>
              <a:rPr lang="he-IL" dirty="0"/>
              <a:t> ובדקו מה ההשפעה של זה בתא.</a:t>
            </a:r>
            <a:endParaRPr lang="he-IL" b="0" dirty="0"/>
          </a:p>
          <a:p>
            <a:pPr marL="0" algn="r" defTabSz="914400" rtl="1" eaLnBrk="1" latinLnBrk="0" hangingPunct="1"/>
            <a:endParaRPr lang="en-US" dirty="0"/>
          </a:p>
          <a:p>
            <a:pPr marL="0" algn="r" defTabSz="914400" rtl="1" eaLnBrk="1" latinLnBrk="0" hangingPunct="1"/>
            <a:r>
              <a:rPr lang="he-IL" dirty="0"/>
              <a:t>במאמר של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Giacomelli et al.</a:t>
            </a:r>
            <a:r>
              <a:rPr lang="he-IL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הם לקחו את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p53</a:t>
            </a:r>
            <a:r>
              <a:rPr lang="he-IL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החליפו כל חומצה אמינית אחת והחליפו באחרת, בעצם יצרו מפה של כל המוטציות האפשריות ב-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p53</a:t>
            </a:r>
            <a:r>
              <a:rPr lang="he-IL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כדי לראות את האפקט של כל מוטציה וכמה היא משפיעה על התפקוד של התא מבחינת קצב הגידול של התאים הסרטניים.</a:t>
            </a:r>
          </a:p>
          <a:p>
            <a:pPr marL="0" algn="r" defTabSz="914400" rtl="1" eaLnBrk="1" latinLnBrk="0" hangingPunct="1"/>
            <a:endParaRPr lang="he-IL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algn="r" defTabSz="914400" rtl="1" eaLnBrk="1" latinLnBrk="0" hangingPunct="1"/>
            <a:r>
              <a:rPr lang="he-IL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בשלב הראשון הם סרקו 8,258 וריאנטים של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TP53</a:t>
            </a:r>
            <a:r>
              <a:rPr lang="he-IL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ע״י הכנסתם לשני קווי תאים </a:t>
            </a:r>
            <a:r>
              <a:rPr lang="he-IL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איזוגניים</a:t>
            </a:r>
            <a:r>
              <a:rPr lang="he-IL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אחד עם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p53</a:t>
            </a:r>
            <a:r>
              <a:rPr lang="he-IL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תקין ואחד בלי, וטיפלו בהם ב-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nultlin-3</a:t>
            </a:r>
            <a:r>
              <a:rPr lang="he-IL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או ב-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etoposide</a:t>
            </a:r>
            <a:r>
              <a:rPr lang="he-IL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אחרי 12 ימים הם ריצפו את התאים  ששרדו כדי לראות אילו אללים נשארו בחיים.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5D42A6-066D-3FDD-F7D4-329AD01216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42DB82-1DC1-9846-88D7-11B539157949}" type="slidenum">
              <a:rPr lang="en-IL" smtClean="0"/>
              <a:t>6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8957471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e-IL" b="0" dirty="0"/>
          </a:p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e-IL" b="0" dirty="0"/>
              <a:t>ההיפותזה שאני הולכת לעבוד איתה היא שלחולים עם מוטציות tp53 שיש להם ציון </a:t>
            </a:r>
            <a:r>
              <a:rPr lang="he-IL" b="0" dirty="0" err="1"/>
              <a:t>פיטנס</a:t>
            </a:r>
            <a:r>
              <a:rPr lang="he-IL" b="0" dirty="0"/>
              <a:t> נמוך, יהיה אחוז גבוה יותר של כאוס </a:t>
            </a:r>
            <a:r>
              <a:rPr lang="he-IL" b="0" dirty="0" err="1"/>
              <a:t>גנומי</a:t>
            </a:r>
            <a:r>
              <a:rPr lang="he-IL" b="0" dirty="0"/>
              <a:t>.</a:t>
            </a:r>
          </a:p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e-IL" b="0" dirty="0"/>
          </a:p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e-IL" b="0" dirty="0"/>
          </a:p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e-IL" b="0" dirty="0"/>
          </a:p>
          <a:p>
            <a:pPr lvl="1"/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more negative = more LOF = hypothesis predicts more FGA</a:t>
            </a:r>
            <a:endParaRPr lang="he-IL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42DB82-1DC1-9846-88D7-11B539157949}" type="slidenum">
              <a:rPr lang="en-IL" smtClean="0"/>
              <a:t>7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0650812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r" defTabSz="914400" rtl="1" eaLnBrk="1" latinLnBrk="0" hangingPunct="1"/>
            <a:r>
              <a:rPr lang="he-IL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אני רוצה לבדוק 3 דברים:</a:t>
            </a:r>
          </a:p>
          <a:p>
            <a:pPr marL="228600" indent="-228600" algn="r" defTabSz="914400" rtl="1" eaLnBrk="1" latinLnBrk="0" hangingPunct="1">
              <a:buAutoNum type="arabicPeriod"/>
            </a:pPr>
            <a:r>
              <a:rPr lang="he-IL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האם יש קורלציה בין ה-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functional score</a:t>
            </a:r>
            <a:r>
              <a:rPr lang="he-IL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של מוטציה כלשהי ב-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p53</a:t>
            </a:r>
            <a:r>
              <a:rPr lang="he-IL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ל-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FGA</a:t>
            </a:r>
            <a:r>
              <a:rPr lang="he-IL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גבוה יותר אצל החולים?</a:t>
            </a:r>
          </a:p>
          <a:p>
            <a:pPr marL="228600" indent="-228600" algn="r" defTabSz="914400" rtl="1" eaLnBrk="1" latinLnBrk="0" hangingPunct="1">
              <a:buAutoNum type="arabicPeriod"/>
            </a:pPr>
            <a:r>
              <a:rPr lang="he-IL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האם יש מוטציות באזורים שהם </a:t>
            </a:r>
            <a:r>
              <a:rPr lang="he-IL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הוטספוט</a:t>
            </a:r>
            <a:r>
              <a:rPr lang="he-IL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שגורמים ליותר חוסר יציבות?</a:t>
            </a:r>
          </a:p>
          <a:p>
            <a:pPr marL="228600" indent="-228600" algn="r" defTabSz="914400" rtl="1" eaLnBrk="1" latinLnBrk="0" hangingPunct="1">
              <a:buAutoNum type="arabicPeriod"/>
            </a:pPr>
            <a:r>
              <a:rPr lang="he-IL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האם מדובר בכל סוגי הסרטן או שאמצע את הקורלציה רק בסוגי סרטן ספציפיים?</a:t>
            </a:r>
            <a:endParaRPr lang="he-IL" dirty="0"/>
          </a:p>
          <a:p>
            <a:pPr marL="0" algn="r" defTabSz="914400" rtl="1" eaLnBrk="1" latinLnBrk="0" hangingPunct="1"/>
            <a:endParaRPr lang="he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42DB82-1DC1-9846-88D7-11B539157949}" type="slidenum">
              <a:rPr lang="en-IL" smtClean="0"/>
              <a:t>8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1951883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3FD762-9745-8AB7-5946-5E3E3A7EF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A760D4-4D2F-D147-3570-C8A78EFED5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B9091D-4536-722D-9602-CC5976BEC4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r" defTabSz="914400" rtl="1" eaLnBrk="1" latinLnBrk="0" hangingPunct="1"/>
            <a:endParaRPr lang="he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DFD91B-081F-8A88-ECB1-6277A65814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42DB82-1DC1-9846-88D7-11B539157949}" type="slidenum">
              <a:rPr lang="en-IL" smtClean="0"/>
              <a:t>9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03799324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12DA0-78C3-E2BC-A5F2-ABF8DD1F1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9D7FC3-56A0-EBA3-9609-B9DDF94363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D3940C-BA75-367B-2854-DC459C6E4F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r" defTabSz="914400" rtl="1" eaLnBrk="1" latinLnBrk="0" hangingPunct="1"/>
            <a:r>
              <a:rPr lang="he-IL" dirty="0"/>
              <a:t>ל-</a:t>
            </a:r>
            <a:r>
              <a:rPr lang="en-US" dirty="0"/>
              <a:t>GENIE</a:t>
            </a:r>
            <a:r>
              <a:rPr lang="he-IL" dirty="0"/>
              <a:t> היה רק </a:t>
            </a:r>
            <a:r>
              <a:rPr lang="en-US" dirty="0"/>
              <a:t>TP53-specific CNA</a:t>
            </a:r>
            <a:r>
              <a:rPr lang="he-IL" dirty="0"/>
              <a:t> ורציתי לראות את ההשפעה על כל הגנום, אילו גנים מוגברים, אילו גנים מושתקים או נמחקים בכל הגנום, לא רק </a:t>
            </a:r>
            <a:r>
              <a:rPr lang="en-US" dirty="0"/>
              <a:t>TP53</a:t>
            </a:r>
            <a:r>
              <a:rPr lang="he-IL" dirty="0"/>
              <a:t>. </a:t>
            </a:r>
            <a:r>
              <a:rPr lang="en-US" dirty="0"/>
              <a:t>GENIE</a:t>
            </a:r>
            <a:r>
              <a:rPr lang="he-IL" dirty="0"/>
              <a:t> של כל הגנום לא נמצא בגישה ציבורית, ולכן לא יכולתי להשתמש בזה.</a:t>
            </a:r>
          </a:p>
          <a:p>
            <a:pPr marL="0" algn="r" defTabSz="914400" rtl="1" eaLnBrk="1" latinLnBrk="0" hangingPunct="1"/>
            <a:r>
              <a:rPr lang="he-IL" dirty="0"/>
              <a:t>בגדול </a:t>
            </a:r>
            <a:r>
              <a:rPr lang="en-US" dirty="0"/>
              <a:t>GENIE</a:t>
            </a:r>
            <a:r>
              <a:rPr lang="he-IL" dirty="0"/>
              <a:t> אמר לי הגנום נשבר, </a:t>
            </a:r>
            <a:r>
              <a:rPr lang="en-US" dirty="0"/>
              <a:t>MSK-IMPACT</a:t>
            </a:r>
            <a:r>
              <a:rPr lang="he-IL" dirty="0"/>
              <a:t> אמר לי מה נשבר.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DDC7C4-DD9D-503D-7A0E-8FF1827D9E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42DB82-1DC1-9846-88D7-11B539157949}" type="slidenum">
              <a:rPr lang="en-IL" smtClean="0"/>
              <a:t>10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9143688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42DB82-1DC1-9846-88D7-11B539157949}" type="slidenum">
              <a:rPr lang="en-IL" smtClean="0"/>
              <a:t>11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7679520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5BDBF2-8F57-269F-5EBC-724AA9A90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8F9C7A-1769-DF3F-3541-0BFB5B17C4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607F63-426D-49ED-465A-ABEEE8D0AF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915596-885C-C11B-E033-821B51297E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42DB82-1DC1-9846-88D7-11B539157949}" type="slidenum">
              <a:rPr lang="en-IL" smtClean="0"/>
              <a:t>12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6118536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56F6A6-2150-3230-F9F5-A060C433C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7906AC-3C16-C612-E51E-0F9524687F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C6821A-D7E3-FD3E-A216-3CED12244A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F11EC6-092A-A52B-CC72-F949F7CD17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42DB82-1DC1-9846-88D7-11B539157949}" type="slidenum">
              <a:rPr lang="en-IL" smtClean="0"/>
              <a:t>13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5145765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1500F2-5FDA-D4B4-B1B6-07AFA765C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F09464-29B0-BC85-B3CE-034CFCF78A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40D699-52D9-94E6-08E9-73CCB90009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60718F-D2BA-49E1-D9E2-F43FC321E0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42DB82-1DC1-9846-88D7-11B539157949}" type="slidenum">
              <a:rPr lang="en-IL" smtClean="0"/>
              <a:t>14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01803414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70C2FE-6C67-3C13-FFE5-BC922B1F3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7F933F-C19D-FEBC-DFA0-E37AAAABB2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0E0DF6-259D-DB4A-26CD-16F98DD8D4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C7538C-0906-F16E-839B-1E04AAEC99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42DB82-1DC1-9846-88D7-11B539157949}" type="slidenum">
              <a:rPr lang="en-IL" smtClean="0"/>
              <a:t>15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45690690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43DF4B-6968-547D-6BE3-D4A5D57FA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65A4DE-1ADA-D3C4-09B9-B1FC3244E7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F8F276-6B19-0712-1368-97B5A1E0BE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4C1A0E-FDC0-BC84-9CF9-2237A80D19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42DB82-1DC1-9846-88D7-11B539157949}" type="slidenum">
              <a:rPr lang="en-IL" smtClean="0"/>
              <a:t>16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7343328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L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algn="r"/>
            <a:fld id="{A37D6D71-8B28-4ED6-B932-04B197003D23}" type="datetimeFigureOut">
              <a:rPr lang="en-US" smtClean="0"/>
              <a:pPr algn="r"/>
              <a:t>3/12/26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algn="l"/>
            <a:fld id="{F97E8200-1950-409B-82E7-99938E7AE355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00404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L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smtClean="0"/>
              <a:pPr algn="r"/>
              <a:t>3/15/26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pPr algn="l"/>
            <a:fld id="{F97E8200-1950-409B-82E7-99938E7AE355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06807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algn="r"/>
            <a:fld id="{A37D6D71-8B28-4ED6-B932-04B197003D23}" type="datetimeFigureOut">
              <a:rPr lang="en-US" smtClean="0"/>
              <a:pPr algn="r"/>
              <a:t>3/12/26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algn="l"/>
            <a:fld id="{F97E8200-1950-409B-82E7-99938E7AE355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2883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smtClean="0"/>
              <a:pPr algn="r"/>
              <a:t>3/12/26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6367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smtClean="0"/>
              <a:pPr algn="r"/>
              <a:t>3/12/26</a:t>
            </a:fld>
            <a:endParaRPr lang="en-US" spc="50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spc="5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42507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smtClean="0"/>
              <a:pPr algn="r"/>
              <a:t>3/12/26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00684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smtClean="0"/>
              <a:pPr algn="r"/>
              <a:t>3/12/26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66256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algn="r"/>
            <a:fld id="{A37D6D71-8B28-4ED6-B932-04B197003D23}" type="datetimeFigureOut">
              <a:rPr lang="en-US" smtClean="0"/>
              <a:pPr algn="r"/>
              <a:t>3/12/26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algn="l"/>
            <a:fld id="{F97E8200-1950-409B-82E7-99938E7AE355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09304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smtClean="0"/>
              <a:pPr algn="r"/>
              <a:t>3/12/26</a:t>
            </a:fld>
            <a:endParaRPr lang="en-US" spc="5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spc="5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16625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smtClean="0"/>
              <a:pPr algn="r"/>
              <a:t>3/12/26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73768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algn="r"/>
            <a:fld id="{A37D6D71-8B28-4ED6-B932-04B197003D23}" type="datetimeFigureOut">
              <a:rPr lang="en-US" smtClean="0"/>
              <a:pPr algn="r"/>
              <a:t>3/12/26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algn="l"/>
            <a:fld id="{F97E8200-1950-409B-82E7-99938E7AE355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64386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A37D6D71-8B28-4ED6-B932-04B197003D23}" type="datetimeFigureOut">
              <a:rPr lang="en-US" smtClean="0"/>
              <a:pPr algn="r"/>
              <a:t>3/12/26</a:t>
            </a:fld>
            <a:endParaRPr lang="en-US" spc="5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spc="5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algn="l"/>
            <a:fld id="{F97E8200-1950-409B-82E7-99938E7AE355}" type="slidenum">
              <a:rPr lang="en-US" smtClean="0"/>
              <a:pPr algn="l"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L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L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4897169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98" r:id="rId1"/>
    <p:sldLayoutId id="2147484299" r:id="rId2"/>
    <p:sldLayoutId id="2147484300" r:id="rId3"/>
    <p:sldLayoutId id="2147484301" r:id="rId4"/>
    <p:sldLayoutId id="2147484302" r:id="rId5"/>
    <p:sldLayoutId id="2147484303" r:id="rId6"/>
    <p:sldLayoutId id="2147484304" r:id="rId7"/>
    <p:sldLayoutId id="2147484305" r:id="rId8"/>
    <p:sldLayoutId id="2147484306" r:id="rId9"/>
    <p:sldLayoutId id="2147484307" r:id="rId10"/>
    <p:sldLayoutId id="2147484308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A296D-E8F9-B326-5356-2C6AA3E544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52977" y="378485"/>
            <a:ext cx="8486046" cy="2876471"/>
          </a:xfrm>
        </p:spPr>
        <p:txBody>
          <a:bodyPr anchor="ctr">
            <a:normAutofit/>
          </a:bodyPr>
          <a:lstStyle/>
          <a:p>
            <a:pPr algn="ctr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TP53 mutations that are associated with an increased Copy Number Variation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2321456-BD03-93AA-AA0C-5A387C9AA80E}"/>
              </a:ext>
            </a:extLst>
          </p:cNvPr>
          <p:cNvSpPr txBox="1"/>
          <p:nvPr/>
        </p:nvSpPr>
        <p:spPr>
          <a:xfrm>
            <a:off x="5051483" y="4034124"/>
            <a:ext cx="20890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2400" dirty="0">
                <a:solidFill>
                  <a:schemeClr val="bg1"/>
                </a:solidFill>
              </a:rPr>
              <a:t>Ornit Bhonkar</a:t>
            </a:r>
          </a:p>
          <a:p>
            <a:r>
              <a:rPr lang="en-IL" sz="2400" dirty="0">
                <a:solidFill>
                  <a:schemeClr val="bg1"/>
                </a:solidFill>
              </a:rPr>
              <a:t>March 19, 2026</a:t>
            </a:r>
          </a:p>
        </p:txBody>
      </p:sp>
    </p:spTree>
    <p:extLst>
      <p:ext uri="{BB962C8B-B14F-4D97-AF65-F5344CB8AC3E}">
        <p14:creationId xmlns:p14="http://schemas.microsoft.com/office/powerpoint/2010/main" val="17024518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9BEC890-C6AC-F7F4-5276-8742D7AA6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D1D69-5D86-686E-31C4-698DA1D18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5046" y="798394"/>
            <a:ext cx="1340261" cy="678651"/>
          </a:xfrm>
        </p:spPr>
        <p:txBody>
          <a:bodyPr>
            <a:normAutofit/>
          </a:bodyPr>
          <a:lstStyle/>
          <a:p>
            <a:r>
              <a:rPr lang="en-US" dirty="0"/>
              <a:t>TP53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5414FA-DE03-E189-4DCE-E04D097B7CA7}"/>
              </a:ext>
            </a:extLst>
          </p:cNvPr>
          <p:cNvSpPr txBox="1">
            <a:spLocks/>
          </p:cNvSpPr>
          <p:nvPr/>
        </p:nvSpPr>
        <p:spPr>
          <a:xfrm>
            <a:off x="455182" y="4556358"/>
            <a:ext cx="11473581" cy="175848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TP53 acts as the cellular “superhero” responsible for maintaining genomic integrity. It functions as a stress sensor that responds to DNA damage.</a:t>
            </a:r>
          </a:p>
          <a:p>
            <a:r>
              <a:rPr lang="en-US" sz="2000" dirty="0"/>
              <a:t>When TP53 is functional, it induces DNA repairs or apoptosis. When broken, errors accumulate.</a:t>
            </a:r>
          </a:p>
          <a:p>
            <a:r>
              <a:rPr lang="en-US" sz="2000" dirty="0"/>
              <a:t>TP53 mutations are not binary, and they exist on a spectrum of phenotypic impact.</a:t>
            </a:r>
          </a:p>
        </p:txBody>
      </p:sp>
      <p:pic>
        <p:nvPicPr>
          <p:cNvPr id="8" name="Picture 2" descr="Figure 1">
            <a:extLst>
              <a:ext uri="{FF2B5EF4-FFF2-40B4-BE49-F238E27FC236}">
                <a16:creationId xmlns:a16="http://schemas.microsoft.com/office/drawing/2014/main" id="{9BC91899-43E3-CEDD-FE5D-05DC59AA582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667"/>
          <a:stretch>
            <a:fillRect/>
          </a:stretch>
        </p:blipFill>
        <p:spPr bwMode="auto">
          <a:xfrm>
            <a:off x="3411300" y="609600"/>
            <a:ext cx="8447386" cy="32762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203DC6B-71C6-BA4C-58BA-63AD22A0BAF3}"/>
              </a:ext>
            </a:extLst>
          </p:cNvPr>
          <p:cNvSpPr txBox="1"/>
          <p:nvPr/>
        </p:nvSpPr>
        <p:spPr>
          <a:xfrm>
            <a:off x="441533" y="-1"/>
            <a:ext cx="3707385" cy="468000"/>
          </a:xfrm>
          <a:prstGeom prst="rect">
            <a:avLst/>
          </a:prstGeom>
          <a:solidFill>
            <a:srgbClr val="4D1434"/>
          </a:solidFill>
        </p:spPr>
        <p:txBody>
          <a:bodyPr wrap="square" rtlCol="0">
            <a:spAutoFit/>
          </a:bodyPr>
          <a:lstStyle/>
          <a:p>
            <a:pPr algn="ctr"/>
            <a:endParaRPr lang="en-IL" sz="700" dirty="0">
              <a:solidFill>
                <a:schemeClr val="bg1"/>
              </a:solidFill>
            </a:endParaRPr>
          </a:p>
          <a:p>
            <a:pPr algn="ctr"/>
            <a:r>
              <a:rPr lang="en-IL" sz="1400" i="1" dirty="0">
                <a:solidFill>
                  <a:schemeClr val="bg1"/>
                </a:solidFill>
                <a:latin typeface="Abadi MT Condensed Light" panose="020B0306030101010103" pitchFamily="34" charset="77"/>
                <a:ea typeface="Batang" panose="02030600000101010101" pitchFamily="18" charset="-127"/>
                <a:cs typeface="Corsiva Hebrew" pitchFamily="2" charset="-79"/>
              </a:rPr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18527856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5F7B51-0CB9-849F-CB7E-C7A9B50FC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6F7E30-26B1-B557-6AD3-D1C2588408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5457" y="900752"/>
            <a:ext cx="4714335" cy="576293"/>
          </a:xfrm>
        </p:spPr>
        <p:txBody>
          <a:bodyPr>
            <a:normAutofit/>
          </a:bodyPr>
          <a:lstStyle/>
          <a:p>
            <a:r>
              <a:rPr lang="en-US" dirty="0"/>
              <a:t>Copy Number Variation</a:t>
            </a:r>
            <a:endParaRPr lang="en-IL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D517E4E-D17F-EBB7-61A7-E508792267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9571" y="2232833"/>
            <a:ext cx="5706109" cy="3560733"/>
          </a:xfrm>
        </p:spPr>
        <p:txBody>
          <a:bodyPr>
            <a:normAutofit/>
          </a:bodyPr>
          <a:lstStyle/>
          <a:p>
            <a:r>
              <a:rPr lang="en-US" sz="2400" dirty="0"/>
              <a:t>A stretch of DNA where the number of copies differs from the normal two copies.</a:t>
            </a:r>
          </a:p>
          <a:p>
            <a:pPr lvl="1"/>
            <a:r>
              <a:rPr lang="en-US" sz="2000" dirty="0"/>
              <a:t>More copies → more RNA → more protein</a:t>
            </a:r>
          </a:p>
          <a:p>
            <a:pPr lvl="1"/>
            <a:r>
              <a:rPr lang="en-US" sz="2000" dirty="0"/>
              <a:t>Fewer copies → less protein</a:t>
            </a:r>
          </a:p>
          <a:p>
            <a:pPr lvl="1"/>
            <a:r>
              <a:rPr lang="en-US" sz="2000" dirty="0"/>
              <a:t>Example: Oncogene amplification → uncontrolled growth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CC5A2D30-1AD0-064B-BE91-9654F83A8E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714699" y="1878725"/>
            <a:ext cx="5097438" cy="48574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804325B-1D0E-C332-B0BD-75656AD7E274}"/>
              </a:ext>
            </a:extLst>
          </p:cNvPr>
          <p:cNvSpPr txBox="1"/>
          <p:nvPr/>
        </p:nvSpPr>
        <p:spPr>
          <a:xfrm>
            <a:off x="441533" y="-1"/>
            <a:ext cx="3707385" cy="468000"/>
          </a:xfrm>
          <a:prstGeom prst="rect">
            <a:avLst/>
          </a:prstGeom>
          <a:solidFill>
            <a:srgbClr val="4D1434"/>
          </a:solidFill>
        </p:spPr>
        <p:txBody>
          <a:bodyPr wrap="square" rtlCol="0">
            <a:spAutoFit/>
          </a:bodyPr>
          <a:lstStyle/>
          <a:p>
            <a:pPr algn="ctr"/>
            <a:endParaRPr lang="en-IL" sz="700" dirty="0">
              <a:solidFill>
                <a:schemeClr val="bg1"/>
              </a:solidFill>
            </a:endParaRPr>
          </a:p>
          <a:p>
            <a:pPr algn="ctr"/>
            <a:r>
              <a:rPr lang="en-IL" sz="1400" i="1" dirty="0">
                <a:solidFill>
                  <a:schemeClr val="bg1"/>
                </a:solidFill>
                <a:latin typeface="Abadi MT Condensed Light" panose="020B0306030101010103" pitchFamily="34" charset="77"/>
                <a:ea typeface="Batang" panose="02030600000101010101" pitchFamily="18" charset="-127"/>
                <a:cs typeface="Corsiva Hebrew" pitchFamily="2" charset="-79"/>
              </a:rPr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1299099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D78DBB-44CA-8953-BAA3-D911E6176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BE1891-06CD-1C02-0414-011F0217D8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0052" y="774559"/>
            <a:ext cx="6750756" cy="688622"/>
          </a:xfrm>
        </p:spPr>
        <p:txBody>
          <a:bodyPr>
            <a:normAutofit/>
          </a:bodyPr>
          <a:lstStyle/>
          <a:p>
            <a:r>
              <a:rPr lang="en-US" dirty="0"/>
              <a:t>Experimental Functional Score</a:t>
            </a:r>
            <a:endParaRPr lang="en-IL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C919F62-B5BF-D929-2843-8ABB25266375}"/>
              </a:ext>
            </a:extLst>
          </p:cNvPr>
          <p:cNvGrpSpPr/>
          <p:nvPr/>
        </p:nvGrpSpPr>
        <p:grpSpPr>
          <a:xfrm>
            <a:off x="3867222" y="4593166"/>
            <a:ext cx="1459397" cy="1460406"/>
            <a:chOff x="9094660" y="1419321"/>
            <a:chExt cx="1663059" cy="1664208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05B62530-1BD2-AD91-8DDB-A19CAC48CF63}"/>
                </a:ext>
              </a:extLst>
            </p:cNvPr>
            <p:cNvSpPr/>
            <p:nvPr/>
          </p:nvSpPr>
          <p:spPr>
            <a:xfrm>
              <a:off x="9094660" y="1419321"/>
              <a:ext cx="1663059" cy="166420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2700">
              <a:miter lim="400000"/>
            </a:ln>
            <a:effectLst>
              <a:outerShdw blurRad="254000" dist="190500" dir="13500000" algn="tl" rotWithShape="0">
                <a:schemeClr val="bg1"/>
              </a:outerShdw>
            </a:effectLst>
          </p:spPr>
          <p:txBody>
            <a:bodyPr lIns="28575" tIns="28575" rIns="28575" bIns="28575" anchor="ctr"/>
            <a:lstStyle/>
            <a:p>
              <a:endParaRPr lang="en-US" sz="2400">
                <a:solidFill>
                  <a:srgbClr val="FFFFFF"/>
                </a:solidFill>
              </a:endParaRP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DE23DAB0-7AD3-659B-646F-007313A4B0C9}"/>
                </a:ext>
              </a:extLst>
            </p:cNvPr>
            <p:cNvSpPr/>
            <p:nvPr/>
          </p:nvSpPr>
          <p:spPr>
            <a:xfrm>
              <a:off x="9094660" y="1419321"/>
              <a:ext cx="1663059" cy="1664208"/>
            </a:xfrm>
            <a:prstGeom prst="ellipse">
              <a:avLst/>
            </a:prstGeom>
            <a:solidFill>
              <a:srgbClr val="F1EFF0"/>
            </a:solidFill>
            <a:ln w="12700">
              <a:miter lim="400000"/>
            </a:ln>
            <a:effectLst>
              <a:outerShdw blurRad="254000" dist="190500" dir="2700000" algn="tl" rotWithShape="0">
                <a:schemeClr val="bg1">
                  <a:lumMod val="75000"/>
                  <a:alpha val="40000"/>
                </a:schemeClr>
              </a:outerShdw>
            </a:effectLst>
          </p:spPr>
          <p:txBody>
            <a:bodyPr lIns="28575" tIns="28575" rIns="28575" bIns="28575" anchor="ctr"/>
            <a:lstStyle/>
            <a:p>
              <a:pPr algn="ctr"/>
              <a:r>
                <a:rPr lang="en-US" sz="2400" b="1" dirty="0"/>
                <a:t>2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1607EF1A-442A-0953-02FA-06BBFF268FC4}"/>
              </a:ext>
            </a:extLst>
          </p:cNvPr>
          <p:cNvGrpSpPr/>
          <p:nvPr/>
        </p:nvGrpSpPr>
        <p:grpSpPr>
          <a:xfrm>
            <a:off x="6865383" y="4593166"/>
            <a:ext cx="1459397" cy="1460406"/>
            <a:chOff x="9094660" y="1419321"/>
            <a:chExt cx="1663059" cy="16642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A15A1CB-8B3F-B5D0-F494-B87727E4C264}"/>
                </a:ext>
              </a:extLst>
            </p:cNvPr>
            <p:cNvSpPr/>
            <p:nvPr/>
          </p:nvSpPr>
          <p:spPr>
            <a:xfrm>
              <a:off x="9094660" y="1419321"/>
              <a:ext cx="1663059" cy="166420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2700">
              <a:miter lim="400000"/>
            </a:ln>
            <a:effectLst>
              <a:outerShdw blurRad="254000" dist="190500" dir="13500000" algn="tl" rotWithShape="0">
                <a:schemeClr val="bg1"/>
              </a:outerShdw>
            </a:effectLst>
          </p:spPr>
          <p:txBody>
            <a:bodyPr lIns="28575" tIns="28575" rIns="28575" bIns="28575" anchor="ctr"/>
            <a:lstStyle/>
            <a:p>
              <a:endParaRPr lang="en-US" sz="2400">
                <a:solidFill>
                  <a:srgbClr val="FFFFFF"/>
                </a:solidFill>
              </a:endParaRP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33C8F5EC-EC64-A858-CEB0-2B6F1D0E5C0F}"/>
                </a:ext>
              </a:extLst>
            </p:cNvPr>
            <p:cNvSpPr/>
            <p:nvPr/>
          </p:nvSpPr>
          <p:spPr>
            <a:xfrm>
              <a:off x="9094660" y="1419321"/>
              <a:ext cx="1663059" cy="1664208"/>
            </a:xfrm>
            <a:prstGeom prst="ellipse">
              <a:avLst/>
            </a:prstGeom>
            <a:solidFill>
              <a:srgbClr val="F1EFF0"/>
            </a:solidFill>
            <a:ln w="12700">
              <a:miter lim="400000"/>
            </a:ln>
            <a:effectLst>
              <a:outerShdw blurRad="254000" dist="190500" dir="2700000" algn="tl" rotWithShape="0">
                <a:schemeClr val="bg1">
                  <a:lumMod val="75000"/>
                  <a:alpha val="40000"/>
                </a:schemeClr>
              </a:outerShdw>
            </a:effectLst>
          </p:spPr>
          <p:txBody>
            <a:bodyPr lIns="28575" tIns="28575" rIns="28575" bIns="28575" anchor="ctr"/>
            <a:lstStyle/>
            <a:p>
              <a:pPr algn="ctr"/>
              <a:r>
                <a:rPr lang="en-US" sz="2400" b="1" dirty="0"/>
                <a:t>3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DD2CA11-ADD6-0E64-CDF8-A58319B47FA5}"/>
              </a:ext>
            </a:extLst>
          </p:cNvPr>
          <p:cNvGrpSpPr/>
          <p:nvPr/>
        </p:nvGrpSpPr>
        <p:grpSpPr>
          <a:xfrm>
            <a:off x="4545430" y="3178295"/>
            <a:ext cx="3112039" cy="2812279"/>
            <a:chOff x="8212798" y="998309"/>
            <a:chExt cx="3546329" cy="3204737"/>
          </a:xfrm>
        </p:grpSpPr>
        <p:sp>
          <p:nvSpPr>
            <p:cNvPr id="17" name="Shape">
              <a:extLst>
                <a:ext uri="{FF2B5EF4-FFF2-40B4-BE49-F238E27FC236}">
                  <a16:creationId xmlns:a16="http://schemas.microsoft.com/office/drawing/2014/main" id="{2A32926C-890B-9A62-C0EE-F11AE4713D84}"/>
                </a:ext>
              </a:extLst>
            </p:cNvPr>
            <p:cNvSpPr/>
            <p:nvPr/>
          </p:nvSpPr>
          <p:spPr>
            <a:xfrm>
              <a:off x="8212798" y="998309"/>
              <a:ext cx="3546329" cy="320473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3725" y="15733"/>
                  </a:moveTo>
                  <a:cubicBezTo>
                    <a:pt x="13725" y="11853"/>
                    <a:pt x="16569" y="8707"/>
                    <a:pt x="20074" y="8707"/>
                  </a:cubicBezTo>
                  <a:cubicBezTo>
                    <a:pt x="20598" y="8707"/>
                    <a:pt x="21108" y="8777"/>
                    <a:pt x="21600" y="8909"/>
                  </a:cubicBezTo>
                  <a:cubicBezTo>
                    <a:pt x="21405" y="5260"/>
                    <a:pt x="19734" y="2051"/>
                    <a:pt x="17231" y="0"/>
                  </a:cubicBezTo>
                  <a:cubicBezTo>
                    <a:pt x="16348" y="3000"/>
                    <a:pt x="13801" y="5170"/>
                    <a:pt x="10800" y="5170"/>
                  </a:cubicBezTo>
                  <a:cubicBezTo>
                    <a:pt x="7793" y="5170"/>
                    <a:pt x="5246" y="3000"/>
                    <a:pt x="4369" y="0"/>
                  </a:cubicBezTo>
                  <a:cubicBezTo>
                    <a:pt x="1873" y="2044"/>
                    <a:pt x="202" y="5247"/>
                    <a:pt x="0" y="8888"/>
                  </a:cubicBezTo>
                  <a:cubicBezTo>
                    <a:pt x="467" y="8763"/>
                    <a:pt x="958" y="8700"/>
                    <a:pt x="1463" y="8700"/>
                  </a:cubicBezTo>
                  <a:cubicBezTo>
                    <a:pt x="4968" y="8700"/>
                    <a:pt x="7812" y="11847"/>
                    <a:pt x="7812" y="15726"/>
                  </a:cubicBezTo>
                  <a:cubicBezTo>
                    <a:pt x="7812" y="17547"/>
                    <a:pt x="7187" y="19200"/>
                    <a:pt x="6166" y="20449"/>
                  </a:cubicBezTo>
                  <a:cubicBezTo>
                    <a:pt x="7572" y="21188"/>
                    <a:pt x="9148" y="21600"/>
                    <a:pt x="10806" y="21600"/>
                  </a:cubicBezTo>
                  <a:cubicBezTo>
                    <a:pt x="12452" y="21600"/>
                    <a:pt x="14009" y="21195"/>
                    <a:pt x="15402" y="20470"/>
                  </a:cubicBezTo>
                  <a:cubicBezTo>
                    <a:pt x="14356" y="19228"/>
                    <a:pt x="13725" y="17560"/>
                    <a:pt x="13725" y="15733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>
              <a:miter lim="400000"/>
            </a:ln>
            <a:effectLst>
              <a:outerShdw blurRad="254000" dist="190500" dir="13500000" algn="tl" rotWithShape="0">
                <a:schemeClr val="bg1"/>
              </a:outerShdw>
            </a:effectLst>
          </p:spPr>
          <p:txBody>
            <a:bodyPr lIns="28575" tIns="28575" rIns="28575" bIns="28575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sz="2250">
                <a:solidFill>
                  <a:srgbClr val="FFFFFF"/>
                </a:solidFill>
              </a:endParaRPr>
            </a:p>
          </p:txBody>
        </p:sp>
        <p:sp>
          <p:nvSpPr>
            <p:cNvPr id="18" name="Shape">
              <a:extLst>
                <a:ext uri="{FF2B5EF4-FFF2-40B4-BE49-F238E27FC236}">
                  <a16:creationId xmlns:a16="http://schemas.microsoft.com/office/drawing/2014/main" id="{41A222E0-99DB-AE50-9B6E-33151204F8E6}"/>
                </a:ext>
              </a:extLst>
            </p:cNvPr>
            <p:cNvSpPr/>
            <p:nvPr/>
          </p:nvSpPr>
          <p:spPr>
            <a:xfrm>
              <a:off x="8212798" y="998309"/>
              <a:ext cx="3546329" cy="320473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3725" y="15733"/>
                  </a:moveTo>
                  <a:cubicBezTo>
                    <a:pt x="13725" y="11853"/>
                    <a:pt x="16569" y="8707"/>
                    <a:pt x="20074" y="8707"/>
                  </a:cubicBezTo>
                  <a:cubicBezTo>
                    <a:pt x="20598" y="8707"/>
                    <a:pt x="21108" y="8777"/>
                    <a:pt x="21600" y="8909"/>
                  </a:cubicBezTo>
                  <a:cubicBezTo>
                    <a:pt x="21405" y="5260"/>
                    <a:pt x="19734" y="2051"/>
                    <a:pt x="17231" y="0"/>
                  </a:cubicBezTo>
                  <a:cubicBezTo>
                    <a:pt x="16348" y="3000"/>
                    <a:pt x="13801" y="5170"/>
                    <a:pt x="10800" y="5170"/>
                  </a:cubicBezTo>
                  <a:cubicBezTo>
                    <a:pt x="7793" y="5170"/>
                    <a:pt x="5246" y="3000"/>
                    <a:pt x="4369" y="0"/>
                  </a:cubicBezTo>
                  <a:cubicBezTo>
                    <a:pt x="1873" y="2044"/>
                    <a:pt x="202" y="5247"/>
                    <a:pt x="0" y="8888"/>
                  </a:cubicBezTo>
                  <a:cubicBezTo>
                    <a:pt x="467" y="8763"/>
                    <a:pt x="958" y="8700"/>
                    <a:pt x="1463" y="8700"/>
                  </a:cubicBezTo>
                  <a:cubicBezTo>
                    <a:pt x="4968" y="8700"/>
                    <a:pt x="7812" y="11847"/>
                    <a:pt x="7812" y="15726"/>
                  </a:cubicBezTo>
                  <a:cubicBezTo>
                    <a:pt x="7812" y="17547"/>
                    <a:pt x="7187" y="19200"/>
                    <a:pt x="6166" y="20449"/>
                  </a:cubicBezTo>
                  <a:cubicBezTo>
                    <a:pt x="7572" y="21188"/>
                    <a:pt x="9148" y="21600"/>
                    <a:pt x="10806" y="21600"/>
                  </a:cubicBezTo>
                  <a:cubicBezTo>
                    <a:pt x="12452" y="21600"/>
                    <a:pt x="14009" y="21195"/>
                    <a:pt x="15402" y="20470"/>
                  </a:cubicBezTo>
                  <a:cubicBezTo>
                    <a:pt x="14356" y="19228"/>
                    <a:pt x="13725" y="17560"/>
                    <a:pt x="13725" y="15733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>
              <a:miter lim="400000"/>
            </a:ln>
            <a:effectLst>
              <a:outerShdw blurRad="254000" dist="190500" dir="2700000" algn="tl" rotWithShape="0">
                <a:schemeClr val="bg1">
                  <a:lumMod val="75000"/>
                  <a:alpha val="40000"/>
                </a:schemeClr>
              </a:outerShdw>
            </a:effectLst>
          </p:spPr>
          <p:txBody>
            <a:bodyPr lIns="28575" tIns="28575" rIns="28575" bIns="28575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sz="2250" dirty="0">
                <a:solidFill>
                  <a:srgbClr val="FFFFFF"/>
                </a:solidFill>
              </a:endParaRPr>
            </a:p>
          </p:txBody>
        </p:sp>
      </p:grpSp>
      <p:pic>
        <p:nvPicPr>
          <p:cNvPr id="19" name="Graphic 31" descr="Lights On">
            <a:extLst>
              <a:ext uri="{FF2B5EF4-FFF2-40B4-BE49-F238E27FC236}">
                <a16:creationId xmlns:a16="http://schemas.microsoft.com/office/drawing/2014/main" id="{C8007DE2-5BD9-5C67-0B28-F7352639D9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13853" y="4424362"/>
            <a:ext cx="764292" cy="764292"/>
          </a:xfrm>
          <a:prstGeom prst="rect">
            <a:avLst/>
          </a:prstGeom>
        </p:spPr>
      </p:pic>
      <p:sp>
        <p:nvSpPr>
          <p:cNvPr id="20" name="TextBox 13">
            <a:extLst>
              <a:ext uri="{FF2B5EF4-FFF2-40B4-BE49-F238E27FC236}">
                <a16:creationId xmlns:a16="http://schemas.microsoft.com/office/drawing/2014/main" id="{8081AE7B-E1AE-6078-E090-43B40CDF16D5}"/>
              </a:ext>
            </a:extLst>
          </p:cNvPr>
          <p:cNvSpPr txBox="1"/>
          <p:nvPr/>
        </p:nvSpPr>
        <p:spPr>
          <a:xfrm>
            <a:off x="5219477" y="3971152"/>
            <a:ext cx="1743042" cy="415498"/>
          </a:xfrm>
          <a:prstGeom prst="rect">
            <a:avLst/>
          </a:prstGeom>
          <a:noFill/>
        </p:spPr>
        <p:txBody>
          <a:bodyPr wrap="square" lIns="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700" b="1" noProof="1"/>
              <a:t>Combined Phenotype Score (EFS)</a:t>
            </a:r>
          </a:p>
          <a:p>
            <a:pPr algn="ctr"/>
            <a:r>
              <a:rPr lang="en-US" sz="700" b="1" noProof="1"/>
              <a:t>Low = Loss of Function</a:t>
            </a:r>
          </a:p>
          <a:p>
            <a:pPr algn="ctr"/>
            <a:r>
              <a:rPr lang="en-US" sz="700" b="1" noProof="1"/>
              <a:t>High = WT-like Activity</a:t>
            </a:r>
          </a:p>
        </p:txBody>
      </p:sp>
      <p:sp>
        <p:nvSpPr>
          <p:cNvPr id="21" name="Circle">
            <a:extLst>
              <a:ext uri="{FF2B5EF4-FFF2-40B4-BE49-F238E27FC236}">
                <a16:creationId xmlns:a16="http://schemas.microsoft.com/office/drawing/2014/main" id="{42C4BCEC-E259-3077-6BF6-6557CA49DA74}"/>
              </a:ext>
            </a:extLst>
          </p:cNvPr>
          <p:cNvSpPr>
            <a:spLocks/>
          </p:cNvSpPr>
          <p:nvPr/>
        </p:nvSpPr>
        <p:spPr>
          <a:xfrm>
            <a:off x="5321662" y="2017775"/>
            <a:ext cx="1548672" cy="1548671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miter lim="400000"/>
          </a:ln>
          <a:effectLst>
            <a:outerShdw blurRad="254000" dist="190500" dir="13500000" algn="tl" rotWithShape="0">
              <a:schemeClr val="bg1"/>
            </a:outerShdw>
          </a:effectLst>
        </p:spPr>
        <p:txBody>
          <a:bodyPr lIns="28575" tIns="28575" rIns="28575" bIns="28575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sz="2400" dirty="0">
              <a:solidFill>
                <a:srgbClr val="FFFFFF"/>
              </a:solidFill>
            </a:endParaRPr>
          </a:p>
        </p:txBody>
      </p:sp>
      <p:sp>
        <p:nvSpPr>
          <p:cNvPr id="22" name="Circle">
            <a:extLst>
              <a:ext uri="{FF2B5EF4-FFF2-40B4-BE49-F238E27FC236}">
                <a16:creationId xmlns:a16="http://schemas.microsoft.com/office/drawing/2014/main" id="{0942E217-7310-96A2-2DDA-C439DD189675}"/>
              </a:ext>
            </a:extLst>
          </p:cNvPr>
          <p:cNvSpPr>
            <a:spLocks/>
          </p:cNvSpPr>
          <p:nvPr/>
        </p:nvSpPr>
        <p:spPr>
          <a:xfrm>
            <a:off x="5321662" y="2017775"/>
            <a:ext cx="1548672" cy="1548671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miter lim="400000"/>
          </a:ln>
          <a:effectLst>
            <a:outerShdw blurRad="254000" dist="190500" dir="2700000" algn="tl" rotWithShape="0">
              <a:schemeClr val="bg1">
                <a:lumMod val="75000"/>
                <a:alpha val="40000"/>
              </a:schemeClr>
            </a:outerShdw>
          </a:effectLst>
        </p:spPr>
        <p:txBody>
          <a:bodyPr lIns="28575" tIns="28575" rIns="28575" bIns="28575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sz="2400" b="1" dirty="0"/>
          </a:p>
        </p:txBody>
      </p:sp>
      <p:sp>
        <p:nvSpPr>
          <p:cNvPr id="23" name="Circle">
            <a:extLst>
              <a:ext uri="{FF2B5EF4-FFF2-40B4-BE49-F238E27FC236}">
                <a16:creationId xmlns:a16="http://schemas.microsoft.com/office/drawing/2014/main" id="{FC8BE534-91CD-8C49-5200-A26DC21D28C6}"/>
              </a:ext>
            </a:extLst>
          </p:cNvPr>
          <p:cNvSpPr>
            <a:spLocks/>
          </p:cNvSpPr>
          <p:nvPr/>
        </p:nvSpPr>
        <p:spPr>
          <a:xfrm>
            <a:off x="5321662" y="1997303"/>
            <a:ext cx="1548672" cy="1548671"/>
          </a:xfrm>
          <a:prstGeom prst="ellipse">
            <a:avLst/>
          </a:prstGeom>
          <a:gradFill>
            <a:gsLst>
              <a:gs pos="50000">
                <a:schemeClr val="accent3"/>
              </a:gs>
              <a:gs pos="85000">
                <a:schemeClr val="accent3">
                  <a:lumMod val="40000"/>
                  <a:lumOff val="60000"/>
                </a:schemeClr>
              </a:gs>
            </a:gsLst>
            <a:lin ang="2700000" scaled="0"/>
          </a:gradFill>
          <a:ln>
            <a:noFill/>
          </a:ln>
          <a:effectLst>
            <a:innerShdw blurRad="152400" dist="101600" dir="13500000">
              <a:schemeClr val="accent3">
                <a:lumMod val="50000"/>
                <a:alpha val="40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400" b="1" dirty="0">
                <a:solidFill>
                  <a:schemeClr val="bg1"/>
                </a:solidFill>
              </a:rPr>
              <a:t>1</a:t>
            </a:r>
            <a:endParaRPr sz="2400" b="1" dirty="0">
              <a:solidFill>
                <a:schemeClr val="bg1"/>
              </a:solidFill>
            </a:endParaRP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B29E89F7-7DB0-B237-9C99-9CC61285E8E9}"/>
              </a:ext>
            </a:extLst>
          </p:cNvPr>
          <p:cNvGrpSpPr/>
          <p:nvPr/>
        </p:nvGrpSpPr>
        <p:grpSpPr>
          <a:xfrm>
            <a:off x="8712017" y="4732140"/>
            <a:ext cx="3276783" cy="1106115"/>
            <a:chOff x="8921977" y="4001571"/>
            <a:chExt cx="2926080" cy="1474819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CC035F0-2526-D268-0E3B-75AB79A12D8E}"/>
                </a:ext>
              </a:extLst>
            </p:cNvPr>
            <p:cNvSpPr txBox="1"/>
            <p:nvPr/>
          </p:nvSpPr>
          <p:spPr>
            <a:xfrm>
              <a:off x="8921977" y="4001571"/>
              <a:ext cx="2926080" cy="533480"/>
            </a:xfrm>
            <a:prstGeom prst="rect">
              <a:avLst/>
            </a:prstGeom>
            <a:noFill/>
          </p:spPr>
          <p:txBody>
            <a:bodyPr wrap="square" lIns="0" rIns="0" rtlCol="0" anchor="b">
              <a:spAutoFit/>
            </a:bodyPr>
            <a:lstStyle/>
            <a:p>
              <a:r>
                <a:rPr lang="en-US" sz="2000" b="1" noProof="1"/>
                <a:t>Calculate Functional Score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668FC290-2159-6BA0-2442-116AB524B9D3}"/>
                </a:ext>
              </a:extLst>
            </p:cNvPr>
            <p:cNvSpPr txBox="1"/>
            <p:nvPr/>
          </p:nvSpPr>
          <p:spPr>
            <a:xfrm>
              <a:off x="8921977" y="4532543"/>
              <a:ext cx="2926080" cy="943847"/>
            </a:xfrm>
            <a:prstGeom prst="rect">
              <a:avLst/>
            </a:prstGeom>
            <a:noFill/>
          </p:spPr>
          <p:txBody>
            <a:bodyPr wrap="square" lIns="0" rIns="0" rtlCol="0" anchor="t">
              <a:spAutoFit/>
            </a:bodyPr>
            <a:lstStyle/>
            <a:p>
              <a:r>
                <a:rPr lang="en-US" sz="1000" noProof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Integrate the three Z-scores using the Combined Phenotype Score formula. This single value per allele - the EFS - reflects the degree to which each TP53 variant retains or loses normal p53 function.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B6880FB-82C4-842A-3DAF-F2B7882B9BFA}"/>
              </a:ext>
            </a:extLst>
          </p:cNvPr>
          <p:cNvGrpSpPr/>
          <p:nvPr/>
        </p:nvGrpSpPr>
        <p:grpSpPr>
          <a:xfrm>
            <a:off x="267478" y="4631438"/>
            <a:ext cx="3331985" cy="921449"/>
            <a:chOff x="332936" y="4621561"/>
            <a:chExt cx="2926080" cy="1228599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1428924-C3F8-AD23-A029-7B41748237E3}"/>
                </a:ext>
              </a:extLst>
            </p:cNvPr>
            <p:cNvSpPr txBox="1"/>
            <p:nvPr/>
          </p:nvSpPr>
          <p:spPr>
            <a:xfrm>
              <a:off x="332936" y="4621561"/>
              <a:ext cx="2926080" cy="492442"/>
            </a:xfrm>
            <a:prstGeom prst="rect">
              <a:avLst/>
            </a:prstGeom>
            <a:noFill/>
          </p:spPr>
          <p:txBody>
            <a:bodyPr wrap="square" lIns="0" rIns="0" rtlCol="0" anchor="b">
              <a:spAutoFit/>
            </a:bodyPr>
            <a:lstStyle/>
            <a:p>
              <a:pPr algn="r"/>
              <a:r>
                <a:rPr lang="en-US" b="1" dirty="0"/>
                <a:t>Quantify Allele Enrichment</a:t>
              </a:r>
              <a:endParaRPr lang="en-US" sz="2000" b="1" noProof="1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3A0310DC-5DC9-5D1F-1D32-AD439F276849}"/>
                </a:ext>
              </a:extLst>
            </p:cNvPr>
            <p:cNvSpPr txBox="1"/>
            <p:nvPr/>
          </p:nvSpPr>
          <p:spPr>
            <a:xfrm>
              <a:off x="332936" y="5111496"/>
              <a:ext cx="2926080" cy="738664"/>
            </a:xfrm>
            <a:prstGeom prst="rect">
              <a:avLst/>
            </a:prstGeom>
            <a:noFill/>
          </p:spPr>
          <p:txBody>
            <a:bodyPr wrap="square" lIns="0" rIns="0" rtlCol="0" anchor="t">
              <a:spAutoFit/>
            </a:bodyPr>
            <a:lstStyle/>
            <a:p>
              <a:pPr algn="r"/>
              <a:r>
                <a:rPr lang="en-US" sz="1000" noProof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Compute log₂ fold-change for each allele relative to the early timepoint. Standardize across alleles to produce a Z-score for each of the three conditions.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202CC10-FB01-DB77-E5DD-9C862A01D79D}"/>
              </a:ext>
            </a:extLst>
          </p:cNvPr>
          <p:cNvGrpSpPr/>
          <p:nvPr/>
        </p:nvGrpSpPr>
        <p:grpSpPr>
          <a:xfrm>
            <a:off x="1286933" y="2249613"/>
            <a:ext cx="3854634" cy="967371"/>
            <a:chOff x="8921977" y="984542"/>
            <a:chExt cx="2926080" cy="2202911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FB8F06D-FC26-5F60-BF33-6284F4203DE4}"/>
                </a:ext>
              </a:extLst>
            </p:cNvPr>
            <p:cNvSpPr txBox="1"/>
            <p:nvPr/>
          </p:nvSpPr>
          <p:spPr>
            <a:xfrm>
              <a:off x="8921977" y="984542"/>
              <a:ext cx="2743944" cy="943848"/>
            </a:xfrm>
            <a:prstGeom prst="rect">
              <a:avLst/>
            </a:prstGeom>
            <a:noFill/>
          </p:spPr>
          <p:txBody>
            <a:bodyPr wrap="square" lIns="0" rIns="0" rtlCol="0" anchor="b">
              <a:spAutoFit/>
            </a:bodyPr>
            <a:lstStyle/>
            <a:p>
              <a:r>
                <a:rPr lang="en-US" sz="2000" b="1" noProof="1">
                  <a:solidFill>
                    <a:schemeClr val="accent3">
                      <a:lumMod val="75000"/>
                    </a:schemeClr>
                  </a:solidFill>
                </a:rPr>
                <a:t>Screen 8,258 TP53 Variants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76451E6-7528-1075-F5FA-4FF144465383}"/>
                </a:ext>
              </a:extLst>
            </p:cNvPr>
            <p:cNvSpPr txBox="1"/>
            <p:nvPr/>
          </p:nvSpPr>
          <p:spPr>
            <a:xfrm>
              <a:off x="8921977" y="1925881"/>
              <a:ext cx="2926080" cy="1261572"/>
            </a:xfrm>
            <a:prstGeom prst="rect">
              <a:avLst/>
            </a:prstGeom>
            <a:noFill/>
          </p:spPr>
          <p:txBody>
            <a:bodyPr wrap="square" lIns="0" rIns="0" rtlCol="0" anchor="t">
              <a:spAutoFit/>
            </a:bodyPr>
            <a:lstStyle/>
            <a:p>
              <a:r>
                <a:rPr lang="en-US" sz="1000" noProof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Run 3 competitive growth screens in isogenic p53WT and p53NULL cells treated with nutlin-3 or etoposide. Collect read counts to quantify allele representation.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61CAC2AA-7851-7415-B7BC-8419E257DE55}"/>
              </a:ext>
            </a:extLst>
          </p:cNvPr>
          <p:cNvSpPr txBox="1"/>
          <p:nvPr/>
        </p:nvSpPr>
        <p:spPr>
          <a:xfrm>
            <a:off x="440870" y="6258822"/>
            <a:ext cx="1132115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Giacomelli, A.O., Yang, X., Lintner, R.E. </a:t>
            </a:r>
            <a:r>
              <a:rPr lang="en-US" sz="1600" i="1" dirty="0"/>
              <a:t>et al.</a:t>
            </a:r>
            <a:r>
              <a:rPr lang="en-US" sz="1600" dirty="0"/>
              <a:t> Mutational processes shape the landscape of </a:t>
            </a:r>
            <a:r>
              <a:rPr lang="en-US" sz="1600" i="1" dirty="0"/>
              <a:t>TP53</a:t>
            </a:r>
            <a:r>
              <a:rPr lang="en-US" sz="1600" dirty="0"/>
              <a:t> mutations in human cancer. </a:t>
            </a:r>
            <a:r>
              <a:rPr lang="en-US" sz="1600" i="1" dirty="0"/>
              <a:t>Nat Genet</a:t>
            </a:r>
            <a:r>
              <a:rPr lang="en-US" sz="1600" dirty="0"/>
              <a:t> 50, 1381–1387 (2018).</a:t>
            </a:r>
            <a:endParaRPr lang="en-IL" sz="1600" dirty="0"/>
          </a:p>
          <a:p>
            <a:endParaRPr lang="en-IL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A5A31B5-9DA9-E651-98CD-877FEF8DF613}"/>
              </a:ext>
            </a:extLst>
          </p:cNvPr>
          <p:cNvSpPr txBox="1"/>
          <p:nvPr/>
        </p:nvSpPr>
        <p:spPr>
          <a:xfrm>
            <a:off x="8712017" y="4224828"/>
            <a:ext cx="30925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EFS = [Z(</a:t>
            </a:r>
            <a:r>
              <a:rPr lang="en-US" sz="1400" dirty="0" err="1"/>
              <a:t>WT+nutlin</a:t>
            </a:r>
            <a:r>
              <a:rPr lang="en-US" sz="1400" dirty="0"/>
              <a:t>) + Z(</a:t>
            </a:r>
            <a:r>
              <a:rPr lang="en-US" sz="1400" dirty="0" err="1"/>
              <a:t>NULL+nutlin</a:t>
            </a:r>
            <a:r>
              <a:rPr lang="en-US" sz="1400" dirty="0"/>
              <a:t>) − Z(</a:t>
            </a:r>
            <a:r>
              <a:rPr lang="en-US" sz="1400" dirty="0" err="1"/>
              <a:t>NULL+etop</a:t>
            </a:r>
            <a:r>
              <a:rPr lang="en-US" sz="1400" dirty="0"/>
              <a:t>)] / 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DC8943F-6955-FEC9-02F6-F0851680E012}"/>
              </a:ext>
            </a:extLst>
          </p:cNvPr>
          <p:cNvSpPr txBox="1"/>
          <p:nvPr/>
        </p:nvSpPr>
        <p:spPr>
          <a:xfrm>
            <a:off x="441533" y="-1"/>
            <a:ext cx="3707385" cy="468000"/>
          </a:xfrm>
          <a:prstGeom prst="rect">
            <a:avLst/>
          </a:prstGeom>
          <a:solidFill>
            <a:srgbClr val="4D1434"/>
          </a:solidFill>
        </p:spPr>
        <p:txBody>
          <a:bodyPr wrap="square" rtlCol="0">
            <a:spAutoFit/>
          </a:bodyPr>
          <a:lstStyle/>
          <a:p>
            <a:pPr algn="ctr"/>
            <a:endParaRPr lang="en-IL" sz="700" dirty="0">
              <a:solidFill>
                <a:schemeClr val="bg1"/>
              </a:solidFill>
            </a:endParaRPr>
          </a:p>
          <a:p>
            <a:pPr algn="ctr"/>
            <a:r>
              <a:rPr lang="en-IL" sz="1400" i="1" dirty="0">
                <a:solidFill>
                  <a:schemeClr val="bg1"/>
                </a:solidFill>
                <a:latin typeface="Abadi MT Condensed Light" panose="020B0306030101010103" pitchFamily="34" charset="77"/>
                <a:ea typeface="Batang" panose="02030600000101010101" pitchFamily="18" charset="-127"/>
                <a:cs typeface="Corsiva Hebrew" pitchFamily="2" charset="-79"/>
              </a:rPr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18291268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E58EF4-9571-AEBD-4097-BF887B2D8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5036D-21E5-E69F-DDAC-19BC4CE542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0052" y="774559"/>
            <a:ext cx="6750756" cy="688622"/>
          </a:xfrm>
        </p:spPr>
        <p:txBody>
          <a:bodyPr>
            <a:normAutofit/>
          </a:bodyPr>
          <a:lstStyle/>
          <a:p>
            <a:r>
              <a:rPr lang="en-US" dirty="0"/>
              <a:t>Experimental Functional Score</a:t>
            </a:r>
            <a:endParaRPr lang="en-IL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D33C76D-1C6F-D0DA-AF94-08480681CA89}"/>
              </a:ext>
            </a:extLst>
          </p:cNvPr>
          <p:cNvGrpSpPr/>
          <p:nvPr/>
        </p:nvGrpSpPr>
        <p:grpSpPr>
          <a:xfrm>
            <a:off x="3867222" y="4593166"/>
            <a:ext cx="1459397" cy="1460406"/>
            <a:chOff x="9094660" y="1419321"/>
            <a:chExt cx="1663059" cy="1664208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6BA6F8D-8F8A-615B-497B-CA8F99663F16}"/>
                </a:ext>
              </a:extLst>
            </p:cNvPr>
            <p:cNvSpPr/>
            <p:nvPr/>
          </p:nvSpPr>
          <p:spPr>
            <a:xfrm>
              <a:off x="9094660" y="1419321"/>
              <a:ext cx="1663059" cy="166420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2700">
              <a:miter lim="400000"/>
            </a:ln>
            <a:effectLst>
              <a:outerShdw blurRad="254000" dist="190500" dir="13500000" algn="tl" rotWithShape="0">
                <a:schemeClr val="bg1"/>
              </a:outerShdw>
            </a:effectLst>
          </p:spPr>
          <p:txBody>
            <a:bodyPr lIns="28575" tIns="28575" rIns="28575" bIns="28575" anchor="ctr"/>
            <a:lstStyle/>
            <a:p>
              <a:endParaRPr lang="en-US" sz="2400">
                <a:solidFill>
                  <a:srgbClr val="FFFFFF"/>
                </a:solidFill>
              </a:endParaRP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D4B4A215-6A52-F48A-BD20-135BC4819CF7}"/>
                </a:ext>
              </a:extLst>
            </p:cNvPr>
            <p:cNvSpPr/>
            <p:nvPr/>
          </p:nvSpPr>
          <p:spPr>
            <a:xfrm>
              <a:off x="9094660" y="1419321"/>
              <a:ext cx="1663059" cy="1664208"/>
            </a:xfrm>
            <a:prstGeom prst="ellipse">
              <a:avLst/>
            </a:prstGeom>
            <a:solidFill>
              <a:srgbClr val="F1EFF0"/>
            </a:solidFill>
            <a:ln w="12700">
              <a:miter lim="400000"/>
            </a:ln>
            <a:effectLst>
              <a:outerShdw blurRad="254000" dist="190500" dir="2700000" algn="tl" rotWithShape="0">
                <a:schemeClr val="bg1">
                  <a:lumMod val="75000"/>
                  <a:alpha val="40000"/>
                </a:schemeClr>
              </a:outerShdw>
            </a:effectLst>
          </p:spPr>
          <p:txBody>
            <a:bodyPr lIns="28575" tIns="28575" rIns="28575" bIns="28575" anchor="ctr"/>
            <a:lstStyle/>
            <a:p>
              <a:pPr algn="ctr"/>
              <a:r>
                <a:rPr lang="en-US" sz="2400" b="1" dirty="0"/>
                <a:t>2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4DA9C1E7-A4C4-0312-AAF4-06E37D9CD97E}"/>
              </a:ext>
            </a:extLst>
          </p:cNvPr>
          <p:cNvGrpSpPr/>
          <p:nvPr/>
        </p:nvGrpSpPr>
        <p:grpSpPr>
          <a:xfrm>
            <a:off x="6865383" y="4593166"/>
            <a:ext cx="1459397" cy="1460406"/>
            <a:chOff x="9094660" y="1419321"/>
            <a:chExt cx="1663059" cy="16642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5A56F910-0894-8726-4028-7414D9CD49BA}"/>
                </a:ext>
              </a:extLst>
            </p:cNvPr>
            <p:cNvSpPr/>
            <p:nvPr/>
          </p:nvSpPr>
          <p:spPr>
            <a:xfrm>
              <a:off x="9094660" y="1419321"/>
              <a:ext cx="1663059" cy="166420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2700">
              <a:miter lim="400000"/>
            </a:ln>
            <a:effectLst>
              <a:outerShdw blurRad="254000" dist="190500" dir="13500000" algn="tl" rotWithShape="0">
                <a:schemeClr val="bg1"/>
              </a:outerShdw>
            </a:effectLst>
          </p:spPr>
          <p:txBody>
            <a:bodyPr lIns="28575" tIns="28575" rIns="28575" bIns="28575" anchor="ctr"/>
            <a:lstStyle/>
            <a:p>
              <a:endParaRPr lang="en-US" sz="2400">
                <a:solidFill>
                  <a:srgbClr val="FFFFFF"/>
                </a:solidFill>
              </a:endParaRP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02BAB27C-C5C4-8191-296B-C6FBE632FC48}"/>
                </a:ext>
              </a:extLst>
            </p:cNvPr>
            <p:cNvSpPr/>
            <p:nvPr/>
          </p:nvSpPr>
          <p:spPr>
            <a:xfrm>
              <a:off x="9094660" y="1419321"/>
              <a:ext cx="1663059" cy="1664208"/>
            </a:xfrm>
            <a:prstGeom prst="ellipse">
              <a:avLst/>
            </a:prstGeom>
            <a:solidFill>
              <a:srgbClr val="F1EFF0"/>
            </a:solidFill>
            <a:ln w="12700">
              <a:miter lim="400000"/>
            </a:ln>
            <a:effectLst>
              <a:outerShdw blurRad="254000" dist="190500" dir="2700000" algn="tl" rotWithShape="0">
                <a:schemeClr val="bg1">
                  <a:lumMod val="75000"/>
                  <a:alpha val="40000"/>
                </a:schemeClr>
              </a:outerShdw>
            </a:effectLst>
          </p:spPr>
          <p:txBody>
            <a:bodyPr lIns="28575" tIns="28575" rIns="28575" bIns="28575" anchor="ctr"/>
            <a:lstStyle/>
            <a:p>
              <a:pPr algn="ctr"/>
              <a:r>
                <a:rPr lang="en-US" sz="2400" b="1" dirty="0"/>
                <a:t>3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1D02CDC-EE64-9209-BC87-E09AB5DBA907}"/>
              </a:ext>
            </a:extLst>
          </p:cNvPr>
          <p:cNvGrpSpPr/>
          <p:nvPr/>
        </p:nvGrpSpPr>
        <p:grpSpPr>
          <a:xfrm>
            <a:off x="4545430" y="3178295"/>
            <a:ext cx="3112039" cy="2812279"/>
            <a:chOff x="8212798" y="998309"/>
            <a:chExt cx="3546329" cy="3204737"/>
          </a:xfrm>
        </p:grpSpPr>
        <p:sp>
          <p:nvSpPr>
            <p:cNvPr id="17" name="Shape">
              <a:extLst>
                <a:ext uri="{FF2B5EF4-FFF2-40B4-BE49-F238E27FC236}">
                  <a16:creationId xmlns:a16="http://schemas.microsoft.com/office/drawing/2014/main" id="{31050582-7E10-9FC7-E18B-115D39EA3FF7}"/>
                </a:ext>
              </a:extLst>
            </p:cNvPr>
            <p:cNvSpPr/>
            <p:nvPr/>
          </p:nvSpPr>
          <p:spPr>
            <a:xfrm>
              <a:off x="8212798" y="998309"/>
              <a:ext cx="3546329" cy="320473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3725" y="15733"/>
                  </a:moveTo>
                  <a:cubicBezTo>
                    <a:pt x="13725" y="11853"/>
                    <a:pt x="16569" y="8707"/>
                    <a:pt x="20074" y="8707"/>
                  </a:cubicBezTo>
                  <a:cubicBezTo>
                    <a:pt x="20598" y="8707"/>
                    <a:pt x="21108" y="8777"/>
                    <a:pt x="21600" y="8909"/>
                  </a:cubicBezTo>
                  <a:cubicBezTo>
                    <a:pt x="21405" y="5260"/>
                    <a:pt x="19734" y="2051"/>
                    <a:pt x="17231" y="0"/>
                  </a:cubicBezTo>
                  <a:cubicBezTo>
                    <a:pt x="16348" y="3000"/>
                    <a:pt x="13801" y="5170"/>
                    <a:pt x="10800" y="5170"/>
                  </a:cubicBezTo>
                  <a:cubicBezTo>
                    <a:pt x="7793" y="5170"/>
                    <a:pt x="5246" y="3000"/>
                    <a:pt x="4369" y="0"/>
                  </a:cubicBezTo>
                  <a:cubicBezTo>
                    <a:pt x="1873" y="2044"/>
                    <a:pt x="202" y="5247"/>
                    <a:pt x="0" y="8888"/>
                  </a:cubicBezTo>
                  <a:cubicBezTo>
                    <a:pt x="467" y="8763"/>
                    <a:pt x="958" y="8700"/>
                    <a:pt x="1463" y="8700"/>
                  </a:cubicBezTo>
                  <a:cubicBezTo>
                    <a:pt x="4968" y="8700"/>
                    <a:pt x="7812" y="11847"/>
                    <a:pt x="7812" y="15726"/>
                  </a:cubicBezTo>
                  <a:cubicBezTo>
                    <a:pt x="7812" y="17547"/>
                    <a:pt x="7187" y="19200"/>
                    <a:pt x="6166" y="20449"/>
                  </a:cubicBezTo>
                  <a:cubicBezTo>
                    <a:pt x="7572" y="21188"/>
                    <a:pt x="9148" y="21600"/>
                    <a:pt x="10806" y="21600"/>
                  </a:cubicBezTo>
                  <a:cubicBezTo>
                    <a:pt x="12452" y="21600"/>
                    <a:pt x="14009" y="21195"/>
                    <a:pt x="15402" y="20470"/>
                  </a:cubicBezTo>
                  <a:cubicBezTo>
                    <a:pt x="14356" y="19228"/>
                    <a:pt x="13725" y="17560"/>
                    <a:pt x="13725" y="15733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>
              <a:miter lim="400000"/>
            </a:ln>
            <a:effectLst>
              <a:outerShdw blurRad="254000" dist="190500" dir="13500000" algn="tl" rotWithShape="0">
                <a:schemeClr val="bg1"/>
              </a:outerShdw>
            </a:effectLst>
          </p:spPr>
          <p:txBody>
            <a:bodyPr lIns="28575" tIns="28575" rIns="28575" bIns="28575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sz="2250">
                <a:solidFill>
                  <a:srgbClr val="FFFFFF"/>
                </a:solidFill>
              </a:endParaRPr>
            </a:p>
          </p:txBody>
        </p:sp>
        <p:sp>
          <p:nvSpPr>
            <p:cNvPr id="18" name="Shape">
              <a:extLst>
                <a:ext uri="{FF2B5EF4-FFF2-40B4-BE49-F238E27FC236}">
                  <a16:creationId xmlns:a16="http://schemas.microsoft.com/office/drawing/2014/main" id="{D02D98C3-CFC8-6615-DD45-5C2195189EEC}"/>
                </a:ext>
              </a:extLst>
            </p:cNvPr>
            <p:cNvSpPr/>
            <p:nvPr/>
          </p:nvSpPr>
          <p:spPr>
            <a:xfrm>
              <a:off x="8212798" y="998309"/>
              <a:ext cx="3546329" cy="320473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3725" y="15733"/>
                  </a:moveTo>
                  <a:cubicBezTo>
                    <a:pt x="13725" y="11853"/>
                    <a:pt x="16569" y="8707"/>
                    <a:pt x="20074" y="8707"/>
                  </a:cubicBezTo>
                  <a:cubicBezTo>
                    <a:pt x="20598" y="8707"/>
                    <a:pt x="21108" y="8777"/>
                    <a:pt x="21600" y="8909"/>
                  </a:cubicBezTo>
                  <a:cubicBezTo>
                    <a:pt x="21405" y="5260"/>
                    <a:pt x="19734" y="2051"/>
                    <a:pt x="17231" y="0"/>
                  </a:cubicBezTo>
                  <a:cubicBezTo>
                    <a:pt x="16348" y="3000"/>
                    <a:pt x="13801" y="5170"/>
                    <a:pt x="10800" y="5170"/>
                  </a:cubicBezTo>
                  <a:cubicBezTo>
                    <a:pt x="7793" y="5170"/>
                    <a:pt x="5246" y="3000"/>
                    <a:pt x="4369" y="0"/>
                  </a:cubicBezTo>
                  <a:cubicBezTo>
                    <a:pt x="1873" y="2044"/>
                    <a:pt x="202" y="5247"/>
                    <a:pt x="0" y="8888"/>
                  </a:cubicBezTo>
                  <a:cubicBezTo>
                    <a:pt x="467" y="8763"/>
                    <a:pt x="958" y="8700"/>
                    <a:pt x="1463" y="8700"/>
                  </a:cubicBezTo>
                  <a:cubicBezTo>
                    <a:pt x="4968" y="8700"/>
                    <a:pt x="7812" y="11847"/>
                    <a:pt x="7812" y="15726"/>
                  </a:cubicBezTo>
                  <a:cubicBezTo>
                    <a:pt x="7812" y="17547"/>
                    <a:pt x="7187" y="19200"/>
                    <a:pt x="6166" y="20449"/>
                  </a:cubicBezTo>
                  <a:cubicBezTo>
                    <a:pt x="7572" y="21188"/>
                    <a:pt x="9148" y="21600"/>
                    <a:pt x="10806" y="21600"/>
                  </a:cubicBezTo>
                  <a:cubicBezTo>
                    <a:pt x="12452" y="21600"/>
                    <a:pt x="14009" y="21195"/>
                    <a:pt x="15402" y="20470"/>
                  </a:cubicBezTo>
                  <a:cubicBezTo>
                    <a:pt x="14356" y="19228"/>
                    <a:pt x="13725" y="17560"/>
                    <a:pt x="13725" y="15733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>
              <a:miter lim="400000"/>
            </a:ln>
            <a:effectLst>
              <a:outerShdw blurRad="254000" dist="190500" dir="2700000" algn="tl" rotWithShape="0">
                <a:schemeClr val="bg1">
                  <a:lumMod val="75000"/>
                  <a:alpha val="40000"/>
                </a:schemeClr>
              </a:outerShdw>
            </a:effectLst>
          </p:spPr>
          <p:txBody>
            <a:bodyPr lIns="28575" tIns="28575" rIns="28575" bIns="28575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sz="2250" dirty="0">
                <a:solidFill>
                  <a:srgbClr val="FFFFFF"/>
                </a:solidFill>
              </a:endParaRPr>
            </a:p>
          </p:txBody>
        </p:sp>
      </p:grpSp>
      <p:pic>
        <p:nvPicPr>
          <p:cNvPr id="19" name="Graphic 31" descr="Lights On">
            <a:extLst>
              <a:ext uri="{FF2B5EF4-FFF2-40B4-BE49-F238E27FC236}">
                <a16:creationId xmlns:a16="http://schemas.microsoft.com/office/drawing/2014/main" id="{CA71D7CB-D14E-3ED9-2156-6654656FF5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13853" y="4424362"/>
            <a:ext cx="764292" cy="764292"/>
          </a:xfrm>
          <a:prstGeom prst="rect">
            <a:avLst/>
          </a:prstGeom>
        </p:spPr>
      </p:pic>
      <p:sp>
        <p:nvSpPr>
          <p:cNvPr id="20" name="TextBox 13">
            <a:extLst>
              <a:ext uri="{FF2B5EF4-FFF2-40B4-BE49-F238E27FC236}">
                <a16:creationId xmlns:a16="http://schemas.microsoft.com/office/drawing/2014/main" id="{4ED36199-B78B-78A1-9B40-1B1AB69AFB2B}"/>
              </a:ext>
            </a:extLst>
          </p:cNvPr>
          <p:cNvSpPr txBox="1"/>
          <p:nvPr/>
        </p:nvSpPr>
        <p:spPr>
          <a:xfrm>
            <a:off x="5219477" y="3971152"/>
            <a:ext cx="1743042" cy="415498"/>
          </a:xfrm>
          <a:prstGeom prst="rect">
            <a:avLst/>
          </a:prstGeom>
          <a:noFill/>
        </p:spPr>
        <p:txBody>
          <a:bodyPr wrap="square" lIns="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700" b="1" noProof="1"/>
              <a:t>Combined Phenotype Score (EFS)</a:t>
            </a:r>
          </a:p>
          <a:p>
            <a:pPr algn="ctr"/>
            <a:r>
              <a:rPr lang="en-US" sz="700" b="1" noProof="1"/>
              <a:t>Low = Loss of Function</a:t>
            </a:r>
          </a:p>
          <a:p>
            <a:pPr algn="ctr"/>
            <a:r>
              <a:rPr lang="en-US" sz="700" b="1" noProof="1"/>
              <a:t>High = WT-like Activity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E29CBCBB-4C1B-2DF0-8EC2-F57BECA89F29}"/>
              </a:ext>
            </a:extLst>
          </p:cNvPr>
          <p:cNvGrpSpPr/>
          <p:nvPr/>
        </p:nvGrpSpPr>
        <p:grpSpPr>
          <a:xfrm>
            <a:off x="8712017" y="4732140"/>
            <a:ext cx="3276783" cy="1106115"/>
            <a:chOff x="8921977" y="4001571"/>
            <a:chExt cx="2926080" cy="1474819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C206EAE-24D6-0255-9D94-60DBD39D8975}"/>
                </a:ext>
              </a:extLst>
            </p:cNvPr>
            <p:cNvSpPr txBox="1"/>
            <p:nvPr/>
          </p:nvSpPr>
          <p:spPr>
            <a:xfrm>
              <a:off x="8921977" y="4001571"/>
              <a:ext cx="2926080" cy="533480"/>
            </a:xfrm>
            <a:prstGeom prst="rect">
              <a:avLst/>
            </a:prstGeom>
            <a:noFill/>
          </p:spPr>
          <p:txBody>
            <a:bodyPr wrap="square" lIns="0" rIns="0" rtlCol="0" anchor="b">
              <a:spAutoFit/>
            </a:bodyPr>
            <a:lstStyle/>
            <a:p>
              <a:r>
                <a:rPr lang="en-US" sz="2000" b="1" noProof="1"/>
                <a:t>Calculate Functional Score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29CD787-36A6-E36D-D38D-0ADF0E036377}"/>
                </a:ext>
              </a:extLst>
            </p:cNvPr>
            <p:cNvSpPr txBox="1"/>
            <p:nvPr/>
          </p:nvSpPr>
          <p:spPr>
            <a:xfrm>
              <a:off x="8921977" y="4532543"/>
              <a:ext cx="2926080" cy="943847"/>
            </a:xfrm>
            <a:prstGeom prst="rect">
              <a:avLst/>
            </a:prstGeom>
            <a:noFill/>
          </p:spPr>
          <p:txBody>
            <a:bodyPr wrap="square" lIns="0" rIns="0" rtlCol="0" anchor="t">
              <a:spAutoFit/>
            </a:bodyPr>
            <a:lstStyle/>
            <a:p>
              <a:r>
                <a:rPr lang="en-US" sz="1000" noProof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Integrate the three Z-scores using the Combined Phenotype Score formula. This single value per allele - the EFS - reflects the degree to which each TP53 variant retains or loses normal p53 function.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1A58634-09AD-7191-8CB1-415349F3F72D}"/>
              </a:ext>
            </a:extLst>
          </p:cNvPr>
          <p:cNvGrpSpPr/>
          <p:nvPr/>
        </p:nvGrpSpPr>
        <p:grpSpPr>
          <a:xfrm>
            <a:off x="267478" y="4631438"/>
            <a:ext cx="3331985" cy="921449"/>
            <a:chOff x="332936" y="4621561"/>
            <a:chExt cx="2926080" cy="1228599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942A983-A5F6-ABFD-0224-23DB26EE91EE}"/>
                </a:ext>
              </a:extLst>
            </p:cNvPr>
            <p:cNvSpPr txBox="1"/>
            <p:nvPr/>
          </p:nvSpPr>
          <p:spPr>
            <a:xfrm>
              <a:off x="332936" y="4621561"/>
              <a:ext cx="2926080" cy="492442"/>
            </a:xfrm>
            <a:prstGeom prst="rect">
              <a:avLst/>
            </a:prstGeom>
            <a:noFill/>
          </p:spPr>
          <p:txBody>
            <a:bodyPr wrap="square" lIns="0" rIns="0" rtlCol="0" anchor="b">
              <a:spAutoFit/>
            </a:bodyPr>
            <a:lstStyle/>
            <a:p>
              <a:pPr algn="r"/>
              <a:r>
                <a:rPr lang="en-US" b="1" dirty="0">
                  <a:solidFill>
                    <a:schemeClr val="accent3">
                      <a:lumMod val="75000"/>
                    </a:schemeClr>
                  </a:solidFill>
                </a:rPr>
                <a:t>Quantify Allele Enrichment</a:t>
              </a:r>
              <a:endParaRPr lang="en-US" sz="2000" b="1" noProof="1">
                <a:solidFill>
                  <a:schemeClr val="accent3">
                    <a:lumMod val="75000"/>
                  </a:schemeClr>
                </a:solidFill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EDD7600-FAC4-457E-B601-644F9AEB4047}"/>
                </a:ext>
              </a:extLst>
            </p:cNvPr>
            <p:cNvSpPr txBox="1"/>
            <p:nvPr/>
          </p:nvSpPr>
          <p:spPr>
            <a:xfrm>
              <a:off x="332936" y="5111496"/>
              <a:ext cx="2926080" cy="738664"/>
            </a:xfrm>
            <a:prstGeom prst="rect">
              <a:avLst/>
            </a:prstGeom>
            <a:noFill/>
          </p:spPr>
          <p:txBody>
            <a:bodyPr wrap="square" lIns="0" rIns="0" rtlCol="0" anchor="t">
              <a:spAutoFit/>
            </a:bodyPr>
            <a:lstStyle/>
            <a:p>
              <a:pPr algn="r"/>
              <a:r>
                <a:rPr lang="en-US" sz="1000" noProof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Compute log₂ fold-change for each allele relative to the early timepoint. Standardize across alleles to produce a Z-score for each of the three conditions.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171EA8F-DD72-BF8C-191B-170C89212965}"/>
              </a:ext>
            </a:extLst>
          </p:cNvPr>
          <p:cNvGrpSpPr/>
          <p:nvPr/>
        </p:nvGrpSpPr>
        <p:grpSpPr>
          <a:xfrm>
            <a:off x="1286933" y="2249613"/>
            <a:ext cx="3854634" cy="967371"/>
            <a:chOff x="8921977" y="984542"/>
            <a:chExt cx="2926080" cy="2202911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3D260321-9767-EB34-9D32-B3E6B7A5E920}"/>
                </a:ext>
              </a:extLst>
            </p:cNvPr>
            <p:cNvSpPr txBox="1"/>
            <p:nvPr/>
          </p:nvSpPr>
          <p:spPr>
            <a:xfrm>
              <a:off x="8921977" y="984542"/>
              <a:ext cx="2743944" cy="943848"/>
            </a:xfrm>
            <a:prstGeom prst="rect">
              <a:avLst/>
            </a:prstGeom>
            <a:noFill/>
          </p:spPr>
          <p:txBody>
            <a:bodyPr wrap="square" lIns="0" rIns="0" rtlCol="0" anchor="b">
              <a:spAutoFit/>
            </a:bodyPr>
            <a:lstStyle/>
            <a:p>
              <a:r>
                <a:rPr lang="en-US" sz="2000" b="1" noProof="1"/>
                <a:t>Screen 8,258 TP53 Variants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8BB05E3-9081-458B-E9A2-F494333320AC}"/>
                </a:ext>
              </a:extLst>
            </p:cNvPr>
            <p:cNvSpPr txBox="1"/>
            <p:nvPr/>
          </p:nvSpPr>
          <p:spPr>
            <a:xfrm>
              <a:off x="8921977" y="1925881"/>
              <a:ext cx="2926080" cy="1261572"/>
            </a:xfrm>
            <a:prstGeom prst="rect">
              <a:avLst/>
            </a:prstGeom>
            <a:noFill/>
          </p:spPr>
          <p:txBody>
            <a:bodyPr wrap="square" lIns="0" rIns="0" rtlCol="0" anchor="t">
              <a:spAutoFit/>
            </a:bodyPr>
            <a:lstStyle/>
            <a:p>
              <a:r>
                <a:rPr lang="en-US" sz="1000" noProof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Run 3 competitive growth screens in isogenic p53WT and p53NULL cells treated with nutlin-3 or etoposide. Collect read counts to quantify allele representation.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AA877511-70EC-877E-C1A7-DBA3712DD495}"/>
              </a:ext>
            </a:extLst>
          </p:cNvPr>
          <p:cNvSpPr txBox="1"/>
          <p:nvPr/>
        </p:nvSpPr>
        <p:spPr>
          <a:xfrm>
            <a:off x="440870" y="6258822"/>
            <a:ext cx="1132115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Giacomelli, A.O., Yang, X., Lintner, R.E. </a:t>
            </a:r>
            <a:r>
              <a:rPr lang="en-US" sz="1600" i="1" dirty="0"/>
              <a:t>et al.</a:t>
            </a:r>
            <a:r>
              <a:rPr lang="en-US" sz="1600" dirty="0"/>
              <a:t> Mutational processes shape the landscape of </a:t>
            </a:r>
            <a:r>
              <a:rPr lang="en-US" sz="1600" i="1" dirty="0"/>
              <a:t>TP53</a:t>
            </a:r>
            <a:r>
              <a:rPr lang="en-US" sz="1600" dirty="0"/>
              <a:t> mutations in human cancer. </a:t>
            </a:r>
            <a:r>
              <a:rPr lang="en-US" sz="1600" i="1" dirty="0"/>
              <a:t>Nat Genet</a:t>
            </a:r>
            <a:r>
              <a:rPr lang="en-US" sz="1600" dirty="0"/>
              <a:t> 50, 1381–1387 (2018).</a:t>
            </a:r>
            <a:endParaRPr lang="en-IL" sz="1600" dirty="0"/>
          </a:p>
          <a:p>
            <a:endParaRPr lang="en-IL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38E2388-7BE2-2CA4-E9D7-BA57778CFDE0}"/>
              </a:ext>
            </a:extLst>
          </p:cNvPr>
          <p:cNvSpPr txBox="1"/>
          <p:nvPr/>
        </p:nvSpPr>
        <p:spPr>
          <a:xfrm>
            <a:off x="8712017" y="4224828"/>
            <a:ext cx="30925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EFS = [Z(</a:t>
            </a:r>
            <a:r>
              <a:rPr lang="en-US" sz="1400" dirty="0" err="1"/>
              <a:t>WT+nutlin</a:t>
            </a:r>
            <a:r>
              <a:rPr lang="en-US" sz="1400" dirty="0"/>
              <a:t>) + Z(</a:t>
            </a:r>
            <a:r>
              <a:rPr lang="en-US" sz="1400" dirty="0" err="1"/>
              <a:t>NULL+nutlin</a:t>
            </a:r>
            <a:r>
              <a:rPr lang="en-US" sz="1400" dirty="0"/>
              <a:t>) − Z(</a:t>
            </a:r>
            <a:r>
              <a:rPr lang="en-US" sz="1400" dirty="0" err="1"/>
              <a:t>NULL+etop</a:t>
            </a:r>
            <a:r>
              <a:rPr lang="en-US" sz="1400" dirty="0"/>
              <a:t>)] / 3</a:t>
            </a:r>
          </a:p>
        </p:txBody>
      </p:sp>
      <p:sp>
        <p:nvSpPr>
          <p:cNvPr id="3" name="Circle">
            <a:extLst>
              <a:ext uri="{FF2B5EF4-FFF2-40B4-BE49-F238E27FC236}">
                <a16:creationId xmlns:a16="http://schemas.microsoft.com/office/drawing/2014/main" id="{26DC282D-94D0-79C8-AA07-DEF57C74BA94}"/>
              </a:ext>
            </a:extLst>
          </p:cNvPr>
          <p:cNvSpPr>
            <a:spLocks/>
          </p:cNvSpPr>
          <p:nvPr/>
        </p:nvSpPr>
        <p:spPr>
          <a:xfrm>
            <a:off x="3862264" y="4591900"/>
            <a:ext cx="1459398" cy="1501932"/>
          </a:xfrm>
          <a:prstGeom prst="ellipse">
            <a:avLst/>
          </a:prstGeom>
          <a:gradFill>
            <a:gsLst>
              <a:gs pos="50000">
                <a:schemeClr val="accent3"/>
              </a:gs>
              <a:gs pos="85000">
                <a:schemeClr val="accent3">
                  <a:lumMod val="40000"/>
                  <a:lumOff val="60000"/>
                </a:schemeClr>
              </a:gs>
            </a:gsLst>
            <a:lin ang="2700000" scaled="0"/>
          </a:gradFill>
          <a:ln>
            <a:noFill/>
          </a:ln>
          <a:effectLst>
            <a:innerShdw blurRad="152400" dist="101600" dir="13500000">
              <a:schemeClr val="accent3">
                <a:lumMod val="50000"/>
                <a:alpha val="40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400" b="1" dirty="0">
                <a:solidFill>
                  <a:schemeClr val="bg1"/>
                </a:solidFill>
              </a:rPr>
              <a:t>2</a:t>
            </a:r>
            <a:endParaRPr sz="2400" b="1" dirty="0">
              <a:solidFill>
                <a:schemeClr val="bg1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922419D-E055-2B2E-CA04-4BE3C8EDA600}"/>
              </a:ext>
            </a:extLst>
          </p:cNvPr>
          <p:cNvGrpSpPr/>
          <p:nvPr/>
        </p:nvGrpSpPr>
        <p:grpSpPr>
          <a:xfrm>
            <a:off x="5371749" y="2023470"/>
            <a:ext cx="1459397" cy="1460406"/>
            <a:chOff x="9094660" y="1419321"/>
            <a:chExt cx="1663059" cy="1664208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352BCFB2-22BE-ACE8-C6D5-F4ABD74175ED}"/>
                </a:ext>
              </a:extLst>
            </p:cNvPr>
            <p:cNvSpPr/>
            <p:nvPr/>
          </p:nvSpPr>
          <p:spPr>
            <a:xfrm>
              <a:off x="9094660" y="1419321"/>
              <a:ext cx="1663059" cy="166420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2700">
              <a:miter lim="400000"/>
            </a:ln>
            <a:effectLst>
              <a:outerShdw blurRad="254000" dist="190500" dir="13500000" algn="tl" rotWithShape="0">
                <a:schemeClr val="bg1"/>
              </a:outerShdw>
            </a:effectLst>
          </p:spPr>
          <p:txBody>
            <a:bodyPr lIns="28575" tIns="28575" rIns="28575" bIns="28575" anchor="ctr"/>
            <a:lstStyle/>
            <a:p>
              <a:endParaRPr lang="en-US" sz="2400">
                <a:solidFill>
                  <a:srgbClr val="FFFFFF"/>
                </a:solidFill>
              </a:endParaRP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E2C32C73-C5AB-A460-1964-50E655172D4D}"/>
                </a:ext>
              </a:extLst>
            </p:cNvPr>
            <p:cNvSpPr/>
            <p:nvPr/>
          </p:nvSpPr>
          <p:spPr>
            <a:xfrm>
              <a:off x="9094660" y="1419321"/>
              <a:ext cx="1663059" cy="1664208"/>
            </a:xfrm>
            <a:prstGeom prst="ellipse">
              <a:avLst/>
            </a:prstGeom>
            <a:solidFill>
              <a:srgbClr val="F1EFF0"/>
            </a:solidFill>
            <a:ln w="12700">
              <a:miter lim="400000"/>
            </a:ln>
            <a:effectLst>
              <a:outerShdw blurRad="254000" dist="190500" dir="2700000" algn="tl" rotWithShape="0">
                <a:schemeClr val="bg1">
                  <a:lumMod val="75000"/>
                  <a:alpha val="40000"/>
                </a:schemeClr>
              </a:outerShdw>
            </a:effectLst>
          </p:spPr>
          <p:txBody>
            <a:bodyPr lIns="28575" tIns="28575" rIns="28575" bIns="28575" anchor="ctr"/>
            <a:lstStyle/>
            <a:p>
              <a:pPr algn="ctr"/>
              <a:r>
                <a:rPr lang="en-US" sz="2400" b="1" dirty="0"/>
                <a:t>1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15457CE1-C743-9EEB-4399-59428B79CED6}"/>
              </a:ext>
            </a:extLst>
          </p:cNvPr>
          <p:cNvSpPr txBox="1"/>
          <p:nvPr/>
        </p:nvSpPr>
        <p:spPr>
          <a:xfrm>
            <a:off x="441533" y="-1"/>
            <a:ext cx="3707385" cy="468000"/>
          </a:xfrm>
          <a:prstGeom prst="rect">
            <a:avLst/>
          </a:prstGeom>
          <a:solidFill>
            <a:srgbClr val="4D1434"/>
          </a:solidFill>
        </p:spPr>
        <p:txBody>
          <a:bodyPr wrap="square" rtlCol="0">
            <a:spAutoFit/>
          </a:bodyPr>
          <a:lstStyle/>
          <a:p>
            <a:pPr algn="ctr"/>
            <a:endParaRPr lang="en-IL" sz="700" dirty="0">
              <a:solidFill>
                <a:schemeClr val="bg1"/>
              </a:solidFill>
            </a:endParaRPr>
          </a:p>
          <a:p>
            <a:pPr algn="ctr"/>
            <a:r>
              <a:rPr lang="en-IL" sz="1400" i="1" dirty="0">
                <a:solidFill>
                  <a:schemeClr val="bg1"/>
                </a:solidFill>
                <a:latin typeface="Abadi MT Condensed Light" panose="020B0306030101010103" pitchFamily="34" charset="77"/>
                <a:ea typeface="Batang" panose="02030600000101010101" pitchFamily="18" charset="-127"/>
                <a:cs typeface="Corsiva Hebrew" pitchFamily="2" charset="-79"/>
              </a:rPr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7134659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4443DF-98F7-95DF-F695-5A8181BCF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1DF23-4A25-1848-D659-2C79EA981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0052" y="774559"/>
            <a:ext cx="6750756" cy="688622"/>
          </a:xfrm>
        </p:spPr>
        <p:txBody>
          <a:bodyPr>
            <a:normAutofit/>
          </a:bodyPr>
          <a:lstStyle/>
          <a:p>
            <a:r>
              <a:rPr lang="en-US" dirty="0"/>
              <a:t>Experimental Functional Score</a:t>
            </a:r>
            <a:endParaRPr lang="en-IL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6512411-125B-95BE-6A95-D424A9A86BCD}"/>
              </a:ext>
            </a:extLst>
          </p:cNvPr>
          <p:cNvGrpSpPr/>
          <p:nvPr/>
        </p:nvGrpSpPr>
        <p:grpSpPr>
          <a:xfrm>
            <a:off x="3860398" y="4606814"/>
            <a:ext cx="1459397" cy="1460406"/>
            <a:chOff x="9094660" y="1419321"/>
            <a:chExt cx="1663059" cy="1664208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CEDCFE01-3B2A-E5B1-D7BA-438FE7EF142D}"/>
                </a:ext>
              </a:extLst>
            </p:cNvPr>
            <p:cNvSpPr/>
            <p:nvPr/>
          </p:nvSpPr>
          <p:spPr>
            <a:xfrm>
              <a:off x="9094660" y="1419321"/>
              <a:ext cx="1663059" cy="166420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2700">
              <a:miter lim="400000"/>
            </a:ln>
            <a:effectLst>
              <a:outerShdw blurRad="254000" dist="190500" dir="13500000" algn="tl" rotWithShape="0">
                <a:schemeClr val="bg1"/>
              </a:outerShdw>
            </a:effectLst>
          </p:spPr>
          <p:txBody>
            <a:bodyPr lIns="28575" tIns="28575" rIns="28575" bIns="28575" anchor="ctr"/>
            <a:lstStyle/>
            <a:p>
              <a:endParaRPr lang="en-US" sz="2400">
                <a:solidFill>
                  <a:srgbClr val="FFFFFF"/>
                </a:solidFill>
              </a:endParaRP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98E92F83-D3C9-B664-B770-59FEC9C31F69}"/>
                </a:ext>
              </a:extLst>
            </p:cNvPr>
            <p:cNvSpPr/>
            <p:nvPr/>
          </p:nvSpPr>
          <p:spPr>
            <a:xfrm>
              <a:off x="9094660" y="1419321"/>
              <a:ext cx="1663059" cy="1664208"/>
            </a:xfrm>
            <a:prstGeom prst="ellipse">
              <a:avLst/>
            </a:prstGeom>
            <a:solidFill>
              <a:srgbClr val="F1EFF0"/>
            </a:solidFill>
            <a:ln w="12700">
              <a:miter lim="400000"/>
            </a:ln>
            <a:effectLst>
              <a:outerShdw blurRad="254000" dist="190500" dir="2700000" algn="tl" rotWithShape="0">
                <a:schemeClr val="bg1">
                  <a:lumMod val="75000"/>
                  <a:alpha val="40000"/>
                </a:schemeClr>
              </a:outerShdw>
            </a:effectLst>
          </p:spPr>
          <p:txBody>
            <a:bodyPr lIns="28575" tIns="28575" rIns="28575" bIns="28575" anchor="ctr"/>
            <a:lstStyle/>
            <a:p>
              <a:pPr algn="ctr"/>
              <a:r>
                <a:rPr lang="en-US" sz="2400" b="1" dirty="0"/>
                <a:t>2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5B92404-62F1-2A5C-3C5E-B017E10579D1}"/>
              </a:ext>
            </a:extLst>
          </p:cNvPr>
          <p:cNvGrpSpPr/>
          <p:nvPr/>
        </p:nvGrpSpPr>
        <p:grpSpPr>
          <a:xfrm>
            <a:off x="6865383" y="4593166"/>
            <a:ext cx="1459397" cy="1460406"/>
            <a:chOff x="9094660" y="1419321"/>
            <a:chExt cx="1663059" cy="16642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53F41867-AF60-B5F3-04BE-9F48A1BB09B0}"/>
                </a:ext>
              </a:extLst>
            </p:cNvPr>
            <p:cNvSpPr/>
            <p:nvPr/>
          </p:nvSpPr>
          <p:spPr>
            <a:xfrm>
              <a:off x="9094660" y="1419321"/>
              <a:ext cx="1663059" cy="166420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2700">
              <a:miter lim="400000"/>
            </a:ln>
            <a:effectLst>
              <a:outerShdw blurRad="254000" dist="190500" dir="13500000" algn="tl" rotWithShape="0">
                <a:schemeClr val="bg1"/>
              </a:outerShdw>
            </a:effectLst>
          </p:spPr>
          <p:txBody>
            <a:bodyPr lIns="28575" tIns="28575" rIns="28575" bIns="28575" anchor="ctr"/>
            <a:lstStyle/>
            <a:p>
              <a:endParaRPr lang="en-US" sz="2400">
                <a:solidFill>
                  <a:srgbClr val="FFFFFF"/>
                </a:solidFill>
              </a:endParaRP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271F0C38-0FE4-362E-3F57-FC310EF4C202}"/>
                </a:ext>
              </a:extLst>
            </p:cNvPr>
            <p:cNvSpPr/>
            <p:nvPr/>
          </p:nvSpPr>
          <p:spPr>
            <a:xfrm>
              <a:off x="9094660" y="1419321"/>
              <a:ext cx="1663059" cy="1664208"/>
            </a:xfrm>
            <a:prstGeom prst="ellipse">
              <a:avLst/>
            </a:prstGeom>
            <a:solidFill>
              <a:srgbClr val="F1EFF0"/>
            </a:solidFill>
            <a:ln w="12700">
              <a:miter lim="400000"/>
            </a:ln>
            <a:effectLst>
              <a:outerShdw blurRad="254000" dist="190500" dir="2700000" algn="tl" rotWithShape="0">
                <a:schemeClr val="bg1">
                  <a:lumMod val="75000"/>
                  <a:alpha val="40000"/>
                </a:schemeClr>
              </a:outerShdw>
            </a:effectLst>
          </p:spPr>
          <p:txBody>
            <a:bodyPr lIns="28575" tIns="28575" rIns="28575" bIns="28575" anchor="ctr"/>
            <a:lstStyle/>
            <a:p>
              <a:pPr algn="ctr"/>
              <a:r>
                <a:rPr lang="en-US" sz="2400" b="1" dirty="0"/>
                <a:t>3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E3B01F4-EF93-339F-B824-3A33423F0BA2}"/>
              </a:ext>
            </a:extLst>
          </p:cNvPr>
          <p:cNvGrpSpPr/>
          <p:nvPr/>
        </p:nvGrpSpPr>
        <p:grpSpPr>
          <a:xfrm>
            <a:off x="4545430" y="3178295"/>
            <a:ext cx="3112039" cy="2812279"/>
            <a:chOff x="8212798" y="998309"/>
            <a:chExt cx="3546329" cy="3204737"/>
          </a:xfrm>
        </p:grpSpPr>
        <p:sp>
          <p:nvSpPr>
            <p:cNvPr id="17" name="Shape">
              <a:extLst>
                <a:ext uri="{FF2B5EF4-FFF2-40B4-BE49-F238E27FC236}">
                  <a16:creationId xmlns:a16="http://schemas.microsoft.com/office/drawing/2014/main" id="{3995BD10-0928-A499-1331-CCDD83904A5C}"/>
                </a:ext>
              </a:extLst>
            </p:cNvPr>
            <p:cNvSpPr/>
            <p:nvPr/>
          </p:nvSpPr>
          <p:spPr>
            <a:xfrm>
              <a:off x="8212798" y="998309"/>
              <a:ext cx="3546329" cy="320473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3725" y="15733"/>
                  </a:moveTo>
                  <a:cubicBezTo>
                    <a:pt x="13725" y="11853"/>
                    <a:pt x="16569" y="8707"/>
                    <a:pt x="20074" y="8707"/>
                  </a:cubicBezTo>
                  <a:cubicBezTo>
                    <a:pt x="20598" y="8707"/>
                    <a:pt x="21108" y="8777"/>
                    <a:pt x="21600" y="8909"/>
                  </a:cubicBezTo>
                  <a:cubicBezTo>
                    <a:pt x="21405" y="5260"/>
                    <a:pt x="19734" y="2051"/>
                    <a:pt x="17231" y="0"/>
                  </a:cubicBezTo>
                  <a:cubicBezTo>
                    <a:pt x="16348" y="3000"/>
                    <a:pt x="13801" y="5170"/>
                    <a:pt x="10800" y="5170"/>
                  </a:cubicBezTo>
                  <a:cubicBezTo>
                    <a:pt x="7793" y="5170"/>
                    <a:pt x="5246" y="3000"/>
                    <a:pt x="4369" y="0"/>
                  </a:cubicBezTo>
                  <a:cubicBezTo>
                    <a:pt x="1873" y="2044"/>
                    <a:pt x="202" y="5247"/>
                    <a:pt x="0" y="8888"/>
                  </a:cubicBezTo>
                  <a:cubicBezTo>
                    <a:pt x="467" y="8763"/>
                    <a:pt x="958" y="8700"/>
                    <a:pt x="1463" y="8700"/>
                  </a:cubicBezTo>
                  <a:cubicBezTo>
                    <a:pt x="4968" y="8700"/>
                    <a:pt x="7812" y="11847"/>
                    <a:pt x="7812" y="15726"/>
                  </a:cubicBezTo>
                  <a:cubicBezTo>
                    <a:pt x="7812" y="17547"/>
                    <a:pt x="7187" y="19200"/>
                    <a:pt x="6166" y="20449"/>
                  </a:cubicBezTo>
                  <a:cubicBezTo>
                    <a:pt x="7572" y="21188"/>
                    <a:pt x="9148" y="21600"/>
                    <a:pt x="10806" y="21600"/>
                  </a:cubicBezTo>
                  <a:cubicBezTo>
                    <a:pt x="12452" y="21600"/>
                    <a:pt x="14009" y="21195"/>
                    <a:pt x="15402" y="20470"/>
                  </a:cubicBezTo>
                  <a:cubicBezTo>
                    <a:pt x="14356" y="19228"/>
                    <a:pt x="13725" y="17560"/>
                    <a:pt x="13725" y="15733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>
              <a:miter lim="400000"/>
            </a:ln>
            <a:effectLst>
              <a:outerShdw blurRad="254000" dist="190500" dir="13500000" algn="tl" rotWithShape="0">
                <a:schemeClr val="bg1"/>
              </a:outerShdw>
            </a:effectLst>
          </p:spPr>
          <p:txBody>
            <a:bodyPr lIns="28575" tIns="28575" rIns="28575" bIns="28575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sz="2250">
                <a:solidFill>
                  <a:srgbClr val="FFFFFF"/>
                </a:solidFill>
              </a:endParaRPr>
            </a:p>
          </p:txBody>
        </p:sp>
        <p:sp>
          <p:nvSpPr>
            <p:cNvPr id="18" name="Shape">
              <a:extLst>
                <a:ext uri="{FF2B5EF4-FFF2-40B4-BE49-F238E27FC236}">
                  <a16:creationId xmlns:a16="http://schemas.microsoft.com/office/drawing/2014/main" id="{A5C2C977-C5E9-1B8F-530A-8BDBD770B5EE}"/>
                </a:ext>
              </a:extLst>
            </p:cNvPr>
            <p:cNvSpPr/>
            <p:nvPr/>
          </p:nvSpPr>
          <p:spPr>
            <a:xfrm>
              <a:off x="8212798" y="998309"/>
              <a:ext cx="3546329" cy="320473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3725" y="15733"/>
                  </a:moveTo>
                  <a:cubicBezTo>
                    <a:pt x="13725" y="11853"/>
                    <a:pt x="16569" y="8707"/>
                    <a:pt x="20074" y="8707"/>
                  </a:cubicBezTo>
                  <a:cubicBezTo>
                    <a:pt x="20598" y="8707"/>
                    <a:pt x="21108" y="8777"/>
                    <a:pt x="21600" y="8909"/>
                  </a:cubicBezTo>
                  <a:cubicBezTo>
                    <a:pt x="21405" y="5260"/>
                    <a:pt x="19734" y="2051"/>
                    <a:pt x="17231" y="0"/>
                  </a:cubicBezTo>
                  <a:cubicBezTo>
                    <a:pt x="16348" y="3000"/>
                    <a:pt x="13801" y="5170"/>
                    <a:pt x="10800" y="5170"/>
                  </a:cubicBezTo>
                  <a:cubicBezTo>
                    <a:pt x="7793" y="5170"/>
                    <a:pt x="5246" y="3000"/>
                    <a:pt x="4369" y="0"/>
                  </a:cubicBezTo>
                  <a:cubicBezTo>
                    <a:pt x="1873" y="2044"/>
                    <a:pt x="202" y="5247"/>
                    <a:pt x="0" y="8888"/>
                  </a:cubicBezTo>
                  <a:cubicBezTo>
                    <a:pt x="467" y="8763"/>
                    <a:pt x="958" y="8700"/>
                    <a:pt x="1463" y="8700"/>
                  </a:cubicBezTo>
                  <a:cubicBezTo>
                    <a:pt x="4968" y="8700"/>
                    <a:pt x="7812" y="11847"/>
                    <a:pt x="7812" y="15726"/>
                  </a:cubicBezTo>
                  <a:cubicBezTo>
                    <a:pt x="7812" y="17547"/>
                    <a:pt x="7187" y="19200"/>
                    <a:pt x="6166" y="20449"/>
                  </a:cubicBezTo>
                  <a:cubicBezTo>
                    <a:pt x="7572" y="21188"/>
                    <a:pt x="9148" y="21600"/>
                    <a:pt x="10806" y="21600"/>
                  </a:cubicBezTo>
                  <a:cubicBezTo>
                    <a:pt x="12452" y="21600"/>
                    <a:pt x="14009" y="21195"/>
                    <a:pt x="15402" y="20470"/>
                  </a:cubicBezTo>
                  <a:cubicBezTo>
                    <a:pt x="14356" y="19228"/>
                    <a:pt x="13725" y="17560"/>
                    <a:pt x="13725" y="15733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>
              <a:miter lim="400000"/>
            </a:ln>
            <a:effectLst>
              <a:outerShdw blurRad="254000" dist="190500" dir="2700000" algn="tl" rotWithShape="0">
                <a:schemeClr val="bg1">
                  <a:lumMod val="75000"/>
                  <a:alpha val="40000"/>
                </a:schemeClr>
              </a:outerShdw>
            </a:effectLst>
          </p:spPr>
          <p:txBody>
            <a:bodyPr lIns="28575" tIns="28575" rIns="28575" bIns="28575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sz="2250" dirty="0">
                <a:solidFill>
                  <a:srgbClr val="FFFFFF"/>
                </a:solidFill>
              </a:endParaRPr>
            </a:p>
          </p:txBody>
        </p:sp>
      </p:grpSp>
      <p:pic>
        <p:nvPicPr>
          <p:cNvPr id="19" name="Graphic 31" descr="Lights On">
            <a:extLst>
              <a:ext uri="{FF2B5EF4-FFF2-40B4-BE49-F238E27FC236}">
                <a16:creationId xmlns:a16="http://schemas.microsoft.com/office/drawing/2014/main" id="{1CA274DC-454A-6E5E-6D25-51991BFEC0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13853" y="4424362"/>
            <a:ext cx="764292" cy="764292"/>
          </a:xfrm>
          <a:prstGeom prst="rect">
            <a:avLst/>
          </a:prstGeom>
        </p:spPr>
      </p:pic>
      <p:sp>
        <p:nvSpPr>
          <p:cNvPr id="20" name="TextBox 13">
            <a:extLst>
              <a:ext uri="{FF2B5EF4-FFF2-40B4-BE49-F238E27FC236}">
                <a16:creationId xmlns:a16="http://schemas.microsoft.com/office/drawing/2014/main" id="{E2975257-5C90-B058-DBB8-F814A8F17989}"/>
              </a:ext>
            </a:extLst>
          </p:cNvPr>
          <p:cNvSpPr txBox="1"/>
          <p:nvPr/>
        </p:nvSpPr>
        <p:spPr>
          <a:xfrm>
            <a:off x="5219477" y="3971152"/>
            <a:ext cx="1743042" cy="415498"/>
          </a:xfrm>
          <a:prstGeom prst="rect">
            <a:avLst/>
          </a:prstGeom>
          <a:noFill/>
        </p:spPr>
        <p:txBody>
          <a:bodyPr wrap="square" lIns="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700" b="1" noProof="1"/>
              <a:t>Combined Phenotype Score (EFS)</a:t>
            </a:r>
          </a:p>
          <a:p>
            <a:pPr algn="ctr"/>
            <a:r>
              <a:rPr lang="en-US" sz="700" b="1" noProof="1"/>
              <a:t>Low = Loss of Function</a:t>
            </a:r>
          </a:p>
          <a:p>
            <a:pPr algn="ctr"/>
            <a:r>
              <a:rPr lang="en-US" sz="700" b="1" noProof="1"/>
              <a:t>High = WT-like Activity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1365890A-AFD2-8795-7757-690D2F59FB90}"/>
              </a:ext>
            </a:extLst>
          </p:cNvPr>
          <p:cNvGrpSpPr/>
          <p:nvPr/>
        </p:nvGrpSpPr>
        <p:grpSpPr>
          <a:xfrm>
            <a:off x="8712017" y="4732140"/>
            <a:ext cx="3276783" cy="1106115"/>
            <a:chOff x="8921977" y="4001571"/>
            <a:chExt cx="2926080" cy="1474819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3EC68F3A-B7C4-4F8F-BD77-324C6DCFED45}"/>
                </a:ext>
              </a:extLst>
            </p:cNvPr>
            <p:cNvSpPr txBox="1"/>
            <p:nvPr/>
          </p:nvSpPr>
          <p:spPr>
            <a:xfrm>
              <a:off x="8921977" y="4001571"/>
              <a:ext cx="2926080" cy="533480"/>
            </a:xfrm>
            <a:prstGeom prst="rect">
              <a:avLst/>
            </a:prstGeom>
            <a:noFill/>
          </p:spPr>
          <p:txBody>
            <a:bodyPr wrap="square" lIns="0" rIns="0" rtlCol="0" anchor="b">
              <a:spAutoFit/>
            </a:bodyPr>
            <a:lstStyle/>
            <a:p>
              <a:r>
                <a:rPr lang="en-US" sz="2000" b="1" noProof="1">
                  <a:solidFill>
                    <a:schemeClr val="accent3">
                      <a:lumMod val="75000"/>
                    </a:schemeClr>
                  </a:solidFill>
                </a:rPr>
                <a:t>Calculate Functional Score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F53E615-9CE2-D1A4-465B-3280FD9BE951}"/>
                </a:ext>
              </a:extLst>
            </p:cNvPr>
            <p:cNvSpPr txBox="1"/>
            <p:nvPr/>
          </p:nvSpPr>
          <p:spPr>
            <a:xfrm>
              <a:off x="8921977" y="4532543"/>
              <a:ext cx="2926080" cy="943847"/>
            </a:xfrm>
            <a:prstGeom prst="rect">
              <a:avLst/>
            </a:prstGeom>
            <a:noFill/>
          </p:spPr>
          <p:txBody>
            <a:bodyPr wrap="square" lIns="0" rIns="0" rtlCol="0" anchor="t">
              <a:spAutoFit/>
            </a:bodyPr>
            <a:lstStyle/>
            <a:p>
              <a:r>
                <a:rPr lang="en-US" sz="1000" noProof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Integrate the three Z-scores using the Combined Phenotype Score formula. This single value per allele - the EFS - reflects the degree to which each TP53 variant retains or loses normal p53 function.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652938D-04DB-9D68-9651-31AFDB763A1A}"/>
              </a:ext>
            </a:extLst>
          </p:cNvPr>
          <p:cNvGrpSpPr/>
          <p:nvPr/>
        </p:nvGrpSpPr>
        <p:grpSpPr>
          <a:xfrm>
            <a:off x="267478" y="4631438"/>
            <a:ext cx="3331985" cy="921449"/>
            <a:chOff x="332936" y="4621561"/>
            <a:chExt cx="2926080" cy="1228599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C068C0E7-73EB-621D-7356-C23796AAF798}"/>
                </a:ext>
              </a:extLst>
            </p:cNvPr>
            <p:cNvSpPr txBox="1"/>
            <p:nvPr/>
          </p:nvSpPr>
          <p:spPr>
            <a:xfrm>
              <a:off x="332936" y="4621561"/>
              <a:ext cx="2926080" cy="492442"/>
            </a:xfrm>
            <a:prstGeom prst="rect">
              <a:avLst/>
            </a:prstGeom>
            <a:noFill/>
          </p:spPr>
          <p:txBody>
            <a:bodyPr wrap="square" lIns="0" rIns="0" rtlCol="0" anchor="b">
              <a:spAutoFit/>
            </a:bodyPr>
            <a:lstStyle/>
            <a:p>
              <a:pPr algn="r"/>
              <a:r>
                <a:rPr lang="en-US" b="1" dirty="0"/>
                <a:t>Quantify Allele Enrichment</a:t>
              </a:r>
              <a:endParaRPr lang="en-US" sz="2000" b="1" noProof="1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49841CA-ED50-F40B-3A01-C40EF7A27B1D}"/>
                </a:ext>
              </a:extLst>
            </p:cNvPr>
            <p:cNvSpPr txBox="1"/>
            <p:nvPr/>
          </p:nvSpPr>
          <p:spPr>
            <a:xfrm>
              <a:off x="332936" y="5111496"/>
              <a:ext cx="2926080" cy="738664"/>
            </a:xfrm>
            <a:prstGeom prst="rect">
              <a:avLst/>
            </a:prstGeom>
            <a:noFill/>
          </p:spPr>
          <p:txBody>
            <a:bodyPr wrap="square" lIns="0" rIns="0" rtlCol="0" anchor="t">
              <a:spAutoFit/>
            </a:bodyPr>
            <a:lstStyle/>
            <a:p>
              <a:pPr algn="r"/>
              <a:r>
                <a:rPr lang="en-US" sz="1000" noProof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Compute log₂ fold-change for each allele relative to the early timepoint. Standardize across alleles to produce a Z-score for each of the three conditions.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61E9F560-73EE-83EC-6317-B793527177EE}"/>
              </a:ext>
            </a:extLst>
          </p:cNvPr>
          <p:cNvGrpSpPr/>
          <p:nvPr/>
        </p:nvGrpSpPr>
        <p:grpSpPr>
          <a:xfrm>
            <a:off x="1286933" y="2249613"/>
            <a:ext cx="3854634" cy="967371"/>
            <a:chOff x="8921977" y="984542"/>
            <a:chExt cx="2926080" cy="2202911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179F1FA-36D8-4879-074A-1A5D6C93F38A}"/>
                </a:ext>
              </a:extLst>
            </p:cNvPr>
            <p:cNvSpPr txBox="1"/>
            <p:nvPr/>
          </p:nvSpPr>
          <p:spPr>
            <a:xfrm>
              <a:off x="8921977" y="984542"/>
              <a:ext cx="2743944" cy="943848"/>
            </a:xfrm>
            <a:prstGeom prst="rect">
              <a:avLst/>
            </a:prstGeom>
            <a:noFill/>
          </p:spPr>
          <p:txBody>
            <a:bodyPr wrap="square" lIns="0" rIns="0" rtlCol="0" anchor="b">
              <a:spAutoFit/>
            </a:bodyPr>
            <a:lstStyle/>
            <a:p>
              <a:r>
                <a:rPr lang="en-US" sz="2000" b="1" noProof="1"/>
                <a:t>Screen 8,258 TP53 Variants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75A1239B-ECEC-42AF-0483-364AF93282AD}"/>
                </a:ext>
              </a:extLst>
            </p:cNvPr>
            <p:cNvSpPr txBox="1"/>
            <p:nvPr/>
          </p:nvSpPr>
          <p:spPr>
            <a:xfrm>
              <a:off x="8921977" y="1925881"/>
              <a:ext cx="2926080" cy="1261572"/>
            </a:xfrm>
            <a:prstGeom prst="rect">
              <a:avLst/>
            </a:prstGeom>
            <a:noFill/>
          </p:spPr>
          <p:txBody>
            <a:bodyPr wrap="square" lIns="0" rIns="0" rtlCol="0" anchor="t">
              <a:spAutoFit/>
            </a:bodyPr>
            <a:lstStyle/>
            <a:p>
              <a:r>
                <a:rPr lang="en-US" sz="1000" noProof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Run 3 competitive growth screens in isogenic p53WT and p53NULL cells treated with nutlin-3 or etoposide. Collect read counts to quantify allele representation.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95D58AF2-E905-8DD8-F9E7-C14EF010632A}"/>
              </a:ext>
            </a:extLst>
          </p:cNvPr>
          <p:cNvSpPr txBox="1"/>
          <p:nvPr/>
        </p:nvSpPr>
        <p:spPr>
          <a:xfrm>
            <a:off x="440870" y="6258822"/>
            <a:ext cx="1132115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Giacomelli, A.O., Yang, X., Lintner, R.E. </a:t>
            </a:r>
            <a:r>
              <a:rPr lang="en-US" sz="1600" i="1" dirty="0"/>
              <a:t>et al.</a:t>
            </a:r>
            <a:r>
              <a:rPr lang="en-US" sz="1600" dirty="0"/>
              <a:t> Mutational processes shape the landscape of </a:t>
            </a:r>
            <a:r>
              <a:rPr lang="en-US" sz="1600" i="1" dirty="0"/>
              <a:t>TP53</a:t>
            </a:r>
            <a:r>
              <a:rPr lang="en-US" sz="1600" dirty="0"/>
              <a:t> mutations in human cancer. </a:t>
            </a:r>
            <a:r>
              <a:rPr lang="en-US" sz="1600" i="1" dirty="0"/>
              <a:t>Nat Genet</a:t>
            </a:r>
            <a:r>
              <a:rPr lang="en-US" sz="1600" dirty="0"/>
              <a:t> 50, 1381–1387 (2018).</a:t>
            </a:r>
            <a:endParaRPr lang="en-IL" sz="1600" dirty="0"/>
          </a:p>
          <a:p>
            <a:endParaRPr lang="en-IL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6BC8DFC-F7CE-F022-5C20-BE6977408000}"/>
              </a:ext>
            </a:extLst>
          </p:cNvPr>
          <p:cNvSpPr txBox="1"/>
          <p:nvPr/>
        </p:nvSpPr>
        <p:spPr>
          <a:xfrm>
            <a:off x="8712017" y="4224828"/>
            <a:ext cx="30925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EFS = [Z(</a:t>
            </a:r>
            <a:r>
              <a:rPr lang="en-US" sz="1400" dirty="0" err="1"/>
              <a:t>WT+nutlin</a:t>
            </a:r>
            <a:r>
              <a:rPr lang="en-US" sz="1400" dirty="0"/>
              <a:t>) + Z(</a:t>
            </a:r>
            <a:r>
              <a:rPr lang="en-US" sz="1400" dirty="0" err="1"/>
              <a:t>NULL+nutlin</a:t>
            </a:r>
            <a:r>
              <a:rPr lang="en-US" sz="1400" dirty="0"/>
              <a:t>) − Z(</a:t>
            </a:r>
            <a:r>
              <a:rPr lang="en-US" sz="1400" dirty="0" err="1"/>
              <a:t>NULL+etop</a:t>
            </a:r>
            <a:r>
              <a:rPr lang="en-US" sz="1400" dirty="0"/>
              <a:t>)] / 3</a:t>
            </a:r>
          </a:p>
        </p:txBody>
      </p:sp>
      <p:sp>
        <p:nvSpPr>
          <p:cNvPr id="3" name="Circle">
            <a:extLst>
              <a:ext uri="{FF2B5EF4-FFF2-40B4-BE49-F238E27FC236}">
                <a16:creationId xmlns:a16="http://schemas.microsoft.com/office/drawing/2014/main" id="{6BF07ACD-7958-F801-5A96-DFBCF58B89B6}"/>
              </a:ext>
            </a:extLst>
          </p:cNvPr>
          <p:cNvSpPr>
            <a:spLocks/>
          </p:cNvSpPr>
          <p:nvPr/>
        </p:nvSpPr>
        <p:spPr>
          <a:xfrm>
            <a:off x="6865379" y="4595756"/>
            <a:ext cx="1459397" cy="1460406"/>
          </a:xfrm>
          <a:prstGeom prst="ellipse">
            <a:avLst/>
          </a:prstGeom>
          <a:gradFill>
            <a:gsLst>
              <a:gs pos="50000">
                <a:schemeClr val="accent3"/>
              </a:gs>
              <a:gs pos="85000">
                <a:schemeClr val="accent3">
                  <a:lumMod val="40000"/>
                  <a:lumOff val="60000"/>
                </a:schemeClr>
              </a:gs>
            </a:gsLst>
            <a:lin ang="2700000" scaled="0"/>
          </a:gradFill>
          <a:ln>
            <a:noFill/>
          </a:ln>
          <a:effectLst>
            <a:innerShdw blurRad="152400" dist="101600" dir="13500000">
              <a:schemeClr val="accent3">
                <a:lumMod val="50000"/>
                <a:alpha val="40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400" b="1" dirty="0">
                <a:solidFill>
                  <a:schemeClr val="bg1"/>
                </a:solidFill>
              </a:rPr>
              <a:t>3</a:t>
            </a:r>
            <a:endParaRPr sz="2400" b="1" dirty="0">
              <a:solidFill>
                <a:schemeClr val="bg1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FAD9B7E-139E-9756-E43F-B22E28E10D2B}"/>
              </a:ext>
            </a:extLst>
          </p:cNvPr>
          <p:cNvGrpSpPr/>
          <p:nvPr/>
        </p:nvGrpSpPr>
        <p:grpSpPr>
          <a:xfrm>
            <a:off x="5371749" y="2023470"/>
            <a:ext cx="1459397" cy="1460406"/>
            <a:chOff x="9094660" y="1419321"/>
            <a:chExt cx="1663059" cy="1664208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84364443-2463-4F2E-736F-D6F14070BC18}"/>
                </a:ext>
              </a:extLst>
            </p:cNvPr>
            <p:cNvSpPr/>
            <p:nvPr/>
          </p:nvSpPr>
          <p:spPr>
            <a:xfrm>
              <a:off x="9094660" y="1419321"/>
              <a:ext cx="1663059" cy="166420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2700">
              <a:miter lim="400000"/>
            </a:ln>
            <a:effectLst>
              <a:outerShdw blurRad="254000" dist="190500" dir="13500000" algn="tl" rotWithShape="0">
                <a:schemeClr val="bg1"/>
              </a:outerShdw>
            </a:effectLst>
          </p:spPr>
          <p:txBody>
            <a:bodyPr lIns="28575" tIns="28575" rIns="28575" bIns="28575" anchor="ctr"/>
            <a:lstStyle/>
            <a:p>
              <a:endParaRPr lang="en-US" sz="2400">
                <a:solidFill>
                  <a:srgbClr val="FFFFFF"/>
                </a:solidFill>
              </a:endParaRP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8C97F78-302D-4513-0AEA-0F96BA8FE337}"/>
                </a:ext>
              </a:extLst>
            </p:cNvPr>
            <p:cNvSpPr/>
            <p:nvPr/>
          </p:nvSpPr>
          <p:spPr>
            <a:xfrm>
              <a:off x="9094660" y="1419321"/>
              <a:ext cx="1663059" cy="1664208"/>
            </a:xfrm>
            <a:prstGeom prst="ellipse">
              <a:avLst/>
            </a:prstGeom>
            <a:solidFill>
              <a:srgbClr val="F1EFF0"/>
            </a:solidFill>
            <a:ln w="12700">
              <a:miter lim="400000"/>
            </a:ln>
            <a:effectLst>
              <a:outerShdw blurRad="254000" dist="190500" dir="2700000" algn="tl" rotWithShape="0">
                <a:schemeClr val="bg1">
                  <a:lumMod val="75000"/>
                  <a:alpha val="40000"/>
                </a:schemeClr>
              </a:outerShdw>
            </a:effectLst>
          </p:spPr>
          <p:txBody>
            <a:bodyPr lIns="28575" tIns="28575" rIns="28575" bIns="28575" anchor="ctr"/>
            <a:lstStyle/>
            <a:p>
              <a:pPr algn="ctr"/>
              <a:r>
                <a:rPr lang="en-US" sz="2400" b="1" dirty="0"/>
                <a:t>1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53149D16-B372-C4F2-14C7-6A69F94B8CEB}"/>
              </a:ext>
            </a:extLst>
          </p:cNvPr>
          <p:cNvSpPr txBox="1"/>
          <p:nvPr/>
        </p:nvSpPr>
        <p:spPr>
          <a:xfrm>
            <a:off x="441533" y="-1"/>
            <a:ext cx="3707385" cy="468000"/>
          </a:xfrm>
          <a:prstGeom prst="rect">
            <a:avLst/>
          </a:prstGeom>
          <a:solidFill>
            <a:srgbClr val="4D1434"/>
          </a:solidFill>
        </p:spPr>
        <p:txBody>
          <a:bodyPr wrap="square" rtlCol="0">
            <a:spAutoFit/>
          </a:bodyPr>
          <a:lstStyle/>
          <a:p>
            <a:pPr algn="ctr"/>
            <a:endParaRPr lang="en-IL" sz="700" dirty="0">
              <a:solidFill>
                <a:schemeClr val="bg1"/>
              </a:solidFill>
            </a:endParaRPr>
          </a:p>
          <a:p>
            <a:pPr algn="ctr"/>
            <a:r>
              <a:rPr lang="en-IL" sz="1400" i="1" dirty="0">
                <a:solidFill>
                  <a:schemeClr val="bg1"/>
                </a:solidFill>
                <a:latin typeface="Abadi MT Condensed Light" panose="020B0306030101010103" pitchFamily="34" charset="77"/>
                <a:ea typeface="Batang" panose="02030600000101010101" pitchFamily="18" charset="-127"/>
                <a:cs typeface="Corsiva Hebrew" pitchFamily="2" charset="-79"/>
              </a:rPr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25591492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8F8A75-3D0E-FBA7-C9A9-52E29C13E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950" y="1179151"/>
            <a:ext cx="3300646" cy="4463889"/>
          </a:xfrm>
        </p:spPr>
        <p:txBody>
          <a:bodyPr anchor="ctr">
            <a:normAutofit/>
          </a:bodyPr>
          <a:lstStyle/>
          <a:p>
            <a:r>
              <a:rPr lang="en-IL" dirty="0"/>
              <a:t>Hypothesis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0371DA-6225-3ED0-31FB-0CFC1E1B10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3373" y="2396326"/>
            <a:ext cx="9525253" cy="3572037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sz="2400" dirty="0"/>
              <a:t>Patients with TP53 mutations that have the lowest experimental function scores (EFS) will show the highest Fraction Genome Altered (FGA)</a:t>
            </a:r>
            <a:endParaRPr lang="en-IL" sz="2400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BC41C240-75A6-F0C4-6E17-4569BB826D9A}"/>
              </a:ext>
            </a:extLst>
          </p:cNvPr>
          <p:cNvSpPr txBox="1">
            <a:spLocks/>
          </p:cNvSpPr>
          <p:nvPr/>
        </p:nvSpPr>
        <p:spPr>
          <a:xfrm>
            <a:off x="1170052" y="774559"/>
            <a:ext cx="6750756" cy="68862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dirty="0"/>
              <a:t>Hypothesis</a:t>
            </a:r>
            <a:endParaRPr lang="en-IL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8359B8-3272-03D0-1E14-4E2191D01541}"/>
              </a:ext>
            </a:extLst>
          </p:cNvPr>
          <p:cNvSpPr txBox="1"/>
          <p:nvPr/>
        </p:nvSpPr>
        <p:spPr>
          <a:xfrm>
            <a:off x="441533" y="-1"/>
            <a:ext cx="3707385" cy="468000"/>
          </a:xfrm>
          <a:prstGeom prst="rect">
            <a:avLst/>
          </a:prstGeom>
          <a:solidFill>
            <a:srgbClr val="4D1434"/>
          </a:solidFill>
        </p:spPr>
        <p:txBody>
          <a:bodyPr wrap="square" rtlCol="0">
            <a:spAutoFit/>
          </a:bodyPr>
          <a:lstStyle/>
          <a:p>
            <a:pPr algn="ctr"/>
            <a:endParaRPr lang="en-IL" sz="700" dirty="0">
              <a:solidFill>
                <a:schemeClr val="bg1"/>
              </a:solidFill>
            </a:endParaRPr>
          </a:p>
          <a:p>
            <a:pPr algn="ctr"/>
            <a:r>
              <a:rPr lang="en-IL" sz="1400" i="1" dirty="0">
                <a:solidFill>
                  <a:schemeClr val="bg1"/>
                </a:solidFill>
                <a:latin typeface="Abadi MT Condensed Light" panose="020B0306030101010103" pitchFamily="34" charset="77"/>
                <a:ea typeface="Batang" panose="02030600000101010101" pitchFamily="18" charset="-127"/>
                <a:cs typeface="Corsiva Hebrew" pitchFamily="2" charset="-79"/>
              </a:rPr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32634380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98ABE-CF8B-D69D-E84E-44B2D17D2A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0927" y="815975"/>
            <a:ext cx="4090285" cy="624060"/>
          </a:xfrm>
        </p:spPr>
        <p:txBody>
          <a:bodyPr>
            <a:normAutofit/>
          </a:bodyPr>
          <a:lstStyle/>
          <a:p>
            <a:r>
              <a:rPr lang="en-US" dirty="0"/>
              <a:t>Research Questions</a:t>
            </a:r>
            <a:endParaRPr lang="en-IL" dirty="0"/>
          </a:p>
        </p:txBody>
      </p:sp>
      <p:graphicFrame>
        <p:nvGraphicFramePr>
          <p:cNvPr id="14" name="Content Placeholder 2">
            <a:extLst>
              <a:ext uri="{FF2B5EF4-FFF2-40B4-BE49-F238E27FC236}">
                <a16:creationId xmlns:a16="http://schemas.microsoft.com/office/drawing/2014/main" id="{3D6605E1-D9B9-4C0E-8948-1BDE3BBABAE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34365697"/>
              </p:ext>
            </p:extLst>
          </p:nvPr>
        </p:nvGraphicFramePr>
        <p:xfrm>
          <a:off x="1286933" y="2180555"/>
          <a:ext cx="9618133" cy="409348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7BC5E143-32E1-DE53-DD19-600E8BB22E4A}"/>
              </a:ext>
            </a:extLst>
          </p:cNvPr>
          <p:cNvSpPr txBox="1"/>
          <p:nvPr/>
        </p:nvSpPr>
        <p:spPr>
          <a:xfrm>
            <a:off x="441533" y="-1"/>
            <a:ext cx="3707385" cy="468000"/>
          </a:xfrm>
          <a:prstGeom prst="rect">
            <a:avLst/>
          </a:prstGeom>
          <a:solidFill>
            <a:srgbClr val="4D1434"/>
          </a:solidFill>
        </p:spPr>
        <p:txBody>
          <a:bodyPr wrap="square" rtlCol="0">
            <a:spAutoFit/>
          </a:bodyPr>
          <a:lstStyle/>
          <a:p>
            <a:pPr algn="ctr"/>
            <a:endParaRPr lang="en-IL" sz="700" dirty="0">
              <a:solidFill>
                <a:schemeClr val="bg1"/>
              </a:solidFill>
            </a:endParaRPr>
          </a:p>
          <a:p>
            <a:pPr algn="ctr"/>
            <a:r>
              <a:rPr lang="en-IL" sz="1400" i="1" dirty="0">
                <a:solidFill>
                  <a:schemeClr val="bg1"/>
                </a:solidFill>
                <a:latin typeface="Abadi MT Condensed Light" panose="020B0306030101010103" pitchFamily="34" charset="77"/>
                <a:ea typeface="Batang" panose="02030600000101010101" pitchFamily="18" charset="-127"/>
                <a:cs typeface="Corsiva Hebrew" pitchFamily="2" charset="-79"/>
              </a:rPr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8175889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23E3D-3081-6279-96AE-306C13DFF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EDB3BD-D1C6-E2CF-8283-E2C584FD5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907" y="348735"/>
            <a:ext cx="10464799" cy="1320800"/>
          </a:xfrm>
        </p:spPr>
        <p:txBody>
          <a:bodyPr>
            <a:normAutofit/>
          </a:bodyPr>
          <a:lstStyle/>
          <a:p>
            <a:r>
              <a:rPr lang="en-US" dirty="0"/>
              <a:t>Data Sources:</a:t>
            </a:r>
            <a:br>
              <a:rPr lang="en-US" dirty="0"/>
            </a:br>
            <a:r>
              <a:rPr lang="en-US" dirty="0"/>
              <a:t>Integrating Phenotype &amp; Genotype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AA0A3D-8BE3-0B9A-CB05-49515B9F53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2125487"/>
            <a:ext cx="3981164" cy="3880773"/>
          </a:xfrm>
        </p:spPr>
        <p:txBody>
          <a:bodyPr>
            <a:normAutofit/>
          </a:bodyPr>
          <a:lstStyle/>
          <a:p>
            <a:r>
              <a:rPr lang="en-US" dirty="0"/>
              <a:t>Giacomelli et al., Nature Genetics, 2018 (25,217 variants)</a:t>
            </a:r>
          </a:p>
          <a:p>
            <a:r>
              <a:rPr lang="en-US" dirty="0"/>
              <a:t>Role: Experimental "fitness" scores for every possible TP53 mutation - </a:t>
            </a:r>
            <a:r>
              <a:rPr lang="en-US" u="sng" dirty="0"/>
              <a:t>the genotype</a:t>
            </a:r>
          </a:p>
          <a:p>
            <a:r>
              <a:rPr lang="en-US" dirty="0"/>
              <a:t>Metric: Experimental Functional Score (derived from cell line fitness screens) quantifies exactly how well each specific TP53 mutant can suppress tumor growth in a controlled lab setting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9705883-5B8C-C2EF-4572-7F0261B08839}"/>
              </a:ext>
            </a:extLst>
          </p:cNvPr>
          <p:cNvSpPr txBox="1">
            <a:spLocks/>
          </p:cNvSpPr>
          <p:nvPr/>
        </p:nvSpPr>
        <p:spPr>
          <a:xfrm>
            <a:off x="2141709" y="2676259"/>
            <a:ext cx="382128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AACR GENIE v19.0 (~271,000 samples, 100,418 with FGA).</a:t>
            </a:r>
          </a:p>
          <a:p>
            <a:r>
              <a:rPr lang="en-US" dirty="0"/>
              <a:t>Role: Real-world patient data - </a:t>
            </a:r>
            <a:r>
              <a:rPr lang="en-US" u="sng" dirty="0"/>
              <a:t>the phenotype</a:t>
            </a:r>
          </a:p>
          <a:p>
            <a:r>
              <a:rPr lang="en-US" dirty="0"/>
              <a:t>Metric: FRACTION_GENOME_ALTERED (FGA), a quantitative measure of chromosomal instability</a:t>
            </a:r>
          </a:p>
          <a:p>
            <a:r>
              <a:rPr lang="en-US" dirty="0"/>
              <a:t>35,357 TP53-mutant</a:t>
            </a:r>
          </a:p>
          <a:p>
            <a:r>
              <a:rPr lang="en-US" dirty="0"/>
              <a:t>65,061 TP53-WT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DF2B16-6F47-3D24-4C4D-F99346EBABA1}"/>
              </a:ext>
            </a:extLst>
          </p:cNvPr>
          <p:cNvSpPr txBox="1"/>
          <p:nvPr/>
        </p:nvSpPr>
        <p:spPr>
          <a:xfrm>
            <a:off x="2141709" y="2125487"/>
            <a:ext cx="19544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b="1" dirty="0"/>
              <a:t>Primary Analysis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C19C54-F4B6-77C2-43EE-6855AEF25ABD}"/>
              </a:ext>
            </a:extLst>
          </p:cNvPr>
          <p:cNvSpPr txBox="1"/>
          <p:nvPr/>
        </p:nvSpPr>
        <p:spPr>
          <a:xfrm>
            <a:off x="2141709" y="6262047"/>
            <a:ext cx="7859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b="1" dirty="0">
                <a:solidFill>
                  <a:srgbClr val="C00000"/>
                </a:solidFill>
              </a:rPr>
              <a:t>Goal: show that the physical structure of the genome is breaking down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23C7A6-5923-08E0-84D4-4B075D6794FF}"/>
              </a:ext>
            </a:extLst>
          </p:cNvPr>
          <p:cNvSpPr txBox="1"/>
          <p:nvPr/>
        </p:nvSpPr>
        <p:spPr>
          <a:xfrm>
            <a:off x="441533" y="-1"/>
            <a:ext cx="3707385" cy="468000"/>
          </a:xfrm>
          <a:prstGeom prst="rect">
            <a:avLst/>
          </a:prstGeom>
          <a:solidFill>
            <a:srgbClr val="4D1434"/>
          </a:solidFill>
        </p:spPr>
        <p:txBody>
          <a:bodyPr wrap="square" rtlCol="0">
            <a:spAutoFit/>
          </a:bodyPr>
          <a:lstStyle/>
          <a:p>
            <a:pPr algn="ctr"/>
            <a:endParaRPr lang="en-IL" sz="700" dirty="0">
              <a:solidFill>
                <a:schemeClr val="bg1"/>
              </a:solidFill>
            </a:endParaRPr>
          </a:p>
          <a:p>
            <a:pPr algn="ctr"/>
            <a:r>
              <a:rPr lang="en-IL" sz="1400" i="1" dirty="0">
                <a:solidFill>
                  <a:schemeClr val="bg1"/>
                </a:solidFill>
                <a:latin typeface="Abadi MT Condensed Light" panose="020B0306030101010103" pitchFamily="34" charset="77"/>
                <a:ea typeface="Batang" panose="02030600000101010101" pitchFamily="18" charset="-127"/>
                <a:cs typeface="Corsiva Hebrew" pitchFamily="2" charset="-79"/>
              </a:rPr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30826711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058A4-57BA-A749-DF2C-A825D38E4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5DE122-7CBA-DB38-60AE-8DC39D99F1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9942" y="350293"/>
            <a:ext cx="10464799" cy="1320800"/>
          </a:xfrm>
        </p:spPr>
        <p:txBody>
          <a:bodyPr>
            <a:normAutofit/>
          </a:bodyPr>
          <a:lstStyle/>
          <a:p>
            <a:r>
              <a:rPr lang="en-US" dirty="0"/>
              <a:t>Data Sources:</a:t>
            </a:r>
            <a:br>
              <a:rPr lang="en-US" dirty="0"/>
            </a:br>
            <a:r>
              <a:rPr lang="en-US" dirty="0"/>
              <a:t>Integrating Phenotype &amp; Genotype</a:t>
            </a:r>
            <a:endParaRPr lang="en-IL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C276440-F483-71DF-A071-F88FD52C4130}"/>
              </a:ext>
            </a:extLst>
          </p:cNvPr>
          <p:cNvSpPr txBox="1">
            <a:spLocks/>
          </p:cNvSpPr>
          <p:nvPr/>
        </p:nvSpPr>
        <p:spPr>
          <a:xfrm>
            <a:off x="2294591" y="2689908"/>
            <a:ext cx="8583045" cy="20257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MSK-IMPACT 50K (53,292 samples, 505 cancer genes).</a:t>
            </a:r>
          </a:p>
          <a:p>
            <a:r>
              <a:rPr lang="en-US" dirty="0"/>
              <a:t>Role: Genome-wide CNA data to identify which pathways are altered when TP53 breaks</a:t>
            </a:r>
          </a:p>
          <a:p>
            <a:r>
              <a:rPr lang="en-US" dirty="0"/>
              <a:t>Compared 800 high-FGA TP53-mutant vs 800 low-FGA TP53-WT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444B93-A15C-1CB2-2E6C-9C3050449F23}"/>
              </a:ext>
            </a:extLst>
          </p:cNvPr>
          <p:cNvSpPr txBox="1"/>
          <p:nvPr/>
        </p:nvSpPr>
        <p:spPr>
          <a:xfrm>
            <a:off x="2294592" y="2139135"/>
            <a:ext cx="2222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b="1" dirty="0"/>
              <a:t>Secondary Analysis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A7E258-78D3-3BAE-3E76-B1374DE35592}"/>
              </a:ext>
            </a:extLst>
          </p:cNvPr>
          <p:cNvSpPr txBox="1"/>
          <p:nvPr/>
        </p:nvSpPr>
        <p:spPr>
          <a:xfrm>
            <a:off x="2294591" y="6275695"/>
            <a:ext cx="6806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Goal: to conclude what are the major pathways are triggered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6ACFC5-0DEE-FEDB-43D9-76D291C4AF84}"/>
              </a:ext>
            </a:extLst>
          </p:cNvPr>
          <p:cNvSpPr txBox="1"/>
          <p:nvPr/>
        </p:nvSpPr>
        <p:spPr>
          <a:xfrm>
            <a:off x="441533" y="-1"/>
            <a:ext cx="3707385" cy="468000"/>
          </a:xfrm>
          <a:prstGeom prst="rect">
            <a:avLst/>
          </a:prstGeom>
          <a:solidFill>
            <a:srgbClr val="4D1434"/>
          </a:solidFill>
        </p:spPr>
        <p:txBody>
          <a:bodyPr wrap="square" rtlCol="0">
            <a:spAutoFit/>
          </a:bodyPr>
          <a:lstStyle/>
          <a:p>
            <a:pPr algn="ctr"/>
            <a:endParaRPr lang="en-IL" sz="700" dirty="0">
              <a:solidFill>
                <a:schemeClr val="bg1"/>
              </a:solidFill>
            </a:endParaRPr>
          </a:p>
          <a:p>
            <a:pPr algn="ctr"/>
            <a:r>
              <a:rPr lang="en-IL" sz="1400" i="1" dirty="0">
                <a:solidFill>
                  <a:schemeClr val="bg1"/>
                </a:solidFill>
                <a:latin typeface="Abadi MT Condensed Light" panose="020B0306030101010103" pitchFamily="34" charset="77"/>
                <a:ea typeface="Batang" panose="02030600000101010101" pitchFamily="18" charset="-127"/>
                <a:cs typeface="Corsiva Hebrew" pitchFamily="2" charset="-79"/>
              </a:rPr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7389079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4D48C21-D9D6-2A8D-E5A9-03D57CD6983B}"/>
              </a:ext>
            </a:extLst>
          </p:cNvPr>
          <p:cNvSpPr txBox="1"/>
          <p:nvPr/>
        </p:nvSpPr>
        <p:spPr>
          <a:xfrm>
            <a:off x="4244454" y="6210"/>
            <a:ext cx="3698414" cy="468000"/>
          </a:xfrm>
          <a:prstGeom prst="rect">
            <a:avLst/>
          </a:prstGeom>
          <a:solidFill>
            <a:srgbClr val="903063"/>
          </a:solidFill>
        </p:spPr>
        <p:txBody>
          <a:bodyPr wrap="square" rtlCol="0">
            <a:spAutoFit/>
          </a:bodyPr>
          <a:lstStyle/>
          <a:p>
            <a:pPr algn="ctr"/>
            <a:endParaRPr lang="en-IL" sz="700" dirty="0">
              <a:solidFill>
                <a:schemeClr val="bg1"/>
              </a:solidFill>
            </a:endParaRPr>
          </a:p>
          <a:p>
            <a:pPr algn="ctr"/>
            <a:r>
              <a:rPr lang="en-IL" sz="1400" i="1" dirty="0">
                <a:solidFill>
                  <a:schemeClr val="bg1"/>
                </a:solidFill>
                <a:latin typeface="Abadi MT Condensed Light" panose="020B0306030101010103" pitchFamily="34" charset="77"/>
                <a:ea typeface="Batang" panose="02030600000101010101" pitchFamily="18" charset="-127"/>
                <a:cs typeface="Corsiva Hebrew" pitchFamily="2" charset="-79"/>
              </a:rPr>
              <a:t>Results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650D5BB2-B032-C09A-7B4B-4C9C1F6F2A6D}"/>
              </a:ext>
            </a:extLst>
          </p:cNvPr>
          <p:cNvSpPr txBox="1">
            <a:spLocks/>
          </p:cNvSpPr>
          <p:nvPr/>
        </p:nvSpPr>
        <p:spPr>
          <a:xfrm>
            <a:off x="1020801" y="781856"/>
            <a:ext cx="10395551" cy="62406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7500" lnSpcReduction="2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dirty="0"/>
              <a:t>Do TP53 mutations correlate with higher genomic instability (FGA)?</a:t>
            </a:r>
            <a:endParaRPr lang="en-IL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2838C1F-E20B-84B8-C130-2CB38576B4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011" y="2431007"/>
            <a:ext cx="10139977" cy="328058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7149966-4352-0034-EA18-0391EB8BAE2C}"/>
              </a:ext>
            </a:extLst>
          </p:cNvPr>
          <p:cNvSpPr txBox="1"/>
          <p:nvPr/>
        </p:nvSpPr>
        <p:spPr>
          <a:xfrm>
            <a:off x="1537775" y="6076144"/>
            <a:ext cx="93616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TP53 mutant tumors have significantly higher FGA than WT (median 0.182 vs 0.037, p &lt; 1×10⁻³⁰⁰)</a:t>
            </a:r>
          </a:p>
        </p:txBody>
      </p:sp>
    </p:spTree>
    <p:extLst>
      <p:ext uri="{BB962C8B-B14F-4D97-AF65-F5344CB8AC3E}">
        <p14:creationId xmlns:p14="http://schemas.microsoft.com/office/powerpoint/2010/main" val="24119092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2F011-000C-1AE0-7D31-CBAC70236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70276BC-0AC6-A717-FA6A-AE32621A2EB8}"/>
              </a:ext>
            </a:extLst>
          </p:cNvPr>
          <p:cNvSpPr txBox="1"/>
          <p:nvPr/>
        </p:nvSpPr>
        <p:spPr>
          <a:xfrm>
            <a:off x="4244454" y="6210"/>
            <a:ext cx="3698414" cy="504000"/>
          </a:xfrm>
          <a:prstGeom prst="rect">
            <a:avLst/>
          </a:prstGeom>
          <a:solidFill>
            <a:srgbClr val="903063"/>
          </a:solidFill>
        </p:spPr>
        <p:txBody>
          <a:bodyPr wrap="square" rtlCol="0">
            <a:spAutoFit/>
          </a:bodyPr>
          <a:lstStyle/>
          <a:p>
            <a:pPr algn="ctr"/>
            <a:endParaRPr lang="en-IL" sz="700" dirty="0">
              <a:solidFill>
                <a:schemeClr val="bg1"/>
              </a:solidFill>
            </a:endParaRPr>
          </a:p>
          <a:p>
            <a:pPr algn="ctr"/>
            <a:r>
              <a:rPr lang="en-IL" sz="1400" i="1" dirty="0">
                <a:solidFill>
                  <a:schemeClr val="bg1"/>
                </a:solidFill>
                <a:latin typeface="Abadi MT Condensed Light" panose="020B0306030101010103" pitchFamily="34" charset="77"/>
                <a:ea typeface="Batang" panose="02030600000101010101" pitchFamily="18" charset="-127"/>
                <a:cs typeface="Corsiva Hebrew" pitchFamily="2" charset="-79"/>
              </a:rPr>
              <a:t>Results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036B11B-88A0-682B-9FD9-78FF979F19E7}"/>
              </a:ext>
            </a:extLst>
          </p:cNvPr>
          <p:cNvSpPr txBox="1">
            <a:spLocks/>
          </p:cNvSpPr>
          <p:nvPr/>
        </p:nvSpPr>
        <p:spPr>
          <a:xfrm>
            <a:off x="1020801" y="815976"/>
            <a:ext cx="10395551" cy="6240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dirty="0"/>
              <a:t> Is there a correlation between EFS and FGA?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9DAE156-E127-133B-B04F-6C8288694112}"/>
              </a:ext>
            </a:extLst>
          </p:cNvPr>
          <p:cNvSpPr txBox="1"/>
          <p:nvPr/>
        </p:nvSpPr>
        <p:spPr>
          <a:xfrm>
            <a:off x="1905183" y="6076144"/>
            <a:ext cx="8393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Weak correlation. The hypothesis partially holds but EFS alone doesn't predict FGA well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DBE5B33-E5F3-6AD4-8C1B-5F54D4152D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7461" y="2344398"/>
            <a:ext cx="7772400" cy="3288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30312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2E269-B919-A0CE-D943-1E6DFA1B8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2485392-FF72-2B72-BD76-DE0A2F158F18}"/>
              </a:ext>
            </a:extLst>
          </p:cNvPr>
          <p:cNvSpPr txBox="1"/>
          <p:nvPr/>
        </p:nvSpPr>
        <p:spPr>
          <a:xfrm>
            <a:off x="4244454" y="6210"/>
            <a:ext cx="3698414" cy="468000"/>
          </a:xfrm>
          <a:prstGeom prst="rect">
            <a:avLst/>
          </a:prstGeom>
          <a:solidFill>
            <a:srgbClr val="903063"/>
          </a:solidFill>
        </p:spPr>
        <p:txBody>
          <a:bodyPr wrap="square" rtlCol="0">
            <a:spAutoFit/>
          </a:bodyPr>
          <a:lstStyle/>
          <a:p>
            <a:pPr algn="ctr"/>
            <a:endParaRPr lang="en-IL" sz="700" dirty="0">
              <a:solidFill>
                <a:schemeClr val="bg1"/>
              </a:solidFill>
            </a:endParaRPr>
          </a:p>
          <a:p>
            <a:pPr algn="ctr"/>
            <a:r>
              <a:rPr lang="en-IL" sz="1400" i="1" dirty="0">
                <a:solidFill>
                  <a:schemeClr val="bg1"/>
                </a:solidFill>
                <a:latin typeface="Abadi MT Condensed Light" panose="020B0306030101010103" pitchFamily="34" charset="77"/>
                <a:ea typeface="Batang" panose="02030600000101010101" pitchFamily="18" charset="-127"/>
                <a:cs typeface="Corsiva Hebrew" pitchFamily="2" charset="-79"/>
              </a:rPr>
              <a:t>Results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82547B83-2C72-0FFA-8ED4-EA2AF20BE789}"/>
              </a:ext>
            </a:extLst>
          </p:cNvPr>
          <p:cNvSpPr txBox="1">
            <a:spLocks/>
          </p:cNvSpPr>
          <p:nvPr/>
        </p:nvSpPr>
        <p:spPr>
          <a:xfrm>
            <a:off x="1020801" y="781856"/>
            <a:ext cx="10395551" cy="62406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7500" lnSpcReduction="2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dirty="0"/>
              <a:t>Do hotspot mutations drive more instability than rare mutations?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E0EF9D9-E489-49CE-71A9-5D56630B5D83}"/>
              </a:ext>
            </a:extLst>
          </p:cNvPr>
          <p:cNvSpPr txBox="1"/>
          <p:nvPr/>
        </p:nvSpPr>
        <p:spPr>
          <a:xfrm>
            <a:off x="2585456" y="6174992"/>
            <a:ext cx="7016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Hotspot mutations show variable FGA. Not all hotspots behave the same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F59E9A-8E0A-3F22-A3B9-753309CA8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5753" y="2526850"/>
            <a:ext cx="8560493" cy="321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281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4F387-8656-ECB8-2928-1EB11651C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AFA7E82-AC1C-DDBE-C702-5EFE13545870}"/>
              </a:ext>
            </a:extLst>
          </p:cNvPr>
          <p:cNvSpPr txBox="1"/>
          <p:nvPr/>
        </p:nvSpPr>
        <p:spPr>
          <a:xfrm>
            <a:off x="4244454" y="6210"/>
            <a:ext cx="3698414" cy="468000"/>
          </a:xfrm>
          <a:prstGeom prst="rect">
            <a:avLst/>
          </a:prstGeom>
          <a:solidFill>
            <a:srgbClr val="903063"/>
          </a:solidFill>
        </p:spPr>
        <p:txBody>
          <a:bodyPr wrap="square" rtlCol="0">
            <a:spAutoFit/>
          </a:bodyPr>
          <a:lstStyle/>
          <a:p>
            <a:pPr algn="ctr"/>
            <a:endParaRPr lang="en-IL" sz="700" dirty="0">
              <a:solidFill>
                <a:schemeClr val="bg1"/>
              </a:solidFill>
            </a:endParaRPr>
          </a:p>
          <a:p>
            <a:pPr algn="ctr"/>
            <a:r>
              <a:rPr lang="en-IL" sz="1400" i="1" dirty="0">
                <a:solidFill>
                  <a:schemeClr val="bg1"/>
                </a:solidFill>
                <a:latin typeface="Abadi MT Condensed Light" panose="020B0306030101010103" pitchFamily="34" charset="77"/>
                <a:ea typeface="Batang" panose="02030600000101010101" pitchFamily="18" charset="-127"/>
                <a:cs typeface="Corsiva Hebrew" pitchFamily="2" charset="-79"/>
              </a:rPr>
              <a:t>Results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62970265-613D-7411-DDFD-4EF5DD9D036D}"/>
              </a:ext>
            </a:extLst>
          </p:cNvPr>
          <p:cNvSpPr txBox="1">
            <a:spLocks/>
          </p:cNvSpPr>
          <p:nvPr/>
        </p:nvSpPr>
        <p:spPr>
          <a:xfrm>
            <a:off x="1020801" y="822800"/>
            <a:ext cx="10395551" cy="6240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dirty="0"/>
              <a:t>Is this cancer-type specific?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C06C175-0B76-F25D-CD66-7276044E17BB}"/>
              </a:ext>
            </a:extLst>
          </p:cNvPr>
          <p:cNvSpPr txBox="1"/>
          <p:nvPr/>
        </p:nvSpPr>
        <p:spPr>
          <a:xfrm>
            <a:off x="958770" y="6250055"/>
            <a:ext cx="105196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EFS-FGA correlation varies substantially by cancer type. Some cancers show strong correlation, others none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05032C8-B68F-E5B1-5A9F-C9DCAD767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2354" y="2137559"/>
            <a:ext cx="8842611" cy="3860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0632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1A3BEB-D12B-CB91-CABF-F7664DD59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193E180-EB01-9ECE-1243-D31F5973EB3E}"/>
              </a:ext>
            </a:extLst>
          </p:cNvPr>
          <p:cNvSpPr txBox="1"/>
          <p:nvPr/>
        </p:nvSpPr>
        <p:spPr>
          <a:xfrm>
            <a:off x="4244454" y="6210"/>
            <a:ext cx="3698414" cy="468000"/>
          </a:xfrm>
          <a:prstGeom prst="rect">
            <a:avLst/>
          </a:prstGeom>
          <a:solidFill>
            <a:srgbClr val="903063"/>
          </a:solidFill>
        </p:spPr>
        <p:txBody>
          <a:bodyPr wrap="square" rtlCol="0">
            <a:spAutoFit/>
          </a:bodyPr>
          <a:lstStyle/>
          <a:p>
            <a:pPr algn="ctr"/>
            <a:endParaRPr lang="en-IL" sz="700" dirty="0">
              <a:solidFill>
                <a:schemeClr val="bg1"/>
              </a:solidFill>
            </a:endParaRPr>
          </a:p>
          <a:p>
            <a:pPr algn="ctr"/>
            <a:r>
              <a:rPr lang="en-IL" sz="1400" i="1" dirty="0">
                <a:solidFill>
                  <a:schemeClr val="bg1"/>
                </a:solidFill>
                <a:latin typeface="Abadi MT Condensed Light" panose="020B0306030101010103" pitchFamily="34" charset="77"/>
                <a:ea typeface="Batang" panose="02030600000101010101" pitchFamily="18" charset="-127"/>
                <a:cs typeface="Corsiva Hebrew" pitchFamily="2" charset="-79"/>
              </a:rPr>
              <a:t>Results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36CA0E1-8570-4D19-76A9-3451F87062A2}"/>
              </a:ext>
            </a:extLst>
          </p:cNvPr>
          <p:cNvSpPr txBox="1">
            <a:spLocks/>
          </p:cNvSpPr>
          <p:nvPr/>
        </p:nvSpPr>
        <p:spPr>
          <a:xfrm>
            <a:off x="1020801" y="822800"/>
            <a:ext cx="10395551" cy="6240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dirty="0"/>
              <a:t>which pathways are triggered?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E2D1785-4F39-48A7-21A4-CC375FCE1ADD}"/>
              </a:ext>
            </a:extLst>
          </p:cNvPr>
          <p:cNvSpPr txBox="1"/>
          <p:nvPr/>
        </p:nvSpPr>
        <p:spPr>
          <a:xfrm>
            <a:off x="1826190" y="5996699"/>
            <a:ext cx="85349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When TP53 breaks and FGA is high, cell cycle control (E2F, G2-M) and growth signaling (PI3K/AKT/mTOR) pathways are the main downstream consequences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B860F4F-D332-2A94-21C1-B599432884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6215" y="2020945"/>
            <a:ext cx="9619570" cy="3772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82452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B8FF6F-4BEA-6F3E-3F23-5A89C248E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B639E3F-4B1A-153B-CB66-47213375D7FA}"/>
              </a:ext>
            </a:extLst>
          </p:cNvPr>
          <p:cNvSpPr txBox="1"/>
          <p:nvPr/>
        </p:nvSpPr>
        <p:spPr>
          <a:xfrm>
            <a:off x="8043084" y="0"/>
            <a:ext cx="3700815" cy="468000"/>
          </a:xfrm>
          <a:prstGeom prst="rect">
            <a:avLst/>
          </a:prstGeom>
          <a:solidFill>
            <a:srgbClr val="96A0A7"/>
          </a:solidFill>
        </p:spPr>
        <p:txBody>
          <a:bodyPr wrap="square" rtlCol="0">
            <a:spAutoFit/>
          </a:bodyPr>
          <a:lstStyle/>
          <a:p>
            <a:pPr algn="ctr"/>
            <a:endParaRPr lang="en-IL" sz="700" dirty="0">
              <a:solidFill>
                <a:schemeClr val="bg1"/>
              </a:solidFill>
            </a:endParaRPr>
          </a:p>
          <a:p>
            <a:pPr algn="ctr"/>
            <a:r>
              <a:rPr lang="en-IL" sz="1400" i="1" dirty="0">
                <a:solidFill>
                  <a:schemeClr val="bg1"/>
                </a:solidFill>
                <a:latin typeface="Abadi MT Condensed Light" panose="020B0306030101010103" pitchFamily="34" charset="77"/>
                <a:ea typeface="Batang" panose="02030600000101010101" pitchFamily="18" charset="-127"/>
                <a:cs typeface="Corsiva Hebrew" pitchFamily="2" charset="-79"/>
              </a:rPr>
              <a:t>Discussion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AAF338-1ECF-E45A-E298-522A12B8B2BD}"/>
              </a:ext>
            </a:extLst>
          </p:cNvPr>
          <p:cNvSpPr txBox="1">
            <a:spLocks/>
          </p:cNvSpPr>
          <p:nvPr/>
        </p:nvSpPr>
        <p:spPr>
          <a:xfrm>
            <a:off x="1020801" y="822800"/>
            <a:ext cx="10395551" cy="6240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dirty="0"/>
              <a:t>Binary effect VS. CONTINUOUS EFFECT</a:t>
            </a:r>
          </a:p>
        </p:txBody>
      </p:sp>
    </p:spTree>
    <p:extLst>
      <p:ext uri="{BB962C8B-B14F-4D97-AF65-F5344CB8AC3E}">
        <p14:creationId xmlns:p14="http://schemas.microsoft.com/office/powerpoint/2010/main" val="1065089303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4D1434"/>
      </a:accent1>
      <a:accent2>
        <a:srgbClr val="903163"/>
      </a:accent2>
      <a:accent3>
        <a:srgbClr val="B2324B"/>
      </a:accent3>
      <a:accent4>
        <a:srgbClr val="969FA7"/>
      </a:accent4>
      <a:accent5>
        <a:srgbClr val="66B1CE"/>
      </a:accent5>
      <a:accent6>
        <a:srgbClr val="40619D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C21699FF-00E4-43C8-BBCC-D7E5536C371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Dividend</Template>
  <TotalTime>5698</TotalTime>
  <Words>1757</Words>
  <Application>Microsoft Macintosh PowerPoint</Application>
  <PresentationFormat>Widescreen</PresentationFormat>
  <Paragraphs>170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Abadi MT Condensed Light</vt:lpstr>
      <vt:lpstr>Aptos</vt:lpstr>
      <vt:lpstr>Arial</vt:lpstr>
      <vt:lpstr>Gill Sans MT</vt:lpstr>
      <vt:lpstr>Wingdings 2</vt:lpstr>
      <vt:lpstr>Dividend</vt:lpstr>
      <vt:lpstr>TP53 mutations that are associated with an increased Copy Number Variation</vt:lpstr>
      <vt:lpstr>TP53</vt:lpstr>
      <vt:lpstr>Copy Number Variation</vt:lpstr>
      <vt:lpstr>Experimental Functional Score</vt:lpstr>
      <vt:lpstr>Experimental Functional Score</vt:lpstr>
      <vt:lpstr>Experimental Functional Score</vt:lpstr>
      <vt:lpstr>Hypothesis</vt:lpstr>
      <vt:lpstr>Research Questions</vt:lpstr>
      <vt:lpstr>Data Sources: Integrating Phenotype &amp; Genotype</vt:lpstr>
      <vt:lpstr>Data Sources: Integrating Phenotype &amp; Genotype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Ornit Bhonkar</dc:creator>
  <cp:lastModifiedBy>Ornit Bhonkar</cp:lastModifiedBy>
  <cp:revision>298</cp:revision>
  <dcterms:created xsi:type="dcterms:W3CDTF">2026-01-27T21:31:11Z</dcterms:created>
  <dcterms:modified xsi:type="dcterms:W3CDTF">2026-03-15T00:15:25Z</dcterms:modified>
</cp:coreProperties>
</file>