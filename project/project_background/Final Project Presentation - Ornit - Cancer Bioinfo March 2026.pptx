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4"/>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75" r:id="rId15"/>
    <p:sldId id="368" r:id="rId16"/>
    <p:sldId id="374" r:id="rId17"/>
    <p:sldId id="369" r:id="rId18"/>
    <p:sldId id="365" r:id="rId19"/>
    <p:sldId id="370" r:id="rId20"/>
    <p:sldId id="371" r:id="rId21"/>
    <p:sldId id="372" r:id="rId22"/>
    <p:sldId id="373"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37"/>
    <p:restoredTop sz="91877"/>
  </p:normalViewPr>
  <p:slideViewPr>
    <p:cSldViewPr snapToGrid="0">
      <p:cViewPr>
        <p:scale>
          <a:sx n="134" d="100"/>
          <a:sy n="134" d="100"/>
        </p:scale>
        <p:origin x="960"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להסברים שנתתי בפעם הקודמת: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את התהליכים האלו. מוטציות ב-</a:t>
            </a:r>
            <a:r>
              <a:rPr lang="en-US" dirty="0"/>
              <a:t>TP53</a:t>
            </a:r>
            <a:r>
              <a:rPr lang="he-IL" dirty="0"/>
              <a:t> יכולות להשפיע על התהליכים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algn="r" defTabSz="914400" rtl="1" eaLnBrk="1" latinLnBrk="0" hangingPunct="1"/>
            <a:r>
              <a:rPr lang="he-IL" dirty="0"/>
              <a:t>אחד הדברים שאפשר להגיד ש-</a:t>
            </a:r>
            <a:r>
              <a:rPr lang="en-US" dirty="0"/>
              <a:t>TP53</a:t>
            </a:r>
            <a:r>
              <a:rPr lang="he-IL" dirty="0"/>
              <a:t> יכול להוביל אליהם כשהוא פגום זה </a:t>
            </a:r>
            <a:r>
              <a:rPr lang="en-US" dirty="0"/>
              <a:t>Copy number variation</a:t>
            </a:r>
            <a:r>
              <a:rPr lang="he-IL" dirty="0"/>
              <a:t>.</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 </a:t>
            </a:r>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אללים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 ונרמלו ל-</a:t>
            </a:r>
            <a:r>
              <a:rPr lang="en-US" sz="1200" b="0" i="0" kern="1200" dirty="0">
                <a:solidFill>
                  <a:schemeClr val="tx1"/>
                </a:solidFill>
                <a:effectLst/>
                <a:latin typeface="+mn-lt"/>
                <a:ea typeface="+mn-ea"/>
                <a:cs typeface="+mn-cs"/>
              </a:rPr>
              <a:t>z-scores</a:t>
            </a:r>
            <a:r>
              <a:rPr lang="he-IL" sz="1200" b="0" i="0" kern="1200" dirty="0">
                <a:solidFill>
                  <a:schemeClr val="tx1"/>
                </a:solidFill>
                <a:effectLst/>
                <a:latin typeface="+mn-lt"/>
                <a:ea typeface="+mn-ea"/>
                <a:cs typeface="+mn-cs"/>
              </a:rPr>
              <a:t> כך שכל אלל קיבל ציון יחסי לכל אחד משלושת התנאים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חיברו את כל ה-</a:t>
            </a:r>
            <a:r>
              <a:rPr lang="en-US" dirty="0"/>
              <a:t>z-scores</a:t>
            </a:r>
            <a:r>
              <a:rPr lang="he-IL" dirty="0"/>
              <a:t> כדי </a:t>
            </a:r>
            <a:r>
              <a:rPr lang="he-IL" dirty="0" err="1"/>
              <a:t>לכבר</a:t>
            </a:r>
            <a:r>
              <a:rPr lang="he-IL" dirty="0"/>
              <a:t> מספר יחיד לכל אלל, שזהו ה-</a:t>
            </a:r>
            <a:r>
              <a:rPr lang="en-US" dirty="0"/>
              <a:t>Experimental Functional Score</a:t>
            </a:r>
            <a:r>
              <a:rPr lang="he-IL" dirty="0"/>
              <a:t> שהשתמשתי בו. ציון נמוך משמע אובדן תפקוד, ציון גבוה = התנהגות דומה ל-</a:t>
            </a:r>
            <a:r>
              <a:rPr lang="en-US" dirty="0"/>
              <a:t>p53</a:t>
            </a:r>
            <a:r>
              <a:rPr lang="he-IL" dirty="0"/>
              <a:t> תקין.</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 שזה בעצם המדד שאני משתמשת בו כדי להעריך מה ה-</a:t>
            </a:r>
            <a:r>
              <a:rPr lang="en-US" b="0" dirty="0"/>
              <a:t>CNA</a:t>
            </a:r>
            <a:r>
              <a:rPr lang="he-IL" b="0" dirty="0"/>
              <a:t> בתא.</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a:r>
              <a:rPr lang="en-US" sz="1200" b="1" i="0" kern="1200" dirty="0">
                <a:solidFill>
                  <a:schemeClr val="tx1"/>
                </a:solidFill>
                <a:effectLst/>
                <a:latin typeface="+mn-lt"/>
                <a:ea typeface="+mn-ea"/>
                <a:cs typeface="+mn-cs"/>
              </a:rPr>
              <a:t>FGA = (number of base pairs with copy number gain or loss) / (total base pairs profiled)</a:t>
            </a:r>
            <a:endParaRPr lang="en-US" sz="1200" b="0" i="0" kern="1200" dirty="0">
              <a:solidFill>
                <a:schemeClr val="tx1"/>
              </a:solidFill>
              <a:effectLst/>
              <a:latin typeface="+mn-lt"/>
              <a:ea typeface="+mn-ea"/>
              <a:cs typeface="+mn-cs"/>
            </a:endParaRP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סקאלר</a:t>
            </a:r>
            <a:r>
              <a:rPr lang="he-IL" dirty="0"/>
              <a:t> אחד שמתאר את ה-</a:t>
            </a:r>
            <a:r>
              <a:rPr lang="en-US" dirty="0"/>
              <a:t>burden</a:t>
            </a:r>
            <a:r>
              <a:rPr lang="he-IL" dirty="0"/>
              <a:t> של כל האירועים האלו.</a:t>
            </a:r>
          </a:p>
          <a:p>
            <a:pPr algn="r"/>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הגנום, </a:t>
            </a:r>
            <a:r>
              <a:rPr lang="en-US" dirty="0"/>
              <a:t> </a:t>
            </a:r>
            <a:r>
              <a:rPr lang="he-IL" dirty="0"/>
              <a:t>ובאופן ספציפי, גנים של סרטן, אילו גנים מוגברים, אילו גנים מושתקים או נמחקים בכל הגנום, לא רק </a:t>
            </a:r>
            <a:r>
              <a:rPr lang="en-US" dirty="0"/>
              <a:t>TP53</a:t>
            </a:r>
            <a:r>
              <a:rPr lang="he-IL" dirty="0"/>
              <a:t>.</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לקחתי את </a:t>
            </a:r>
            <a:r>
              <a:rPr lang="he-IL" dirty="0" err="1"/>
              <a:t>הדטא</a:t>
            </a:r>
            <a:r>
              <a:rPr lang="he-IL" dirty="0"/>
              <a:t> של </a:t>
            </a:r>
            <a:r>
              <a:rPr lang="he-IL" dirty="0" err="1"/>
              <a:t>ג׳יני</a:t>
            </a:r>
            <a:r>
              <a:rPr lang="he-IL" dirty="0"/>
              <a:t> עם פרופיל  tp53 לכל אחד </a:t>
            </a:r>
            <a:r>
              <a:rPr lang="he-IL" dirty="0" err="1"/>
              <a:t>מהסאמפלים</a:t>
            </a:r>
            <a:r>
              <a:rPr lang="he-IL" dirty="0"/>
              <a:t> (מוטנט או לא).</a:t>
            </a:r>
          </a:p>
          <a:p>
            <a:pPr marL="0" algn="r" defTabSz="914400" rtl="1" eaLnBrk="1" latinLnBrk="0" hangingPunct="1"/>
            <a:endParaRPr lang="he-IL" dirty="0"/>
          </a:p>
          <a:p>
            <a:pPr marL="0" algn="r" defTabSz="914400" rtl="1" eaLnBrk="1" latinLnBrk="0" hangingPunct="1"/>
            <a:r>
              <a:rPr lang="he-IL" dirty="0"/>
              <a:t>ב-</a:t>
            </a:r>
            <a:r>
              <a:rPr lang="en-US" dirty="0"/>
              <a:t>TP53 CNA values</a:t>
            </a:r>
            <a:r>
              <a:rPr lang="he-IL" dirty="0"/>
              <a:t>: 0 אומר </a:t>
            </a:r>
            <a:r>
              <a:rPr lang="en-US" dirty="0"/>
              <a:t>WT</a:t>
            </a:r>
            <a:r>
              <a:rPr lang="he-IL" dirty="0"/>
              <a:t>, ז״א אין </a:t>
            </a:r>
            <a:r>
              <a:rPr lang="en-US" dirty="0"/>
              <a:t>copy number change</a:t>
            </a:r>
            <a:r>
              <a:rPr lang="he-IL" dirty="0"/>
              <a:t>, </a:t>
            </a:r>
            <a:r>
              <a:rPr lang="en-US" dirty="0"/>
              <a:t>-1</a:t>
            </a:r>
            <a:r>
              <a:rPr lang="he-IL" dirty="0"/>
              <a:t> זה </a:t>
            </a:r>
            <a:r>
              <a:rPr lang="en-US" dirty="0"/>
              <a:t>shallow deletion</a:t>
            </a:r>
            <a:r>
              <a:rPr lang="he-IL" dirty="0"/>
              <a:t>, </a:t>
            </a:r>
            <a:r>
              <a:rPr lang="en-US" dirty="0"/>
              <a:t>-2</a:t>
            </a:r>
            <a:r>
              <a:rPr lang="he-IL" dirty="0"/>
              <a:t> זה </a:t>
            </a:r>
            <a:r>
              <a:rPr lang="en-US" dirty="0"/>
              <a:t>deep deletion</a:t>
            </a:r>
            <a:r>
              <a:rPr lang="he-IL" dirty="0"/>
              <a:t>, 1 זה </a:t>
            </a:r>
            <a:r>
              <a:rPr lang="en-US" dirty="0"/>
              <a:t>low amplification</a:t>
            </a:r>
            <a:r>
              <a:rPr lang="he-IL" dirty="0"/>
              <a:t>, 2 זה </a:t>
            </a:r>
            <a:r>
              <a:rPr lang="en-US" dirty="0"/>
              <a:t>high amplification</a:t>
            </a:r>
            <a:r>
              <a:rPr lang="he-IL" dirty="0"/>
              <a:t>. </a:t>
            </a:r>
            <a:r>
              <a:rPr lang="en-US" dirty="0"/>
              <a:t>NP</a:t>
            </a:r>
            <a:r>
              <a:rPr lang="he-IL" dirty="0"/>
              <a:t> אומר שזה </a:t>
            </a:r>
            <a:r>
              <a:rPr lang="en-US" dirty="0"/>
              <a:t>not profiled</a:t>
            </a:r>
            <a:r>
              <a:rPr lang="he-IL" dirty="0"/>
              <a:t>. אז כאן, כל מה שהוא 0 הוא </a:t>
            </a:r>
            <a:r>
              <a:rPr lang="en-US" dirty="0"/>
              <a:t>WT</a:t>
            </a:r>
            <a:r>
              <a:rPr lang="he-IL" dirty="0"/>
              <a:t>. את זה בדקתי מול </a:t>
            </a:r>
            <a:r>
              <a:rPr lang="en-US" dirty="0" err="1"/>
              <a:t>mutantions.txt</a:t>
            </a:r>
            <a:r>
              <a:rPr lang="he-IL" dirty="0"/>
              <a:t> </a:t>
            </a:r>
            <a:r>
              <a:rPr lang="he-IL" dirty="0" err="1"/>
              <a:t>מג׳יני</a:t>
            </a:r>
            <a:r>
              <a:rPr lang="he-IL" dirty="0"/>
              <a:t>, שם מצוין לכל </a:t>
            </a:r>
            <a:r>
              <a:rPr lang="he-IL" dirty="0" err="1"/>
              <a:t>סאמפל</a:t>
            </a:r>
            <a:r>
              <a:rPr lang="he-IL" dirty="0"/>
              <a:t> איזו מוטציה של </a:t>
            </a:r>
            <a:r>
              <a:rPr lang="en-US" dirty="0"/>
              <a:t>TP53</a:t>
            </a:r>
            <a:r>
              <a:rPr lang="he-IL" dirty="0"/>
              <a:t> יש לו. </a:t>
            </a:r>
            <a:r>
              <a:rPr lang="en-US" dirty="0"/>
              <a:t>WT</a:t>
            </a:r>
            <a:r>
              <a:rPr lang="he-IL" dirty="0"/>
              <a:t> אמיתי זה כשאין לנו מוטציה ואין לנו </a:t>
            </a:r>
            <a:r>
              <a:rPr lang="en-US" dirty="0"/>
              <a:t>CNA</a:t>
            </a:r>
            <a:r>
              <a:rPr lang="he-IL" dirty="0"/>
              <a:t>. מוטציה מוגדרת </a:t>
            </a:r>
            <a:r>
              <a:rPr lang="he-IL" dirty="0" err="1"/>
              <a:t>ככזו</a:t>
            </a:r>
            <a:r>
              <a:rPr lang="he-IL" dirty="0"/>
              <a:t> אם מצוין ב-</a:t>
            </a:r>
            <a:r>
              <a:rPr lang="en-US" dirty="0" err="1"/>
              <a:t>mutations.txt</a:t>
            </a:r>
            <a:r>
              <a:rPr lang="he-IL" dirty="0"/>
              <a:t> שיש פה </a:t>
            </a:r>
            <a:r>
              <a:rPr lang="en-US" dirty="0"/>
              <a:t>somatic point mutation</a:t>
            </a:r>
            <a:r>
              <a:rPr lang="he-IL" dirty="0"/>
              <a:t>, לא משנה אם יש לנו </a:t>
            </a:r>
            <a:r>
              <a:rPr lang="en-US" dirty="0"/>
              <a:t>CNA</a:t>
            </a:r>
            <a:r>
              <a:rPr lang="he-IL" dirty="0"/>
              <a:t> עליו או לא. אם יש רק </a:t>
            </a:r>
            <a:r>
              <a:rPr lang="en-US" dirty="0"/>
              <a:t>CNA</a:t>
            </a:r>
            <a:r>
              <a:rPr lang="he-IL" dirty="0"/>
              <a:t>, אז לא החשבתי את זה כמוטציה.</a:t>
            </a:r>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pPr marL="0" algn="r" defTabSz="914400" rtl="1" eaLnBrk="1" latinLnBrk="0" hangingPunct="1"/>
            <a:r>
              <a:rPr lang="he-IL" dirty="0"/>
              <a:t>אז ראיתי </a:t>
            </a:r>
            <a:r>
              <a:rPr lang="he-IL" dirty="0" err="1"/>
              <a:t>שסאמפלים</a:t>
            </a:r>
            <a:r>
              <a:rPr lang="he-IL" dirty="0"/>
              <a:t> עם מוטציות ב-</a:t>
            </a:r>
            <a:r>
              <a:rPr lang="en-US" dirty="0"/>
              <a:t>TP53</a:t>
            </a:r>
            <a:r>
              <a:rPr lang="he-IL" dirty="0"/>
              <a:t> יש להן יותר כאוס </a:t>
            </a:r>
            <a:r>
              <a:rPr lang="he-IL" dirty="0" err="1"/>
              <a:t>גנומי</a:t>
            </a:r>
            <a:r>
              <a:rPr lang="he-IL" dirty="0"/>
              <a:t>, אבל האם יש איזושהי קורלציה בין כמה המוטציה פונקציונאלית לבין הכאוס </a:t>
            </a:r>
            <a:r>
              <a:rPr lang="he-IL" dirty="0" err="1"/>
              <a:t>הגנומי</a:t>
            </a:r>
            <a:r>
              <a:rPr lang="he-IL" dirty="0"/>
              <a:t> שמדדנו? ז״א האם ככל שמוטציה פחות פונקציונאלית ככה יש לנו יותר כאוס?</a:t>
            </a:r>
          </a:p>
          <a:p>
            <a:pPr marL="0" algn="r" defTabSz="914400" rtl="1" eaLnBrk="1" latinLnBrk="0" hangingPunct="1"/>
            <a:r>
              <a:rPr lang="he-IL" dirty="0"/>
              <a:t>את ה-</a:t>
            </a:r>
            <a:r>
              <a:rPr lang="en-US" dirty="0"/>
              <a:t>EFS</a:t>
            </a:r>
            <a:r>
              <a:rPr lang="he-IL" dirty="0"/>
              <a:t> הוצאתי מ-</a:t>
            </a:r>
            <a:r>
              <a:rPr lang="en-US" dirty="0" err="1"/>
              <a:t>Giancomelli</a:t>
            </a:r>
            <a:r>
              <a:rPr lang="he-IL" dirty="0"/>
              <a:t>.</a:t>
            </a:r>
          </a:p>
          <a:p>
            <a:pPr marL="0" algn="r" defTabSz="914400" rtl="1" eaLnBrk="1" latinLnBrk="0" hangingPunct="1"/>
            <a:r>
              <a:rPr lang="he-IL" dirty="0"/>
              <a:t>הקו הכחול הוא ה-</a:t>
            </a:r>
            <a:r>
              <a:rPr lang="en-US" dirty="0"/>
              <a:t>linear regression fit</a:t>
            </a:r>
            <a:r>
              <a:rPr lang="he-IL" dirty="0"/>
              <a:t>.</a:t>
            </a:r>
          </a:p>
          <a:p>
            <a:pPr marL="0" algn="r" defTabSz="914400" rtl="1" eaLnBrk="1" latinLnBrk="0" hangingPunct="1"/>
            <a:r>
              <a:rPr lang="he-IL" dirty="0"/>
              <a:t>לקחתי את שם המוטציה (נניח </a:t>
            </a:r>
            <a:r>
              <a:rPr lang="en-US" dirty="0"/>
              <a:t>R175H</a:t>
            </a:r>
            <a:r>
              <a:rPr lang="he-IL" dirty="0"/>
              <a:t>) </a:t>
            </a:r>
            <a:r>
              <a:rPr lang="he-IL" dirty="0" err="1"/>
              <a:t>מג׳יני</a:t>
            </a:r>
            <a:r>
              <a:rPr lang="he-IL" dirty="0"/>
              <a:t> ובדקתי </a:t>
            </a:r>
            <a:r>
              <a:rPr lang="he-IL" dirty="0" err="1"/>
              <a:t>בדטא</a:t>
            </a:r>
            <a:r>
              <a:rPr lang="he-IL" dirty="0"/>
              <a:t> של </a:t>
            </a:r>
            <a:r>
              <a:rPr lang="en-US" dirty="0"/>
              <a:t>Giacomelli</a:t>
            </a:r>
            <a:r>
              <a:rPr lang="he-IL" dirty="0"/>
              <a:t> מה ה-</a:t>
            </a:r>
            <a:r>
              <a:rPr lang="en-US" dirty="0"/>
              <a:t>EFS</a:t>
            </a:r>
            <a:r>
              <a:rPr lang="he-IL" dirty="0"/>
              <a:t> של המוטציה הזו. </a:t>
            </a:r>
          </a:p>
          <a:p>
            <a:pPr marL="0" algn="r" defTabSz="914400" rtl="1" eaLnBrk="1" latinLnBrk="0" hangingPunct="1"/>
            <a:r>
              <a:rPr lang="he-IL" dirty="0"/>
              <a:t>הקורלציה קיימת, אבל האפקט הוא די נמוך. יצא לי </a:t>
            </a:r>
            <a:r>
              <a:rPr lang="he-IL" dirty="0" err="1"/>
              <a:t>סיגניפיקנטי</a:t>
            </a:r>
            <a:r>
              <a:rPr lang="he-IL" dirty="0"/>
              <a:t> ככל הנראה בגלל כמות </a:t>
            </a:r>
            <a:r>
              <a:rPr lang="he-IL" dirty="0" err="1"/>
              <a:t>סאמפלים</a:t>
            </a:r>
            <a:r>
              <a:rPr lang="he-IL" dirty="0"/>
              <a:t> גבוהה, אבל האפקט הביולוגי די נמוך, ז״א כמה </a:t>
            </a:r>
            <a:r>
              <a:rPr lang="en-US" dirty="0"/>
              <a:t>TP53</a:t>
            </a:r>
            <a:r>
              <a:rPr lang="he-IL" dirty="0"/>
              <a:t> לא פונקציונלי לא בהכרח חוזה לנו כמה כאוס </a:t>
            </a:r>
            <a:r>
              <a:rPr lang="he-IL" dirty="0" err="1"/>
              <a:t>גנומי</a:t>
            </a:r>
            <a:r>
              <a:rPr lang="he-IL" dirty="0"/>
              <a:t> יהיה.</a:t>
            </a:r>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pPr marL="0" algn="r" defTabSz="914400" rtl="1" eaLnBrk="1" latinLnBrk="0" hangingPunct="1"/>
            <a:r>
              <a:rPr lang="he-IL" dirty="0"/>
              <a:t>כאן רציתי לבדוק האם מוטציות שכיחות גורמות ליותר </a:t>
            </a:r>
            <a:r>
              <a:rPr lang="en-US" dirty="0"/>
              <a:t>FGA</a:t>
            </a:r>
            <a:r>
              <a:rPr lang="he-IL" dirty="0"/>
              <a:t> לעומת מוטציות נדירות. הגרף השמאלי מראה את המוטציות הכי שכיחות ב-</a:t>
            </a:r>
            <a:r>
              <a:rPr lang="en-US" dirty="0"/>
              <a:t>TP53</a:t>
            </a:r>
            <a:r>
              <a:rPr lang="he-IL" dirty="0"/>
              <a:t>, מסודרות עפ״י חציון יורד משמאל לימין. הקו המקווקו הכחול זה החציון של ה-</a:t>
            </a:r>
            <a:r>
              <a:rPr lang="en-US" dirty="0"/>
              <a:t>FGA</a:t>
            </a:r>
            <a:r>
              <a:rPr lang="he-IL" dirty="0"/>
              <a:t> של ה-</a:t>
            </a:r>
            <a:r>
              <a:rPr lang="en-US" dirty="0"/>
              <a:t>WT</a:t>
            </a:r>
            <a:r>
              <a:rPr lang="he-IL" dirty="0"/>
              <a:t>. אפשר לראות די ברור שהחציונים של כל המוטציות הכי שכיחות הן מעל הממוצע של ה-</a:t>
            </a:r>
            <a:r>
              <a:rPr lang="en-US" dirty="0"/>
              <a:t>WT</a:t>
            </a:r>
            <a:r>
              <a:rPr lang="he-IL" dirty="0"/>
              <a:t>, ז״א כולן גורמות לכאוס </a:t>
            </a:r>
            <a:r>
              <a:rPr lang="he-IL" dirty="0" err="1"/>
              <a:t>גנומי</a:t>
            </a:r>
            <a:r>
              <a:rPr lang="he-IL" dirty="0"/>
              <a:t>, אבל המוטציות הנדירות גורמות ליותר כאוס, וגם הן יותר </a:t>
            </a:r>
            <a:r>
              <a:rPr lang="he-IL" dirty="0" err="1"/>
              <a:t>וריאביליות</a:t>
            </a:r>
            <a:r>
              <a:rPr lang="he-IL" dirty="0"/>
              <a:t>. ההבדל גם </a:t>
            </a:r>
            <a:r>
              <a:rPr lang="he-IL" dirty="0" err="1"/>
              <a:t>סיגניפיקנטי</a:t>
            </a:r>
            <a:r>
              <a:rPr lang="he-IL" dirty="0"/>
              <a:t> סטטיסטית. מה שכן, לקחתי את המוטציות הנדירות ביותר עם </a:t>
            </a:r>
            <a:r>
              <a:rPr lang="en-US" dirty="0"/>
              <a:t>n=10</a:t>
            </a:r>
            <a:r>
              <a:rPr lang="he-IL" dirty="0"/>
              <a:t> לעומת השכיחות יותר, עם מאות </a:t>
            </a:r>
            <a:r>
              <a:rPr lang="he-IL" dirty="0" err="1"/>
              <a:t>סאמפלים</a:t>
            </a:r>
            <a:r>
              <a:rPr lang="he-IL" dirty="0"/>
              <a:t> לכל אחד, אז החציון הוא לא בהכרח יציב. אם היו לנו יותר </a:t>
            </a:r>
            <a:r>
              <a:rPr lang="he-IL" dirty="0" err="1"/>
              <a:t>סאמפלים</a:t>
            </a:r>
            <a:r>
              <a:rPr lang="he-IL" dirty="0"/>
              <a:t> אולי התמונה הייתה אחרת.</a:t>
            </a:r>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C97C8-0AD7-A969-2D58-74FFA090CC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79C487-C3B3-3743-7553-535131712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CD741E-53C0-A2DA-D837-CF9F972924C9}"/>
              </a:ext>
            </a:extLst>
          </p:cNvPr>
          <p:cNvSpPr>
            <a:spLocks noGrp="1"/>
          </p:cNvSpPr>
          <p:nvPr>
            <p:ph type="body" idx="1"/>
          </p:nvPr>
        </p:nvSpPr>
        <p:spPr/>
        <p:txBody>
          <a:bodyPr/>
          <a:lstStyle/>
          <a:p>
            <a:pPr marL="0" algn="r" defTabSz="914400" rtl="1" eaLnBrk="1" latinLnBrk="0" hangingPunct="1"/>
            <a:r>
              <a:rPr lang="he-IL" dirty="0"/>
              <a:t>פה רציתי לעשות אנליזה עפ״י מיקום החומצות האמיניות. רציתי לראות האם יש אזורים מסוימים בגנום עם יותר מוטציות או לא.</a:t>
            </a:r>
          </a:p>
          <a:p>
            <a:pPr marL="0" algn="r" defTabSz="914400" rtl="1" eaLnBrk="1" latinLnBrk="0" hangingPunct="1"/>
            <a:r>
              <a:rPr lang="he-IL" dirty="0"/>
              <a:t>בצד שמאל אפשר לראות את האזורים הכי שכיחים נמצאים סביב חומצות אמינו </a:t>
            </a:r>
            <a:r>
              <a:rPr lang="en-US" dirty="0"/>
              <a:t>245</a:t>
            </a:r>
            <a:r>
              <a:rPr lang="he-IL" dirty="0"/>
              <a:t>, </a:t>
            </a:r>
            <a:r>
              <a:rPr lang="en-US" dirty="0"/>
              <a:t>248</a:t>
            </a:r>
            <a:r>
              <a:rPr lang="he-IL" dirty="0"/>
              <a:t>, </a:t>
            </a:r>
            <a:r>
              <a:rPr lang="en-US" dirty="0"/>
              <a:t>273</a:t>
            </a:r>
            <a:r>
              <a:rPr lang="he-IL" dirty="0"/>
              <a:t>, 175. אלו </a:t>
            </a:r>
            <a:r>
              <a:rPr lang="he-IL" dirty="0" err="1"/>
              <a:t>הוטספוט</a:t>
            </a:r>
            <a:r>
              <a:rPr lang="he-IL" dirty="0"/>
              <a:t> קנוניים, כולם נמצאים ב-</a:t>
            </a:r>
            <a:r>
              <a:rPr lang="en-US" dirty="0"/>
              <a:t>DNA binding domains</a:t>
            </a:r>
            <a:r>
              <a:rPr lang="he-IL" dirty="0"/>
              <a:t> (שהוא בעצמו </a:t>
            </a:r>
            <a:r>
              <a:rPr lang="he-IL" dirty="0" err="1"/>
              <a:t>באיזור</a:t>
            </a:r>
            <a:r>
              <a:rPr lang="he-IL" dirty="0"/>
              <a:t> ה-100-290 חומצות אמיניות). כן אפשר להגיד שרוב המוטציות נמצאות באזור הזה, אבל עפ״י הגרף הימני, אי אפשר להגיד שזה אומר שבהכרח שנקבל יותר כאוס </a:t>
            </a:r>
            <a:r>
              <a:rPr lang="he-IL" dirty="0" err="1"/>
              <a:t>גנומי</a:t>
            </a:r>
            <a:r>
              <a:rPr lang="he-IL" dirty="0"/>
              <a:t>. המוטציות ההרסניות ביותר הן גם הנדירות ביותר.</a:t>
            </a:r>
          </a:p>
          <a:p>
            <a:pPr marL="0" algn="r" defTabSz="914400" rtl="1" eaLnBrk="1" latinLnBrk="0" hangingPunct="1"/>
            <a:r>
              <a:rPr lang="he-IL" dirty="0"/>
              <a:t>מה שכן, בגלל שאין הרבה מהמוטציות הנדירות ביותר, אי אפשר להגיד שבהכרח הן הכי הרסניות, כי </a:t>
            </a:r>
            <a:r>
              <a:rPr lang="he-IL" dirty="0" err="1"/>
              <a:t>הסאמפל</a:t>
            </a:r>
            <a:r>
              <a:rPr lang="he-IL" dirty="0"/>
              <a:t> </a:t>
            </a:r>
            <a:r>
              <a:rPr lang="he-IL" dirty="0" err="1"/>
              <a:t>סייז</a:t>
            </a:r>
            <a:r>
              <a:rPr lang="he-IL" dirty="0"/>
              <a:t> נמוך. ז״א היה מעניין לראות האם התוצאות האלה חוזרות על עצמן כשיש לנו את אותם מספר </a:t>
            </a:r>
            <a:r>
              <a:rPr lang="he-IL" dirty="0" err="1"/>
              <a:t>סאמפלים</a:t>
            </a:r>
            <a:r>
              <a:rPr lang="he-IL" dirty="0"/>
              <a:t>.</a:t>
            </a:r>
            <a:endParaRPr lang="en-IL" dirty="0"/>
          </a:p>
        </p:txBody>
      </p:sp>
      <p:sp>
        <p:nvSpPr>
          <p:cNvPr id="4" name="Slide Number Placeholder 3">
            <a:extLst>
              <a:ext uri="{FF2B5EF4-FFF2-40B4-BE49-F238E27FC236}">
                <a16:creationId xmlns:a16="http://schemas.microsoft.com/office/drawing/2014/main" id="{8F9381B7-4819-DE5A-FAA1-23DF5608550E}"/>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33285239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pPr marL="0" algn="r" defTabSz="914400" rtl="1" eaLnBrk="1" latinLnBrk="0" hangingPunct="1"/>
            <a:r>
              <a:rPr lang="he-IL" dirty="0"/>
              <a:t>אחרי זה השאלה האחרונה שרציתי לענות עליה היא האם יש לסוגי סרטן מסוימים נטייה לאפקט חזק יותר של כאוס </a:t>
            </a:r>
            <a:r>
              <a:rPr lang="he-IL" dirty="0" err="1"/>
              <a:t>גנומי</a:t>
            </a:r>
            <a:r>
              <a:rPr lang="he-IL" dirty="0"/>
              <a:t>? בצד שמאל בדקתי </a:t>
            </a:r>
            <a:r>
              <a:rPr lang="he-IL" dirty="0" err="1"/>
              <a:t>מהה</a:t>
            </a:r>
            <a:r>
              <a:rPr lang="he-IL" dirty="0"/>
              <a:t>-</a:t>
            </a:r>
            <a:r>
              <a:rPr lang="en-US" dirty="0"/>
              <a:t>Fold Change</a:t>
            </a:r>
            <a:r>
              <a:rPr lang="he-IL" dirty="0"/>
              <a:t> בין מוטציה ל-</a:t>
            </a:r>
            <a:r>
              <a:rPr lang="en-US" dirty="0"/>
              <a:t>WT</a:t>
            </a:r>
            <a:r>
              <a:rPr lang="he-IL" dirty="0"/>
              <a:t>, ז״א ההבדלים הכי גדולים בין מוטציות ל-</a:t>
            </a:r>
            <a:r>
              <a:rPr lang="en-US" dirty="0"/>
              <a:t>WT</a:t>
            </a:r>
            <a:r>
              <a:rPr lang="he-IL" dirty="0"/>
              <a:t> קרו בסרטנים שנמצאים גבוה יותר. לקחתי סוגי סרטן עם לפחות 30 </a:t>
            </a:r>
            <a:r>
              <a:rPr lang="he-IL" dirty="0" err="1"/>
              <a:t>סאמפלים</a:t>
            </a:r>
            <a:r>
              <a:rPr lang="he-IL" dirty="0"/>
              <a:t>, גם מוטנט וגם ב-</a:t>
            </a:r>
            <a:r>
              <a:rPr lang="en-US" dirty="0"/>
              <a:t>WT</a:t>
            </a:r>
            <a:r>
              <a:rPr lang="he-IL" dirty="0"/>
              <a:t> (</a:t>
            </a:r>
            <a:r>
              <a:rPr lang="en-US" dirty="0" err="1"/>
              <a:t>mann-whitney</a:t>
            </a:r>
            <a:r>
              <a:rPr lang="en-US" dirty="0"/>
              <a:t> U test</a:t>
            </a:r>
            <a:r>
              <a:rPr lang="he-IL" dirty="0"/>
              <a:t>, </a:t>
            </a:r>
            <a:r>
              <a:rPr lang="he-IL" dirty="0" err="1"/>
              <a:t>וה</a:t>
            </a:r>
            <a:r>
              <a:rPr lang="he-IL" dirty="0"/>
              <a:t>-</a:t>
            </a:r>
            <a:r>
              <a:rPr lang="en-US" dirty="0"/>
              <a:t>p-values</a:t>
            </a:r>
            <a:r>
              <a:rPr lang="he-IL" dirty="0"/>
              <a:t> תוקנו ל-</a:t>
            </a:r>
            <a:r>
              <a:rPr lang="en-US" dirty="0"/>
              <a:t>FDR</a:t>
            </a:r>
            <a:r>
              <a:rPr lang="he-IL" dirty="0"/>
              <a:t>), את השאר העפתי.</a:t>
            </a:r>
          </a:p>
          <a:p>
            <a:pPr marL="0" algn="r" defTabSz="914400" rtl="1" eaLnBrk="1" latinLnBrk="0" hangingPunct="1"/>
            <a:r>
              <a:rPr lang="he-IL" dirty="0"/>
              <a:t>בצד הימני בדקתי את ה-</a:t>
            </a:r>
            <a:r>
              <a:rPr lang="en-US" dirty="0"/>
              <a:t>raw FGA</a:t>
            </a:r>
            <a:r>
              <a:rPr lang="he-IL" dirty="0"/>
              <a:t> ל-</a:t>
            </a:r>
            <a:r>
              <a:rPr lang="en-US" dirty="0" err="1"/>
              <a:t>wt</a:t>
            </a:r>
            <a:r>
              <a:rPr lang="he-IL" dirty="0"/>
              <a:t> ומוטנט עפ״י סוג סרטן. כאן דווקא רואים משהו אחר, למשל סרטני דם (</a:t>
            </a:r>
            <a:r>
              <a:rPr lang="en-US" dirty="0"/>
              <a:t>blood cancer</a:t>
            </a:r>
            <a:r>
              <a:rPr lang="he-IL" dirty="0"/>
              <a:t>, </a:t>
            </a:r>
            <a:r>
              <a:rPr lang="en-US" dirty="0"/>
              <a:t>myelodysplastic syndromes</a:t>
            </a:r>
            <a:r>
              <a:rPr lang="he-IL" dirty="0"/>
              <a:t> ולוקמיה) אמנם יש להם </a:t>
            </a:r>
            <a:r>
              <a:rPr lang="he-IL" dirty="0" err="1"/>
              <a:t>פולד</a:t>
            </a:r>
            <a:r>
              <a:rPr lang="he-IL" dirty="0"/>
              <a:t> </a:t>
            </a:r>
            <a:r>
              <a:rPr lang="he-IL" dirty="0" err="1"/>
              <a:t>צ׳יינג</a:t>
            </a:r>
            <a:r>
              <a:rPr lang="he-IL" dirty="0"/>
              <a:t>׳ גבוה לכאורה, אבל בגלל שב-</a:t>
            </a:r>
            <a:r>
              <a:rPr lang="en-US" dirty="0"/>
              <a:t>WT</a:t>
            </a:r>
            <a:r>
              <a:rPr lang="he-IL" dirty="0"/>
              <a:t> ה-</a:t>
            </a:r>
            <a:r>
              <a:rPr lang="en-US" dirty="0"/>
              <a:t>FGA</a:t>
            </a:r>
            <a:r>
              <a:rPr lang="he-IL" dirty="0"/>
              <a:t> כל כך קרוב ל-0 כל עליה בערכים הופכת להיות משמעותית. לעומת זאת </a:t>
            </a:r>
            <a:r>
              <a:rPr lang="en-US" dirty="0"/>
              <a:t>solid tumors</a:t>
            </a:r>
            <a:r>
              <a:rPr lang="he-IL" dirty="0"/>
              <a:t> מראים אפקטים חזקים.</a:t>
            </a:r>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pPr marL="0" algn="r" defTabSz="914400" rtl="1" eaLnBrk="1" latinLnBrk="0" hangingPunct="1"/>
            <a:r>
              <a:rPr lang="he-IL" dirty="0"/>
              <a:t>פה עברנו כבר לאנליזה המשנית, רציתי לבדוק באופן ספציפי אילו גנים נמחקים הכי הרבה ואילו גנים מוגברים הכי הרבה.</a:t>
            </a:r>
            <a:endParaRPr lang="en-US" dirty="0"/>
          </a:p>
          <a:p>
            <a:pPr marL="0" algn="r" defTabSz="914400" rtl="1" eaLnBrk="1" latinLnBrk="0" hangingPunct="1"/>
            <a:r>
              <a:rPr lang="he-IL" dirty="0"/>
              <a:t>לקחתי את </a:t>
            </a:r>
            <a:r>
              <a:rPr lang="he-IL" dirty="0" err="1"/>
              <a:t>הסאמפלים</a:t>
            </a:r>
            <a:r>
              <a:rPr lang="he-IL" dirty="0"/>
              <a:t> המוטנטים עם ה-</a:t>
            </a:r>
            <a:r>
              <a:rPr lang="en-US" dirty="0"/>
              <a:t>FGA</a:t>
            </a:r>
            <a:r>
              <a:rPr lang="he-IL" dirty="0"/>
              <a:t> הכי גבוה </a:t>
            </a:r>
            <a:r>
              <a:rPr lang="he-IL" dirty="0" err="1"/>
              <a:t>וסאמפלים</a:t>
            </a:r>
            <a:r>
              <a:rPr lang="he-IL" dirty="0"/>
              <a:t> </a:t>
            </a:r>
            <a:r>
              <a:rPr lang="en-US" dirty="0"/>
              <a:t>WT</a:t>
            </a:r>
            <a:r>
              <a:rPr lang="he-IL" dirty="0"/>
              <a:t> עם </a:t>
            </a:r>
            <a:r>
              <a:rPr lang="en-US" dirty="0"/>
              <a:t>FGA</a:t>
            </a:r>
            <a:r>
              <a:rPr lang="he-IL" dirty="0"/>
              <a:t> נמוך, ובדקתי מה האחוז של </a:t>
            </a:r>
            <a:r>
              <a:rPr lang="he-IL" dirty="0" err="1"/>
              <a:t>הסאמפלים</a:t>
            </a:r>
            <a:r>
              <a:rPr lang="he-IL" dirty="0"/>
              <a:t> עם המוטציות ב-</a:t>
            </a:r>
            <a:r>
              <a:rPr lang="en-US" dirty="0"/>
              <a:t>TP53</a:t>
            </a:r>
            <a:r>
              <a:rPr lang="he-IL" dirty="0"/>
              <a:t> עם </a:t>
            </a:r>
            <a:r>
              <a:rPr lang="en-US" dirty="0"/>
              <a:t>FGA</a:t>
            </a:r>
            <a:r>
              <a:rPr lang="he-IL" dirty="0"/>
              <a:t> גבוה יש להם גן מסוים שהוא מוגבר או נמחק, פחות האחוז של הגידולים עם </a:t>
            </a:r>
            <a:r>
              <a:rPr lang="en-US" dirty="0"/>
              <a:t>TP53</a:t>
            </a:r>
            <a:r>
              <a:rPr lang="he-IL" dirty="0"/>
              <a:t> שהוא </a:t>
            </a:r>
            <a:r>
              <a:rPr lang="en-US" dirty="0"/>
              <a:t>WT</a:t>
            </a:r>
            <a:r>
              <a:rPr lang="he-IL" dirty="0"/>
              <a:t> עם </a:t>
            </a:r>
            <a:r>
              <a:rPr lang="en-US" dirty="0"/>
              <a:t>FGA</a:t>
            </a:r>
            <a:r>
              <a:rPr lang="he-IL" dirty="0"/>
              <a:t> נמוך (</a:t>
            </a:r>
            <a:r>
              <a:rPr lang="en-US" sz="1200" b="0" i="0" kern="1200" dirty="0" err="1">
                <a:solidFill>
                  <a:schemeClr val="tx1"/>
                </a:solidFill>
                <a:effectLst/>
                <a:latin typeface="+mn-lt"/>
                <a:ea typeface="+mn-ea"/>
                <a:cs typeface="+mn-cs"/>
              </a:rPr>
              <a:t>fisher_exact</a:t>
            </a:r>
            <a:r>
              <a:rPr lang="en-US" sz="1200" b="0" i="0" kern="1200" dirty="0">
                <a:solidFill>
                  <a:schemeClr val="tx1"/>
                </a:solidFill>
                <a:effectLst/>
                <a:latin typeface="+mn-lt"/>
                <a:ea typeface="+mn-ea"/>
                <a:cs typeface="+mn-cs"/>
              </a:rPr>
              <a:t> method</a:t>
            </a:r>
            <a:r>
              <a:rPr lang="he-IL" sz="1200" b="0" i="0" kern="1200" dirty="0">
                <a:solidFill>
                  <a:schemeClr val="tx1"/>
                </a:solidFill>
                <a:effectLst/>
                <a:latin typeface="+mn-lt"/>
                <a:ea typeface="+mn-ea"/>
                <a:cs typeface="+mn-cs"/>
              </a:rPr>
              <a:t>)</a:t>
            </a:r>
            <a:endParaRPr lang="en-US" dirty="0"/>
          </a:p>
          <a:p>
            <a:pPr marL="0" algn="r" defTabSz="914400" rtl="1" eaLnBrk="1" latinLnBrk="0" hangingPunct="1"/>
            <a:r>
              <a:rPr lang="he-IL" dirty="0"/>
              <a:t>רואים פה בבירור שיש כאן </a:t>
            </a:r>
            <a:r>
              <a:rPr lang="he-IL" dirty="0" err="1"/>
              <a:t>אונקוגנים</a:t>
            </a:r>
            <a:r>
              <a:rPr lang="he-IL" dirty="0"/>
              <a:t> קלאסיים כמו </a:t>
            </a:r>
            <a:r>
              <a:rPr lang="en-US" dirty="0"/>
              <a:t>MYC</a:t>
            </a:r>
            <a:r>
              <a:rPr lang="he-IL" dirty="0"/>
              <a:t> לצד </a:t>
            </a:r>
            <a:r>
              <a:rPr lang="he-IL" dirty="0" err="1"/>
              <a:t>טומר</a:t>
            </a:r>
            <a:r>
              <a:rPr lang="he-IL" dirty="0"/>
              <a:t> </a:t>
            </a:r>
            <a:r>
              <a:rPr lang="he-IL" dirty="0" err="1"/>
              <a:t>סופרסורים</a:t>
            </a:r>
            <a:r>
              <a:rPr lang="he-IL" dirty="0"/>
              <a:t> שנמחקים כמו </a:t>
            </a:r>
            <a:r>
              <a:rPr lang="en-US" dirty="0"/>
              <a:t>CDKN2A</a:t>
            </a:r>
            <a:r>
              <a:rPr lang="he-IL" dirty="0"/>
              <a:t> ו-</a:t>
            </a:r>
            <a:r>
              <a:rPr lang="en-US" dirty="0"/>
              <a:t>PTEN</a:t>
            </a:r>
            <a:r>
              <a:rPr lang="he-IL" dirty="0"/>
              <a:t> או גנים שמבקרים </a:t>
            </a:r>
            <a:r>
              <a:rPr lang="en-US" dirty="0"/>
              <a:t>cell cycle</a:t>
            </a:r>
            <a:r>
              <a:rPr lang="he-IL" dirty="0"/>
              <a:t> כמו </a:t>
            </a:r>
            <a:r>
              <a:rPr lang="en-US" dirty="0"/>
              <a:t>RB1</a:t>
            </a:r>
            <a:r>
              <a:rPr lang="he-IL" dirty="0"/>
              <a:t> ו-</a:t>
            </a:r>
            <a:r>
              <a:rPr lang="en-US" dirty="0"/>
              <a:t>CDKN2B</a:t>
            </a:r>
            <a:r>
              <a:rPr lang="he-IL" dirty="0"/>
              <a:t>.</a:t>
            </a:r>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pPr marL="0" algn="r" defTabSz="914400" rtl="1" eaLnBrk="1" latinLnBrk="0" hangingPunct="1"/>
            <a:r>
              <a:rPr lang="he-IL" dirty="0"/>
              <a:t>כאן בעזרת </a:t>
            </a:r>
            <a:r>
              <a:rPr lang="en-US" dirty="0" err="1"/>
              <a:t>gseapy</a:t>
            </a:r>
            <a:r>
              <a:rPr lang="he-IL" dirty="0"/>
              <a:t> בדקתי אילו מסלולים מוגברים כתוצאה מכאוס </a:t>
            </a:r>
            <a:r>
              <a:rPr lang="he-IL" dirty="0" err="1"/>
              <a:t>גנומי</a:t>
            </a:r>
            <a:r>
              <a:rPr lang="he-IL" dirty="0"/>
              <a:t>. ובהתאמה למה שראינו בשקופית הקודמת, אנחנו רואים </a:t>
            </a:r>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22</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 8,274 unique)</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TCGA Pan-Cancer Atlas (~10K samples, genome-wide).</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692664" y="621671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9" name="TextBox 8">
            <a:extLst>
              <a:ext uri="{FF2B5EF4-FFF2-40B4-BE49-F238E27FC236}">
                <a16:creationId xmlns:a16="http://schemas.microsoft.com/office/drawing/2014/main" id="{81385257-0E5C-B594-BC2A-4AAAC6E6631F}"/>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pic>
        <p:nvPicPr>
          <p:cNvPr id="14" name="Picture 13">
            <a:extLst>
              <a:ext uri="{FF2B5EF4-FFF2-40B4-BE49-F238E27FC236}">
                <a16:creationId xmlns:a16="http://schemas.microsoft.com/office/drawing/2014/main" id="{3295D02F-25C7-4C16-5200-8AF8D295E981}"/>
              </a:ext>
            </a:extLst>
          </p:cNvPr>
          <p:cNvPicPr>
            <a:picLocks noChangeAspect="1"/>
          </p:cNvPicPr>
          <p:nvPr/>
        </p:nvPicPr>
        <p:blipFill>
          <a:blip r:embed="rId3"/>
          <a:stretch>
            <a:fillRect/>
          </a:stretch>
        </p:blipFill>
        <p:spPr>
          <a:xfrm>
            <a:off x="2207461" y="2231141"/>
            <a:ext cx="7772400" cy="3671624"/>
          </a:xfrm>
          <a:prstGeom prst="rect">
            <a:avLst/>
          </a:prstGeom>
        </p:spPr>
      </p:pic>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5" name="Picture 4">
            <a:extLst>
              <a:ext uri="{FF2B5EF4-FFF2-40B4-BE49-F238E27FC236}">
                <a16:creationId xmlns:a16="http://schemas.microsoft.com/office/drawing/2014/main" id="{4BDB3D5D-6379-7396-68F4-896AC6A7FB60}"/>
              </a:ext>
            </a:extLst>
          </p:cNvPr>
          <p:cNvPicPr>
            <a:picLocks noChangeAspect="1"/>
          </p:cNvPicPr>
          <p:nvPr/>
        </p:nvPicPr>
        <p:blipFill>
          <a:blip r:embed="rId3"/>
          <a:stretch>
            <a:fillRect/>
          </a:stretch>
        </p:blipFill>
        <p:spPr>
          <a:xfrm>
            <a:off x="1977685" y="2195771"/>
            <a:ext cx="8236629" cy="3492647"/>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
        <p:nvSpPr>
          <p:cNvPr id="13" name="TextBox 12">
            <a:extLst>
              <a:ext uri="{FF2B5EF4-FFF2-40B4-BE49-F238E27FC236}">
                <a16:creationId xmlns:a16="http://schemas.microsoft.com/office/drawing/2014/main" id="{7E0EF9D9-E489-49CE-71A9-5D56630B5D83}"/>
              </a:ext>
            </a:extLst>
          </p:cNvPr>
          <p:cNvSpPr txBox="1"/>
          <p:nvPr/>
        </p:nvSpPr>
        <p:spPr>
          <a:xfrm>
            <a:off x="1018041" y="6174992"/>
            <a:ext cx="10151240" cy="369332"/>
          </a:xfrm>
          <a:prstGeom prst="rect">
            <a:avLst/>
          </a:prstGeom>
          <a:noFill/>
        </p:spPr>
        <p:txBody>
          <a:bodyPr wrap="none" rtlCol="0">
            <a:spAutoFit/>
          </a:bodyPr>
          <a:lstStyle/>
          <a:p>
            <a:r>
              <a:rPr lang="en-US" dirty="0"/>
              <a:t>Rare mutations have higher median FGA. ”Hotspot” mutations have lower FGA median than rare mutations</a:t>
            </a:r>
          </a:p>
        </p:txBody>
      </p:sp>
      <p:pic>
        <p:nvPicPr>
          <p:cNvPr id="10" name="Picture 9">
            <a:extLst>
              <a:ext uri="{FF2B5EF4-FFF2-40B4-BE49-F238E27FC236}">
                <a16:creationId xmlns:a16="http://schemas.microsoft.com/office/drawing/2014/main" id="{B9EED151-DAE9-8272-1813-D69686A9F18D}"/>
              </a:ext>
            </a:extLst>
          </p:cNvPr>
          <p:cNvPicPr>
            <a:picLocks noChangeAspect="1"/>
          </p:cNvPicPr>
          <p:nvPr/>
        </p:nvPicPr>
        <p:blipFill>
          <a:blip r:embed="rId3"/>
          <a:stretch>
            <a:fillRect/>
          </a:stretch>
        </p:blipFill>
        <p:spPr>
          <a:xfrm>
            <a:off x="577476" y="2133835"/>
            <a:ext cx="11037048" cy="3799132"/>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CE85B-3309-1B69-BD5B-E101E2A88CC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1B9404A-6A00-538C-10D9-D01D95DC611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13" name="TextBox 12">
            <a:extLst>
              <a:ext uri="{FF2B5EF4-FFF2-40B4-BE49-F238E27FC236}">
                <a16:creationId xmlns:a16="http://schemas.microsoft.com/office/drawing/2014/main" id="{FD78E343-857C-92B0-92F1-B3E4ECE429F5}"/>
              </a:ext>
            </a:extLst>
          </p:cNvPr>
          <p:cNvSpPr txBox="1"/>
          <p:nvPr/>
        </p:nvSpPr>
        <p:spPr>
          <a:xfrm>
            <a:off x="2832736" y="6206143"/>
            <a:ext cx="6521850" cy="369332"/>
          </a:xfrm>
          <a:prstGeom prst="rect">
            <a:avLst/>
          </a:prstGeom>
          <a:noFill/>
        </p:spPr>
        <p:txBody>
          <a:bodyPr wrap="none" rtlCol="0">
            <a:spAutoFit/>
          </a:bodyPr>
          <a:lstStyle/>
          <a:p>
            <a:r>
              <a:rPr lang="en-US" dirty="0"/>
              <a:t>The loss of TP53 function itself drives genomic instability uniformly.</a:t>
            </a:r>
          </a:p>
        </p:txBody>
      </p:sp>
      <p:pic>
        <p:nvPicPr>
          <p:cNvPr id="8" name="Picture 7">
            <a:extLst>
              <a:ext uri="{FF2B5EF4-FFF2-40B4-BE49-F238E27FC236}">
                <a16:creationId xmlns:a16="http://schemas.microsoft.com/office/drawing/2014/main" id="{FDE45903-0388-A24D-CF78-EB50EA792B9D}"/>
              </a:ext>
            </a:extLst>
          </p:cNvPr>
          <p:cNvPicPr>
            <a:picLocks noChangeAspect="1"/>
          </p:cNvPicPr>
          <p:nvPr/>
        </p:nvPicPr>
        <p:blipFill>
          <a:blip r:embed="rId3"/>
          <a:srcRect t="9479"/>
          <a:stretch>
            <a:fillRect/>
          </a:stretch>
        </p:blipFill>
        <p:spPr>
          <a:xfrm>
            <a:off x="984518" y="2063261"/>
            <a:ext cx="10222963" cy="3880339"/>
          </a:xfrm>
          <a:prstGeom prst="rect">
            <a:avLst/>
          </a:prstGeom>
        </p:spPr>
      </p:pic>
      <p:sp>
        <p:nvSpPr>
          <p:cNvPr id="2" name="Title 1">
            <a:extLst>
              <a:ext uri="{FF2B5EF4-FFF2-40B4-BE49-F238E27FC236}">
                <a16:creationId xmlns:a16="http://schemas.microsoft.com/office/drawing/2014/main" id="{E0895FE1-4970-5175-634D-1C6A90FF7541}"/>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Tree>
    <p:extLst>
      <p:ext uri="{BB962C8B-B14F-4D97-AF65-F5344CB8AC3E}">
        <p14:creationId xmlns:p14="http://schemas.microsoft.com/office/powerpoint/2010/main" val="35401302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895881" y="5821166"/>
            <a:ext cx="10395551" cy="923330"/>
          </a:xfrm>
          <a:prstGeom prst="rect">
            <a:avLst/>
          </a:prstGeom>
          <a:noFill/>
        </p:spPr>
        <p:txBody>
          <a:bodyPr wrap="square" rtlCol="0">
            <a:spAutoFit/>
          </a:bodyPr>
          <a:lstStyle/>
          <a:p>
            <a:pPr algn="ctr"/>
            <a:r>
              <a:rPr lang="en-US" dirty="0"/>
              <a:t>All top absolute FGA cancers are solid tumors (Ovarian Cancer, Soft Tissue Sarcoma, and Colorectal Cancer).</a:t>
            </a:r>
          </a:p>
          <a:p>
            <a:pPr algn="ctr"/>
            <a:r>
              <a:rPr lang="en-US" dirty="0"/>
              <a:t>The blood cancers have the highest fold change but tiny absolute FGA values (~0.03–0.07) because their WT baseline is essentially zero.</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2" y="19343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3082043" y="6035200"/>
            <a:ext cx="6273064" cy="646331"/>
          </a:xfrm>
          <a:prstGeom prst="rect">
            <a:avLst/>
          </a:prstGeom>
          <a:noFill/>
        </p:spPr>
        <p:txBody>
          <a:bodyPr wrap="none" rtlCol="0">
            <a:spAutoFit/>
          </a:bodyPr>
          <a:lstStyle/>
          <a:p>
            <a:pPr algn="ctr"/>
            <a:r>
              <a:rPr lang="en-US" dirty="0"/>
              <a:t>Amplified genes (left panel): oncogenes being turned ON</a:t>
            </a:r>
          </a:p>
          <a:p>
            <a:pPr algn="ctr"/>
            <a:r>
              <a:rPr lang="en-US" dirty="0"/>
              <a:t>Deleted genes (right panel):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6035200"/>
            <a:ext cx="9079595" cy="646331"/>
          </a:xfrm>
          <a:prstGeom prst="rect">
            <a:avLst/>
          </a:prstGeom>
          <a:noFill/>
        </p:spPr>
        <p:txBody>
          <a:bodyPr wrap="square" rtlCol="0">
            <a:spAutoFit/>
          </a:bodyPr>
          <a:lstStyle/>
          <a:p>
            <a:pPr algn="ctr"/>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9809</TotalTime>
  <Words>2841</Words>
  <Application>Microsoft Macintosh PowerPoint</Application>
  <PresentationFormat>Widescreen</PresentationFormat>
  <Paragraphs>224</Paragraphs>
  <Slides>22</Slides>
  <Notes>22</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444</cp:revision>
  <dcterms:created xsi:type="dcterms:W3CDTF">2026-01-27T21:31:11Z</dcterms:created>
  <dcterms:modified xsi:type="dcterms:W3CDTF">2026-03-17T20:46:07Z</dcterms:modified>
</cp:coreProperties>
</file>