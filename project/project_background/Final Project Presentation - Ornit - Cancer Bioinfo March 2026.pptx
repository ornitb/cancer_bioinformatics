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3"/>
  </p:notesMasterIdLst>
  <p:sldIdLst>
    <p:sldId id="256" r:id="rId2"/>
    <p:sldId id="359" r:id="rId3"/>
    <p:sldId id="358" r:id="rId4"/>
    <p:sldId id="360" r:id="rId5"/>
    <p:sldId id="363" r:id="rId6"/>
    <p:sldId id="364" r:id="rId7"/>
    <p:sldId id="265" r:id="rId8"/>
    <p:sldId id="259" r:id="rId9"/>
    <p:sldId id="272" r:id="rId10"/>
    <p:sldId id="273" r:id="rId11"/>
    <p:sldId id="271" r:id="rId12"/>
    <p:sldId id="366" r:id="rId13"/>
    <p:sldId id="367" r:id="rId14"/>
    <p:sldId id="368" r:id="rId15"/>
    <p:sldId id="374" r:id="rId16"/>
    <p:sldId id="369" r:id="rId17"/>
    <p:sldId id="365" r:id="rId18"/>
    <p:sldId id="370" r:id="rId19"/>
    <p:sldId id="371" r:id="rId20"/>
    <p:sldId id="372" r:id="rId21"/>
    <p:sldId id="3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A0A7"/>
    <a:srgbClr val="903063"/>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275"/>
    <p:restoredTop sz="86935"/>
  </p:normalViewPr>
  <p:slideViewPr>
    <p:cSldViewPr snapToGrid="0">
      <p:cViewPr>
        <p:scale>
          <a:sx n="150" d="100"/>
          <a:sy n="150" d="100"/>
        </p:scale>
        <p:origin x="2448" y="9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12/03/2026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endParaRPr lang="he-IL" dirty="0"/>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endParaRPr lang="he-IL" dirty="0"/>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ההיפותזה שלי מבוססת על מאמר שפורסם </a:t>
            </a:r>
            <a:r>
              <a:rPr lang="he-IL" dirty="0" err="1"/>
              <a:t>בנייצ׳ר</a:t>
            </a:r>
            <a:r>
              <a:rPr lang="he-IL" dirty="0"/>
              <a:t> לפני כמה שנים שהם עשו דבר מאוד מעניין שם, הם יצרו ספרייה ענקית שכוללת כמעט את כל המוטציות האפשריות ב-</a:t>
            </a:r>
            <a:r>
              <a:rPr lang="en-US" dirty="0"/>
              <a:t>TP53</a:t>
            </a:r>
            <a:r>
              <a:rPr lang="he-IL" dirty="0"/>
              <a:t>, בעיקר </a:t>
            </a:r>
            <a:r>
              <a:rPr lang="he-IL" dirty="0" err="1"/>
              <a:t>מיסנס</a:t>
            </a:r>
            <a:r>
              <a:rPr lang="he-IL" dirty="0"/>
              <a:t> אבל גם נונסנס. כל מוטציה הוכנסה לתאים אנושיים וסומנה בברקוד כדי לעקוב אחריה בריצוף. הם הכניסו לתאים עותק מוטנטי של </a:t>
            </a:r>
            <a:r>
              <a:rPr lang="en-US" dirty="0"/>
              <a:t>TP53</a:t>
            </a:r>
            <a:r>
              <a:rPr lang="he-IL" dirty="0"/>
              <a:t> ובדקו מה ההשפעה של זה בתא.</a:t>
            </a:r>
            <a:endParaRPr lang="he-IL" b="0" dirty="0"/>
          </a:p>
          <a:p>
            <a:pPr marL="0" algn="r" defTabSz="914400" rtl="1" eaLnBrk="1" latinLnBrk="0" hangingPunct="1"/>
            <a:endParaRPr lang="en-US" dirty="0"/>
          </a:p>
          <a:p>
            <a:pPr marL="0" algn="r" defTabSz="914400" rtl="1" eaLnBrk="1" latinLnBrk="0" hangingPunct="1"/>
            <a:r>
              <a:rPr lang="he-IL" dirty="0"/>
              <a:t>במאמר של </a:t>
            </a:r>
            <a:r>
              <a:rPr lang="en-US" sz="1200" b="0" i="0" kern="1200" dirty="0">
                <a:solidFill>
                  <a:schemeClr val="tx1"/>
                </a:solidFill>
                <a:effectLst/>
                <a:latin typeface="+mn-lt"/>
                <a:ea typeface="+mn-ea"/>
                <a:cs typeface="+mn-cs"/>
              </a:rPr>
              <a:t>Giacomelli et al.</a:t>
            </a:r>
            <a:r>
              <a:rPr lang="he-IL" sz="1200" b="0" i="0" kern="1200" dirty="0">
                <a:solidFill>
                  <a:schemeClr val="tx1"/>
                </a:solidFill>
                <a:effectLst/>
                <a:latin typeface="+mn-lt"/>
                <a:ea typeface="+mn-ea"/>
                <a:cs typeface="+mn-cs"/>
              </a:rPr>
              <a:t>, הם לקחו את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החליפו כל חומצה אמינית אחת והחליפו באחרת, בעצם יצרו מפה של כל המוטציות האפשריות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כדי לראות את האפקט של כל מוטציה וכמה היא משפיעה על התפקוד של התא מבחינת קצב הגידול של התאים הסרטניים.</a:t>
            </a:r>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sz="1200" b="0" i="0" kern="1200" dirty="0">
                <a:solidFill>
                  <a:schemeClr val="tx1"/>
                </a:solidFill>
                <a:effectLst/>
                <a:latin typeface="+mn-lt"/>
                <a:ea typeface="+mn-ea"/>
                <a:cs typeface="+mn-cs"/>
              </a:rPr>
              <a:t>בשלב הראשון הם סרקו 8,258 וריאנטים של </a:t>
            </a:r>
            <a:r>
              <a:rPr lang="en-US" sz="1200" b="0" i="0" kern="1200" dirty="0">
                <a:solidFill>
                  <a:schemeClr val="tx1"/>
                </a:solidFill>
                <a:effectLst/>
                <a:latin typeface="+mn-lt"/>
                <a:ea typeface="+mn-ea"/>
                <a:cs typeface="+mn-cs"/>
              </a:rPr>
              <a:t>TP53</a:t>
            </a:r>
            <a:r>
              <a:rPr lang="he-IL" sz="1200" b="0" i="0" kern="1200" dirty="0">
                <a:solidFill>
                  <a:schemeClr val="tx1"/>
                </a:solidFill>
                <a:effectLst/>
                <a:latin typeface="+mn-lt"/>
                <a:ea typeface="+mn-ea"/>
                <a:cs typeface="+mn-cs"/>
              </a:rPr>
              <a:t> ע״י הכנסתם לשני קווי תאים </a:t>
            </a:r>
            <a:r>
              <a:rPr lang="he-IL" sz="1200" b="0" i="0" kern="1200" dirty="0" err="1">
                <a:solidFill>
                  <a:schemeClr val="tx1"/>
                </a:solidFill>
                <a:effectLst/>
                <a:latin typeface="+mn-lt"/>
                <a:ea typeface="+mn-ea"/>
                <a:cs typeface="+mn-cs"/>
              </a:rPr>
              <a:t>איזוגניים</a:t>
            </a:r>
            <a:r>
              <a:rPr lang="he-IL" sz="1200" b="0" i="0" kern="1200" dirty="0">
                <a:solidFill>
                  <a:schemeClr val="tx1"/>
                </a:solidFill>
                <a:effectLst/>
                <a:latin typeface="+mn-lt"/>
                <a:ea typeface="+mn-ea"/>
                <a:cs typeface="+mn-cs"/>
              </a:rPr>
              <a:t>: אחד עם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תקין ואחד בלי, וטיפלו בהם ב-</a:t>
            </a:r>
            <a:r>
              <a:rPr lang="en-US" sz="1200" b="0" i="0" kern="1200" dirty="0">
                <a:solidFill>
                  <a:schemeClr val="tx1"/>
                </a:solidFill>
                <a:effectLst/>
                <a:latin typeface="+mn-lt"/>
                <a:ea typeface="+mn-ea"/>
                <a:cs typeface="+mn-cs"/>
              </a:rPr>
              <a:t>nultlin-3</a:t>
            </a:r>
            <a:r>
              <a:rPr lang="he-IL" sz="1200" b="0" i="0" kern="1200" dirty="0">
                <a:solidFill>
                  <a:schemeClr val="tx1"/>
                </a:solidFill>
                <a:effectLst/>
                <a:latin typeface="+mn-lt"/>
                <a:ea typeface="+mn-ea"/>
                <a:cs typeface="+mn-cs"/>
              </a:rPr>
              <a:t> או ב-</a:t>
            </a:r>
            <a:r>
              <a:rPr lang="en-US" sz="1200" b="0" i="0" kern="1200" dirty="0">
                <a:solidFill>
                  <a:schemeClr val="tx1"/>
                </a:solidFill>
                <a:effectLst/>
                <a:latin typeface="+mn-lt"/>
                <a:ea typeface="+mn-ea"/>
                <a:cs typeface="+mn-cs"/>
              </a:rPr>
              <a:t>etoposide</a:t>
            </a:r>
            <a:r>
              <a:rPr lang="he-IL" sz="1200" b="0" i="0" kern="1200" dirty="0">
                <a:solidFill>
                  <a:schemeClr val="tx1"/>
                </a:solidFill>
                <a:effectLst/>
                <a:latin typeface="+mn-lt"/>
                <a:ea typeface="+mn-ea"/>
                <a:cs typeface="+mn-cs"/>
              </a:rPr>
              <a:t>. אחרי 12 ימים הם ריצפו את התאים  ששרדו כדי לראות אילו אללים נשארו בחיים.</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ההיפותזה שלי מבוססת על מאמר שפורסם </a:t>
            </a:r>
            <a:r>
              <a:rPr lang="he-IL" dirty="0" err="1"/>
              <a:t>בנייצ׳ר</a:t>
            </a:r>
            <a:r>
              <a:rPr lang="he-IL" dirty="0"/>
              <a:t> לפני כמה שנים שהם עשו דבר מאוד מעניין שם, הם יצרו ספרייה ענקית שכוללת כמעט את כל המוטציות האפשריות ב-</a:t>
            </a:r>
            <a:r>
              <a:rPr lang="en-US" dirty="0"/>
              <a:t>TP53</a:t>
            </a:r>
            <a:r>
              <a:rPr lang="he-IL" dirty="0"/>
              <a:t>, בעיקר </a:t>
            </a:r>
            <a:r>
              <a:rPr lang="he-IL" dirty="0" err="1"/>
              <a:t>מיסנס</a:t>
            </a:r>
            <a:r>
              <a:rPr lang="he-IL" dirty="0"/>
              <a:t> אבל גם נונסנס. כל מוטציה הוכנסה לתאים אנושיים וסומנה בברקוד כדי לעקוב אחריה בריצוף. הם הכניסו לתאים עותק מוטנטי של </a:t>
            </a:r>
            <a:r>
              <a:rPr lang="en-US" dirty="0"/>
              <a:t>TP53</a:t>
            </a:r>
            <a:r>
              <a:rPr lang="he-IL" dirty="0"/>
              <a:t> ובדקו מה ההשפעה של זה בתא.</a:t>
            </a:r>
            <a:endParaRPr lang="he-IL" b="0" dirty="0"/>
          </a:p>
          <a:p>
            <a:pPr marL="0" algn="r" defTabSz="914400" rtl="1" eaLnBrk="1" latinLnBrk="0" hangingPunct="1"/>
            <a:endParaRPr lang="en-US" dirty="0"/>
          </a:p>
          <a:p>
            <a:pPr marL="0" algn="r" defTabSz="914400" rtl="1" eaLnBrk="1" latinLnBrk="0" hangingPunct="1"/>
            <a:r>
              <a:rPr lang="he-IL" dirty="0"/>
              <a:t>במאמר של </a:t>
            </a:r>
            <a:r>
              <a:rPr lang="en-US" sz="1200" b="0" i="0" kern="1200" dirty="0">
                <a:solidFill>
                  <a:schemeClr val="tx1"/>
                </a:solidFill>
                <a:effectLst/>
                <a:latin typeface="+mn-lt"/>
                <a:ea typeface="+mn-ea"/>
                <a:cs typeface="+mn-cs"/>
              </a:rPr>
              <a:t>Giacomelli et al.</a:t>
            </a:r>
            <a:r>
              <a:rPr lang="he-IL" sz="1200" b="0" i="0" kern="1200" dirty="0">
                <a:solidFill>
                  <a:schemeClr val="tx1"/>
                </a:solidFill>
                <a:effectLst/>
                <a:latin typeface="+mn-lt"/>
                <a:ea typeface="+mn-ea"/>
                <a:cs typeface="+mn-cs"/>
              </a:rPr>
              <a:t>, הם לקחו את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החליפו כל חומצה אמינית אחת והחליפו באחרת, בעצם יצרו מפה של כל המוטציות האפשריות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כדי לראות את האפקט של כל מוטציה וכמה היא משפיעה על התפקוד של התא מבחינת קצב הגידול של התאים הסרטניים.</a:t>
            </a:r>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sz="1200" b="0" i="0" kern="1200" dirty="0">
                <a:solidFill>
                  <a:schemeClr val="tx1"/>
                </a:solidFill>
                <a:effectLst/>
                <a:latin typeface="+mn-lt"/>
                <a:ea typeface="+mn-ea"/>
                <a:cs typeface="+mn-cs"/>
              </a:rPr>
              <a:t>בשלב הראשון הם סרקו 8,258 וריאנטים של </a:t>
            </a:r>
            <a:r>
              <a:rPr lang="en-US" sz="1200" b="0" i="0" kern="1200" dirty="0">
                <a:solidFill>
                  <a:schemeClr val="tx1"/>
                </a:solidFill>
                <a:effectLst/>
                <a:latin typeface="+mn-lt"/>
                <a:ea typeface="+mn-ea"/>
                <a:cs typeface="+mn-cs"/>
              </a:rPr>
              <a:t>TP53</a:t>
            </a:r>
            <a:r>
              <a:rPr lang="he-IL" sz="1200" b="0" i="0" kern="1200" dirty="0">
                <a:solidFill>
                  <a:schemeClr val="tx1"/>
                </a:solidFill>
                <a:effectLst/>
                <a:latin typeface="+mn-lt"/>
                <a:ea typeface="+mn-ea"/>
                <a:cs typeface="+mn-cs"/>
              </a:rPr>
              <a:t> ע״י הכנסתם לשני קווי תאים </a:t>
            </a:r>
            <a:r>
              <a:rPr lang="he-IL" sz="1200" b="0" i="0" kern="1200" dirty="0" err="1">
                <a:solidFill>
                  <a:schemeClr val="tx1"/>
                </a:solidFill>
                <a:effectLst/>
                <a:latin typeface="+mn-lt"/>
                <a:ea typeface="+mn-ea"/>
                <a:cs typeface="+mn-cs"/>
              </a:rPr>
              <a:t>איזוגניים</a:t>
            </a:r>
            <a:r>
              <a:rPr lang="he-IL" sz="1200" b="0" i="0" kern="1200" dirty="0">
                <a:solidFill>
                  <a:schemeClr val="tx1"/>
                </a:solidFill>
                <a:effectLst/>
                <a:latin typeface="+mn-lt"/>
                <a:ea typeface="+mn-ea"/>
                <a:cs typeface="+mn-cs"/>
              </a:rPr>
              <a:t>: אחד עם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תקין ואחד בלי, וטיפלו בהם ב-</a:t>
            </a:r>
            <a:r>
              <a:rPr lang="en-US" sz="1200" b="0" i="0" kern="1200" dirty="0">
                <a:solidFill>
                  <a:schemeClr val="tx1"/>
                </a:solidFill>
                <a:effectLst/>
                <a:latin typeface="+mn-lt"/>
                <a:ea typeface="+mn-ea"/>
                <a:cs typeface="+mn-cs"/>
              </a:rPr>
              <a:t>nultlin-3</a:t>
            </a:r>
            <a:r>
              <a:rPr lang="he-IL" sz="1200" b="0" i="0" kern="1200" dirty="0">
                <a:solidFill>
                  <a:schemeClr val="tx1"/>
                </a:solidFill>
                <a:effectLst/>
                <a:latin typeface="+mn-lt"/>
                <a:ea typeface="+mn-ea"/>
                <a:cs typeface="+mn-cs"/>
              </a:rPr>
              <a:t> או ב-</a:t>
            </a:r>
            <a:r>
              <a:rPr lang="en-US" sz="1200" b="0" i="0" kern="1200" dirty="0">
                <a:solidFill>
                  <a:schemeClr val="tx1"/>
                </a:solidFill>
                <a:effectLst/>
                <a:latin typeface="+mn-lt"/>
                <a:ea typeface="+mn-ea"/>
                <a:cs typeface="+mn-cs"/>
              </a:rPr>
              <a:t>etoposide</a:t>
            </a:r>
            <a:r>
              <a:rPr lang="he-IL" sz="1200" b="0" i="0" kern="1200" dirty="0">
                <a:solidFill>
                  <a:schemeClr val="tx1"/>
                </a:solidFill>
                <a:effectLst/>
                <a:latin typeface="+mn-lt"/>
                <a:ea typeface="+mn-ea"/>
                <a:cs typeface="+mn-cs"/>
              </a:rPr>
              <a:t>. אחרי 12 ימים הם ריצפו את התאים  ששרדו כדי לראות אילו אללים נשארו בחיים.</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ההיפותזה שלי מבוססת על מאמר שפורסם </a:t>
            </a:r>
            <a:r>
              <a:rPr lang="he-IL" dirty="0" err="1"/>
              <a:t>בנייצ׳ר</a:t>
            </a:r>
            <a:r>
              <a:rPr lang="he-IL" dirty="0"/>
              <a:t> לפני כמה שנים שהם עשו דבר מאוד מעניין שם, הם יצרו ספרייה ענקית שכוללת כמעט את כל המוטציות האפשריות ב-</a:t>
            </a:r>
            <a:r>
              <a:rPr lang="en-US" dirty="0"/>
              <a:t>TP53</a:t>
            </a:r>
            <a:r>
              <a:rPr lang="he-IL" dirty="0"/>
              <a:t>, בעיקר </a:t>
            </a:r>
            <a:r>
              <a:rPr lang="he-IL" dirty="0" err="1"/>
              <a:t>מיסנס</a:t>
            </a:r>
            <a:r>
              <a:rPr lang="he-IL" dirty="0"/>
              <a:t> אבל גם נונסנס. כל מוטציה הוכנסה לתאים אנושיים וסומנה בברקוד כדי לעקוב אחריה בריצוף. הם הכניסו לתאים עותק מוטנטי של </a:t>
            </a:r>
            <a:r>
              <a:rPr lang="en-US" dirty="0"/>
              <a:t>TP53</a:t>
            </a:r>
            <a:r>
              <a:rPr lang="he-IL" dirty="0"/>
              <a:t> ובדקו מה ההשפעה של זה בתא.</a:t>
            </a:r>
            <a:endParaRPr lang="he-IL" b="0" dirty="0"/>
          </a:p>
          <a:p>
            <a:pPr marL="0" algn="r" defTabSz="914400" rtl="1" eaLnBrk="1" latinLnBrk="0" hangingPunct="1"/>
            <a:endParaRPr lang="en-US" dirty="0"/>
          </a:p>
          <a:p>
            <a:pPr marL="0" algn="r" defTabSz="914400" rtl="1" eaLnBrk="1" latinLnBrk="0" hangingPunct="1"/>
            <a:r>
              <a:rPr lang="he-IL" dirty="0"/>
              <a:t>במאמר של </a:t>
            </a:r>
            <a:r>
              <a:rPr lang="en-US" sz="1200" b="0" i="0" kern="1200" dirty="0">
                <a:solidFill>
                  <a:schemeClr val="tx1"/>
                </a:solidFill>
                <a:effectLst/>
                <a:latin typeface="+mn-lt"/>
                <a:ea typeface="+mn-ea"/>
                <a:cs typeface="+mn-cs"/>
              </a:rPr>
              <a:t>Giacomelli et al.</a:t>
            </a:r>
            <a:r>
              <a:rPr lang="he-IL" sz="1200" b="0" i="0" kern="1200" dirty="0">
                <a:solidFill>
                  <a:schemeClr val="tx1"/>
                </a:solidFill>
                <a:effectLst/>
                <a:latin typeface="+mn-lt"/>
                <a:ea typeface="+mn-ea"/>
                <a:cs typeface="+mn-cs"/>
              </a:rPr>
              <a:t>, הם לקחו את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החליפו כל חומצה אמינית אחת והחליפו באחרת, בעצם יצרו מפה של כל המוטציות האפשריות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כדי לראות את האפקט של כל מוטציה וכמה היא משפיעה על התפקוד של התא מבחינת קצב הגידול של התאים הסרטניים.</a:t>
            </a:r>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sz="1200" b="0" i="0" kern="1200" dirty="0">
                <a:solidFill>
                  <a:schemeClr val="tx1"/>
                </a:solidFill>
                <a:effectLst/>
                <a:latin typeface="+mn-lt"/>
                <a:ea typeface="+mn-ea"/>
                <a:cs typeface="+mn-cs"/>
              </a:rPr>
              <a:t>בשלב הראשון הם סרקו 8,258 וריאנטים של </a:t>
            </a:r>
            <a:r>
              <a:rPr lang="en-US" sz="1200" b="0" i="0" kern="1200" dirty="0">
                <a:solidFill>
                  <a:schemeClr val="tx1"/>
                </a:solidFill>
                <a:effectLst/>
                <a:latin typeface="+mn-lt"/>
                <a:ea typeface="+mn-ea"/>
                <a:cs typeface="+mn-cs"/>
              </a:rPr>
              <a:t>TP53</a:t>
            </a:r>
            <a:r>
              <a:rPr lang="he-IL" sz="1200" b="0" i="0" kern="1200" dirty="0">
                <a:solidFill>
                  <a:schemeClr val="tx1"/>
                </a:solidFill>
                <a:effectLst/>
                <a:latin typeface="+mn-lt"/>
                <a:ea typeface="+mn-ea"/>
                <a:cs typeface="+mn-cs"/>
              </a:rPr>
              <a:t> ע״י הכנסתם לשני קווי תאים </a:t>
            </a:r>
            <a:r>
              <a:rPr lang="he-IL" sz="1200" b="0" i="0" kern="1200" dirty="0" err="1">
                <a:solidFill>
                  <a:schemeClr val="tx1"/>
                </a:solidFill>
                <a:effectLst/>
                <a:latin typeface="+mn-lt"/>
                <a:ea typeface="+mn-ea"/>
                <a:cs typeface="+mn-cs"/>
              </a:rPr>
              <a:t>איזוגניים</a:t>
            </a:r>
            <a:r>
              <a:rPr lang="he-IL" sz="1200" b="0" i="0" kern="1200" dirty="0">
                <a:solidFill>
                  <a:schemeClr val="tx1"/>
                </a:solidFill>
                <a:effectLst/>
                <a:latin typeface="+mn-lt"/>
                <a:ea typeface="+mn-ea"/>
                <a:cs typeface="+mn-cs"/>
              </a:rPr>
              <a:t>: אחד עם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תקין ואחד בלי, וטיפלו בהם ב-</a:t>
            </a:r>
            <a:r>
              <a:rPr lang="en-US" sz="1200" b="0" i="0" kern="1200" dirty="0">
                <a:solidFill>
                  <a:schemeClr val="tx1"/>
                </a:solidFill>
                <a:effectLst/>
                <a:latin typeface="+mn-lt"/>
                <a:ea typeface="+mn-ea"/>
                <a:cs typeface="+mn-cs"/>
              </a:rPr>
              <a:t>nultlin-3</a:t>
            </a:r>
            <a:r>
              <a:rPr lang="he-IL" sz="1200" b="0" i="0" kern="1200" dirty="0">
                <a:solidFill>
                  <a:schemeClr val="tx1"/>
                </a:solidFill>
                <a:effectLst/>
                <a:latin typeface="+mn-lt"/>
                <a:ea typeface="+mn-ea"/>
                <a:cs typeface="+mn-cs"/>
              </a:rPr>
              <a:t> או ב-</a:t>
            </a:r>
            <a:r>
              <a:rPr lang="en-US" sz="1200" b="0" i="0" kern="1200" dirty="0">
                <a:solidFill>
                  <a:schemeClr val="tx1"/>
                </a:solidFill>
                <a:effectLst/>
                <a:latin typeface="+mn-lt"/>
                <a:ea typeface="+mn-ea"/>
                <a:cs typeface="+mn-cs"/>
              </a:rPr>
              <a:t>etoposide</a:t>
            </a:r>
            <a:r>
              <a:rPr lang="he-IL" sz="1200" b="0" i="0" kern="1200" dirty="0">
                <a:solidFill>
                  <a:schemeClr val="tx1"/>
                </a:solidFill>
                <a:effectLst/>
                <a:latin typeface="+mn-lt"/>
                <a:ea typeface="+mn-ea"/>
                <a:cs typeface="+mn-cs"/>
              </a:rPr>
              <a:t>. אחרי 12 ימים הם ריצפו את התאים  ששרדו כדי לראות אילו אללים נשארו בחיים.</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 יהיה אחוז גבוה יותר של כאוס </a:t>
            </a:r>
            <a:r>
              <a:rPr lang="he-IL" b="0" dirty="0" err="1"/>
              <a:t>גנומי</a:t>
            </a:r>
            <a:r>
              <a:rPr lang="he-IL" b="0" dirty="0"/>
              <a:t>.</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חוסר יציבות?</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שאמצע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endParaRPr lang="he-IL" dirty="0"/>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12DA0-78C3-E2BC-A5F2-ABF8DD1F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D7FC3-56A0-EBA3-9609-B9DDF9436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3940C-BA75-367B-2854-DC459C6E4FC8}"/>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היה רק </a:t>
            </a:r>
            <a:r>
              <a:rPr lang="en-US" dirty="0"/>
              <a:t>TP53-specific CNA</a:t>
            </a:r>
            <a:r>
              <a:rPr lang="he-IL" dirty="0"/>
              <a:t> ורציתי לראות את ההשפעה על כל הגנום, אילו גנים מוגברים, אילו גנים מושתקים או נמחקים בכל הגנום, לא רק </a:t>
            </a:r>
            <a:r>
              <a:rPr lang="en-US" dirty="0"/>
              <a:t>TP53</a:t>
            </a:r>
            <a:r>
              <a:rPr lang="he-IL" dirty="0"/>
              <a:t>. </a:t>
            </a:r>
            <a:r>
              <a:rPr lang="en-US" dirty="0"/>
              <a:t>GENIE</a:t>
            </a:r>
            <a:r>
              <a:rPr lang="he-IL" dirty="0"/>
              <a:t> של כל הגנום לא נמצא בגישה ציבורית, ולכן לא יכולתי להשתמש בזה.</a:t>
            </a:r>
          </a:p>
          <a:p>
            <a:pPr marL="0" algn="r" defTabSz="914400" rtl="1" eaLnBrk="1" latinLnBrk="0" hangingPunct="1"/>
            <a:r>
              <a:rPr lang="he-IL" dirty="0"/>
              <a:t>בגדול </a:t>
            </a:r>
            <a:r>
              <a:rPr lang="en-US" dirty="0"/>
              <a:t>GENIE</a:t>
            </a:r>
            <a:r>
              <a:rPr lang="he-IL" dirty="0"/>
              <a:t> אמר לי הגנום נשבר, </a:t>
            </a:r>
            <a:r>
              <a:rPr lang="en-US" dirty="0"/>
              <a:t>MSK-IMPACT</a:t>
            </a:r>
            <a:r>
              <a:rPr lang="he-IL" dirty="0"/>
              <a:t> אמר לי מה נשבר.</a:t>
            </a:r>
          </a:p>
        </p:txBody>
      </p:sp>
      <p:sp>
        <p:nvSpPr>
          <p:cNvPr id="4" name="Slide Number Placeholder 3">
            <a:extLst>
              <a:ext uri="{FF2B5EF4-FFF2-40B4-BE49-F238E27FC236}">
                <a16:creationId xmlns:a16="http://schemas.microsoft.com/office/drawing/2014/main" id="{B5DDC7C4-DD9D-503D-7A0E-8FF1827D9E7A}"/>
              </a:ext>
            </a:extLst>
          </p:cNvPr>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914368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L" dirty="0"/>
          </a:p>
        </p:txBody>
      </p:sp>
      <p:sp>
        <p:nvSpPr>
          <p:cNvPr id="4" name="Slide Number Placeholder 3"/>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F7D1-D124-53BB-A836-93876410A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4C45-FA5A-F555-1F40-14DD12967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9B0D2-2A59-6DB8-1B64-11E5BF2C8194}"/>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96C1921B-77A7-152E-B244-6B2E6BCB634E}"/>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15914631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0C2FE-6C67-3C13-FFE5-BC922B1F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F933F-C19D-FEBC-DFA0-E37AAAABB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0DF6-259D-DB4A-26CD-16F98DD8D4F9}"/>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D8C7538C-0906-F16E-839B-1E04AAEC9990}"/>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24569069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19</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C9C7-0A84-19E0-282D-872CF81B6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7D94A-7328-5289-D8F9-F0AD4D9A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45201-1E61-EE11-C528-A54632CD2F0B}"/>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2EB256CB-51C4-A26F-AE16-ABE7BD5E5E3B}"/>
              </a:ext>
            </a:extLst>
          </p:cNvPr>
          <p:cNvSpPr>
            <a:spLocks noGrp="1"/>
          </p:cNvSpPr>
          <p:nvPr>
            <p:ph type="sldNum" sz="quarter" idx="5"/>
          </p:nvPr>
        </p:nvSpPr>
        <p:spPr/>
        <p:txBody>
          <a:bodyPr/>
          <a:lstStyle/>
          <a:p>
            <a:fld id="{7242DB82-1DC1-9846-88D7-11B539157949}" type="slidenum">
              <a:rPr lang="en-IL" smtClean="0"/>
              <a:t>20</a:t>
            </a:fld>
            <a:endParaRPr lang="en-IL"/>
          </a:p>
        </p:txBody>
      </p:sp>
    </p:spTree>
    <p:extLst>
      <p:ext uri="{BB962C8B-B14F-4D97-AF65-F5344CB8AC3E}">
        <p14:creationId xmlns:p14="http://schemas.microsoft.com/office/powerpoint/2010/main" val="9417943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21</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3/15/26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3/12/26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5051483" y="4034124"/>
            <a:ext cx="2089033" cy="830997"/>
          </a:xfrm>
          <a:prstGeom prst="rect">
            <a:avLst/>
          </a:prstGeom>
          <a:noFill/>
        </p:spPr>
        <p:txBody>
          <a:bodyPr wrap="none" rtlCol="0">
            <a:spAutoFit/>
          </a:bodyPr>
          <a:lstStyle/>
          <a:p>
            <a:r>
              <a:rPr lang="en-IL" sz="2400" dirty="0">
                <a:solidFill>
                  <a:schemeClr val="bg1"/>
                </a:solidFill>
              </a:rPr>
              <a:t>Ornit Bhonkar</a:t>
            </a:r>
          </a:p>
          <a:p>
            <a:r>
              <a:rPr lang="en-IL" sz="24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71" y="2232833"/>
            <a:ext cx="5706109" cy="3560733"/>
          </a:xfrm>
        </p:spPr>
        <p:txBody>
          <a:bodyPr>
            <a:normAutofit/>
          </a:bodyPr>
          <a:lstStyle/>
          <a:p>
            <a:r>
              <a:rPr lang="en-US" sz="2400" dirty="0"/>
              <a:t>A stretch of DNA where the number of copies differs from the normal two copies.</a:t>
            </a:r>
          </a:p>
          <a:p>
            <a:pPr lvl="1"/>
            <a:r>
              <a:rPr lang="en-US" sz="2000" dirty="0"/>
              <a:t>More copies → more RNA → more protein</a:t>
            </a:r>
          </a:p>
          <a:p>
            <a:pPr lvl="1"/>
            <a:r>
              <a:rPr lang="en-US" sz="2000" dirty="0"/>
              <a:t>Fewer copies → less 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29909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grpSp>
        <p:nvGrpSpPr>
          <p:cNvPr id="24" name="Group 23">
            <a:extLst>
              <a:ext uri="{FF2B5EF4-FFF2-40B4-BE49-F238E27FC236}">
                <a16:creationId xmlns:a16="http://schemas.microsoft.com/office/drawing/2014/main" id="{B29E89F7-7DB0-B237-9C99-9CC61285E8E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DCC035F0-2526-D268-0E3B-75AB79A12D8E}"/>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668FC290-2159-6BA0-2442-116AB524B9D3}"/>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DB6880FB-82C4-842A-3DAF-F2B7882B9BF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71428924-C3F8-AD23-A029-7B41748237E3}"/>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3A0310DC-5DC9-5D1F-1D32-AD439F276849}"/>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1202CC10-FB01-DB77-E5DD-9C862A01D79D}"/>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7FB8F06D-FC26-5F60-BF33-6284F4203DE4}"/>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2" name="TextBox 31">
              <a:extLst>
                <a:ext uri="{FF2B5EF4-FFF2-40B4-BE49-F238E27FC236}">
                  <a16:creationId xmlns:a16="http://schemas.microsoft.com/office/drawing/2014/main" id="{D76451E6-7528-1075-F5FA-4FF144465383}"/>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AA5A31B5-9DA9-E651-98CD-877FEF8DF613}"/>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46" name="TextBox 45">
            <a:extLst>
              <a:ext uri="{FF2B5EF4-FFF2-40B4-BE49-F238E27FC236}">
                <a16:creationId xmlns:a16="http://schemas.microsoft.com/office/drawing/2014/main" id="{ADC8943F-6955-FEC9-02F6-F0851680E012}"/>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E29CBCBB-4C1B-2DF0-8EC2-F57BECA89F2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7C206EAE-24D6-0255-9D94-60DBD39D897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029CD787-36A6-E36D-D38D-0ADF0E036377}"/>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21A58634-09AD-7191-8CB1-415349F3F72D}"/>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8942A983-A5F6-ABFD-0224-23DB26EE91EE}"/>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29" name="TextBox 28">
              <a:extLst>
                <a:ext uri="{FF2B5EF4-FFF2-40B4-BE49-F238E27FC236}">
                  <a16:creationId xmlns:a16="http://schemas.microsoft.com/office/drawing/2014/main" id="{8EDD7600-FAC4-457E-B601-644F9AEB4047}"/>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E171EA8F-DD72-BF8C-191B-170C89212965}"/>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3D260321-9767-EB34-9D32-B3E6B7A5E920}"/>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98BB05E3-9081-458B-E9A2-F494333320AC}"/>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338E2388-7BE2-2CA4-E9D7-BA57778CFDE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11" name="TextBox 10">
            <a:extLst>
              <a:ext uri="{FF2B5EF4-FFF2-40B4-BE49-F238E27FC236}">
                <a16:creationId xmlns:a16="http://schemas.microsoft.com/office/drawing/2014/main" id="{15457CE1-C743-9EEB-4399-59428B79CED6}"/>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1365890A-AFD2-8795-7757-690D2F59FB90}"/>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3EC68F3A-B7C4-4F8F-BD77-324C6DCFED4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solidFill>
                    <a:schemeClr val="accent3">
                      <a:lumMod val="75000"/>
                    </a:schemeClr>
                  </a:solidFill>
                </a:rPr>
                <a:t>Calculate Functional Score</a:t>
              </a:r>
            </a:p>
          </p:txBody>
        </p:sp>
        <p:sp>
          <p:nvSpPr>
            <p:cNvPr id="26" name="TextBox 25">
              <a:extLst>
                <a:ext uri="{FF2B5EF4-FFF2-40B4-BE49-F238E27FC236}">
                  <a16:creationId xmlns:a16="http://schemas.microsoft.com/office/drawing/2014/main" id="{DF53E615-9CE2-D1A4-465B-3280FD9BE951}"/>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7652938D-04DB-9D68-9651-31AFDB763A1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C068C0E7-73EB-621D-7356-C23796AAF798}"/>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149841CA-ED50-F40B-3A01-C40EF7A27B1D}"/>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61E9F560-73EE-83EC-6317-B793527177EE}"/>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C179F1FA-36D8-4879-074A-1A5D6C93F38A}"/>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75A1239B-ECEC-42AF-0483-364AF93282AD}"/>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C6BC8DFC-F7CE-F022-5C20-BE697740800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11" name="TextBox 10">
            <a:extLst>
              <a:ext uri="{FF2B5EF4-FFF2-40B4-BE49-F238E27FC236}">
                <a16:creationId xmlns:a16="http://schemas.microsoft.com/office/drawing/2014/main" id="{53149D16-B372-C4F2-14C7-6A69F94B8CEB}"/>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1333373" y="2396326"/>
            <a:ext cx="9525253" cy="3572037"/>
          </a:xfrm>
        </p:spPr>
        <p:txBody>
          <a:bodyPr anchor="ctr">
            <a:normAutofit/>
          </a:bodyPr>
          <a:lstStyle/>
          <a:p>
            <a:pPr marL="0" indent="0" algn="ctr">
              <a:buNone/>
            </a:pPr>
            <a:r>
              <a:rPr lang="en-US" sz="2400" dirty="0"/>
              <a:t>Patients with TP53 mutations that have the lowest experimental function scores (EFS) will show the highest Fraction Genome Altered (FGA)</a:t>
            </a:r>
            <a:endParaRPr lang="en-IL" sz="2400" dirty="0"/>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Hypothesis</a:t>
            </a:r>
            <a:endParaRPr lang="en-IL" dirty="0"/>
          </a:p>
        </p:txBody>
      </p:sp>
      <p:sp>
        <p:nvSpPr>
          <p:cNvPr id="7" name="TextBox 6">
            <a:extLst>
              <a:ext uri="{FF2B5EF4-FFF2-40B4-BE49-F238E27FC236}">
                <a16:creationId xmlns:a16="http://schemas.microsoft.com/office/drawing/2014/main" id="{068359B8-3272-03D0-1E14-4E2191D01541}"/>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7BC5E143-32E1-DE53-DD19-600E8BB22E4A}"/>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096000" y="2125487"/>
            <a:ext cx="3981164" cy="3880773"/>
          </a:xfrm>
        </p:spPr>
        <p:txBody>
          <a:bodyPr>
            <a:normAutofit/>
          </a:bodyPr>
          <a:lstStyle/>
          <a:p>
            <a:r>
              <a:rPr lang="en-US" dirty="0"/>
              <a:t>Giacomelli et al., Nature Genetics, 2018 (25,217 variants)</a:t>
            </a:r>
          </a:p>
          <a:p>
            <a:r>
              <a:rPr lang="en-US" dirty="0"/>
              <a:t>Role: Experimental "fitness" scores for every possible TP53 mutation - </a:t>
            </a:r>
            <a:r>
              <a:rPr lang="en-US" u="sng" dirty="0"/>
              <a:t>the genotype</a:t>
            </a:r>
          </a:p>
          <a:p>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2141709" y="2676259"/>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AACR GENIE v19.0 (~271,000 samples, 100,418 with FGA).</a:t>
            </a:r>
          </a:p>
          <a:p>
            <a:r>
              <a:rPr lang="en-US" dirty="0"/>
              <a:t>Role: Real-world patient data - </a:t>
            </a:r>
            <a:r>
              <a:rPr lang="en-US" u="sng" dirty="0"/>
              <a:t>the phenotype</a:t>
            </a:r>
          </a:p>
          <a:p>
            <a:r>
              <a:rPr lang="en-US" dirty="0"/>
              <a:t>Metric: FRACTION_GENOME_ALTERED (FGA), a quantitative measure of chromosomal instability</a:t>
            </a:r>
          </a:p>
          <a:p>
            <a:r>
              <a:rPr lang="en-US" dirty="0"/>
              <a:t>35,357 TP53-mutant</a:t>
            </a:r>
          </a:p>
          <a:p>
            <a:r>
              <a:rPr lang="en-US" dirty="0"/>
              <a:t>65,061 TP53-WT</a:t>
            </a:r>
          </a:p>
        </p:txBody>
      </p:sp>
      <p:sp>
        <p:nvSpPr>
          <p:cNvPr id="5" name="TextBox 4">
            <a:extLst>
              <a:ext uri="{FF2B5EF4-FFF2-40B4-BE49-F238E27FC236}">
                <a16:creationId xmlns:a16="http://schemas.microsoft.com/office/drawing/2014/main" id="{D6DF2B16-6F47-3D24-4C4D-F99346EBABA1}"/>
              </a:ext>
            </a:extLst>
          </p:cNvPr>
          <p:cNvSpPr txBox="1"/>
          <p:nvPr/>
        </p:nvSpPr>
        <p:spPr>
          <a:xfrm>
            <a:off x="2141709" y="2125487"/>
            <a:ext cx="1954446" cy="369332"/>
          </a:xfrm>
          <a:prstGeom prst="rect">
            <a:avLst/>
          </a:prstGeom>
          <a:noFill/>
        </p:spPr>
        <p:txBody>
          <a:bodyPr wrap="none" rtlCol="0">
            <a:spAutoFit/>
          </a:bodyPr>
          <a:lstStyle/>
          <a:p>
            <a:r>
              <a:rPr lang="en-IL" b="1" dirty="0"/>
              <a:t>Primary Analysis</a:t>
            </a:r>
          </a:p>
        </p:txBody>
      </p:sp>
      <p:sp>
        <p:nvSpPr>
          <p:cNvPr id="6" name="TextBox 5">
            <a:extLst>
              <a:ext uri="{FF2B5EF4-FFF2-40B4-BE49-F238E27FC236}">
                <a16:creationId xmlns:a16="http://schemas.microsoft.com/office/drawing/2014/main" id="{3DC19C54-F4B6-77C2-43EE-6855AEF25ABD}"/>
              </a:ext>
            </a:extLst>
          </p:cNvPr>
          <p:cNvSpPr txBox="1"/>
          <p:nvPr/>
        </p:nvSpPr>
        <p:spPr>
          <a:xfrm>
            <a:off x="2141709" y="6262047"/>
            <a:ext cx="7859844" cy="369332"/>
          </a:xfrm>
          <a:prstGeom prst="rect">
            <a:avLst/>
          </a:prstGeom>
          <a:noFill/>
        </p:spPr>
        <p:txBody>
          <a:bodyPr wrap="none" rtlCol="0">
            <a:spAutoFit/>
          </a:bodyPr>
          <a:lstStyle/>
          <a:p>
            <a:pPr lvl="0"/>
            <a:r>
              <a:rPr lang="en-US" b="1" dirty="0">
                <a:solidFill>
                  <a:srgbClr val="C00000"/>
                </a:solidFill>
              </a:rPr>
              <a:t>Goal: show that the physical structure of the genome is breaking down</a:t>
            </a:r>
          </a:p>
        </p:txBody>
      </p:sp>
      <p:sp>
        <p:nvSpPr>
          <p:cNvPr id="7" name="TextBox 6">
            <a:extLst>
              <a:ext uri="{FF2B5EF4-FFF2-40B4-BE49-F238E27FC236}">
                <a16:creationId xmlns:a16="http://schemas.microsoft.com/office/drawing/2014/main" id="{F423C7A6-5923-08E0-84D4-4B075D6794FF}"/>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58A4-57BA-A749-DF2C-A825D38E4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5DE122-7CBA-DB38-60AE-8DC39D99F120}"/>
              </a:ext>
            </a:extLst>
          </p:cNvPr>
          <p:cNvSpPr>
            <a:spLocks noGrp="1"/>
          </p:cNvSpPr>
          <p:nvPr>
            <p:ph type="title"/>
          </p:nvPr>
        </p:nvSpPr>
        <p:spPr>
          <a:xfrm>
            <a:off x="1079942" y="350293"/>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4" name="Content Placeholder 2">
            <a:extLst>
              <a:ext uri="{FF2B5EF4-FFF2-40B4-BE49-F238E27FC236}">
                <a16:creationId xmlns:a16="http://schemas.microsoft.com/office/drawing/2014/main" id="{9C276440-F483-71DF-A071-F88FD52C4130}"/>
              </a:ext>
            </a:extLst>
          </p:cNvPr>
          <p:cNvSpPr txBox="1">
            <a:spLocks/>
          </p:cNvSpPr>
          <p:nvPr/>
        </p:nvSpPr>
        <p:spPr>
          <a:xfrm>
            <a:off x="2294591" y="2689908"/>
            <a:ext cx="8583045" cy="202576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MSK-IMPACT 50K (53,292 samples, 505 cancer genes).</a:t>
            </a:r>
          </a:p>
          <a:p>
            <a:r>
              <a:rPr lang="en-US" dirty="0"/>
              <a:t>Role: Genome-wide CNA data to identify which pathways are altered when TP53 breaks</a:t>
            </a:r>
          </a:p>
          <a:p>
            <a:r>
              <a:rPr lang="en-US" dirty="0"/>
              <a:t>Compared 800 high-FGA TP53-mutant vs 800 low-FGA TP53-WT</a:t>
            </a:r>
          </a:p>
        </p:txBody>
      </p:sp>
      <p:sp>
        <p:nvSpPr>
          <p:cNvPr id="5" name="TextBox 4">
            <a:extLst>
              <a:ext uri="{FF2B5EF4-FFF2-40B4-BE49-F238E27FC236}">
                <a16:creationId xmlns:a16="http://schemas.microsoft.com/office/drawing/2014/main" id="{78444B93-A15C-1CB2-2E6C-9C3050449F23}"/>
              </a:ext>
            </a:extLst>
          </p:cNvPr>
          <p:cNvSpPr txBox="1"/>
          <p:nvPr/>
        </p:nvSpPr>
        <p:spPr>
          <a:xfrm>
            <a:off x="2294592" y="2139135"/>
            <a:ext cx="2222147" cy="369332"/>
          </a:xfrm>
          <a:prstGeom prst="rect">
            <a:avLst/>
          </a:prstGeom>
          <a:noFill/>
        </p:spPr>
        <p:txBody>
          <a:bodyPr wrap="none" rtlCol="0">
            <a:spAutoFit/>
          </a:bodyPr>
          <a:lstStyle/>
          <a:p>
            <a:r>
              <a:rPr lang="en-IL" b="1" dirty="0"/>
              <a:t>Secondary Analysis</a:t>
            </a:r>
          </a:p>
        </p:txBody>
      </p:sp>
      <p:sp>
        <p:nvSpPr>
          <p:cNvPr id="3" name="TextBox 2">
            <a:extLst>
              <a:ext uri="{FF2B5EF4-FFF2-40B4-BE49-F238E27FC236}">
                <a16:creationId xmlns:a16="http://schemas.microsoft.com/office/drawing/2014/main" id="{D3A7E258-78D3-3BAE-3E76-B1374DE35592}"/>
              </a:ext>
            </a:extLst>
          </p:cNvPr>
          <p:cNvSpPr txBox="1"/>
          <p:nvPr/>
        </p:nvSpPr>
        <p:spPr>
          <a:xfrm>
            <a:off x="2294591" y="6275695"/>
            <a:ext cx="6806672" cy="369332"/>
          </a:xfrm>
          <a:prstGeom prst="rect">
            <a:avLst/>
          </a:prstGeom>
          <a:noFill/>
        </p:spPr>
        <p:txBody>
          <a:bodyPr wrap="none" rtlCol="0">
            <a:spAutoFit/>
          </a:bodyPr>
          <a:lstStyle/>
          <a:p>
            <a:r>
              <a:rPr lang="en-US" b="1" dirty="0">
                <a:solidFill>
                  <a:srgbClr val="C00000"/>
                </a:solidFill>
              </a:rPr>
              <a:t>Goal: to conclude what are the major pathways are triggered</a:t>
            </a:r>
          </a:p>
        </p:txBody>
      </p:sp>
      <p:sp>
        <p:nvSpPr>
          <p:cNvPr id="6" name="TextBox 5">
            <a:extLst>
              <a:ext uri="{FF2B5EF4-FFF2-40B4-BE49-F238E27FC236}">
                <a16:creationId xmlns:a16="http://schemas.microsoft.com/office/drawing/2014/main" id="{DE6ACFC5-0DEE-FEDB-43D9-76D291C4AF84}"/>
              </a:ext>
            </a:extLst>
          </p:cNvPr>
          <p:cNvSpPr txBox="1"/>
          <p:nvPr/>
        </p:nvSpPr>
        <p:spPr>
          <a:xfrm>
            <a:off x="441533" y="-1"/>
            <a:ext cx="3707385"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38907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pic>
        <p:nvPicPr>
          <p:cNvPr id="12" name="Picture 11">
            <a:extLst>
              <a:ext uri="{FF2B5EF4-FFF2-40B4-BE49-F238E27FC236}">
                <a16:creationId xmlns:a16="http://schemas.microsoft.com/office/drawing/2014/main" id="{A2838C1F-E20B-84B8-C130-2CB38576B4F1}"/>
              </a:ext>
            </a:extLst>
          </p:cNvPr>
          <p:cNvPicPr>
            <a:picLocks noChangeAspect="1"/>
          </p:cNvPicPr>
          <p:nvPr/>
        </p:nvPicPr>
        <p:blipFill>
          <a:blip r:embed="rId3"/>
          <a:stretch>
            <a:fillRect/>
          </a:stretch>
        </p:blipFill>
        <p:spPr>
          <a:xfrm>
            <a:off x="1026011" y="2431007"/>
            <a:ext cx="10139977" cy="3280581"/>
          </a:xfrm>
          <a:prstGeom prst="rect">
            <a:avLst/>
          </a:prstGeom>
        </p:spPr>
      </p:pic>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1×10⁻³⁰⁰)</a:t>
            </a:r>
          </a:p>
        </p:txBody>
      </p:sp>
    </p:spTree>
    <p:extLst>
      <p:ext uri="{BB962C8B-B14F-4D97-AF65-F5344CB8AC3E}">
        <p14:creationId xmlns:p14="http://schemas.microsoft.com/office/powerpoint/2010/main" val="241190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905183" y="6076144"/>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2" name="Picture 1">
            <a:extLst>
              <a:ext uri="{FF2B5EF4-FFF2-40B4-BE49-F238E27FC236}">
                <a16:creationId xmlns:a16="http://schemas.microsoft.com/office/drawing/2014/main" id="{ADBE5B33-E5F3-6AD4-8C1B-5F54D4152DFB}"/>
              </a:ext>
            </a:extLst>
          </p:cNvPr>
          <p:cNvPicPr>
            <a:picLocks noChangeAspect="1"/>
          </p:cNvPicPr>
          <p:nvPr/>
        </p:nvPicPr>
        <p:blipFill>
          <a:blip r:embed="rId3"/>
          <a:stretch>
            <a:fillRect/>
          </a:stretch>
        </p:blipFill>
        <p:spPr>
          <a:xfrm>
            <a:off x="2207461" y="2344398"/>
            <a:ext cx="7772400" cy="3288323"/>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more instability than rare mutations?</a:t>
            </a:r>
          </a:p>
        </p:txBody>
      </p:sp>
      <p:sp>
        <p:nvSpPr>
          <p:cNvPr id="13" name="TextBox 12">
            <a:extLst>
              <a:ext uri="{FF2B5EF4-FFF2-40B4-BE49-F238E27FC236}">
                <a16:creationId xmlns:a16="http://schemas.microsoft.com/office/drawing/2014/main" id="{7E0EF9D9-E489-49CE-71A9-5D56630B5D83}"/>
              </a:ext>
            </a:extLst>
          </p:cNvPr>
          <p:cNvSpPr txBox="1"/>
          <p:nvPr/>
        </p:nvSpPr>
        <p:spPr>
          <a:xfrm>
            <a:off x="2585456" y="6174992"/>
            <a:ext cx="7016408" cy="369332"/>
          </a:xfrm>
          <a:prstGeom prst="rect">
            <a:avLst/>
          </a:prstGeom>
          <a:noFill/>
        </p:spPr>
        <p:txBody>
          <a:bodyPr wrap="none" rtlCol="0">
            <a:spAutoFit/>
          </a:bodyPr>
          <a:lstStyle/>
          <a:p>
            <a:r>
              <a:rPr lang="en-US" dirty="0"/>
              <a:t>Hotspot mutations show variable FGA. Not all hotspots behave the same</a:t>
            </a:r>
          </a:p>
        </p:txBody>
      </p:sp>
      <p:pic>
        <p:nvPicPr>
          <p:cNvPr id="5" name="Picture 4">
            <a:extLst>
              <a:ext uri="{FF2B5EF4-FFF2-40B4-BE49-F238E27FC236}">
                <a16:creationId xmlns:a16="http://schemas.microsoft.com/office/drawing/2014/main" id="{6DF59E9A-8E0A-3F22-A3B9-753309CA8C57}"/>
              </a:ext>
            </a:extLst>
          </p:cNvPr>
          <p:cNvPicPr>
            <a:picLocks noChangeAspect="1"/>
          </p:cNvPicPr>
          <p:nvPr/>
        </p:nvPicPr>
        <p:blipFill>
          <a:blip r:embed="rId3"/>
          <a:stretch>
            <a:fillRect/>
          </a:stretch>
        </p:blipFill>
        <p:spPr>
          <a:xfrm>
            <a:off x="1815753" y="2526850"/>
            <a:ext cx="8560493" cy="3215895"/>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958770" y="6250055"/>
            <a:ext cx="10519611" cy="369332"/>
          </a:xfrm>
          <a:prstGeom prst="rect">
            <a:avLst/>
          </a:prstGeom>
          <a:noFill/>
        </p:spPr>
        <p:txBody>
          <a:bodyPr wrap="none" rtlCol="0">
            <a:spAutoFit/>
          </a:bodyPr>
          <a:lstStyle/>
          <a:p>
            <a:r>
              <a:rPr lang="en-US" dirty="0"/>
              <a:t>EFS-FGA correlation varies substantially by cancer type. Some cancers show strong correlation, others none</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4" y="21375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9D83-37A7-8B2B-13EA-9778AA5CE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B4E23B-D913-7F67-0C59-89B31B5CA57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A044A0AF-B79F-783D-A827-DC56678B4433}"/>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specific </a:t>
            </a:r>
            <a:r>
              <a:rPr lang="en-US" dirty="0" err="1"/>
              <a:t>cnaS</a:t>
            </a:r>
            <a:r>
              <a:rPr lang="en-US" dirty="0"/>
              <a:t> OCCUR WHEN tp53 is mutated?</a:t>
            </a:r>
          </a:p>
        </p:txBody>
      </p:sp>
      <p:sp>
        <p:nvSpPr>
          <p:cNvPr id="13" name="TextBox 12">
            <a:extLst>
              <a:ext uri="{FF2B5EF4-FFF2-40B4-BE49-F238E27FC236}">
                <a16:creationId xmlns:a16="http://schemas.microsoft.com/office/drawing/2014/main" id="{85491A5D-BF4D-4D90-0CCC-5AF81947488E}"/>
              </a:ext>
            </a:extLst>
          </p:cNvPr>
          <p:cNvSpPr txBox="1"/>
          <p:nvPr/>
        </p:nvSpPr>
        <p:spPr>
          <a:xfrm>
            <a:off x="2908919" y="6035200"/>
            <a:ext cx="6619313" cy="646331"/>
          </a:xfrm>
          <a:prstGeom prst="rect">
            <a:avLst/>
          </a:prstGeom>
          <a:noFill/>
        </p:spPr>
        <p:txBody>
          <a:bodyPr wrap="none" rtlCol="0">
            <a:spAutoFit/>
          </a:bodyPr>
          <a:lstStyle/>
          <a:p>
            <a:r>
              <a:rPr lang="en-US" dirty="0"/>
              <a:t>Amplified genes (left panel) — oncogenes being turned ON</a:t>
            </a:r>
          </a:p>
          <a:p>
            <a:r>
              <a:rPr lang="en-US" dirty="0"/>
              <a:t>Deleted genes (right panel) — tumor suppressors being turned OFF</a:t>
            </a:r>
          </a:p>
        </p:txBody>
      </p:sp>
      <p:pic>
        <p:nvPicPr>
          <p:cNvPr id="2" name="Picture 1">
            <a:extLst>
              <a:ext uri="{FF2B5EF4-FFF2-40B4-BE49-F238E27FC236}">
                <a16:creationId xmlns:a16="http://schemas.microsoft.com/office/drawing/2014/main" id="{E27A9F89-4795-F6D5-36DF-485D3CEDCFFA}"/>
              </a:ext>
            </a:extLst>
          </p:cNvPr>
          <p:cNvPicPr>
            <a:picLocks noChangeAspect="1"/>
          </p:cNvPicPr>
          <p:nvPr/>
        </p:nvPicPr>
        <p:blipFill>
          <a:blip r:embed="rId3"/>
          <a:stretch>
            <a:fillRect/>
          </a:stretch>
        </p:blipFill>
        <p:spPr>
          <a:xfrm>
            <a:off x="2301135" y="1947450"/>
            <a:ext cx="7589729" cy="3914062"/>
          </a:xfrm>
          <a:prstGeom prst="rect">
            <a:avLst/>
          </a:prstGeom>
        </p:spPr>
      </p:pic>
    </p:spTree>
    <p:extLst>
      <p:ext uri="{BB962C8B-B14F-4D97-AF65-F5344CB8AC3E}">
        <p14:creationId xmlns:p14="http://schemas.microsoft.com/office/powerpoint/2010/main" val="18614906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A3BEB-D12B-CB91-CABF-F7664DD59E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93E180-EB01-9ECE-1243-D31F5973EB3E}"/>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536CA0E1-8570-4D19-76A9-3451F87062A2}"/>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pathways are triggered?</a:t>
            </a:r>
          </a:p>
        </p:txBody>
      </p:sp>
      <p:sp>
        <p:nvSpPr>
          <p:cNvPr id="13" name="TextBox 12">
            <a:extLst>
              <a:ext uri="{FF2B5EF4-FFF2-40B4-BE49-F238E27FC236}">
                <a16:creationId xmlns:a16="http://schemas.microsoft.com/office/drawing/2014/main" id="{DE2D1785-4F39-48A7-21A4-CC375FCE1ADD}"/>
              </a:ext>
            </a:extLst>
          </p:cNvPr>
          <p:cNvSpPr txBox="1"/>
          <p:nvPr/>
        </p:nvSpPr>
        <p:spPr>
          <a:xfrm>
            <a:off x="1826190" y="5996699"/>
            <a:ext cx="9079595" cy="646331"/>
          </a:xfrm>
          <a:prstGeom prst="rect">
            <a:avLst/>
          </a:prstGeom>
          <a:noFill/>
        </p:spPr>
        <p:txBody>
          <a:bodyPr wrap="square" rtlCol="0">
            <a:spAutoFit/>
          </a:bodyPr>
          <a:lstStyle/>
          <a:p>
            <a:r>
              <a:rPr lang="en-US" dirty="0"/>
              <a:t>When TP53 breaks and FGA is high, cell cycle control (E2F, G2-M) and growth signaling (PI3K/AKT/mTOR) pathways are the main downstream consequences</a:t>
            </a:r>
          </a:p>
        </p:txBody>
      </p:sp>
      <p:pic>
        <p:nvPicPr>
          <p:cNvPr id="2" name="Picture 1">
            <a:extLst>
              <a:ext uri="{FF2B5EF4-FFF2-40B4-BE49-F238E27FC236}">
                <a16:creationId xmlns:a16="http://schemas.microsoft.com/office/drawing/2014/main" id="{0B860F4F-D332-2A94-21C1-B599432884A2}"/>
              </a:ext>
            </a:extLst>
          </p:cNvPr>
          <p:cNvPicPr>
            <a:picLocks noChangeAspect="1"/>
          </p:cNvPicPr>
          <p:nvPr/>
        </p:nvPicPr>
        <p:blipFill>
          <a:blip r:embed="rId3"/>
          <a:stretch>
            <a:fillRect/>
          </a:stretch>
        </p:blipFill>
        <p:spPr>
          <a:xfrm>
            <a:off x="1286215" y="2020945"/>
            <a:ext cx="9619570" cy="3772530"/>
          </a:xfrm>
          <a:prstGeom prst="rect">
            <a:avLst/>
          </a:prstGeom>
        </p:spPr>
      </p:pic>
    </p:spTree>
    <p:extLst>
      <p:ext uri="{BB962C8B-B14F-4D97-AF65-F5344CB8AC3E}">
        <p14:creationId xmlns:p14="http://schemas.microsoft.com/office/powerpoint/2010/main" val="2378245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Binary effect VS. CONTINUOUS EFFECT</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loses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The hotspot paradox</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lIMITATIONS</a:t>
            </a:r>
            <a:endParaRPr lang="en-US" dirty="0"/>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659005-9761-7A24-3731-DDAE032BB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08189D-EE63-A69D-B4E2-FAAF437EAC02}"/>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2315B551-78A5-80AC-8BF1-AFBB22F5C9A4}"/>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515D867E-2040-5650-B54E-F434E6687274}"/>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TP53 loss </a:t>
            </a:r>
            <a:r>
              <a:rPr lang="en-US" sz="2800" dirty="0" err="1"/>
              <a:t>drived</a:t>
            </a:r>
            <a:r>
              <a:rPr lang="en-US" sz="2800" dirty="0"/>
              <a:t> genomic instability as a class effect, which in turn selectively amplifies oncogenic growth pathways, which explains why TP53 mutation is such a universal and aggressive cancer event.</a:t>
            </a:r>
          </a:p>
        </p:txBody>
      </p:sp>
    </p:spTree>
    <p:extLst>
      <p:ext uri="{BB962C8B-B14F-4D97-AF65-F5344CB8AC3E}">
        <p14:creationId xmlns:p14="http://schemas.microsoft.com/office/powerpoint/2010/main" val="1256860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6413</TotalTime>
  <Words>2001</Words>
  <Application>Microsoft Macintosh PowerPoint</Application>
  <PresentationFormat>Widescreen</PresentationFormat>
  <Paragraphs>200</Paragraphs>
  <Slides>21</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Abadi MT Condensed Light</vt:lpstr>
      <vt:lpstr>Aptos</vt:lpstr>
      <vt:lpstr>Arial</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317</cp:revision>
  <dcterms:created xsi:type="dcterms:W3CDTF">2026-01-27T21:31:11Z</dcterms:created>
  <dcterms:modified xsi:type="dcterms:W3CDTF">2026-03-15T12:10:26Z</dcterms:modified>
</cp:coreProperties>
</file>